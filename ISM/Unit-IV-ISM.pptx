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tags/tag1.xml" ContentType="application/vnd.openxmlformats-officedocument.presentationml.tags+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04" r:id="rId3"/>
    <p:sldMasterId id="2147483723" r:id="rId4"/>
  </p:sldMasterIdLst>
  <p:notesMasterIdLst>
    <p:notesMasterId r:id="rId111"/>
  </p:notesMasterIdLst>
  <p:handoutMasterIdLst>
    <p:handoutMasterId r:id="rId112"/>
  </p:handoutMasterIdLst>
  <p:sldIdLst>
    <p:sldId id="256" r:id="rId5"/>
    <p:sldId id="340" r:id="rId6"/>
    <p:sldId id="498" r:id="rId7"/>
    <p:sldId id="499" r:id="rId8"/>
    <p:sldId id="486" r:id="rId9"/>
    <p:sldId id="500" r:id="rId10"/>
    <p:sldId id="501" r:id="rId11"/>
    <p:sldId id="360" r:id="rId12"/>
    <p:sldId id="502" r:id="rId13"/>
    <p:sldId id="503" r:id="rId14"/>
    <p:sldId id="361" r:id="rId15"/>
    <p:sldId id="504" r:id="rId16"/>
    <p:sldId id="362" r:id="rId17"/>
    <p:sldId id="505" r:id="rId18"/>
    <p:sldId id="507" r:id="rId19"/>
    <p:sldId id="536" r:id="rId20"/>
    <p:sldId id="538" r:id="rId21"/>
    <p:sldId id="537" r:id="rId22"/>
    <p:sldId id="539" r:id="rId23"/>
    <p:sldId id="506" r:id="rId24"/>
    <p:sldId id="509" r:id="rId25"/>
    <p:sldId id="511" r:id="rId26"/>
    <p:sldId id="512" r:id="rId27"/>
    <p:sldId id="510" r:id="rId28"/>
    <p:sldId id="365" r:id="rId29"/>
    <p:sldId id="366" r:id="rId30"/>
    <p:sldId id="485" r:id="rId31"/>
    <p:sldId id="487" r:id="rId32"/>
    <p:sldId id="488" r:id="rId33"/>
    <p:sldId id="489" r:id="rId34"/>
    <p:sldId id="372" r:id="rId35"/>
    <p:sldId id="373" r:id="rId36"/>
    <p:sldId id="376" r:id="rId37"/>
    <p:sldId id="374" r:id="rId38"/>
    <p:sldId id="375" r:id="rId39"/>
    <p:sldId id="513" r:id="rId40"/>
    <p:sldId id="378" r:id="rId41"/>
    <p:sldId id="490" r:id="rId42"/>
    <p:sldId id="491" r:id="rId43"/>
    <p:sldId id="492" r:id="rId44"/>
    <p:sldId id="385" r:id="rId45"/>
    <p:sldId id="514" r:id="rId46"/>
    <p:sldId id="387" r:id="rId47"/>
    <p:sldId id="388" r:id="rId48"/>
    <p:sldId id="389" r:id="rId49"/>
    <p:sldId id="515" r:id="rId50"/>
    <p:sldId id="516" r:id="rId51"/>
    <p:sldId id="344" r:id="rId52"/>
    <p:sldId id="517" r:id="rId53"/>
    <p:sldId id="518" r:id="rId54"/>
    <p:sldId id="519" r:id="rId55"/>
    <p:sldId id="342" r:id="rId56"/>
    <p:sldId id="521" r:id="rId57"/>
    <p:sldId id="345" r:id="rId58"/>
    <p:sldId id="522" r:id="rId59"/>
    <p:sldId id="347" r:id="rId60"/>
    <p:sldId id="348" r:id="rId61"/>
    <p:sldId id="523" r:id="rId62"/>
    <p:sldId id="350" r:id="rId63"/>
    <p:sldId id="524" r:id="rId64"/>
    <p:sldId id="525" r:id="rId65"/>
    <p:sldId id="526" r:id="rId66"/>
    <p:sldId id="528" r:id="rId67"/>
    <p:sldId id="529" r:id="rId68"/>
    <p:sldId id="351" r:id="rId69"/>
    <p:sldId id="353" r:id="rId70"/>
    <p:sldId id="354" r:id="rId71"/>
    <p:sldId id="356" r:id="rId72"/>
    <p:sldId id="380" r:id="rId73"/>
    <p:sldId id="381" r:id="rId74"/>
    <p:sldId id="530" r:id="rId75"/>
    <p:sldId id="359" r:id="rId76"/>
    <p:sldId id="531" r:id="rId77"/>
    <p:sldId id="379" r:id="rId78"/>
    <p:sldId id="364" r:id="rId79"/>
    <p:sldId id="368" r:id="rId80"/>
    <p:sldId id="369" r:id="rId81"/>
    <p:sldId id="395" r:id="rId82"/>
    <p:sldId id="532" r:id="rId83"/>
    <p:sldId id="409" r:id="rId84"/>
    <p:sldId id="533" r:id="rId85"/>
    <p:sldId id="534" r:id="rId86"/>
    <p:sldId id="535" r:id="rId87"/>
    <p:sldId id="413" r:id="rId88"/>
    <p:sldId id="414" r:id="rId89"/>
    <p:sldId id="415" r:id="rId90"/>
    <p:sldId id="416" r:id="rId91"/>
    <p:sldId id="418" r:id="rId92"/>
    <p:sldId id="420" r:id="rId93"/>
    <p:sldId id="423" r:id="rId94"/>
    <p:sldId id="425" r:id="rId95"/>
    <p:sldId id="426" r:id="rId96"/>
    <p:sldId id="427" r:id="rId97"/>
    <p:sldId id="428" r:id="rId98"/>
    <p:sldId id="429" r:id="rId99"/>
    <p:sldId id="430" r:id="rId100"/>
    <p:sldId id="431" r:id="rId101"/>
    <p:sldId id="432" r:id="rId102"/>
    <p:sldId id="433" r:id="rId103"/>
    <p:sldId id="434" r:id="rId104"/>
    <p:sldId id="435" r:id="rId105"/>
    <p:sldId id="436" r:id="rId106"/>
    <p:sldId id="437" r:id="rId107"/>
    <p:sldId id="438" r:id="rId108"/>
    <p:sldId id="439" r:id="rId109"/>
    <p:sldId id="440" r:id="rId1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1008" userDrawn="1">
          <p15:clr>
            <a:srgbClr val="A4A3A4"/>
          </p15:clr>
        </p15:guide>
        <p15:guide id="3" orient="horz" pos="3792" userDrawn="1">
          <p15:clr>
            <a:srgbClr val="A4A3A4"/>
          </p15:clr>
        </p15:guide>
        <p15:guide id="4" orient="horz" pos="1152" userDrawn="1">
          <p15:clr>
            <a:srgbClr val="A4A3A4"/>
          </p15:clr>
        </p15:guide>
        <p15:guide id="5" orient="horz" pos="3360" userDrawn="1">
          <p15:clr>
            <a:srgbClr val="A4A3A4"/>
          </p15:clr>
        </p15:guide>
        <p15:guide id="6" orient="horz" pos="3072" userDrawn="1">
          <p15:clr>
            <a:srgbClr val="A4A3A4"/>
          </p15:clr>
        </p15:guide>
        <p15:guide id="7" orient="horz" pos="864" userDrawn="1">
          <p15:clr>
            <a:srgbClr val="A4A3A4"/>
          </p15:clr>
        </p15:guide>
        <p15:guide id="8" orient="horz" pos="528" userDrawn="1">
          <p15:clr>
            <a:srgbClr val="A4A3A4"/>
          </p15:clr>
        </p15:guide>
        <p15:guide id="9" orient="horz" pos="2784" userDrawn="1">
          <p15:clr>
            <a:srgbClr val="A4A3A4"/>
          </p15:clr>
        </p15:guide>
        <p15:guide id="10" pos="2880" userDrawn="1">
          <p15:clr>
            <a:srgbClr val="A4A3A4"/>
          </p15:clr>
        </p15:guide>
        <p15:guide id="11" pos="719" userDrawn="1">
          <p15:clr>
            <a:srgbClr val="A4A3A4"/>
          </p15:clr>
        </p15:guide>
        <p15:guide id="12" pos="5257" userDrawn="1">
          <p15:clr>
            <a:srgbClr val="A4A3A4"/>
          </p15:clr>
        </p15:guide>
        <p15:guide id="13" pos="5041" userDrawn="1">
          <p15:clr>
            <a:srgbClr val="A4A3A4"/>
          </p15:clr>
        </p15:guide>
        <p15:guide id="14" pos="4608" userDrawn="1">
          <p15:clr>
            <a:srgbClr val="A4A3A4"/>
          </p15:clr>
        </p15:guide>
        <p15:guide id="15" pos="2988" userDrawn="1">
          <p15:clr>
            <a:srgbClr val="A4A3A4"/>
          </p15:clr>
        </p15:guide>
        <p15:guide id="16" pos="395" userDrawn="1">
          <p15:clr>
            <a:srgbClr val="A4A3A4"/>
          </p15:clr>
        </p15:guide>
        <p15:guide id="17" pos="536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p:cViewPr varScale="1">
        <p:scale>
          <a:sx n="113" d="100"/>
          <a:sy n="113" d="100"/>
        </p:scale>
        <p:origin x="1536" y="114"/>
      </p:cViewPr>
      <p:guideLst>
        <p:guide orient="horz" pos="2160"/>
        <p:guide orient="horz" pos="1008"/>
        <p:guide orient="horz" pos="3792"/>
        <p:guide orient="horz" pos="1152"/>
        <p:guide orient="horz" pos="3360"/>
        <p:guide orient="horz" pos="3072"/>
        <p:guide orient="horz" pos="864"/>
        <p:guide orient="horz" pos="528"/>
        <p:guide orient="horz" pos="2784"/>
        <p:guide pos="2880"/>
        <p:guide pos="719"/>
        <p:guide pos="5257"/>
        <p:guide pos="5041"/>
        <p:guide pos="4608"/>
        <p:guide pos="2988"/>
        <p:guide pos="395"/>
        <p:guide pos="5365"/>
      </p:guideLst>
    </p:cSldViewPr>
  </p:slideViewPr>
  <p:notesTextViewPr>
    <p:cViewPr>
      <p:scale>
        <a:sx n="1" d="1"/>
        <a:sy n="1" d="1"/>
      </p:scale>
      <p:origin x="0" y="0"/>
    </p:cViewPr>
  </p:notesTextViewPr>
  <p:sorterViewPr>
    <p:cViewPr varScale="1">
      <p:scale>
        <a:sx n="100" d="100"/>
        <a:sy n="100" d="100"/>
      </p:scale>
      <p:origin x="0" y="-6228"/>
    </p:cViewPr>
  </p:sorterViewPr>
  <p:notesViewPr>
    <p:cSldViewPr>
      <p:cViewPr varScale="1">
        <p:scale>
          <a:sx n="76" d="100"/>
          <a:sy n="76" d="100"/>
        </p:scale>
        <p:origin x="168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handoutMaster" Target="handoutMasters/handoutMaster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slide" Target="slides/slide98.xml"/><Relationship Id="rId110" Type="http://schemas.openxmlformats.org/officeDocument/2006/relationships/slide" Target="slides/slide106.xml"/><Relationship Id="rId115"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11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4A8D02-4E65-4CCD-8312-4AB164C6C77D}" type="datetimeFigureOut">
              <a:rPr lang="en-US"/>
              <a:t>1/8/2026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C119DBA-4540-49B3-8FA9-6259387ECF9E}" type="slidenum">
              <a:rPr/>
              <a:t>‹#›</a:t>
            </a:fld>
            <a:endParaRPr/>
          </a:p>
        </p:txBody>
      </p:sp>
    </p:spTree>
    <p:extLst>
      <p:ext uri="{BB962C8B-B14F-4D97-AF65-F5344CB8AC3E}">
        <p14:creationId xmlns:p14="http://schemas.microsoft.com/office/powerpoint/2010/main" val="3587619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A755D9-D361-47B8-9652-3B4EA9776CE5}" type="datetimeFigureOut">
              <a:rPr lang="en-US"/>
              <a:t>1/8/2026</a:t>
            </a:fld>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B36274-F2B9-4C45-BBB4-0EDF4CD651A7}" type="slidenum">
              <a:rPr/>
              <a:t>‹#›</a:t>
            </a:fld>
            <a:endParaRPr/>
          </a:p>
        </p:txBody>
      </p:sp>
    </p:spTree>
    <p:extLst>
      <p:ext uri="{BB962C8B-B14F-4D97-AF65-F5344CB8AC3E}">
        <p14:creationId xmlns:p14="http://schemas.microsoft.com/office/powerpoint/2010/main" val="214768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Tree>
    <p:extLst>
      <p:ext uri="{BB962C8B-B14F-4D97-AF65-F5344CB8AC3E}">
        <p14:creationId xmlns:p14="http://schemas.microsoft.com/office/powerpoint/2010/main" val="4044460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741C4-D9F9-4567-0C59-F27A1CA34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B9F5C-FD7C-7275-25D8-B9B389BB64B4}"/>
              </a:ext>
            </a:extLst>
          </p:cNvPr>
          <p:cNvSpPr>
            <a:spLocks noGrp="1" noRot="1" noChangeAspect="1"/>
          </p:cNvSpPr>
          <p:nvPr>
            <p:ph type="sldImg"/>
          </p:nvPr>
        </p:nvSpPr>
        <p:spPr>
          <a:xfrm>
            <a:off x="920750" y="549275"/>
            <a:ext cx="4949825" cy="3711575"/>
          </a:xfrm>
        </p:spPr>
        <p:txBody>
          <a:bodyPr/>
          <a:lstStyle/>
          <a:p>
            <a:endParaRPr lang="en-IN"/>
          </a:p>
        </p:txBody>
      </p:sp>
      <p:sp>
        <p:nvSpPr>
          <p:cNvPr id="4" name="Footer Placeholder 3">
            <a:extLst>
              <a:ext uri="{FF2B5EF4-FFF2-40B4-BE49-F238E27FC236}">
                <a16:creationId xmlns:a16="http://schemas.microsoft.com/office/drawing/2014/main" id="{7732922E-6C99-7040-C1E3-3B7CD7DEDF66}"/>
              </a:ext>
            </a:extLst>
          </p:cNvPr>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a:extLst>
              <a:ext uri="{FF2B5EF4-FFF2-40B4-BE49-F238E27FC236}">
                <a16:creationId xmlns:a16="http://schemas.microsoft.com/office/drawing/2014/main" id="{E9FB6116-8047-EEC4-7B3B-0FB2690CCA42}"/>
              </a:ext>
            </a:extLst>
          </p:cNvPr>
          <p:cNvSpPr>
            <a:spLocks noGrp="1"/>
          </p:cNvSpPr>
          <p:nvPr>
            <p:ph type="sldNum" sz="quarter" idx="11"/>
          </p:nvPr>
        </p:nvSpPr>
        <p:spPr/>
        <p:txBody>
          <a:bodyPr/>
          <a:lstStyle/>
          <a:p>
            <a:pPr>
              <a:defRPr/>
            </a:pPr>
            <a:fld id="{80249327-EC2F-4096-8D35-6B76097739FC}" type="slidenum">
              <a:rPr lang="en-US" smtClean="0"/>
              <a:pPr>
                <a:defRPr/>
              </a:pPr>
              <a:t>21</a:t>
            </a:fld>
            <a:endParaRPr lang="en-US"/>
          </a:p>
        </p:txBody>
      </p:sp>
      <p:sp>
        <p:nvSpPr>
          <p:cNvPr id="7" name="Footer Placeholder 7">
            <a:extLst>
              <a:ext uri="{FF2B5EF4-FFF2-40B4-BE49-F238E27FC236}">
                <a16:creationId xmlns:a16="http://schemas.microsoft.com/office/drawing/2014/main" id="{5645B579-55C3-3F0E-D857-8C11A41EEA92}"/>
              </a:ext>
            </a:extLst>
          </p:cNvPr>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10: Backup and Archive</a:t>
            </a:r>
          </a:p>
        </p:txBody>
      </p:sp>
    </p:spTree>
    <p:extLst>
      <p:ext uri="{BB962C8B-B14F-4D97-AF65-F5344CB8AC3E}">
        <p14:creationId xmlns:p14="http://schemas.microsoft.com/office/powerpoint/2010/main" val="3979594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65DF0-9C6E-B67A-008E-30624DF22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4BEB5-A735-77E8-ABB0-C51A6120065D}"/>
              </a:ext>
            </a:extLst>
          </p:cNvPr>
          <p:cNvSpPr>
            <a:spLocks noGrp="1" noRot="1" noChangeAspect="1"/>
          </p:cNvSpPr>
          <p:nvPr>
            <p:ph type="sldImg"/>
          </p:nvPr>
        </p:nvSpPr>
        <p:spPr/>
        <p:txBody>
          <a:bodyPr/>
          <a:lstStyle/>
          <a:p>
            <a:endParaRPr lang="en-IN"/>
          </a:p>
        </p:txBody>
      </p:sp>
      <p:sp>
        <p:nvSpPr>
          <p:cNvPr id="4" name="Footer Placeholder 3">
            <a:extLst>
              <a:ext uri="{FF2B5EF4-FFF2-40B4-BE49-F238E27FC236}">
                <a16:creationId xmlns:a16="http://schemas.microsoft.com/office/drawing/2014/main" id="{EA4C922D-E070-4251-81A7-70EB2AB8F468}"/>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a:extLst>
              <a:ext uri="{FF2B5EF4-FFF2-40B4-BE49-F238E27FC236}">
                <a16:creationId xmlns:a16="http://schemas.microsoft.com/office/drawing/2014/main" id="{746F693E-4966-9D04-83CA-6035DCDE75A1}"/>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a:extLst>
              <a:ext uri="{FF2B5EF4-FFF2-40B4-BE49-F238E27FC236}">
                <a16:creationId xmlns:a16="http://schemas.microsoft.com/office/drawing/2014/main" id="{81989A5E-B515-559E-85E0-C4063B5903D5}"/>
              </a:ext>
            </a:extLst>
          </p:cNvPr>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extLst>
      <p:ext uri="{BB962C8B-B14F-4D97-AF65-F5344CB8AC3E}">
        <p14:creationId xmlns:p14="http://schemas.microsoft.com/office/powerpoint/2010/main" val="635823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25</a:t>
            </a:fld>
            <a:endParaRPr lang="en-US"/>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10: Backup and Archive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26</a:t>
            </a:fld>
            <a:endParaRPr lang="en-US"/>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10: Backup and Archive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920750" y="549275"/>
            <a:ext cx="4949825" cy="3711575"/>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E62709-12B7-481E-AF02-15961EF83D30}" type="slidenum">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extLst>
      <p:ext uri="{BB962C8B-B14F-4D97-AF65-F5344CB8AC3E}">
        <p14:creationId xmlns:p14="http://schemas.microsoft.com/office/powerpoint/2010/main" val="1229817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extLst>
      <p:ext uri="{BB962C8B-B14F-4D97-AF65-F5344CB8AC3E}">
        <p14:creationId xmlns:p14="http://schemas.microsoft.com/office/powerpoint/2010/main" val="1135828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917575" y="549275"/>
            <a:ext cx="4949825" cy="3711575"/>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E62709-12B7-481E-AF02-15961EF83D30}" type="slidenum">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800600" y="9994106"/>
            <a:ext cx="2104231" cy="228600"/>
          </a:xfrm>
          <a:prstGeom prst="rect">
            <a:avLst/>
          </a:prstGeom>
        </p:spPr>
        <p:txBody>
          <a:bodyPr vert="horz" lIns="99075" tIns="49538" rIns="99075" bIns="49538"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10: Backup and Archive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48</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extLst>
      <p:ext uri="{BB962C8B-B14F-4D97-AF65-F5344CB8AC3E}">
        <p14:creationId xmlns:p14="http://schemas.microsoft.com/office/powerpoint/2010/main" val="7937955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52</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54</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56</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914400" y="549275"/>
            <a:ext cx="4956175" cy="3716338"/>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5"/>
          </p:nvPr>
        </p:nvSpPr>
        <p:spPr/>
        <p:txBody>
          <a:bodyPr/>
          <a:lstStyle/>
          <a:p>
            <a:pPr>
              <a:defRPr/>
            </a:pPr>
            <a:fld id="{0AE62709-12B7-481E-AF02-15961EF83D30}" type="slidenum">
              <a:rPr lang="en-US"/>
              <a:pPr>
                <a:defRPr/>
              </a:pPr>
              <a:t>57</a:t>
            </a:fld>
            <a:endParaRPr lang="en-US" dirty="0"/>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3832E-D606-083D-FF24-AD765C6D6213}"/>
            </a:ext>
          </a:extLst>
        </p:cNvPr>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97E6B940-C9AA-494B-9E1D-BF0ED2402355}"/>
              </a:ext>
            </a:extLst>
          </p:cNvPr>
          <p:cNvSpPr>
            <a:spLocks noGrp="1" noRot="1" noChangeAspect="1" noTextEdit="1"/>
          </p:cNvSpPr>
          <p:nvPr>
            <p:ph type="sldImg"/>
          </p:nvPr>
        </p:nvSpPr>
        <p:spPr bwMode="auto">
          <a:xfrm>
            <a:off x="914400" y="549275"/>
            <a:ext cx="4956175" cy="3716338"/>
          </a:xfrm>
          <a:noFill/>
          <a:ln>
            <a:solidFill>
              <a:srgbClr val="000000"/>
            </a:solidFill>
            <a:miter lim="800000"/>
            <a:headEnd/>
            <a:tailEnd/>
          </a:ln>
        </p:spPr>
        <p:txBody>
          <a:bodyPr/>
          <a:lstStyle/>
          <a:p>
            <a:endParaRPr lang="en-IN"/>
          </a:p>
        </p:txBody>
      </p:sp>
      <p:sp>
        <p:nvSpPr>
          <p:cNvPr id="4" name="Footer Placeholder 3">
            <a:extLst>
              <a:ext uri="{FF2B5EF4-FFF2-40B4-BE49-F238E27FC236}">
                <a16:creationId xmlns:a16="http://schemas.microsoft.com/office/drawing/2014/main" id="{DA8462C6-9765-C628-3BA8-931EE2BE18E4}"/>
              </a:ext>
            </a:extLst>
          </p:cNvPr>
          <p:cNvSpPr>
            <a:spLocks noGrp="1"/>
          </p:cNvSpPr>
          <p:nvPr>
            <p:ph type="ftr" sz="quarter" idx="4"/>
          </p:nvPr>
        </p:nvSpPr>
        <p:spPr/>
        <p:txBody>
          <a:bodyPr/>
          <a:lstStyle/>
          <a:p>
            <a:pPr>
              <a:defRPr/>
            </a:pPr>
            <a:r>
              <a:rPr lang="en-US"/>
              <a:t>Copyright © 2012 EMC Corporation. All Rights Reserved.</a:t>
            </a:r>
            <a:endParaRPr lang="en-US" dirty="0"/>
          </a:p>
        </p:txBody>
      </p:sp>
      <p:sp>
        <p:nvSpPr>
          <p:cNvPr id="5" name="Slide Number Placeholder 4">
            <a:extLst>
              <a:ext uri="{FF2B5EF4-FFF2-40B4-BE49-F238E27FC236}">
                <a16:creationId xmlns:a16="http://schemas.microsoft.com/office/drawing/2014/main" id="{A2A71540-1E24-161B-A354-5104736AC7BF}"/>
              </a:ext>
            </a:extLst>
          </p:cNvPr>
          <p:cNvSpPr>
            <a:spLocks noGrp="1"/>
          </p:cNvSpPr>
          <p:nvPr>
            <p:ph type="sldNum" sz="quarter" idx="5"/>
          </p:nvPr>
        </p:nvSpPr>
        <p:spPr/>
        <p:txBody>
          <a:bodyPr/>
          <a:lstStyle/>
          <a:p>
            <a:pPr>
              <a:defRPr/>
            </a:pPr>
            <a:fld id="{0AE62709-12B7-481E-AF02-15961EF83D30}" type="slidenum">
              <a:rPr lang="en-US"/>
              <a:pPr>
                <a:defRPr/>
              </a:pPr>
              <a:t>58</a:t>
            </a:fld>
            <a:endParaRPr lang="en-US" dirty="0"/>
          </a:p>
        </p:txBody>
      </p:sp>
      <p:sp>
        <p:nvSpPr>
          <p:cNvPr id="6" name="Footer Placeholder 7">
            <a:extLst>
              <a:ext uri="{FF2B5EF4-FFF2-40B4-BE49-F238E27FC236}">
                <a16:creationId xmlns:a16="http://schemas.microsoft.com/office/drawing/2014/main" id="{32B7CF19-E899-6C8E-2940-C44D32BB6E29}"/>
              </a:ext>
            </a:extLst>
          </p:cNvPr>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extLst>
      <p:ext uri="{BB962C8B-B14F-4D97-AF65-F5344CB8AC3E}">
        <p14:creationId xmlns:p14="http://schemas.microsoft.com/office/powerpoint/2010/main" val="5923957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Copyright © 2012 EMC Corporation. All Rights Reserved.</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66</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67</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68</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a:defRPr/>
            </a:pPr>
            <a:r>
              <a:rPr lang="en-US"/>
              <a:t>Copyright © 2012 EMC Corporation. All Rights Reserved.</a:t>
            </a:r>
            <a:endParaRPr lang="en-US" dirty="0"/>
          </a:p>
        </p:txBody>
      </p:sp>
      <p:sp>
        <p:nvSpPr>
          <p:cNvPr id="5" name="Slide Number Placeholder 4"/>
          <p:cNvSpPr>
            <a:spLocks noGrp="1"/>
          </p:cNvSpPr>
          <p:nvPr>
            <p:ph type="sldNum" sz="quarter" idx="11"/>
          </p:nvPr>
        </p:nvSpPr>
        <p:spPr/>
        <p:txBody>
          <a:bodyPr/>
          <a:lstStyle/>
          <a:p>
            <a:pPr>
              <a:defRPr/>
            </a:pPr>
            <a:fld id="{80249327-EC2F-4096-8D35-6B76097739FC}" type="slidenum">
              <a:rPr lang="en-US" smtClean="0"/>
              <a:pPr>
                <a:defRPr/>
              </a:pPr>
              <a:t>69</a:t>
            </a:fld>
            <a:endParaRPr lang="en-US"/>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etaNormalLF-Roman" pitchFamily="34" charset="0"/>
                <a:ea typeface="+mn-ea"/>
                <a:cs typeface="+mn-cs"/>
              </a:rPr>
              <a:t>Module 11: Local Replication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0002" name="Rectangle 2"/>
          <p:cNvSpPr>
            <a:spLocks noGrp="1" noRot="1" noChangeAspect="1" noChangeArrowheads="1" noTextEdit="1"/>
          </p:cNvSpPr>
          <p:nvPr>
            <p:ph type="sldImg"/>
          </p:nvPr>
        </p:nvSpPr>
        <p:spPr>
          <a:xfrm>
            <a:off x="914400" y="549275"/>
            <a:ext cx="4956175" cy="3716338"/>
          </a:xfrm>
          <a:ln/>
        </p:spPr>
        <p:txBody>
          <a:bodyPr/>
          <a:lstStyle/>
          <a:p>
            <a:endParaRPr lang="en-IN"/>
          </a:p>
        </p:txBody>
      </p:sp>
      <p:sp>
        <p:nvSpPr>
          <p:cNvPr id="5" name="Footer Placeholder 3"/>
          <p:cNvSpPr>
            <a:spLocks noGrp="1"/>
          </p:cNvSpPr>
          <p:nvPr>
            <p:ph type="ftr" sz="quarter" idx="4"/>
          </p:nvPr>
        </p:nvSpPr>
        <p:spPr>
          <a:xfrm>
            <a:off x="0" y="9893459"/>
            <a:ext cx="4420306" cy="34115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6" name="Slide Number Placeholder 4"/>
          <p:cNvSpPr>
            <a:spLocks noGrp="1"/>
          </p:cNvSpPr>
          <p:nvPr>
            <p:ph type="sldNum" sz="quarter" idx="5"/>
          </p:nvPr>
        </p:nvSpPr>
        <p:spPr>
          <a:xfrm>
            <a:off x="6630459" y="9893459"/>
            <a:ext cx="471960" cy="341154"/>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2050" name="Rectangle 2"/>
          <p:cNvSpPr>
            <a:spLocks noGrp="1" noRot="1" noChangeAspect="1" noChangeArrowheads="1" noTextEdit="1"/>
          </p:cNvSpPr>
          <p:nvPr>
            <p:ph type="sldImg"/>
          </p:nvPr>
        </p:nvSpPr>
        <p:spPr>
          <a:xfrm>
            <a:off x="914400" y="549275"/>
            <a:ext cx="4956175" cy="3716338"/>
          </a:xfrm>
          <a:ln/>
        </p:spPr>
        <p:txBody>
          <a:bodyPr/>
          <a:lstStyle/>
          <a:p>
            <a:endParaRPr lang="en-IN"/>
          </a:p>
        </p:txBody>
      </p:sp>
      <p:sp>
        <p:nvSpPr>
          <p:cNvPr id="5" name="Footer Placeholder 3"/>
          <p:cNvSpPr>
            <a:spLocks noGrp="1"/>
          </p:cNvSpPr>
          <p:nvPr>
            <p:ph type="ftr" sz="quarter" idx="4"/>
          </p:nvPr>
        </p:nvSpPr>
        <p:spPr>
          <a:xfrm>
            <a:off x="0" y="9893459"/>
            <a:ext cx="4420306" cy="34115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6" name="Slide Number Placeholder 4"/>
          <p:cNvSpPr>
            <a:spLocks noGrp="1"/>
          </p:cNvSpPr>
          <p:nvPr>
            <p:ph type="sldNum" sz="quarter" idx="5"/>
          </p:nvPr>
        </p:nvSpPr>
        <p:spPr>
          <a:xfrm>
            <a:off x="6630459" y="9893459"/>
            <a:ext cx="471960" cy="341154"/>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4400"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2561431" y="9994106"/>
            <a:ext cx="4191000" cy="2286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Module 11: Local Replication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73604" y="597019"/>
            <a:ext cx="6156855" cy="9211152"/>
          </a:xfrm>
          <a:prstGeom prst="rect">
            <a:avLst/>
          </a:prstGeom>
        </p:spPr>
        <p:txBody>
          <a:bodyPr>
            <a:normAutofit/>
          </a:bodyPr>
          <a:lstStyle/>
          <a:p>
            <a:endParaRPr lang="en-US" sz="4800" dirty="0"/>
          </a:p>
          <a:p>
            <a:endParaRPr lang="en-US" sz="4800" dirty="0"/>
          </a:p>
          <a:p>
            <a:endParaRPr lang="en-US" sz="4800" dirty="0"/>
          </a:p>
          <a:p>
            <a:pPr algn="ctr"/>
            <a:r>
              <a:rPr lang="en-US" sz="4400" kern="1200" dirty="0">
                <a:solidFill>
                  <a:srgbClr val="2C95DD"/>
                </a:solidFill>
                <a:latin typeface="Calibri" pitchFamily="34" charset="0"/>
                <a:ea typeface="+mn-ea"/>
                <a:cs typeface="+mn-cs"/>
              </a:rPr>
              <a:t>Module – 12</a:t>
            </a:r>
          </a:p>
          <a:p>
            <a:pPr algn="ctr"/>
            <a:r>
              <a:rPr lang="en-US" sz="4400" kern="1200" dirty="0">
                <a:solidFill>
                  <a:srgbClr val="2C95DD"/>
                </a:solidFill>
                <a:latin typeface="Calibri" pitchFamily="34" charset="0"/>
                <a:ea typeface="+mn-ea"/>
                <a:cs typeface="+mn-cs"/>
              </a:rPr>
              <a:t>Remote Replication</a:t>
            </a: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4" name="Footer Placeholder 3"/>
          <p:cNvSpPr>
            <a:spLocks noGrp="1"/>
          </p:cNvSpPr>
          <p:nvPr>
            <p:ph type="ftr" sz="quarter" idx="4"/>
          </p:nvPr>
        </p:nvSpPr>
        <p:spPr>
          <a:xfrm>
            <a:off x="0" y="9893459"/>
            <a:ext cx="4420306" cy="34115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917575" y="549275"/>
            <a:ext cx="4956175" cy="3716338"/>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7A8FCD-CAF3-47F6-8A34-9CCB6BC41AA7}" type="slidenum">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8"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917575" y="549275"/>
            <a:ext cx="4956175" cy="3716338"/>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E62709-12B7-481E-AF02-15961EF83D30}" type="slidenum">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8"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8"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917575" y="549275"/>
            <a:ext cx="4956175" cy="3716338"/>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E62709-12B7-481E-AF02-15961EF83D30}" type="slidenum">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0" y="549275"/>
            <a:ext cx="4949825" cy="3711575"/>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6"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917575" y="549275"/>
            <a:ext cx="4956175" cy="3716338"/>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E62709-12B7-481E-AF02-15961EF83D30}" type="slidenum">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549275"/>
            <a:ext cx="4956175" cy="3716338"/>
          </a:xfrm>
        </p:spPr>
        <p:txBody>
          <a:bodyPr/>
          <a:lstStyle/>
          <a:p>
            <a:endParaRPr lang="en-IN"/>
          </a:p>
        </p:txBody>
      </p:sp>
      <p:sp>
        <p:nvSpPr>
          <p:cNvPr id="4" name="Footer Placeholder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249327-EC2F-4096-8D35-6B76097739FC}" type="slidenum">
              <a:rPr kumimoji="0" lang="en-US" sz="1000" b="0" i="0" u="none" strike="noStrike" kern="1200" cap="none" spc="0" normalizeH="0" baseline="0" noProof="0" smtClean="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xfrm>
            <a:off x="917575" y="549275"/>
            <a:ext cx="4956175" cy="3716338"/>
          </a:xfrm>
          <a:noFill/>
          <a:ln>
            <a:solidFill>
              <a:srgbClr val="000000"/>
            </a:solidFill>
            <a:miter lim="800000"/>
            <a:headEnd/>
            <a:tailEnd/>
          </a:ln>
        </p:spPr>
        <p:txBody>
          <a:bodyPr/>
          <a:lstStyle/>
          <a:p>
            <a:endParaRPr lang="en-IN"/>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t>Copyright © 2012 EMC Corporation. All Rights Reserved.</a:t>
            </a:r>
            <a:endPar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F64EBD-D312-4E29-9396-4EA9F4281184}" type="slidenum">
              <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US" sz="1000" b="0" i="0" u="none" strike="noStrike" kern="1200" cap="none" spc="0" normalizeH="0" baseline="0" noProof="0">
              <a:ln>
                <a:noFill/>
              </a:ln>
              <a:solidFill>
                <a:prstClr val="black"/>
              </a:solidFill>
              <a:effectLst/>
              <a:uLnTx/>
              <a:uFillTx/>
              <a:latin typeface="MetaNormalLF-Roman" pitchFamily="34" charset="0"/>
              <a:ea typeface="+mn-ea"/>
              <a:cs typeface="Arial"/>
            </a:endParaRPr>
          </a:p>
        </p:txBody>
      </p:sp>
      <p:sp>
        <p:nvSpPr>
          <p:cNvPr id="7" name="Footer Placeholder 7"/>
          <p:cNvSpPr txBox="1">
            <a:spLocks/>
          </p:cNvSpPr>
          <p:nvPr/>
        </p:nvSpPr>
        <p:spPr>
          <a:xfrm>
            <a:off x="4149976" y="9917906"/>
            <a:ext cx="2575560" cy="304800"/>
          </a:xfrm>
          <a:prstGeom prst="rect">
            <a:avLst/>
          </a:prstGeom>
        </p:spPr>
        <p:txBody>
          <a:bodyPr vert="horz" lIns="99075" tIns="49538" rIns="99075" bIns="49538"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etaNormalLF-Roman" pitchFamily="34" charset="0"/>
                <a:ea typeface="+mn-ea"/>
                <a:cs typeface="Arial"/>
              </a:rPr>
              <a:t>           Module 12: Remote Replication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2107" y="1371600"/>
            <a:ext cx="6859786" cy="3505200"/>
          </a:xfrm>
        </p:spPr>
        <p:txBody>
          <a:bodyPr>
            <a:noAutofit/>
          </a:bodyPr>
          <a:lstStyle>
            <a:lvl1pPr>
              <a:defRPr sz="7200"/>
            </a:lvl1pPr>
          </a:lstStyle>
          <a:p>
            <a:r>
              <a:rPr lang="en-US"/>
              <a:t>Click to edit Master title style</a:t>
            </a:r>
            <a:endParaRPr/>
          </a:p>
        </p:txBody>
      </p:sp>
      <p:sp>
        <p:nvSpPr>
          <p:cNvPr id="3" name="Subtitle 2"/>
          <p:cNvSpPr>
            <a:spLocks noGrp="1"/>
          </p:cNvSpPr>
          <p:nvPr>
            <p:ph type="subTitle" idx="1"/>
          </p:nvPr>
        </p:nvSpPr>
        <p:spPr>
          <a:xfrm>
            <a:off x="1142107" y="4953000"/>
            <a:ext cx="6173808" cy="1066800"/>
          </a:xfrm>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a:t>Ali Broumandnia, Broumandnia@gmail.com</a:t>
            </a:r>
            <a:endParaRPr lang="en-US" dirty="0"/>
          </a:p>
        </p:txBody>
      </p:sp>
      <p:sp>
        <p:nvSpPr>
          <p:cNvPr id="4" name="Date Placeholder 3"/>
          <p:cNvSpPr>
            <a:spLocks noGrp="1"/>
          </p:cNvSpPr>
          <p:nvPr>
            <p:ph type="dt" sz="half" idx="10"/>
          </p:nvPr>
        </p:nvSpPr>
        <p:spPr/>
        <p:txBody>
          <a:bodyPr/>
          <a:lstStyle/>
          <a:p>
            <a:fld id="{9FBB627E-E260-4428-B81F-2A0E51075F01}" type="datetime1">
              <a:rPr lang="en-US" smtClean="0"/>
              <a:t>1/8/2026</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41075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2pPr>
              <a:buClr>
                <a:schemeClr val="accent2"/>
              </a:buClr>
              <a:defRPr/>
            </a:lvl2pPr>
            <a:lvl5pPr>
              <a:defRPr/>
            </a:lvl5pPr>
            <a:lvl6pPr>
              <a:buClr>
                <a:schemeClr val="accent2"/>
              </a:buClr>
              <a:defRPr baseline="0"/>
            </a:lvl6pPr>
            <a:lvl7pPr>
              <a:buClr>
                <a:schemeClr val="accent2"/>
              </a:buClr>
              <a:defRPr baseline="0"/>
            </a:lvl7pPr>
            <a:lvl8pPr>
              <a:buClr>
                <a:schemeClr val="accent2"/>
              </a:buClr>
              <a:defRPr baseline="0"/>
            </a:lvl8pPr>
            <a:lvl9pPr>
              <a:buClr>
                <a:schemeClr val="accent2"/>
              </a:buCl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712FB7-1920-4820-90BC-1EC96C2B1F9A}" type="datetime1">
              <a:rPr lang="en-US" smtClean="0"/>
              <a:t>1/8/2026</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836337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2108" y="2514601"/>
            <a:ext cx="6859786" cy="2819400"/>
          </a:xfrm>
        </p:spPr>
        <p:txBody>
          <a:bodyPr anchor="b">
            <a:noAutofit/>
          </a:bodyPr>
          <a:lstStyle>
            <a:lvl1pPr algn="l">
              <a:defRPr sz="6600" b="0" i="0" cap="none" baseline="0"/>
            </a:lvl1pPr>
          </a:lstStyle>
          <a:p>
            <a:r>
              <a:rPr lang="en-US"/>
              <a:t>Click to edit Master title style</a:t>
            </a:r>
            <a:endParaRPr/>
          </a:p>
        </p:txBody>
      </p:sp>
      <p:sp>
        <p:nvSpPr>
          <p:cNvPr id="3" name="Text Placeholder 2"/>
          <p:cNvSpPr>
            <a:spLocks noGrp="1"/>
          </p:cNvSpPr>
          <p:nvPr>
            <p:ph type="body" idx="1"/>
          </p:nvPr>
        </p:nvSpPr>
        <p:spPr>
          <a:xfrm>
            <a:off x="1142107" y="990600"/>
            <a:ext cx="6173808"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D639262-D67E-4C84-9BF6-B53141F2F33C}" type="datetime1">
              <a:rPr lang="en-US" smtClean="0"/>
              <a:t>1/8/2026</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59165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2108" y="533400"/>
            <a:ext cx="7202776" cy="1143000"/>
          </a:xfrm>
        </p:spPr>
        <p:txBody>
          <a:bodyPr/>
          <a:lstStyle/>
          <a:p>
            <a:r>
              <a:rPr lang="en-US"/>
              <a:t>Click to edit Master title style</a:t>
            </a:r>
            <a:endParaRPr/>
          </a:p>
        </p:txBody>
      </p:sp>
      <p:sp>
        <p:nvSpPr>
          <p:cNvPr id="3" name="Content Placeholder 2"/>
          <p:cNvSpPr>
            <a:spLocks noGrp="1"/>
          </p:cNvSpPr>
          <p:nvPr>
            <p:ph sz="half" idx="1"/>
          </p:nvPr>
        </p:nvSpPr>
        <p:spPr>
          <a:xfrm>
            <a:off x="1142108" y="1828800"/>
            <a:ext cx="3484771"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57824" y="1828800"/>
            <a:ext cx="3487059"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A80D91E-EBCF-44F3-9B53-25F7E6E143AD}" type="datetime1">
              <a:rPr lang="en-US" smtClean="0"/>
              <a:t>1/8/2026</a:t>
            </a:fld>
            <a:endParaRPr lang="en-US"/>
          </a:p>
        </p:txBody>
      </p:sp>
      <p:sp>
        <p:nvSpPr>
          <p:cNvPr id="7" name="Slide Number Placeholder 6"/>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8315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2108" y="533400"/>
            <a:ext cx="720277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42108" y="1828800"/>
            <a:ext cx="3484771"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2108" y="2667000"/>
            <a:ext cx="3484771" cy="3352800"/>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60112" y="1828800"/>
            <a:ext cx="3484771"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860112" y="2667000"/>
            <a:ext cx="3484771" cy="3352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Ali Broumandnia, Broumandnia@gmail.com</a:t>
            </a:r>
            <a:endParaRPr lang="en-US" dirty="0"/>
          </a:p>
        </p:txBody>
      </p:sp>
      <p:sp>
        <p:nvSpPr>
          <p:cNvPr id="7" name="Date Placeholder 6"/>
          <p:cNvSpPr>
            <a:spLocks noGrp="1"/>
          </p:cNvSpPr>
          <p:nvPr>
            <p:ph type="dt" sz="half" idx="10"/>
          </p:nvPr>
        </p:nvSpPr>
        <p:spPr/>
        <p:txBody>
          <a:bodyPr/>
          <a:lstStyle/>
          <a:p>
            <a:fld id="{F303A03E-E251-4460-B38C-6F8773DEFA7F}" type="datetime1">
              <a:rPr lang="en-US" smtClean="0"/>
              <a:t>1/8/2026</a:t>
            </a:fld>
            <a:endParaRPr lang="en-US"/>
          </a:p>
        </p:txBody>
      </p:sp>
      <p:sp>
        <p:nvSpPr>
          <p:cNvPr id="9" name="Slide Number Placeholder 8"/>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812924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75B5C8AC-2722-4F30-9011-A3BCE9BA9C50}" type="datetime1">
              <a:rPr lang="en-US" smtClean="0"/>
              <a:t>1/8/2026</a:t>
            </a:fld>
            <a:endParaRPr lang="en-US"/>
          </a:p>
        </p:txBody>
      </p:sp>
      <p:sp>
        <p:nvSpPr>
          <p:cNvPr id="5" name="Slide Number Placeholder 4"/>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223656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5A4FE3-8D5B-4E2A-86B3-9395331208D8}" type="datetime1">
              <a:rPr lang="en-US" smtClean="0"/>
              <a:t>1/8/2026</a:t>
            </a:fld>
            <a:endParaRPr lang="en-US"/>
          </a:p>
        </p:txBody>
      </p:sp>
      <p:sp>
        <p:nvSpPr>
          <p:cNvPr id="4" name="Slide Number Placeholder 3"/>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346525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7624" y="2590800"/>
            <a:ext cx="2458089" cy="1924050"/>
          </a:xfrm>
        </p:spPr>
        <p:txBody>
          <a:bodyPr anchor="b">
            <a:normAutofit/>
          </a:bodyPr>
          <a:lstStyle>
            <a:lvl1pPr algn="l">
              <a:defRPr sz="3200" b="0"/>
            </a:lvl1pPr>
          </a:lstStyle>
          <a:p>
            <a:r>
              <a:rPr lang="en-US"/>
              <a:t>Click to edit Master title style</a:t>
            </a:r>
            <a:endParaRPr/>
          </a:p>
        </p:txBody>
      </p:sp>
      <p:sp>
        <p:nvSpPr>
          <p:cNvPr id="3" name="Content Placeholder 2"/>
          <p:cNvSpPr>
            <a:spLocks noGrp="1"/>
          </p:cNvSpPr>
          <p:nvPr>
            <p:ph idx="1"/>
          </p:nvPr>
        </p:nvSpPr>
        <p:spPr>
          <a:xfrm>
            <a:off x="3886021" y="838200"/>
            <a:ext cx="4630357" cy="5181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27624" y="4648200"/>
            <a:ext cx="245808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7"/>
          <p:cNvSpPr>
            <a:spLocks noGrp="1"/>
          </p:cNvSpPr>
          <p:nvPr>
            <p:ph type="dt" sz="half" idx="10"/>
          </p:nvPr>
        </p:nvSpPr>
        <p:spPr/>
        <p:txBody>
          <a:bodyPr/>
          <a:lstStyle/>
          <a:p>
            <a:fld id="{B1C3E937-6C9D-4004-9CE6-0D68F0E61B08}" type="datetime1">
              <a:rPr lang="en-US" smtClean="0"/>
              <a:t>1/8/2026</a:t>
            </a:fld>
            <a:endParaRPr lang="en-US"/>
          </a:p>
        </p:txBody>
      </p:sp>
      <p:sp>
        <p:nvSpPr>
          <p:cNvPr id="10" name="Slide Number Placeholder 9"/>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913643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7624" y="2590800"/>
            <a:ext cx="2458089" cy="1924050"/>
          </a:xfrm>
        </p:spPr>
        <p:txBody>
          <a:bodyPr anchor="b">
            <a:normAutofit/>
          </a:bodyPr>
          <a:lstStyle>
            <a:lvl1pPr algn="l">
              <a:defRPr sz="3200" b="0"/>
            </a:lvl1pPr>
          </a:lstStyle>
          <a:p>
            <a:r>
              <a:rPr lang="en-US"/>
              <a:t>Click to edit Master title style</a:t>
            </a:r>
            <a:endParaRPr/>
          </a:p>
        </p:txBody>
      </p:sp>
      <p:sp>
        <p:nvSpPr>
          <p:cNvPr id="5" name="Rectangle 4"/>
          <p:cNvSpPr/>
          <p:nvPr/>
        </p:nvSpPr>
        <p:spPr>
          <a:xfrm>
            <a:off x="3828856" y="457200"/>
            <a:ext cx="4973345" cy="59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Picture Placeholder 2" descr="An empty placeholder to add an image. Click on the placeholder and select the image that you wish to add"/>
          <p:cNvSpPr>
            <a:spLocks noGrp="1"/>
          </p:cNvSpPr>
          <p:nvPr>
            <p:ph type="pic" idx="1"/>
          </p:nvPr>
        </p:nvSpPr>
        <p:spPr>
          <a:xfrm>
            <a:off x="4114681" y="836610"/>
            <a:ext cx="4401697" cy="5183190"/>
          </a:xfrm>
          <a:solidFill>
            <a:schemeClr val="bg2"/>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27624" y="4648200"/>
            <a:ext cx="245808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77385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baseline="0"/>
            </a:lvl6pPr>
            <a:lvl7pPr>
              <a:defRPr baseline="0"/>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8479D95-1C76-40F1-96D9-A72C82BE6FAD}" type="datetime1">
              <a:rPr lang="en-US" smtClean="0"/>
              <a:t>1/8/2026</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117331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5914" y="533400"/>
            <a:ext cx="1028968" cy="5592764"/>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42106" y="533400"/>
            <a:ext cx="6059479" cy="5592764"/>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CAF66C9-139C-4A62-ABB1-F704C4BCBC94}" type="datetime1">
              <a:rPr lang="en-US" smtClean="0"/>
              <a:t>1/8/2026</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88754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5" name="Footer Placeholder 4"/>
          <p:cNvSpPr>
            <a:spLocks noGrp="1"/>
          </p:cNvSpPr>
          <p:nvPr>
            <p:ph type="ftr" sz="quarter" idx="10"/>
          </p:nvPr>
        </p:nvSpPr>
        <p:spPr>
          <a:xfrm>
            <a:off x="4495800" y="6629400"/>
            <a:ext cx="4191000" cy="228600"/>
          </a:xfrm>
        </p:spPr>
        <p:txBody>
          <a:bodyPr/>
          <a:lstStyle>
            <a:lvl1pPr>
              <a:defRPr>
                <a:solidFill>
                  <a:schemeClr val="tx1">
                    <a:lumMod val="75000"/>
                    <a:lumOff val="25000"/>
                  </a:schemeClr>
                </a:solidFill>
              </a:defRPr>
            </a:lvl1pPr>
          </a:lstStyle>
          <a:p>
            <a:pPr>
              <a:defRPr/>
            </a:pPr>
            <a:r>
              <a:rPr lang="en-US" dirty="0"/>
              <a:t>Module #: Module Name</a:t>
            </a:r>
          </a:p>
        </p:txBody>
      </p:sp>
      <p:sp>
        <p:nvSpPr>
          <p:cNvPr id="6" name="Slide Number Placeholder 5"/>
          <p:cNvSpPr>
            <a:spLocks noGrp="1"/>
          </p:cNvSpPr>
          <p:nvPr>
            <p:ph type="sldNum" sz="quarter" idx="11"/>
          </p:nvPr>
        </p:nvSpPr>
        <p:spPr/>
        <p:txBody>
          <a:bodyPr/>
          <a:lstStyle>
            <a:lvl1pPr>
              <a:defRPr>
                <a:solidFill>
                  <a:schemeClr val="tx1">
                    <a:lumMod val="75000"/>
                    <a:lumOff val="25000"/>
                  </a:schemeClr>
                </a:solidFill>
              </a:defRPr>
            </a:lvl1pPr>
          </a:lstStyle>
          <a:p>
            <a:pPr>
              <a:defRPr/>
            </a:pPr>
            <a:fld id="{5BA1DFFF-3F85-458B-986A-7762775E0CEF}" type="slidenum">
              <a:rPr lang="en-US"/>
              <a:pPr>
                <a:defRPr/>
              </a:pPr>
              <a:t>‹#›</a:t>
            </a:fld>
            <a:endParaRPr lang="en-US"/>
          </a:p>
        </p:txBody>
      </p:sp>
      <p:sp>
        <p:nvSpPr>
          <p:cNvPr id="7" name="Rectangle 6"/>
          <p:cNvSpPr/>
          <p:nvPr userDrawn="1"/>
        </p:nvSpPr>
        <p:spPr>
          <a:xfrm>
            <a:off x="3200400" y="1524000"/>
            <a:ext cx="2667000" cy="3810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93903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BulletsTop_Graphic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914400"/>
            <a:ext cx="84582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2"/>
          </p:nvPr>
        </p:nvSpPr>
        <p:spPr>
          <a:xfrm>
            <a:off x="304800" y="3276600"/>
            <a:ext cx="8458200" cy="2667000"/>
          </a:xfrm>
        </p:spPr>
        <p:txBody>
          <a:bodyPr>
            <a:normAutofit/>
          </a:bodyPr>
          <a:lstStyle>
            <a:lvl1pPr>
              <a:buNone/>
              <a:defRPr/>
            </a:lvl1pPr>
          </a:lstStyle>
          <a:p>
            <a:pPr lvl="0"/>
            <a:r>
              <a:rPr lang="en-US" noProof="0"/>
              <a:t>Click icon to add picture</a:t>
            </a:r>
          </a:p>
        </p:txBody>
      </p:sp>
      <p:sp>
        <p:nvSpPr>
          <p:cNvPr id="6" name="Footer Placeholder 4"/>
          <p:cNvSpPr>
            <a:spLocks noGrp="1"/>
          </p:cNvSpPr>
          <p:nvPr>
            <p:ph type="ftr" sz="quarter" idx="13"/>
          </p:nvPr>
        </p:nvSpPr>
        <p:spPr>
          <a:xfrm>
            <a:off x="4495800" y="6629400"/>
            <a:ext cx="4191000" cy="228600"/>
          </a:xfrm>
        </p:spPr>
        <p:txBody>
          <a:bodyPr/>
          <a:lstStyle>
            <a:lvl1pPr>
              <a:defRPr>
                <a:solidFill>
                  <a:schemeClr val="tx1">
                    <a:lumMod val="75000"/>
                    <a:lumOff val="25000"/>
                  </a:schemeClr>
                </a:solidFill>
              </a:defRPr>
            </a:lvl1pPr>
          </a:lstStyle>
          <a:p>
            <a:pPr>
              <a:defRPr/>
            </a:pPr>
            <a:r>
              <a:rPr lang="en-US" dirty="0"/>
              <a:t>Module #: Module Name</a:t>
            </a:r>
          </a:p>
        </p:txBody>
      </p:sp>
      <p:sp>
        <p:nvSpPr>
          <p:cNvPr id="7" name="Slide Number Placeholder 5"/>
          <p:cNvSpPr>
            <a:spLocks noGrp="1"/>
          </p:cNvSpPr>
          <p:nvPr>
            <p:ph type="sldNum" sz="quarter" idx="14"/>
          </p:nvPr>
        </p:nvSpPr>
        <p:spPr/>
        <p:txBody>
          <a:bodyPr/>
          <a:lstStyle>
            <a:lvl1pPr>
              <a:defRPr>
                <a:solidFill>
                  <a:schemeClr val="tx1">
                    <a:lumMod val="75000"/>
                    <a:lumOff val="25000"/>
                  </a:schemeClr>
                </a:solidFill>
              </a:defRPr>
            </a:lvl1pPr>
          </a:lstStyle>
          <a:p>
            <a:pPr>
              <a:defRPr/>
            </a:pPr>
            <a:fld id="{895683FA-D0FB-447D-82E1-0D3AF418E355}" type="slidenum">
              <a:rPr lang="en-US"/>
              <a:pPr>
                <a:defRPr/>
              </a:pPr>
              <a:t>‹#›</a:t>
            </a:fld>
            <a:endParaRPr lang="en-US"/>
          </a:p>
        </p:txBody>
      </p:sp>
    </p:spTree>
    <p:extLst>
      <p:ext uri="{BB962C8B-B14F-4D97-AF65-F5344CB8AC3E}">
        <p14:creationId xmlns:p14="http://schemas.microsoft.com/office/powerpoint/2010/main" val="3443836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_GraphicsTop_Bullets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3733800"/>
            <a:ext cx="8458200" cy="2209800"/>
          </a:xfrm>
        </p:spPr>
        <p:txBody>
          <a:bodyPr/>
          <a:lstStyle>
            <a:lvl1pPr>
              <a:defRPr>
                <a:solidFill>
                  <a:schemeClr val="bg2">
                    <a:lumMod val="75000"/>
                  </a:schemeClr>
                </a:solidFill>
              </a:defRPr>
            </a:lvl1pPr>
            <a:lvl2pPr>
              <a:defRPr>
                <a:solidFill>
                  <a:schemeClr val="bg2">
                    <a:lumMod val="75000"/>
                  </a:schemeClr>
                </a:solidFill>
              </a:defRPr>
            </a:lvl2pPr>
            <a:lvl3pPr>
              <a:defRPr>
                <a:solidFill>
                  <a:schemeClr val="bg2">
                    <a:lumMod val="75000"/>
                  </a:schemeClr>
                </a:solidFill>
              </a:defRPr>
            </a:lvl3pPr>
            <a:lvl4pPr>
              <a:defRPr>
                <a:solidFill>
                  <a:schemeClr val="bg2">
                    <a:lumMod val="75000"/>
                  </a:schemeClr>
                </a:solidFill>
              </a:defRPr>
            </a:lvl4pPr>
            <a:lvl5pPr>
              <a:defRPr>
                <a:solidFill>
                  <a:schemeClr val="bg2">
                    <a:lumMod val="7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2"/>
          </p:nvPr>
        </p:nvSpPr>
        <p:spPr>
          <a:xfrm>
            <a:off x="304800" y="914400"/>
            <a:ext cx="8458200" cy="2667000"/>
          </a:xfrm>
        </p:spPr>
        <p:txBody>
          <a:bodyPr>
            <a:normAutofit/>
          </a:bodyPr>
          <a:lstStyle>
            <a:lvl1pPr>
              <a:buNone/>
              <a:defRPr>
                <a:solidFill>
                  <a:schemeClr val="bg2">
                    <a:lumMod val="75000"/>
                  </a:schemeClr>
                </a:solidFill>
              </a:defRPr>
            </a:lvl1pPr>
          </a:lstStyle>
          <a:p>
            <a:pPr lvl="0"/>
            <a:r>
              <a:rPr lang="en-US" noProof="0"/>
              <a:t>Click icon to add picture</a:t>
            </a:r>
            <a:endParaRPr lang="en-US" noProof="0" dirty="0"/>
          </a:p>
        </p:txBody>
      </p:sp>
      <p:sp>
        <p:nvSpPr>
          <p:cNvPr id="6" name="Footer Placeholder 4"/>
          <p:cNvSpPr>
            <a:spLocks noGrp="1"/>
          </p:cNvSpPr>
          <p:nvPr>
            <p:ph type="ftr" sz="quarter" idx="13"/>
          </p:nvPr>
        </p:nvSpPr>
        <p:spPr>
          <a:xfrm>
            <a:off x="4495800" y="6629400"/>
            <a:ext cx="4191000" cy="228600"/>
          </a:xfrm>
        </p:spPr>
        <p:txBody>
          <a:bodyPr/>
          <a:lstStyle>
            <a:lvl1pPr>
              <a:defRPr>
                <a:solidFill>
                  <a:schemeClr val="tx1">
                    <a:lumMod val="75000"/>
                    <a:lumOff val="25000"/>
                  </a:schemeClr>
                </a:solidFill>
              </a:defRPr>
            </a:lvl1pPr>
          </a:lstStyle>
          <a:p>
            <a:pPr>
              <a:defRPr/>
            </a:pPr>
            <a:r>
              <a:rPr lang="en-US" dirty="0"/>
              <a:t>Module #: Module Name</a:t>
            </a:r>
          </a:p>
        </p:txBody>
      </p:sp>
      <p:sp>
        <p:nvSpPr>
          <p:cNvPr id="7" name="Slide Number Placeholder 5"/>
          <p:cNvSpPr>
            <a:spLocks noGrp="1"/>
          </p:cNvSpPr>
          <p:nvPr>
            <p:ph type="sldNum" sz="quarter" idx="14"/>
          </p:nvPr>
        </p:nvSpPr>
        <p:spPr/>
        <p:txBody>
          <a:bodyPr/>
          <a:lstStyle>
            <a:lvl1pPr>
              <a:defRPr>
                <a:solidFill>
                  <a:schemeClr val="tx1">
                    <a:lumMod val="75000"/>
                    <a:lumOff val="25000"/>
                  </a:schemeClr>
                </a:solidFill>
              </a:defRPr>
            </a:lvl1pPr>
          </a:lstStyle>
          <a:p>
            <a:pPr>
              <a:defRPr/>
            </a:pPr>
            <a:fld id="{BA4D05BE-A5A8-4D83-BF6E-65FCE94A14E4}" type="slidenum">
              <a:rPr lang="en-US"/>
              <a:pPr>
                <a:defRPr/>
              </a:pPr>
              <a:t>‹#›</a:t>
            </a:fld>
            <a:endParaRPr lang="en-US"/>
          </a:p>
        </p:txBody>
      </p:sp>
    </p:spTree>
    <p:extLst>
      <p:ext uri="{BB962C8B-B14F-4D97-AF65-F5344CB8AC3E}">
        <p14:creationId xmlns:p14="http://schemas.microsoft.com/office/powerpoint/2010/main" val="3278306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overPage_Module">
    <p:spTree>
      <p:nvGrpSpPr>
        <p:cNvPr id="1" name=""/>
        <p:cNvGrpSpPr/>
        <p:nvPr/>
      </p:nvGrpSpPr>
      <p:grpSpPr>
        <a:xfrm>
          <a:off x="0" y="0"/>
          <a:ext cx="0" cy="0"/>
          <a:chOff x="0" y="0"/>
          <a:chExt cx="0" cy="0"/>
        </a:xfrm>
      </p:grpSpPr>
      <p:sp>
        <p:nvSpPr>
          <p:cNvPr id="8" name="Rectangle 7"/>
          <p:cNvSpPr/>
          <p:nvPr userDrawn="1"/>
        </p:nvSpPr>
        <p:spPr>
          <a:xfrm>
            <a:off x="3276600" y="1447800"/>
            <a:ext cx="2667000" cy="403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66800" y="1143000"/>
            <a:ext cx="6705600" cy="688975"/>
          </a:xfrm>
        </p:spPr>
        <p:txBody>
          <a:bodyPr anchor="t"/>
          <a:lstStyle>
            <a:lvl1pPr>
              <a:defRPr sz="2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438400"/>
            <a:ext cx="7086600" cy="2667000"/>
          </a:xfrm>
        </p:spPr>
        <p:txBody>
          <a:bodyPr/>
          <a:lstStyle>
            <a:lvl1pPr marL="0" indent="0" algn="l">
              <a:buNone/>
              <a:defRPr sz="2000">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p:cNvSpPr>
            <a:spLocks noGrp="1"/>
          </p:cNvSpPr>
          <p:nvPr>
            <p:ph type="ftr" sz="quarter" idx="10"/>
          </p:nvPr>
        </p:nvSpPr>
        <p:spPr>
          <a:xfrm>
            <a:off x="4495800" y="6629400"/>
            <a:ext cx="4191000" cy="228600"/>
          </a:xfrm>
        </p:spPr>
        <p:txBody>
          <a:bodyPr/>
          <a:lstStyle>
            <a:lvl1pPr>
              <a:defRPr/>
            </a:lvl1pPr>
          </a:lstStyle>
          <a:p>
            <a:pPr>
              <a:defRPr/>
            </a:pPr>
            <a:r>
              <a:rPr lang="en-US" dirty="0"/>
              <a:t>Module #: Module Name</a:t>
            </a:r>
          </a:p>
        </p:txBody>
      </p:sp>
      <p:sp>
        <p:nvSpPr>
          <p:cNvPr id="7" name="Slide Number Placeholder 5"/>
          <p:cNvSpPr>
            <a:spLocks noGrp="1"/>
          </p:cNvSpPr>
          <p:nvPr>
            <p:ph type="sldNum" sz="quarter" idx="11"/>
          </p:nvPr>
        </p:nvSpPr>
        <p:spPr/>
        <p:txBody>
          <a:bodyPr/>
          <a:lstStyle>
            <a:lvl1pPr>
              <a:defRPr/>
            </a:lvl1pPr>
          </a:lstStyle>
          <a:p>
            <a:pPr>
              <a:defRPr/>
            </a:pPr>
            <a:fld id="{550CDAE9-9707-4120-A90B-FABB84BE074E}" type="slidenum">
              <a:rPr lang="en-US"/>
              <a:pPr>
                <a:defRPr/>
              </a:pPr>
              <a:t>‹#›</a:t>
            </a:fld>
            <a:endParaRPr lang="en-US"/>
          </a:p>
        </p:txBody>
      </p:sp>
      <p:pic>
        <p:nvPicPr>
          <p:cNvPr id="11" name="Picture 10" descr="EMC_proven_Professional.blue-01.jpg"/>
          <p:cNvPicPr>
            <a:picLocks noChangeAspect="1"/>
          </p:cNvPicPr>
          <p:nvPr userDrawn="1"/>
        </p:nvPicPr>
        <p:blipFill>
          <a:blip r:embed="rId2" cstate="print"/>
          <a:stretch>
            <a:fillRect/>
          </a:stretch>
        </p:blipFill>
        <p:spPr>
          <a:xfrm>
            <a:off x="220640" y="206992"/>
            <a:ext cx="933047" cy="1443956"/>
          </a:xfrm>
          <a:prstGeom prst="rect">
            <a:avLst/>
          </a:prstGeom>
        </p:spPr>
      </p:pic>
    </p:spTree>
    <p:extLst>
      <p:ext uri="{BB962C8B-B14F-4D97-AF65-F5344CB8AC3E}">
        <p14:creationId xmlns:p14="http://schemas.microsoft.com/office/powerpoint/2010/main" val="1491145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Page_Lesson_Topic">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6019800" cy="1219200"/>
          </a:xfrm>
        </p:spPr>
        <p:txBody>
          <a:bodyPr anchor="t"/>
          <a:lstStyle>
            <a:lvl1pPr>
              <a:defRPr sz="2600">
                <a:solidFill>
                  <a:schemeClr val="tx1">
                    <a:lumMod val="50000"/>
                    <a:lumOff val="50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590800"/>
            <a:ext cx="7086600" cy="2667000"/>
          </a:xfrm>
        </p:spPr>
        <p:txBody>
          <a:bodyPr/>
          <a:lstStyle>
            <a:lvl1pPr marL="0" indent="0" algn="l">
              <a:buNone/>
              <a:defRPr sz="2000">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Content Placeholder 8"/>
          <p:cNvSpPr>
            <a:spLocks noGrp="1"/>
          </p:cNvSpPr>
          <p:nvPr>
            <p:ph sz="quarter" idx="13"/>
          </p:nvPr>
        </p:nvSpPr>
        <p:spPr>
          <a:xfrm>
            <a:off x="685800" y="1981200"/>
            <a:ext cx="7772400" cy="457200"/>
          </a:xfrm>
        </p:spPr>
        <p:txBody>
          <a:bodyPr/>
          <a:lstStyle>
            <a:lvl1pPr>
              <a:buNone/>
              <a:defRPr>
                <a:solidFill>
                  <a:srgbClr val="2C95DD"/>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7" name="Footer Placeholder 4"/>
          <p:cNvSpPr>
            <a:spLocks noGrp="1"/>
          </p:cNvSpPr>
          <p:nvPr>
            <p:ph type="ftr" sz="quarter" idx="14"/>
          </p:nvPr>
        </p:nvSpPr>
        <p:spPr>
          <a:xfrm>
            <a:off x="4495800" y="6629400"/>
            <a:ext cx="4191000" cy="228600"/>
          </a:xfrm>
        </p:spPr>
        <p:txBody>
          <a:bodyPr/>
          <a:lstStyle>
            <a:lvl1pPr>
              <a:defRPr>
                <a:solidFill>
                  <a:schemeClr val="tx1">
                    <a:lumMod val="75000"/>
                    <a:lumOff val="25000"/>
                  </a:schemeClr>
                </a:solidFill>
              </a:defRPr>
            </a:lvl1pPr>
          </a:lstStyle>
          <a:p>
            <a:pPr>
              <a:defRPr/>
            </a:pPr>
            <a:r>
              <a:rPr lang="en-US" dirty="0"/>
              <a:t>Module #: Module Name</a:t>
            </a:r>
          </a:p>
        </p:txBody>
      </p:sp>
      <p:sp>
        <p:nvSpPr>
          <p:cNvPr id="8" name="Slide Number Placeholder 5"/>
          <p:cNvSpPr>
            <a:spLocks noGrp="1"/>
          </p:cNvSpPr>
          <p:nvPr>
            <p:ph type="sldNum" sz="quarter" idx="15"/>
          </p:nvPr>
        </p:nvSpPr>
        <p:spPr/>
        <p:txBody>
          <a:bodyPr/>
          <a:lstStyle>
            <a:lvl1pPr>
              <a:defRPr>
                <a:solidFill>
                  <a:schemeClr val="tx1">
                    <a:lumMod val="75000"/>
                    <a:lumOff val="25000"/>
                  </a:schemeClr>
                </a:solidFill>
              </a:defRPr>
            </a:lvl1pPr>
          </a:lstStyle>
          <a:p>
            <a:pPr>
              <a:defRPr/>
            </a:pPr>
            <a:fld id="{E9C12BD9-86B3-4048-86CE-AC10D4E84307}" type="slidenum">
              <a:rPr lang="en-US"/>
              <a:pPr>
                <a:defRPr/>
              </a:pPr>
              <a:t>‹#›</a:t>
            </a:fld>
            <a:endParaRPr lang="en-US"/>
          </a:p>
        </p:txBody>
      </p:sp>
    </p:spTree>
    <p:extLst>
      <p:ext uri="{BB962C8B-B14F-4D97-AF65-F5344CB8AC3E}">
        <p14:creationId xmlns:p14="http://schemas.microsoft.com/office/powerpoint/2010/main" val="32963482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CoverPage">
    <p:spTree>
      <p:nvGrpSpPr>
        <p:cNvPr id="1" name=""/>
        <p:cNvGrpSpPr/>
        <p:nvPr/>
      </p:nvGrpSpPr>
      <p:grpSpPr>
        <a:xfrm>
          <a:off x="0" y="0"/>
          <a:ext cx="0" cy="0"/>
          <a:chOff x="0" y="0"/>
          <a:chExt cx="0" cy="0"/>
        </a:xfrm>
      </p:grpSpPr>
      <p:sp>
        <p:nvSpPr>
          <p:cNvPr id="7" name="Rectangle 6"/>
          <p:cNvSpPr/>
          <p:nvPr userDrawn="1"/>
        </p:nvSpPr>
        <p:spPr>
          <a:xfrm>
            <a:off x="3276600" y="1447800"/>
            <a:ext cx="2667000" cy="403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89113" y="1524000"/>
            <a:ext cx="6705600" cy="1362075"/>
          </a:xfrm>
          <a:ln>
            <a:solidFill>
              <a:srgbClr val="777777"/>
            </a:solidFill>
          </a:ln>
        </p:spPr>
        <p:txBody>
          <a:bodyPr anchor="t"/>
          <a:lstStyle>
            <a:lvl1pPr algn="l">
              <a:defRPr sz="3200" b="1"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828800" y="3048000"/>
            <a:ext cx="6705600" cy="1500187"/>
          </a:xfrm>
        </p:spPr>
        <p:txBody>
          <a:bodyPr/>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5" name="Footer Placeholder 4"/>
          <p:cNvSpPr>
            <a:spLocks noGrp="1"/>
          </p:cNvSpPr>
          <p:nvPr>
            <p:ph type="ftr" sz="quarter" idx="11"/>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67755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TwoColum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914400"/>
            <a:ext cx="41148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5" name="Footer Placeholder 5"/>
          <p:cNvSpPr>
            <a:spLocks noGrp="1"/>
          </p:cNvSpPr>
          <p:nvPr>
            <p:ph type="ftr" sz="quarter" idx="10"/>
          </p:nvPr>
        </p:nvSpPr>
        <p:spPr>
          <a:xfrm>
            <a:off x="4724400" y="6629400"/>
            <a:ext cx="3962400" cy="228600"/>
          </a:xfrm>
        </p:spPr>
        <p:txBody>
          <a:bodyPr/>
          <a:lstStyle>
            <a:lvl1pPr>
              <a:defRPr/>
            </a:lvl1pPr>
          </a:lstStyle>
          <a:p>
            <a:pPr>
              <a:defRPr/>
            </a:pPr>
            <a:r>
              <a:rPr lang="en-US" dirty="0"/>
              <a:t>Module #: Module Name</a:t>
            </a:r>
          </a:p>
        </p:txBody>
      </p:sp>
      <p:sp>
        <p:nvSpPr>
          <p:cNvPr id="6" name="Slide Number Placeholder 6"/>
          <p:cNvSpPr>
            <a:spLocks noGrp="1"/>
          </p:cNvSpPr>
          <p:nvPr>
            <p:ph type="sldNum" sz="quarter" idx="11"/>
          </p:nvPr>
        </p:nvSpPr>
        <p:spPr/>
        <p:txBody>
          <a:bodyPr/>
          <a:lstStyle>
            <a:lvl1pPr>
              <a:defRPr/>
            </a:lvl1pPr>
          </a:lstStyle>
          <a:p>
            <a:pPr>
              <a:defRPr/>
            </a:pPr>
            <a:fld id="{3D6A4D2E-BFDE-4579-B1E4-06245D6D649B}" type="slidenum">
              <a:rPr lang="en-US"/>
              <a:pPr>
                <a:defRPr/>
              </a:pPr>
              <a:t>‹#›</a:t>
            </a:fld>
            <a:endParaRPr lang="en-US" dirty="0"/>
          </a:p>
        </p:txBody>
      </p:sp>
    </p:spTree>
    <p:extLst>
      <p:ext uri="{BB962C8B-B14F-4D97-AF65-F5344CB8AC3E}">
        <p14:creationId xmlns:p14="http://schemas.microsoft.com/office/powerpoint/2010/main" val="25477108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BulletsLeft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4"/>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802861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BulletsSurround_Picture">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3352800"/>
            <a:ext cx="4114800" cy="25146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1"/>
            <a:ext cx="8458200" cy="2286000"/>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04800" y="3352800"/>
            <a:ext cx="41910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12" name="Footer Placeholder 11"/>
          <p:cNvSpPr>
            <a:spLocks noGrp="1"/>
          </p:cNvSpPr>
          <p:nvPr>
            <p:ph type="ftr" sz="quarter" idx="15"/>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13056306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BulletsLeft3/4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5791200" y="914400"/>
            <a:ext cx="2971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5334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Slide Number Placeholder 9"/>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1" name="Footer Placeholder 10"/>
          <p:cNvSpPr>
            <a:spLocks noGrp="1"/>
          </p:cNvSpPr>
          <p:nvPr>
            <p:ph type="ftr" sz="quarter" idx="14"/>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31676825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BulletsRight_PictureLef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p:cNvSpPr>
            <a:spLocks noGrp="1"/>
          </p:cNvSpPr>
          <p:nvPr>
            <p:ph type="pic" sz="quarter" idx="12"/>
          </p:nvPr>
        </p:nvSpPr>
        <p:spPr>
          <a:xfrm>
            <a:off x="3048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4"/>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37932388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ntent_TwoColumnwith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47750"/>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87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047750"/>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87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1"/>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12495341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_TablePlaceholder">
    <p:spTree>
      <p:nvGrpSpPr>
        <p:cNvPr id="1" name=""/>
        <p:cNvGrpSpPr/>
        <p:nvPr/>
      </p:nvGrpSpPr>
      <p:grpSpPr>
        <a:xfrm>
          <a:off x="0" y="0"/>
          <a:ext cx="0" cy="0"/>
          <a:chOff x="0" y="0"/>
          <a:chExt cx="0" cy="0"/>
        </a:xfrm>
      </p:grpSpPr>
      <p:sp>
        <p:nvSpPr>
          <p:cNvPr id="6" name="Table Placeholder 5"/>
          <p:cNvSpPr>
            <a:spLocks noGrp="1"/>
          </p:cNvSpPr>
          <p:nvPr>
            <p:ph type="tbl" sz="quarter" idx="12"/>
          </p:nvPr>
        </p:nvSpPr>
        <p:spPr>
          <a:xfrm>
            <a:off x="381000" y="1219200"/>
            <a:ext cx="8382000" cy="4648200"/>
          </a:xfrm>
        </p:spPr>
        <p:txBody>
          <a:bodyPr anchor="ctr">
            <a:normAutofit/>
          </a:bodyPr>
          <a:lstStyle>
            <a:lvl1pPr>
              <a:buNone/>
              <a:defRPr/>
            </a:lvl1pPr>
          </a:lstStyle>
          <a:p>
            <a:pPr lvl="0"/>
            <a:r>
              <a:rPr lang="en-US" noProof="0"/>
              <a:t>Click icon to add table</a:t>
            </a:r>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9" name="Footer Placeholder 8"/>
          <p:cNvSpPr>
            <a:spLocks noGrp="1"/>
          </p:cNvSpPr>
          <p:nvPr>
            <p:ph type="ftr" sz="quarter" idx="14"/>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20626704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_PicturePlacehol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Picture Placeholder 6"/>
          <p:cNvSpPr>
            <a:spLocks noGrp="1"/>
          </p:cNvSpPr>
          <p:nvPr>
            <p:ph type="pic" sz="quarter" idx="13"/>
          </p:nvPr>
        </p:nvSpPr>
        <p:spPr>
          <a:xfrm>
            <a:off x="304800" y="914400"/>
            <a:ext cx="8458200" cy="5105400"/>
          </a:xfrm>
        </p:spPr>
        <p:txBody>
          <a:bodyPr>
            <a:normAutofit/>
          </a:bodyPr>
          <a:lstStyle>
            <a:lvl1pPr>
              <a:buNone/>
              <a:defRPr/>
            </a:lvl1pPr>
          </a:lstStyle>
          <a:p>
            <a:pPr lvl="0"/>
            <a:r>
              <a:rPr lang="en-US" noProof="0"/>
              <a:t>Click icon to add picture</a:t>
            </a:r>
          </a:p>
        </p:txBody>
      </p:sp>
      <p:sp>
        <p:nvSpPr>
          <p:cNvPr id="6" name="Slide Number Placeholder 5"/>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8" name="Footer Placeholder 7"/>
          <p:cNvSpPr>
            <a:spLocks noGrp="1"/>
          </p:cNvSpPr>
          <p:nvPr>
            <p:ph type="ftr" sz="quarter" idx="15"/>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8743872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_Freefor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6" name="Footer Placeholder 5"/>
          <p:cNvSpPr>
            <a:spLocks noGrp="1"/>
          </p:cNvSpPr>
          <p:nvPr>
            <p:ph type="ftr" sz="quarter" idx="11"/>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11936217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_BulletsSurround_Picture">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3352800"/>
            <a:ext cx="4114800" cy="25146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1"/>
            <a:ext cx="8458200" cy="2286000"/>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04800" y="3352800"/>
            <a:ext cx="41910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12" name="Footer Placeholder 11"/>
          <p:cNvSpPr>
            <a:spLocks noGrp="1"/>
          </p:cNvSpPr>
          <p:nvPr>
            <p:ph type="ftr" sz="quarter" idx="15"/>
          </p:nvPr>
        </p:nvSpPr>
        <p:spPr/>
        <p:txBody>
          <a:bodyPr/>
          <a:lstStyle/>
          <a:p>
            <a:pPr>
              <a:defRPr/>
            </a:pPr>
            <a:r>
              <a:rPr lang="en-US"/>
              <a:t>Module #: Module Name</a:t>
            </a:r>
            <a:endParaRPr lang="en-US" dirty="0"/>
          </a:p>
        </p:txBody>
      </p:sp>
    </p:spTree>
    <p:extLst>
      <p:ext uri="{BB962C8B-B14F-4D97-AF65-F5344CB8AC3E}">
        <p14:creationId xmlns:p14="http://schemas.microsoft.com/office/powerpoint/2010/main" val="27899026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Box 2"/>
          <p:cNvSpPr txBox="1"/>
          <p:nvPr userDrawn="1"/>
        </p:nvSpPr>
        <p:spPr>
          <a:xfrm>
            <a:off x="2667000" y="2895600"/>
            <a:ext cx="3705181" cy="1015663"/>
          </a:xfrm>
          <a:prstGeom prst="rect">
            <a:avLst/>
          </a:prstGeom>
          <a:noFill/>
        </p:spPr>
        <p:txBody>
          <a:bodyPr wrap="none" rtlCol="0">
            <a:spAutoFit/>
          </a:bodyPr>
          <a:lstStyle/>
          <a:p>
            <a:pPr algn="ctr"/>
            <a:r>
              <a:rPr lang="en-US" sz="6000" dirty="0">
                <a:solidFill>
                  <a:schemeClr val="tx2"/>
                </a:solidFill>
              </a:rPr>
              <a:t>Thank You!</a:t>
            </a:r>
          </a:p>
        </p:txBody>
      </p:sp>
      <p:sp>
        <p:nvSpPr>
          <p:cNvPr id="4" name="Slide Number Placeholder 3"/>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5" name="Footer Placeholder 4"/>
          <p:cNvSpPr>
            <a:spLocks noGrp="1"/>
          </p:cNvSpPr>
          <p:nvPr>
            <p:ph type="ftr" sz="quarter" idx="11"/>
          </p:nvPr>
        </p:nvSpPr>
        <p:spPr/>
        <p:txBody>
          <a:bodyPr/>
          <a:lstStyle/>
          <a:p>
            <a:pPr>
              <a:defRPr/>
            </a:pPr>
            <a:r>
              <a:rPr lang="en-US"/>
              <a:t>Module #: Module Name</a:t>
            </a:r>
            <a:endParaRPr lang="en-US" dirty="0"/>
          </a:p>
        </p:txBody>
      </p:sp>
      <p:pic>
        <p:nvPicPr>
          <p:cNvPr id="6" name="Picture 5" descr="EMC_proven_Professional.blue-01.jpg"/>
          <p:cNvPicPr>
            <a:picLocks noChangeAspect="1"/>
          </p:cNvPicPr>
          <p:nvPr userDrawn="1"/>
        </p:nvPicPr>
        <p:blipFill>
          <a:blip r:embed="rId2" cstate="print"/>
          <a:stretch>
            <a:fillRect/>
          </a:stretch>
        </p:blipFill>
        <p:spPr>
          <a:xfrm>
            <a:off x="220640" y="206992"/>
            <a:ext cx="933047" cy="1443956"/>
          </a:xfrm>
          <a:prstGeom prst="rect">
            <a:avLst/>
          </a:prstGeom>
        </p:spPr>
      </p:pic>
    </p:spTree>
    <p:extLst>
      <p:ext uri="{BB962C8B-B14F-4D97-AF65-F5344CB8AC3E}">
        <p14:creationId xmlns:p14="http://schemas.microsoft.com/office/powerpoint/2010/main" val="324204690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Content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914400"/>
            <a:ext cx="8458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0"/>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10: Backup and Archive</a:t>
            </a:r>
            <a:endParaRPr lang="en-US" dirty="0"/>
          </a:p>
        </p:txBody>
      </p:sp>
      <p:sp>
        <p:nvSpPr>
          <p:cNvPr id="6" name="Slide Number Placeholder 5"/>
          <p:cNvSpPr>
            <a:spLocks noGrp="1"/>
          </p:cNvSpPr>
          <p:nvPr>
            <p:ph type="sldNum" sz="quarter" idx="11"/>
          </p:nvPr>
        </p:nvSpPr>
        <p:spPr/>
        <p:txBody>
          <a:bodyPr/>
          <a:lstStyle>
            <a:lvl1pPr>
              <a:defRPr>
                <a:solidFill>
                  <a:schemeClr val="tx1">
                    <a:lumMod val="75000"/>
                    <a:lumOff val="25000"/>
                  </a:schemeClr>
                </a:solidFill>
              </a:defRPr>
            </a:lvl1pPr>
          </a:lstStyle>
          <a:p>
            <a:pPr>
              <a:defRPr/>
            </a:pPr>
            <a:fld id="{5BA1DFFF-3F85-458B-986A-7762775E0CEF}" type="slidenum">
              <a:rPr lang="en-US"/>
              <a:pPr>
                <a:defRPr/>
              </a:pPr>
              <a:t>‹#›</a:t>
            </a:fld>
            <a:endParaRPr lang="en-US"/>
          </a:p>
        </p:txBody>
      </p:sp>
    </p:spTree>
    <p:extLst>
      <p:ext uri="{BB962C8B-B14F-4D97-AF65-F5344CB8AC3E}">
        <p14:creationId xmlns:p14="http://schemas.microsoft.com/office/powerpoint/2010/main" val="22804459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Content_BulletsLeft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5" name="Footer Placeholder 5"/>
          <p:cNvSpPr>
            <a:spLocks noGrp="1"/>
          </p:cNvSpPr>
          <p:nvPr>
            <p:ph type="ftr" sz="quarter" idx="13"/>
          </p:nvPr>
        </p:nvSpPr>
        <p:spPr>
          <a:xfrm>
            <a:off x="4953000" y="6629400"/>
            <a:ext cx="3962400" cy="228600"/>
          </a:xfrm>
        </p:spPr>
        <p:txBody>
          <a:bodyPr/>
          <a:lstStyle>
            <a:lvl1pPr>
              <a:defRPr/>
            </a:lvl1pPr>
          </a:lstStyle>
          <a:p>
            <a:pPr>
              <a:defRPr/>
            </a:pPr>
            <a:r>
              <a:rPr lang="en-US"/>
              <a:t>Module 10: Backup and Archive</a:t>
            </a:r>
          </a:p>
        </p:txBody>
      </p:sp>
      <p:sp>
        <p:nvSpPr>
          <p:cNvPr id="6" name="Slide Number Placeholder 6"/>
          <p:cNvSpPr>
            <a:spLocks noGrp="1"/>
          </p:cNvSpPr>
          <p:nvPr>
            <p:ph type="sldNum" sz="quarter" idx="14"/>
          </p:nvPr>
        </p:nvSpPr>
        <p:spPr/>
        <p:txBody>
          <a:bodyPr/>
          <a:lstStyle>
            <a:lvl1pPr>
              <a:defRPr/>
            </a:lvl1pPr>
          </a:lstStyle>
          <a:p>
            <a:pPr>
              <a:defRPr/>
            </a:pPr>
            <a:fld id="{F6773B01-4140-4737-A600-00C5477C65A7}" type="slidenum">
              <a:rPr lang="en-US" smtClean="0"/>
              <a:pPr>
                <a:defRPr/>
              </a:pPr>
              <a:t>‹#›</a:t>
            </a:fld>
            <a:endParaRPr lang="en-US"/>
          </a:p>
        </p:txBody>
      </p:sp>
    </p:spTree>
    <p:extLst>
      <p:ext uri="{BB962C8B-B14F-4D97-AF65-F5344CB8AC3E}">
        <p14:creationId xmlns:p14="http://schemas.microsoft.com/office/powerpoint/2010/main" val="41283204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5" name="Footer Placeholder 4"/>
          <p:cNvSpPr>
            <a:spLocks noGrp="1"/>
          </p:cNvSpPr>
          <p:nvPr>
            <p:ph type="ftr" sz="quarter" idx="10"/>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11: Local Replication</a:t>
            </a:r>
            <a:endParaRPr lang="en-US" dirty="0"/>
          </a:p>
        </p:txBody>
      </p:sp>
      <p:sp>
        <p:nvSpPr>
          <p:cNvPr id="6" name="Slide Number Placeholder 5"/>
          <p:cNvSpPr>
            <a:spLocks noGrp="1"/>
          </p:cNvSpPr>
          <p:nvPr>
            <p:ph type="sldNum" sz="quarter" idx="11"/>
          </p:nvPr>
        </p:nvSpPr>
        <p:spPr/>
        <p:txBody>
          <a:bodyPr/>
          <a:lstStyle>
            <a:lvl1pPr>
              <a:defRPr>
                <a:solidFill>
                  <a:schemeClr val="tx1">
                    <a:lumMod val="75000"/>
                    <a:lumOff val="25000"/>
                  </a:schemeClr>
                </a:solidFill>
              </a:defRPr>
            </a:lvl1pPr>
          </a:lstStyle>
          <a:p>
            <a:pPr>
              <a:defRPr/>
            </a:pPr>
            <a:fld id="{5BA1DFFF-3F85-458B-986A-7762775E0CEF}" type="slidenum">
              <a:rPr lang="en-US"/>
              <a:pPr>
                <a:defRPr/>
              </a:pPr>
              <a:t>‹#›</a:t>
            </a:fld>
            <a:endParaRPr lang="en-US"/>
          </a:p>
        </p:txBody>
      </p:sp>
      <p:sp>
        <p:nvSpPr>
          <p:cNvPr id="7" name="Rectangle 6"/>
          <p:cNvSpPr/>
          <p:nvPr userDrawn="1"/>
        </p:nvSpPr>
        <p:spPr>
          <a:xfrm>
            <a:off x="3200400" y="1524000"/>
            <a:ext cx="2667000" cy="38100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80415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_BulletsTop_Graphic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914400"/>
            <a:ext cx="84582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2"/>
          </p:nvPr>
        </p:nvSpPr>
        <p:spPr>
          <a:xfrm>
            <a:off x="304800" y="3276600"/>
            <a:ext cx="8458200" cy="2667000"/>
          </a:xfrm>
        </p:spPr>
        <p:txBody>
          <a:bodyPr>
            <a:normAutofit/>
          </a:bodyPr>
          <a:lstStyle>
            <a:lvl1pPr>
              <a:buNone/>
              <a:defRPr/>
            </a:lvl1pPr>
          </a:lstStyle>
          <a:p>
            <a:pPr lvl="0"/>
            <a:r>
              <a:rPr lang="en-US" noProof="0"/>
              <a:t>Click icon to add picture</a:t>
            </a:r>
          </a:p>
        </p:txBody>
      </p:sp>
      <p:sp>
        <p:nvSpPr>
          <p:cNvPr id="6" name="Footer Placeholder 4"/>
          <p:cNvSpPr>
            <a:spLocks noGrp="1"/>
          </p:cNvSpPr>
          <p:nvPr>
            <p:ph type="ftr" sz="quarter" idx="13"/>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11: Local Replication</a:t>
            </a:r>
            <a:endParaRPr lang="en-US" dirty="0"/>
          </a:p>
        </p:txBody>
      </p:sp>
      <p:sp>
        <p:nvSpPr>
          <p:cNvPr id="7" name="Slide Number Placeholder 5"/>
          <p:cNvSpPr>
            <a:spLocks noGrp="1"/>
          </p:cNvSpPr>
          <p:nvPr>
            <p:ph type="sldNum" sz="quarter" idx="14"/>
          </p:nvPr>
        </p:nvSpPr>
        <p:spPr/>
        <p:txBody>
          <a:bodyPr/>
          <a:lstStyle>
            <a:lvl1pPr>
              <a:defRPr>
                <a:solidFill>
                  <a:schemeClr val="tx1">
                    <a:lumMod val="75000"/>
                    <a:lumOff val="25000"/>
                  </a:schemeClr>
                </a:solidFill>
              </a:defRPr>
            </a:lvl1pPr>
          </a:lstStyle>
          <a:p>
            <a:pPr>
              <a:defRPr/>
            </a:pPr>
            <a:fld id="{895683FA-D0FB-447D-82E1-0D3AF418E355}" type="slidenum">
              <a:rPr lang="en-US"/>
              <a:pPr>
                <a:defRPr/>
              </a:pPr>
              <a:t>‹#›</a:t>
            </a:fld>
            <a:endParaRPr lang="en-US"/>
          </a:p>
        </p:txBody>
      </p:sp>
    </p:spTree>
    <p:extLst>
      <p:ext uri="{BB962C8B-B14F-4D97-AF65-F5344CB8AC3E}">
        <p14:creationId xmlns:p14="http://schemas.microsoft.com/office/powerpoint/2010/main" val="2787680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_GraphicsTop_Bullets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3733800"/>
            <a:ext cx="8458200" cy="2209800"/>
          </a:xfrm>
        </p:spPr>
        <p:txBody>
          <a:bodyPr/>
          <a:lstStyle>
            <a:lvl1pPr>
              <a:defRPr>
                <a:solidFill>
                  <a:schemeClr val="bg2">
                    <a:lumMod val="75000"/>
                  </a:schemeClr>
                </a:solidFill>
              </a:defRPr>
            </a:lvl1pPr>
            <a:lvl2pPr>
              <a:defRPr>
                <a:solidFill>
                  <a:schemeClr val="bg2">
                    <a:lumMod val="75000"/>
                  </a:schemeClr>
                </a:solidFill>
              </a:defRPr>
            </a:lvl2pPr>
            <a:lvl3pPr>
              <a:defRPr>
                <a:solidFill>
                  <a:schemeClr val="bg2">
                    <a:lumMod val="75000"/>
                  </a:schemeClr>
                </a:solidFill>
              </a:defRPr>
            </a:lvl3pPr>
            <a:lvl4pPr>
              <a:defRPr>
                <a:solidFill>
                  <a:schemeClr val="bg2">
                    <a:lumMod val="75000"/>
                  </a:schemeClr>
                </a:solidFill>
              </a:defRPr>
            </a:lvl4pPr>
            <a:lvl5pPr>
              <a:defRPr>
                <a:solidFill>
                  <a:schemeClr val="bg2">
                    <a:lumMod val="7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2"/>
          </p:nvPr>
        </p:nvSpPr>
        <p:spPr>
          <a:xfrm>
            <a:off x="304800" y="914400"/>
            <a:ext cx="8458200" cy="2667000"/>
          </a:xfrm>
        </p:spPr>
        <p:txBody>
          <a:bodyPr>
            <a:normAutofit/>
          </a:bodyPr>
          <a:lstStyle>
            <a:lvl1pPr>
              <a:buNone/>
              <a:defRPr>
                <a:solidFill>
                  <a:schemeClr val="bg2">
                    <a:lumMod val="75000"/>
                  </a:schemeClr>
                </a:solidFill>
              </a:defRPr>
            </a:lvl1pPr>
          </a:lstStyle>
          <a:p>
            <a:pPr lvl="0"/>
            <a:r>
              <a:rPr lang="en-US" noProof="0"/>
              <a:t>Click icon to add picture</a:t>
            </a:r>
            <a:endParaRPr lang="en-US" noProof="0" dirty="0"/>
          </a:p>
        </p:txBody>
      </p:sp>
      <p:sp>
        <p:nvSpPr>
          <p:cNvPr id="6" name="Footer Placeholder 4"/>
          <p:cNvSpPr>
            <a:spLocks noGrp="1"/>
          </p:cNvSpPr>
          <p:nvPr>
            <p:ph type="ftr" sz="quarter" idx="13"/>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11: Local Replication</a:t>
            </a:r>
            <a:endParaRPr lang="en-US" dirty="0"/>
          </a:p>
        </p:txBody>
      </p:sp>
      <p:sp>
        <p:nvSpPr>
          <p:cNvPr id="7" name="Slide Number Placeholder 5"/>
          <p:cNvSpPr>
            <a:spLocks noGrp="1"/>
          </p:cNvSpPr>
          <p:nvPr>
            <p:ph type="sldNum" sz="quarter" idx="14"/>
          </p:nvPr>
        </p:nvSpPr>
        <p:spPr/>
        <p:txBody>
          <a:bodyPr/>
          <a:lstStyle>
            <a:lvl1pPr>
              <a:defRPr>
                <a:solidFill>
                  <a:schemeClr val="tx1">
                    <a:lumMod val="75000"/>
                    <a:lumOff val="25000"/>
                  </a:schemeClr>
                </a:solidFill>
              </a:defRPr>
            </a:lvl1pPr>
          </a:lstStyle>
          <a:p>
            <a:pPr>
              <a:defRPr/>
            </a:pPr>
            <a:fld id="{BA4D05BE-A5A8-4D83-BF6E-65FCE94A14E4}" type="slidenum">
              <a:rPr lang="en-US"/>
              <a:pPr>
                <a:defRPr/>
              </a:pPr>
              <a:t>‹#›</a:t>
            </a:fld>
            <a:endParaRPr lang="en-US"/>
          </a:p>
        </p:txBody>
      </p:sp>
    </p:spTree>
    <p:extLst>
      <p:ext uri="{BB962C8B-B14F-4D97-AF65-F5344CB8AC3E}">
        <p14:creationId xmlns:p14="http://schemas.microsoft.com/office/powerpoint/2010/main" val="5070861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CoverPage_Module">
    <p:spTree>
      <p:nvGrpSpPr>
        <p:cNvPr id="1" name=""/>
        <p:cNvGrpSpPr/>
        <p:nvPr/>
      </p:nvGrpSpPr>
      <p:grpSpPr>
        <a:xfrm>
          <a:off x="0" y="0"/>
          <a:ext cx="0" cy="0"/>
          <a:chOff x="0" y="0"/>
          <a:chExt cx="0" cy="0"/>
        </a:xfrm>
      </p:grpSpPr>
      <p:sp>
        <p:nvSpPr>
          <p:cNvPr id="8" name="Rectangle 7"/>
          <p:cNvSpPr/>
          <p:nvPr userDrawn="1"/>
        </p:nvSpPr>
        <p:spPr>
          <a:xfrm>
            <a:off x="3276600" y="1447800"/>
            <a:ext cx="2667000" cy="403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66800" y="1143000"/>
            <a:ext cx="6705600" cy="688975"/>
          </a:xfrm>
        </p:spPr>
        <p:txBody>
          <a:bodyPr anchor="t"/>
          <a:lstStyle>
            <a:lvl1pPr>
              <a:defRPr sz="2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438400"/>
            <a:ext cx="7086600" cy="2667000"/>
          </a:xfrm>
        </p:spPr>
        <p:txBody>
          <a:bodyPr/>
          <a:lstStyle>
            <a:lvl1pPr marL="0" indent="0" algn="l">
              <a:buNone/>
              <a:defRPr sz="2000">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p:cNvSpPr>
            <a:spLocks noGrp="1"/>
          </p:cNvSpPr>
          <p:nvPr>
            <p:ph type="ftr" sz="quarter" idx="10"/>
          </p:nvPr>
        </p:nvSpPr>
        <p:spPr>
          <a:xfrm>
            <a:off x="4495800" y="6629400"/>
            <a:ext cx="4191000" cy="228600"/>
          </a:xfrm>
        </p:spPr>
        <p:txBody>
          <a:bodyPr/>
          <a:lstStyle>
            <a:lvl1pPr>
              <a:defRPr/>
            </a:lvl1pPr>
          </a:lstStyle>
          <a:p>
            <a:pPr>
              <a:defRPr/>
            </a:pPr>
            <a:r>
              <a:rPr lang="en-US"/>
              <a:t>Module 11: Local Replication</a:t>
            </a:r>
            <a:endParaRPr lang="en-US" dirty="0"/>
          </a:p>
        </p:txBody>
      </p:sp>
      <p:sp>
        <p:nvSpPr>
          <p:cNvPr id="7" name="Slide Number Placeholder 5"/>
          <p:cNvSpPr>
            <a:spLocks noGrp="1"/>
          </p:cNvSpPr>
          <p:nvPr>
            <p:ph type="sldNum" sz="quarter" idx="11"/>
          </p:nvPr>
        </p:nvSpPr>
        <p:spPr/>
        <p:txBody>
          <a:bodyPr/>
          <a:lstStyle>
            <a:lvl1pPr>
              <a:defRPr/>
            </a:lvl1pPr>
          </a:lstStyle>
          <a:p>
            <a:pPr>
              <a:defRPr/>
            </a:pPr>
            <a:fld id="{550CDAE9-9707-4120-A90B-FABB84BE074E}" type="slidenum">
              <a:rPr lang="en-US"/>
              <a:pPr>
                <a:defRPr/>
              </a:pPr>
              <a:t>‹#›</a:t>
            </a:fld>
            <a:endParaRPr lang="en-US"/>
          </a:p>
        </p:txBody>
      </p:sp>
      <p:pic>
        <p:nvPicPr>
          <p:cNvPr id="11" name="Picture 10" descr="EMC_proven_Professional.blue-01.jpg"/>
          <p:cNvPicPr>
            <a:picLocks noChangeAspect="1"/>
          </p:cNvPicPr>
          <p:nvPr userDrawn="1"/>
        </p:nvPicPr>
        <p:blipFill>
          <a:blip r:embed="rId2" cstate="print"/>
          <a:stretch>
            <a:fillRect/>
          </a:stretch>
        </p:blipFill>
        <p:spPr>
          <a:xfrm>
            <a:off x="220640" y="206992"/>
            <a:ext cx="933047" cy="1443956"/>
          </a:xfrm>
          <a:prstGeom prst="rect">
            <a:avLst/>
          </a:prstGeom>
        </p:spPr>
      </p:pic>
    </p:spTree>
    <p:extLst>
      <p:ext uri="{BB962C8B-B14F-4D97-AF65-F5344CB8AC3E}">
        <p14:creationId xmlns:p14="http://schemas.microsoft.com/office/powerpoint/2010/main" val="15510846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Page_Lesson_Topic">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6019800" cy="1219200"/>
          </a:xfrm>
        </p:spPr>
        <p:txBody>
          <a:bodyPr anchor="t"/>
          <a:lstStyle>
            <a:lvl1pPr>
              <a:defRPr sz="2600">
                <a:solidFill>
                  <a:schemeClr val="tx1">
                    <a:lumMod val="50000"/>
                    <a:lumOff val="50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590800"/>
            <a:ext cx="7086600" cy="2667000"/>
          </a:xfrm>
        </p:spPr>
        <p:txBody>
          <a:bodyPr/>
          <a:lstStyle>
            <a:lvl1pPr marL="0" indent="0" algn="l">
              <a:buNone/>
              <a:defRPr sz="2000">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Content Placeholder 8"/>
          <p:cNvSpPr>
            <a:spLocks noGrp="1"/>
          </p:cNvSpPr>
          <p:nvPr>
            <p:ph sz="quarter" idx="13"/>
          </p:nvPr>
        </p:nvSpPr>
        <p:spPr>
          <a:xfrm>
            <a:off x="685800" y="1981200"/>
            <a:ext cx="7772400" cy="457200"/>
          </a:xfrm>
        </p:spPr>
        <p:txBody>
          <a:bodyPr/>
          <a:lstStyle>
            <a:lvl1pPr>
              <a:buNone/>
              <a:defRPr>
                <a:solidFill>
                  <a:srgbClr val="2C95DD"/>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7" name="Footer Placeholder 4"/>
          <p:cNvSpPr>
            <a:spLocks noGrp="1"/>
          </p:cNvSpPr>
          <p:nvPr>
            <p:ph type="ftr" sz="quarter" idx="14"/>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11: Local Replication</a:t>
            </a:r>
            <a:endParaRPr lang="en-US" dirty="0"/>
          </a:p>
        </p:txBody>
      </p:sp>
      <p:sp>
        <p:nvSpPr>
          <p:cNvPr id="8" name="Slide Number Placeholder 5"/>
          <p:cNvSpPr>
            <a:spLocks noGrp="1"/>
          </p:cNvSpPr>
          <p:nvPr>
            <p:ph type="sldNum" sz="quarter" idx="15"/>
          </p:nvPr>
        </p:nvSpPr>
        <p:spPr/>
        <p:txBody>
          <a:bodyPr/>
          <a:lstStyle>
            <a:lvl1pPr>
              <a:defRPr>
                <a:solidFill>
                  <a:schemeClr val="tx1">
                    <a:lumMod val="75000"/>
                    <a:lumOff val="25000"/>
                  </a:schemeClr>
                </a:solidFill>
              </a:defRPr>
            </a:lvl1pPr>
          </a:lstStyle>
          <a:p>
            <a:pPr>
              <a:defRPr/>
            </a:pPr>
            <a:fld id="{E9C12BD9-86B3-4048-86CE-AC10D4E84307}" type="slidenum">
              <a:rPr lang="en-US"/>
              <a:pPr>
                <a:defRPr/>
              </a:pPr>
              <a:t>‹#›</a:t>
            </a:fld>
            <a:endParaRPr lang="en-US"/>
          </a:p>
        </p:txBody>
      </p:sp>
    </p:spTree>
    <p:extLst>
      <p:ext uri="{BB962C8B-B14F-4D97-AF65-F5344CB8AC3E}">
        <p14:creationId xmlns:p14="http://schemas.microsoft.com/office/powerpoint/2010/main" val="42270055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CoverPage">
    <p:spTree>
      <p:nvGrpSpPr>
        <p:cNvPr id="1" name=""/>
        <p:cNvGrpSpPr/>
        <p:nvPr/>
      </p:nvGrpSpPr>
      <p:grpSpPr>
        <a:xfrm>
          <a:off x="0" y="0"/>
          <a:ext cx="0" cy="0"/>
          <a:chOff x="0" y="0"/>
          <a:chExt cx="0" cy="0"/>
        </a:xfrm>
      </p:grpSpPr>
      <p:sp>
        <p:nvSpPr>
          <p:cNvPr id="7" name="Rectangle 6"/>
          <p:cNvSpPr/>
          <p:nvPr userDrawn="1"/>
        </p:nvSpPr>
        <p:spPr>
          <a:xfrm>
            <a:off x="3276600" y="1447800"/>
            <a:ext cx="2667000" cy="403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89113" y="1524000"/>
            <a:ext cx="6705600" cy="1362075"/>
          </a:xfrm>
          <a:ln>
            <a:solidFill>
              <a:srgbClr val="777777"/>
            </a:solidFill>
          </a:ln>
        </p:spPr>
        <p:txBody>
          <a:bodyPr anchor="t"/>
          <a:lstStyle>
            <a:lvl1pPr algn="l">
              <a:defRPr sz="3200" b="1"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828800" y="3048000"/>
            <a:ext cx="6705600" cy="1500187"/>
          </a:xfrm>
        </p:spPr>
        <p:txBody>
          <a:bodyPr/>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5" name="Footer Placeholder 4"/>
          <p:cNvSpPr>
            <a:spLocks noGrp="1"/>
          </p:cNvSpPr>
          <p:nvPr>
            <p:ph type="ftr" sz="quarter" idx="11"/>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6429094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_TwoColum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914400"/>
            <a:ext cx="41148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5" name="Footer Placeholder 5"/>
          <p:cNvSpPr>
            <a:spLocks noGrp="1"/>
          </p:cNvSpPr>
          <p:nvPr>
            <p:ph type="ftr" sz="quarter" idx="10"/>
          </p:nvPr>
        </p:nvSpPr>
        <p:spPr>
          <a:xfrm>
            <a:off x="4724400" y="6629400"/>
            <a:ext cx="3962400" cy="228600"/>
          </a:xfrm>
        </p:spPr>
        <p:txBody>
          <a:bodyPr/>
          <a:lstStyle>
            <a:lvl1pPr>
              <a:defRPr/>
            </a:lvl1pPr>
          </a:lstStyle>
          <a:p>
            <a:pPr>
              <a:defRPr/>
            </a:pPr>
            <a:r>
              <a:rPr lang="en-US"/>
              <a:t>Module 11: Local Replication</a:t>
            </a:r>
            <a:endParaRPr lang="en-US" dirty="0"/>
          </a:p>
        </p:txBody>
      </p:sp>
      <p:sp>
        <p:nvSpPr>
          <p:cNvPr id="6" name="Slide Number Placeholder 6"/>
          <p:cNvSpPr>
            <a:spLocks noGrp="1"/>
          </p:cNvSpPr>
          <p:nvPr>
            <p:ph type="sldNum" sz="quarter" idx="11"/>
          </p:nvPr>
        </p:nvSpPr>
        <p:spPr/>
        <p:txBody>
          <a:bodyPr/>
          <a:lstStyle>
            <a:lvl1pPr>
              <a:defRPr/>
            </a:lvl1pPr>
          </a:lstStyle>
          <a:p>
            <a:pPr>
              <a:defRPr/>
            </a:pPr>
            <a:fld id="{3D6A4D2E-BFDE-4579-B1E4-06245D6D649B}" type="slidenum">
              <a:rPr lang="en-US"/>
              <a:pPr>
                <a:defRPr/>
              </a:pPr>
              <a:t>‹#›</a:t>
            </a:fld>
            <a:endParaRPr lang="en-US" dirty="0"/>
          </a:p>
        </p:txBody>
      </p:sp>
    </p:spTree>
    <p:extLst>
      <p:ext uri="{BB962C8B-B14F-4D97-AF65-F5344CB8AC3E}">
        <p14:creationId xmlns:p14="http://schemas.microsoft.com/office/powerpoint/2010/main" val="17411032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_BulletsLeft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4"/>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24287742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_BulletsSurround_Picture">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3352800"/>
            <a:ext cx="4114800" cy="25146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1"/>
            <a:ext cx="8458200" cy="2286000"/>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04800" y="3352800"/>
            <a:ext cx="41910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12" name="Footer Placeholder 11"/>
          <p:cNvSpPr>
            <a:spLocks noGrp="1"/>
          </p:cNvSpPr>
          <p:nvPr>
            <p:ph type="ftr" sz="quarter" idx="15"/>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13786262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_BulletsLeft3/4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5791200" y="914400"/>
            <a:ext cx="2971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5334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Slide Number Placeholder 9"/>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1" name="Footer Placeholder 10"/>
          <p:cNvSpPr>
            <a:spLocks noGrp="1"/>
          </p:cNvSpPr>
          <p:nvPr>
            <p:ph type="ftr" sz="quarter" idx="14"/>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13591687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_BulletsRight_PictureLef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p:cNvSpPr>
            <a:spLocks noGrp="1"/>
          </p:cNvSpPr>
          <p:nvPr>
            <p:ph type="pic" sz="quarter" idx="12"/>
          </p:nvPr>
        </p:nvSpPr>
        <p:spPr>
          <a:xfrm>
            <a:off x="3048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4"/>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6956117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ntent_TwoColumnwith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47750"/>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87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047750"/>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87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1"/>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3691147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_TablePlaceholder">
    <p:spTree>
      <p:nvGrpSpPr>
        <p:cNvPr id="1" name=""/>
        <p:cNvGrpSpPr/>
        <p:nvPr/>
      </p:nvGrpSpPr>
      <p:grpSpPr>
        <a:xfrm>
          <a:off x="0" y="0"/>
          <a:ext cx="0" cy="0"/>
          <a:chOff x="0" y="0"/>
          <a:chExt cx="0" cy="0"/>
        </a:xfrm>
      </p:grpSpPr>
      <p:sp>
        <p:nvSpPr>
          <p:cNvPr id="6" name="Table Placeholder 5"/>
          <p:cNvSpPr>
            <a:spLocks noGrp="1"/>
          </p:cNvSpPr>
          <p:nvPr>
            <p:ph type="tbl" sz="quarter" idx="12"/>
          </p:nvPr>
        </p:nvSpPr>
        <p:spPr>
          <a:xfrm>
            <a:off x="381000" y="1219200"/>
            <a:ext cx="8382000" cy="4648200"/>
          </a:xfrm>
        </p:spPr>
        <p:txBody>
          <a:bodyPr anchor="ctr">
            <a:normAutofit/>
          </a:bodyPr>
          <a:lstStyle>
            <a:lvl1pPr>
              <a:buNone/>
              <a:defRPr/>
            </a:lvl1pPr>
          </a:lstStyle>
          <a:p>
            <a:pPr lvl="0"/>
            <a:r>
              <a:rPr lang="en-US" noProof="0"/>
              <a:t>Click icon to add table</a:t>
            </a:r>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9" name="Footer Placeholder 8"/>
          <p:cNvSpPr>
            <a:spLocks noGrp="1"/>
          </p:cNvSpPr>
          <p:nvPr>
            <p:ph type="ftr" sz="quarter" idx="14"/>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3422102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_PicturePlacehol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Picture Placeholder 6"/>
          <p:cNvSpPr>
            <a:spLocks noGrp="1"/>
          </p:cNvSpPr>
          <p:nvPr>
            <p:ph type="pic" sz="quarter" idx="13"/>
          </p:nvPr>
        </p:nvSpPr>
        <p:spPr>
          <a:xfrm>
            <a:off x="304800" y="914400"/>
            <a:ext cx="8458200" cy="5105400"/>
          </a:xfrm>
        </p:spPr>
        <p:txBody>
          <a:bodyPr>
            <a:normAutofit/>
          </a:bodyPr>
          <a:lstStyle>
            <a:lvl1pPr>
              <a:buNone/>
              <a:defRPr/>
            </a:lvl1pPr>
          </a:lstStyle>
          <a:p>
            <a:pPr lvl="0"/>
            <a:r>
              <a:rPr lang="en-US" noProof="0"/>
              <a:t>Click icon to add picture</a:t>
            </a:r>
          </a:p>
        </p:txBody>
      </p:sp>
      <p:sp>
        <p:nvSpPr>
          <p:cNvPr id="6" name="Slide Number Placeholder 5"/>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8" name="Footer Placeholder 7"/>
          <p:cNvSpPr>
            <a:spLocks noGrp="1"/>
          </p:cNvSpPr>
          <p:nvPr>
            <p:ph type="ftr" sz="quarter" idx="15"/>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308187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_Freefor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6" name="Footer Placeholder 5"/>
          <p:cNvSpPr>
            <a:spLocks noGrp="1"/>
          </p:cNvSpPr>
          <p:nvPr>
            <p:ph type="ftr" sz="quarter" idx="11"/>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2953403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Content_BulletsSurround_Picture">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3352800"/>
            <a:ext cx="4114800" cy="25146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1"/>
            <a:ext cx="8458200" cy="2286000"/>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04800" y="3352800"/>
            <a:ext cx="41910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12" name="Footer Placeholder 11"/>
          <p:cNvSpPr>
            <a:spLocks noGrp="1"/>
          </p:cNvSpPr>
          <p:nvPr>
            <p:ph type="ftr" sz="quarter" idx="15"/>
          </p:nvPr>
        </p:nvSpPr>
        <p:spPr/>
        <p:txBody>
          <a:bodyPr/>
          <a:lstStyle/>
          <a:p>
            <a:pPr>
              <a:defRPr/>
            </a:pPr>
            <a:r>
              <a:rPr lang="en-US"/>
              <a:t>Module 11: Local Replication</a:t>
            </a:r>
            <a:endParaRPr lang="en-US" dirty="0"/>
          </a:p>
        </p:txBody>
      </p:sp>
    </p:spTree>
    <p:extLst>
      <p:ext uri="{BB962C8B-B14F-4D97-AF65-F5344CB8AC3E}">
        <p14:creationId xmlns:p14="http://schemas.microsoft.com/office/powerpoint/2010/main" val="35009101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Box 2"/>
          <p:cNvSpPr txBox="1"/>
          <p:nvPr userDrawn="1"/>
        </p:nvSpPr>
        <p:spPr>
          <a:xfrm>
            <a:off x="2667000" y="2895600"/>
            <a:ext cx="3705181" cy="1015663"/>
          </a:xfrm>
          <a:prstGeom prst="rect">
            <a:avLst/>
          </a:prstGeom>
          <a:noFill/>
        </p:spPr>
        <p:txBody>
          <a:bodyPr wrap="none" rtlCol="0">
            <a:spAutoFit/>
          </a:bodyPr>
          <a:lstStyle/>
          <a:p>
            <a:pPr algn="ctr"/>
            <a:r>
              <a:rPr lang="en-US" sz="6000" dirty="0">
                <a:solidFill>
                  <a:schemeClr val="tx2"/>
                </a:solidFill>
              </a:rPr>
              <a:t>Thank You!</a:t>
            </a:r>
          </a:p>
        </p:txBody>
      </p:sp>
      <p:sp>
        <p:nvSpPr>
          <p:cNvPr id="4" name="Slide Number Placeholder 3"/>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5" name="Footer Placeholder 4"/>
          <p:cNvSpPr>
            <a:spLocks noGrp="1"/>
          </p:cNvSpPr>
          <p:nvPr>
            <p:ph type="ftr" sz="quarter" idx="11"/>
          </p:nvPr>
        </p:nvSpPr>
        <p:spPr/>
        <p:txBody>
          <a:bodyPr/>
          <a:lstStyle/>
          <a:p>
            <a:pPr>
              <a:defRPr/>
            </a:pPr>
            <a:r>
              <a:rPr lang="en-US"/>
              <a:t>Module 11: Local Replication</a:t>
            </a:r>
            <a:endParaRPr lang="en-US" dirty="0"/>
          </a:p>
        </p:txBody>
      </p:sp>
      <p:pic>
        <p:nvPicPr>
          <p:cNvPr id="6" name="Picture 5" descr="EMC_proven_Professional.blue-01.jpg"/>
          <p:cNvPicPr>
            <a:picLocks noChangeAspect="1"/>
          </p:cNvPicPr>
          <p:nvPr userDrawn="1"/>
        </p:nvPicPr>
        <p:blipFill>
          <a:blip r:embed="rId2" cstate="print"/>
          <a:stretch>
            <a:fillRect/>
          </a:stretch>
        </p:blipFill>
        <p:spPr>
          <a:xfrm>
            <a:off x="220640" y="206992"/>
            <a:ext cx="933047" cy="1443956"/>
          </a:xfrm>
          <a:prstGeom prst="rect">
            <a:avLst/>
          </a:prstGeom>
        </p:spPr>
      </p:pic>
    </p:spTree>
    <p:extLst>
      <p:ext uri="{BB962C8B-B14F-4D97-AF65-F5344CB8AC3E}">
        <p14:creationId xmlns:p14="http://schemas.microsoft.com/office/powerpoint/2010/main" val="1728242042"/>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Content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914400"/>
            <a:ext cx="8458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0"/>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11: Local Replication</a:t>
            </a:r>
            <a:endParaRPr lang="en-US" dirty="0"/>
          </a:p>
        </p:txBody>
      </p:sp>
      <p:sp>
        <p:nvSpPr>
          <p:cNvPr id="6" name="Slide Number Placeholder 5"/>
          <p:cNvSpPr>
            <a:spLocks noGrp="1"/>
          </p:cNvSpPr>
          <p:nvPr>
            <p:ph type="sldNum" sz="quarter" idx="11"/>
          </p:nvPr>
        </p:nvSpPr>
        <p:spPr/>
        <p:txBody>
          <a:bodyPr/>
          <a:lstStyle>
            <a:lvl1pPr>
              <a:defRPr>
                <a:solidFill>
                  <a:schemeClr val="tx1">
                    <a:lumMod val="75000"/>
                    <a:lumOff val="25000"/>
                  </a:schemeClr>
                </a:solidFill>
              </a:defRPr>
            </a:lvl1pPr>
          </a:lstStyle>
          <a:p>
            <a:pPr>
              <a:defRPr/>
            </a:pPr>
            <a:fld id="{5BA1DFFF-3F85-458B-986A-7762775E0CEF}" type="slidenum">
              <a:rPr lang="en-US"/>
              <a:pPr>
                <a:defRPr/>
              </a:pPr>
              <a:t>‹#›</a:t>
            </a:fld>
            <a:endParaRPr lang="en-US"/>
          </a:p>
        </p:txBody>
      </p:sp>
    </p:spTree>
    <p:extLst>
      <p:ext uri="{BB962C8B-B14F-4D97-AF65-F5344CB8AC3E}">
        <p14:creationId xmlns:p14="http://schemas.microsoft.com/office/powerpoint/2010/main" val="29389413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5" name="Footer Placeholder 4"/>
          <p:cNvSpPr>
            <a:spLocks noGrp="1"/>
          </p:cNvSpPr>
          <p:nvPr>
            <p:ph type="ftr" sz="quarter" idx="10"/>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12: Remote Replication</a:t>
            </a:r>
            <a:endParaRPr lang="en-US" dirty="0"/>
          </a:p>
        </p:txBody>
      </p:sp>
      <p:sp>
        <p:nvSpPr>
          <p:cNvPr id="6" name="Slide Number Placeholder 5"/>
          <p:cNvSpPr>
            <a:spLocks noGrp="1"/>
          </p:cNvSpPr>
          <p:nvPr>
            <p:ph type="sldNum" sz="quarter" idx="11"/>
          </p:nvPr>
        </p:nvSpPr>
        <p:spPr/>
        <p:txBody>
          <a:bodyPr/>
          <a:lstStyle>
            <a:lvl1pPr>
              <a:defRPr>
                <a:solidFill>
                  <a:schemeClr val="tx1">
                    <a:lumMod val="75000"/>
                    <a:lumOff val="25000"/>
                  </a:schemeClr>
                </a:solidFill>
              </a:defRPr>
            </a:lvl1pPr>
          </a:lstStyle>
          <a:p>
            <a:pPr>
              <a:defRPr/>
            </a:pPr>
            <a:fld id="{5BA1DFFF-3F85-458B-986A-7762775E0CEF}" type="slidenum">
              <a:rPr lang="en-US"/>
              <a:pPr>
                <a:defRPr/>
              </a:pPr>
              <a:t>‹#›</a:t>
            </a:fld>
            <a:endParaRPr lang="en-US"/>
          </a:p>
        </p:txBody>
      </p:sp>
    </p:spTree>
    <p:extLst>
      <p:ext uri="{BB962C8B-B14F-4D97-AF65-F5344CB8AC3E}">
        <p14:creationId xmlns:p14="http://schemas.microsoft.com/office/powerpoint/2010/main" val="8241256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_BulletsTop_Graphic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914400"/>
            <a:ext cx="8458200" cy="2209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p:cNvSpPr>
            <a:spLocks noGrp="1"/>
          </p:cNvSpPr>
          <p:nvPr>
            <p:ph type="pic" sz="quarter" idx="12"/>
          </p:nvPr>
        </p:nvSpPr>
        <p:spPr>
          <a:xfrm>
            <a:off x="304800" y="3276600"/>
            <a:ext cx="8458200" cy="2667000"/>
          </a:xfrm>
        </p:spPr>
        <p:txBody>
          <a:bodyPr>
            <a:normAutofit/>
          </a:bodyPr>
          <a:lstStyle>
            <a:lvl1pPr>
              <a:buNone/>
              <a:defRPr/>
            </a:lvl1pPr>
          </a:lstStyle>
          <a:p>
            <a:pPr lvl="0"/>
            <a:r>
              <a:rPr lang="en-US" noProof="0"/>
              <a:t>Click icon to add picture</a:t>
            </a:r>
          </a:p>
        </p:txBody>
      </p:sp>
      <p:sp>
        <p:nvSpPr>
          <p:cNvPr id="6" name="Footer Placeholder 4"/>
          <p:cNvSpPr>
            <a:spLocks noGrp="1"/>
          </p:cNvSpPr>
          <p:nvPr>
            <p:ph type="ftr" sz="quarter" idx="13"/>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12: Remote Replication</a:t>
            </a:r>
            <a:endParaRPr lang="en-US" dirty="0"/>
          </a:p>
        </p:txBody>
      </p:sp>
      <p:sp>
        <p:nvSpPr>
          <p:cNvPr id="7" name="Slide Number Placeholder 5"/>
          <p:cNvSpPr>
            <a:spLocks noGrp="1"/>
          </p:cNvSpPr>
          <p:nvPr>
            <p:ph type="sldNum" sz="quarter" idx="14"/>
          </p:nvPr>
        </p:nvSpPr>
        <p:spPr/>
        <p:txBody>
          <a:bodyPr/>
          <a:lstStyle>
            <a:lvl1pPr>
              <a:defRPr>
                <a:solidFill>
                  <a:schemeClr val="tx1">
                    <a:lumMod val="75000"/>
                    <a:lumOff val="25000"/>
                  </a:schemeClr>
                </a:solidFill>
              </a:defRPr>
            </a:lvl1pPr>
          </a:lstStyle>
          <a:p>
            <a:pPr>
              <a:defRPr/>
            </a:pPr>
            <a:fld id="{895683FA-D0FB-447D-82E1-0D3AF418E355}" type="slidenum">
              <a:rPr lang="en-US"/>
              <a:pPr>
                <a:defRPr/>
              </a:pPr>
              <a:t>‹#›</a:t>
            </a:fld>
            <a:endParaRPr lang="en-US"/>
          </a:p>
        </p:txBody>
      </p:sp>
    </p:spTree>
    <p:extLst>
      <p:ext uri="{BB962C8B-B14F-4D97-AF65-F5344CB8AC3E}">
        <p14:creationId xmlns:p14="http://schemas.microsoft.com/office/powerpoint/2010/main" val="7019120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_GraphicsTop_Bullets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3733800"/>
            <a:ext cx="8458200" cy="2209800"/>
          </a:xfrm>
        </p:spPr>
        <p:txBody>
          <a:bodyPr/>
          <a:lstStyle>
            <a:lvl1pPr>
              <a:defRPr>
                <a:solidFill>
                  <a:schemeClr val="bg2">
                    <a:lumMod val="75000"/>
                  </a:schemeClr>
                </a:solidFill>
              </a:defRPr>
            </a:lvl1pPr>
            <a:lvl2pPr>
              <a:defRPr>
                <a:solidFill>
                  <a:schemeClr val="bg2">
                    <a:lumMod val="75000"/>
                  </a:schemeClr>
                </a:solidFill>
              </a:defRPr>
            </a:lvl2pPr>
            <a:lvl3pPr>
              <a:defRPr>
                <a:solidFill>
                  <a:schemeClr val="bg2">
                    <a:lumMod val="75000"/>
                  </a:schemeClr>
                </a:solidFill>
              </a:defRPr>
            </a:lvl3pPr>
            <a:lvl4pPr>
              <a:defRPr>
                <a:solidFill>
                  <a:schemeClr val="bg2">
                    <a:lumMod val="75000"/>
                  </a:schemeClr>
                </a:solidFill>
              </a:defRPr>
            </a:lvl4pPr>
            <a:lvl5pPr>
              <a:defRPr>
                <a:solidFill>
                  <a:schemeClr val="bg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p:cNvSpPr>
            <a:spLocks noGrp="1"/>
          </p:cNvSpPr>
          <p:nvPr>
            <p:ph type="pic" sz="quarter" idx="12"/>
          </p:nvPr>
        </p:nvSpPr>
        <p:spPr>
          <a:xfrm>
            <a:off x="304800" y="914400"/>
            <a:ext cx="8458200" cy="2667000"/>
          </a:xfrm>
        </p:spPr>
        <p:txBody>
          <a:bodyPr>
            <a:normAutofit/>
          </a:bodyPr>
          <a:lstStyle>
            <a:lvl1pPr>
              <a:buNone/>
              <a:defRPr>
                <a:solidFill>
                  <a:schemeClr val="bg2">
                    <a:lumMod val="75000"/>
                  </a:schemeClr>
                </a:solidFill>
              </a:defRPr>
            </a:lvl1pPr>
          </a:lstStyle>
          <a:p>
            <a:pPr lvl="0"/>
            <a:r>
              <a:rPr lang="en-US" noProof="0"/>
              <a:t>Click icon to add picture</a:t>
            </a:r>
            <a:endParaRPr lang="en-US" noProof="0" dirty="0"/>
          </a:p>
        </p:txBody>
      </p:sp>
      <p:sp>
        <p:nvSpPr>
          <p:cNvPr id="6" name="Footer Placeholder 4"/>
          <p:cNvSpPr>
            <a:spLocks noGrp="1"/>
          </p:cNvSpPr>
          <p:nvPr>
            <p:ph type="ftr" sz="quarter" idx="13"/>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12: Remote Replication</a:t>
            </a:r>
            <a:endParaRPr lang="en-US" dirty="0"/>
          </a:p>
        </p:txBody>
      </p:sp>
      <p:sp>
        <p:nvSpPr>
          <p:cNvPr id="7" name="Slide Number Placeholder 5"/>
          <p:cNvSpPr>
            <a:spLocks noGrp="1"/>
          </p:cNvSpPr>
          <p:nvPr>
            <p:ph type="sldNum" sz="quarter" idx="14"/>
          </p:nvPr>
        </p:nvSpPr>
        <p:spPr/>
        <p:txBody>
          <a:bodyPr/>
          <a:lstStyle>
            <a:lvl1pPr>
              <a:defRPr>
                <a:solidFill>
                  <a:schemeClr val="tx1">
                    <a:lumMod val="75000"/>
                    <a:lumOff val="25000"/>
                  </a:schemeClr>
                </a:solidFill>
              </a:defRPr>
            </a:lvl1pPr>
          </a:lstStyle>
          <a:p>
            <a:pPr>
              <a:defRPr/>
            </a:pPr>
            <a:fld id="{BA4D05BE-A5A8-4D83-BF6E-65FCE94A14E4}" type="slidenum">
              <a:rPr lang="en-US"/>
              <a:pPr>
                <a:defRPr/>
              </a:pPr>
              <a:t>‹#›</a:t>
            </a:fld>
            <a:endParaRPr lang="en-US"/>
          </a:p>
        </p:txBody>
      </p:sp>
    </p:spTree>
    <p:extLst>
      <p:ext uri="{BB962C8B-B14F-4D97-AF65-F5344CB8AC3E}">
        <p14:creationId xmlns:p14="http://schemas.microsoft.com/office/powerpoint/2010/main" val="26550627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CoverPage_Module">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143000"/>
            <a:ext cx="6705600" cy="688975"/>
          </a:xfrm>
        </p:spPr>
        <p:txBody>
          <a:bodyPr anchor="t"/>
          <a:lstStyle>
            <a:lvl1pPr>
              <a:defRPr sz="2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438400"/>
            <a:ext cx="7086600" cy="2667000"/>
          </a:xfrm>
        </p:spPr>
        <p:txBody>
          <a:bodyPr/>
          <a:lstStyle>
            <a:lvl1pPr marL="0" indent="0" algn="l">
              <a:buNone/>
              <a:defRPr sz="2000">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p:cNvSpPr>
            <a:spLocks noGrp="1"/>
          </p:cNvSpPr>
          <p:nvPr>
            <p:ph type="ftr" sz="quarter" idx="10"/>
          </p:nvPr>
        </p:nvSpPr>
        <p:spPr>
          <a:xfrm>
            <a:off x="4495800" y="6629400"/>
            <a:ext cx="4191000" cy="228600"/>
          </a:xfrm>
        </p:spPr>
        <p:txBody>
          <a:bodyPr/>
          <a:lstStyle>
            <a:lvl1pPr>
              <a:defRPr/>
            </a:lvl1pPr>
          </a:lstStyle>
          <a:p>
            <a:pPr>
              <a:defRPr/>
            </a:pPr>
            <a:r>
              <a:rPr lang="en-US"/>
              <a:t>Module 12: Remote Replication</a:t>
            </a:r>
            <a:endParaRPr lang="en-US" dirty="0"/>
          </a:p>
        </p:txBody>
      </p:sp>
      <p:sp>
        <p:nvSpPr>
          <p:cNvPr id="7" name="Slide Number Placeholder 5"/>
          <p:cNvSpPr>
            <a:spLocks noGrp="1"/>
          </p:cNvSpPr>
          <p:nvPr>
            <p:ph type="sldNum" sz="quarter" idx="11"/>
          </p:nvPr>
        </p:nvSpPr>
        <p:spPr/>
        <p:txBody>
          <a:bodyPr/>
          <a:lstStyle>
            <a:lvl1pPr>
              <a:defRPr/>
            </a:lvl1pPr>
          </a:lstStyle>
          <a:p>
            <a:pPr>
              <a:defRPr/>
            </a:pPr>
            <a:fld id="{550CDAE9-9707-4120-A90B-FABB84BE074E}" type="slidenum">
              <a:rPr lang="en-US"/>
              <a:pPr>
                <a:defRPr/>
              </a:pPr>
              <a:t>‹#›</a:t>
            </a:fld>
            <a:endParaRPr lang="en-US"/>
          </a:p>
        </p:txBody>
      </p:sp>
      <p:pic>
        <p:nvPicPr>
          <p:cNvPr id="11" name="Picture 10" descr="EMC_proven_Professional.blue-01.jpg"/>
          <p:cNvPicPr>
            <a:picLocks noChangeAspect="1"/>
          </p:cNvPicPr>
          <p:nvPr userDrawn="1"/>
        </p:nvPicPr>
        <p:blipFill>
          <a:blip r:embed="rId2" cstate="print"/>
          <a:stretch>
            <a:fillRect/>
          </a:stretch>
        </p:blipFill>
        <p:spPr>
          <a:xfrm>
            <a:off x="220640" y="206992"/>
            <a:ext cx="933047" cy="1443956"/>
          </a:xfrm>
          <a:prstGeom prst="rect">
            <a:avLst/>
          </a:prstGeom>
        </p:spPr>
      </p:pic>
    </p:spTree>
    <p:extLst>
      <p:ext uri="{BB962C8B-B14F-4D97-AF65-F5344CB8AC3E}">
        <p14:creationId xmlns:p14="http://schemas.microsoft.com/office/powerpoint/2010/main" val="196365029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verPage_Lesson_Topic">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6019800" cy="1219200"/>
          </a:xfrm>
        </p:spPr>
        <p:txBody>
          <a:bodyPr anchor="t"/>
          <a:lstStyle>
            <a:lvl1pPr>
              <a:defRPr sz="2600">
                <a:solidFill>
                  <a:schemeClr val="tx1">
                    <a:lumMod val="50000"/>
                    <a:lumOff val="50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2590800"/>
            <a:ext cx="7086600" cy="2667000"/>
          </a:xfrm>
        </p:spPr>
        <p:txBody>
          <a:bodyPr/>
          <a:lstStyle>
            <a:lvl1pPr marL="0" indent="0" algn="l">
              <a:buNone/>
              <a:defRPr sz="2000">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Content Placeholder 8"/>
          <p:cNvSpPr>
            <a:spLocks noGrp="1"/>
          </p:cNvSpPr>
          <p:nvPr>
            <p:ph sz="quarter" idx="13"/>
          </p:nvPr>
        </p:nvSpPr>
        <p:spPr>
          <a:xfrm>
            <a:off x="685800" y="1981200"/>
            <a:ext cx="7772400" cy="457200"/>
          </a:xfrm>
        </p:spPr>
        <p:txBody>
          <a:bodyPr/>
          <a:lstStyle>
            <a:lvl1pPr>
              <a:buNone/>
              <a:defRPr>
                <a:solidFill>
                  <a:srgbClr val="2C95DD"/>
                </a:solidFill>
              </a:defRPr>
            </a:lvl1pPr>
            <a:lvl2pPr>
              <a:buNone/>
              <a:defRPr/>
            </a:lvl2pPr>
            <a:lvl3pPr>
              <a:buNone/>
              <a:defRPr/>
            </a:lvl3pPr>
            <a:lvl4pPr>
              <a:buNone/>
              <a:defRPr/>
            </a:lvl4pPr>
            <a:lvl5pPr>
              <a:buNone/>
              <a:defRPr/>
            </a:lvl5pPr>
          </a:lstStyle>
          <a:p>
            <a:pPr lvl="0"/>
            <a:r>
              <a:rPr lang="en-US"/>
              <a:t>Click to edit Master text styles</a:t>
            </a:r>
          </a:p>
        </p:txBody>
      </p:sp>
      <p:sp>
        <p:nvSpPr>
          <p:cNvPr id="7" name="Footer Placeholder 4"/>
          <p:cNvSpPr>
            <a:spLocks noGrp="1"/>
          </p:cNvSpPr>
          <p:nvPr>
            <p:ph type="ftr" sz="quarter" idx="14"/>
          </p:nvPr>
        </p:nvSpPr>
        <p:spPr>
          <a:xfrm>
            <a:off x="4495800" y="6629400"/>
            <a:ext cx="4191000" cy="228600"/>
          </a:xfrm>
        </p:spPr>
        <p:txBody>
          <a:bodyPr/>
          <a:lstStyle>
            <a:lvl1pPr>
              <a:defRPr>
                <a:solidFill>
                  <a:schemeClr val="tx1">
                    <a:lumMod val="75000"/>
                    <a:lumOff val="25000"/>
                  </a:schemeClr>
                </a:solidFill>
              </a:defRPr>
            </a:lvl1pPr>
          </a:lstStyle>
          <a:p>
            <a:pPr>
              <a:defRPr/>
            </a:pPr>
            <a:r>
              <a:rPr lang="en-US"/>
              <a:t>Module 12: Remote Replication</a:t>
            </a:r>
            <a:endParaRPr lang="en-US" dirty="0"/>
          </a:p>
        </p:txBody>
      </p:sp>
      <p:sp>
        <p:nvSpPr>
          <p:cNvPr id="8" name="Slide Number Placeholder 5"/>
          <p:cNvSpPr>
            <a:spLocks noGrp="1"/>
          </p:cNvSpPr>
          <p:nvPr>
            <p:ph type="sldNum" sz="quarter" idx="15"/>
          </p:nvPr>
        </p:nvSpPr>
        <p:spPr/>
        <p:txBody>
          <a:bodyPr/>
          <a:lstStyle>
            <a:lvl1pPr>
              <a:defRPr>
                <a:solidFill>
                  <a:schemeClr val="tx1">
                    <a:lumMod val="75000"/>
                    <a:lumOff val="25000"/>
                  </a:schemeClr>
                </a:solidFill>
              </a:defRPr>
            </a:lvl1pPr>
          </a:lstStyle>
          <a:p>
            <a:pPr>
              <a:defRPr/>
            </a:pPr>
            <a:fld id="{E9C12BD9-86B3-4048-86CE-AC10D4E84307}" type="slidenum">
              <a:rPr lang="en-US"/>
              <a:pPr>
                <a:defRPr/>
              </a:pPr>
              <a:t>‹#›</a:t>
            </a:fld>
            <a:endParaRPr lang="en-US"/>
          </a:p>
        </p:txBody>
      </p:sp>
    </p:spTree>
    <p:extLst>
      <p:ext uri="{BB962C8B-B14F-4D97-AF65-F5344CB8AC3E}">
        <p14:creationId xmlns:p14="http://schemas.microsoft.com/office/powerpoint/2010/main" val="23710974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CoverPage">
    <p:spTree>
      <p:nvGrpSpPr>
        <p:cNvPr id="1" name=""/>
        <p:cNvGrpSpPr/>
        <p:nvPr/>
      </p:nvGrpSpPr>
      <p:grpSpPr>
        <a:xfrm>
          <a:off x="0" y="0"/>
          <a:ext cx="0" cy="0"/>
          <a:chOff x="0" y="0"/>
          <a:chExt cx="0" cy="0"/>
        </a:xfrm>
      </p:grpSpPr>
      <p:sp>
        <p:nvSpPr>
          <p:cNvPr id="2" name="Title 1"/>
          <p:cNvSpPr>
            <a:spLocks noGrp="1"/>
          </p:cNvSpPr>
          <p:nvPr>
            <p:ph type="title"/>
          </p:nvPr>
        </p:nvSpPr>
        <p:spPr>
          <a:xfrm>
            <a:off x="1789113" y="1524000"/>
            <a:ext cx="6705600" cy="1362075"/>
          </a:xfrm>
          <a:ln>
            <a:solidFill>
              <a:srgbClr val="777777"/>
            </a:solidFill>
          </a:ln>
        </p:spPr>
        <p:txBody>
          <a:bodyPr anchor="t"/>
          <a:lstStyle>
            <a:lvl1pPr algn="l">
              <a:defRPr sz="3200" b="1"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828800" y="3048000"/>
            <a:ext cx="6705600" cy="1500187"/>
          </a:xfrm>
        </p:spPr>
        <p:txBody>
          <a:bodyPr/>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3"/>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5" name="Footer Placeholder 4"/>
          <p:cNvSpPr>
            <a:spLocks noGrp="1"/>
          </p:cNvSpPr>
          <p:nvPr>
            <p:ph type="ftr" sz="quarter" idx="11"/>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12324094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_TwoColum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914400"/>
            <a:ext cx="41148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5" name="Footer Placeholder 5"/>
          <p:cNvSpPr>
            <a:spLocks noGrp="1"/>
          </p:cNvSpPr>
          <p:nvPr>
            <p:ph type="ftr" sz="quarter" idx="10"/>
          </p:nvPr>
        </p:nvSpPr>
        <p:spPr>
          <a:xfrm>
            <a:off x="4724400" y="6629400"/>
            <a:ext cx="3962400" cy="228600"/>
          </a:xfrm>
        </p:spPr>
        <p:txBody>
          <a:bodyPr/>
          <a:lstStyle>
            <a:lvl1pPr>
              <a:defRPr/>
            </a:lvl1pPr>
          </a:lstStyle>
          <a:p>
            <a:pPr>
              <a:defRPr/>
            </a:pPr>
            <a:r>
              <a:rPr lang="en-US"/>
              <a:t>Module 12: Remote Replication</a:t>
            </a:r>
            <a:endParaRPr lang="en-US" dirty="0"/>
          </a:p>
        </p:txBody>
      </p:sp>
      <p:sp>
        <p:nvSpPr>
          <p:cNvPr id="6" name="Slide Number Placeholder 6"/>
          <p:cNvSpPr>
            <a:spLocks noGrp="1"/>
          </p:cNvSpPr>
          <p:nvPr>
            <p:ph type="sldNum" sz="quarter" idx="11"/>
          </p:nvPr>
        </p:nvSpPr>
        <p:spPr/>
        <p:txBody>
          <a:bodyPr/>
          <a:lstStyle>
            <a:lvl1pPr>
              <a:defRPr/>
            </a:lvl1pPr>
          </a:lstStyle>
          <a:p>
            <a:pPr>
              <a:defRPr/>
            </a:pPr>
            <a:fld id="{3D6A4D2E-BFDE-4579-B1E4-06245D6D649B}" type="slidenum">
              <a:rPr lang="en-US"/>
              <a:pPr>
                <a:defRPr/>
              </a:pPr>
              <a:t>‹#›</a:t>
            </a:fld>
            <a:endParaRPr lang="en-US" dirty="0"/>
          </a:p>
        </p:txBody>
      </p:sp>
    </p:spTree>
    <p:extLst>
      <p:ext uri="{BB962C8B-B14F-4D97-AF65-F5344CB8AC3E}">
        <p14:creationId xmlns:p14="http://schemas.microsoft.com/office/powerpoint/2010/main" val="39499674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_BulletsLeft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4"/>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16516726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_BulletsSurround_Picture">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3352800"/>
            <a:ext cx="4114800" cy="25146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1"/>
            <a:ext cx="8458200" cy="2286000"/>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04800" y="3352800"/>
            <a:ext cx="41910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12" name="Footer Placeholder 11"/>
          <p:cNvSpPr>
            <a:spLocks noGrp="1"/>
          </p:cNvSpPr>
          <p:nvPr>
            <p:ph type="ftr" sz="quarter" idx="15"/>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185473073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_BulletsLeft3/4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5791200" y="914400"/>
            <a:ext cx="2971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5334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Slide Number Placeholder 9"/>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1" name="Footer Placeholder 10"/>
          <p:cNvSpPr>
            <a:spLocks noGrp="1"/>
          </p:cNvSpPr>
          <p:nvPr>
            <p:ph type="ftr" sz="quarter" idx="14"/>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235549179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_BulletsRight_PictureLef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p:cNvSpPr>
            <a:spLocks noGrp="1"/>
          </p:cNvSpPr>
          <p:nvPr>
            <p:ph type="pic" sz="quarter" idx="12"/>
          </p:nvPr>
        </p:nvSpPr>
        <p:spPr>
          <a:xfrm>
            <a:off x="3048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4"/>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202454087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ntent_TwoColumnwith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47750"/>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87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047750"/>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87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10" name="Footer Placeholder 9"/>
          <p:cNvSpPr>
            <a:spLocks noGrp="1"/>
          </p:cNvSpPr>
          <p:nvPr>
            <p:ph type="ftr" sz="quarter" idx="11"/>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33728771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_TablePlaceholder">
    <p:spTree>
      <p:nvGrpSpPr>
        <p:cNvPr id="1" name=""/>
        <p:cNvGrpSpPr/>
        <p:nvPr/>
      </p:nvGrpSpPr>
      <p:grpSpPr>
        <a:xfrm>
          <a:off x="0" y="0"/>
          <a:ext cx="0" cy="0"/>
          <a:chOff x="0" y="0"/>
          <a:chExt cx="0" cy="0"/>
        </a:xfrm>
      </p:grpSpPr>
      <p:sp>
        <p:nvSpPr>
          <p:cNvPr id="6" name="Table Placeholder 5"/>
          <p:cNvSpPr>
            <a:spLocks noGrp="1"/>
          </p:cNvSpPr>
          <p:nvPr>
            <p:ph type="tbl" sz="quarter" idx="12"/>
          </p:nvPr>
        </p:nvSpPr>
        <p:spPr>
          <a:xfrm>
            <a:off x="381000" y="1219200"/>
            <a:ext cx="8382000" cy="4648200"/>
          </a:xfrm>
        </p:spPr>
        <p:txBody>
          <a:bodyPr anchor="ctr">
            <a:normAutofit/>
          </a:bodyPr>
          <a:lstStyle>
            <a:lvl1pPr>
              <a:buNone/>
              <a:defRPr/>
            </a:lvl1pPr>
          </a:lstStyle>
          <a:p>
            <a:pPr lvl="0"/>
            <a:r>
              <a:rPr lang="en-US" noProof="0"/>
              <a:t>Click icon to add table</a:t>
            </a:r>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8" name="Slide Number Placeholder 7"/>
          <p:cNvSpPr>
            <a:spLocks noGrp="1"/>
          </p:cNvSpPr>
          <p:nvPr>
            <p:ph type="sldNum" sz="quarter" idx="13"/>
          </p:nvPr>
        </p:nvSpPr>
        <p:spPr/>
        <p:txBody>
          <a:bodyPr/>
          <a:lstStyle/>
          <a:p>
            <a:pPr>
              <a:defRPr/>
            </a:pPr>
            <a:fld id="{2F0FE6C8-51A2-4AA8-BE8B-722D435E963D}" type="slidenum">
              <a:rPr lang="en-US" smtClean="0"/>
              <a:pPr>
                <a:defRPr/>
              </a:pPr>
              <a:t>‹#›</a:t>
            </a:fld>
            <a:endParaRPr lang="en-US"/>
          </a:p>
        </p:txBody>
      </p:sp>
      <p:sp>
        <p:nvSpPr>
          <p:cNvPr id="9" name="Footer Placeholder 8"/>
          <p:cNvSpPr>
            <a:spLocks noGrp="1"/>
          </p:cNvSpPr>
          <p:nvPr>
            <p:ph type="ftr" sz="quarter" idx="14"/>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412386563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_PicturePlacehol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Picture Placeholder 6"/>
          <p:cNvSpPr>
            <a:spLocks noGrp="1"/>
          </p:cNvSpPr>
          <p:nvPr>
            <p:ph type="pic" sz="quarter" idx="13"/>
          </p:nvPr>
        </p:nvSpPr>
        <p:spPr>
          <a:xfrm>
            <a:off x="304800" y="914400"/>
            <a:ext cx="8458200" cy="5105400"/>
          </a:xfrm>
        </p:spPr>
        <p:txBody>
          <a:bodyPr>
            <a:normAutofit/>
          </a:bodyPr>
          <a:lstStyle>
            <a:lvl1pPr>
              <a:buNone/>
              <a:defRPr/>
            </a:lvl1pPr>
          </a:lstStyle>
          <a:p>
            <a:pPr lvl="0"/>
            <a:r>
              <a:rPr lang="en-US" noProof="0"/>
              <a:t>Click icon to add picture</a:t>
            </a:r>
          </a:p>
        </p:txBody>
      </p:sp>
      <p:sp>
        <p:nvSpPr>
          <p:cNvPr id="6" name="Slide Number Placeholder 5"/>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8" name="Footer Placeholder 7"/>
          <p:cNvSpPr>
            <a:spLocks noGrp="1"/>
          </p:cNvSpPr>
          <p:nvPr>
            <p:ph type="ftr" sz="quarter" idx="15"/>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331429169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_Freefor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6" name="Footer Placeholder 5"/>
          <p:cNvSpPr>
            <a:spLocks noGrp="1"/>
          </p:cNvSpPr>
          <p:nvPr>
            <p:ph type="ftr" sz="quarter" idx="11"/>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26127990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Content_BulletsSurround_Picture">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3352800"/>
            <a:ext cx="4114800" cy="25146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1"/>
            <a:ext cx="8458200" cy="2286000"/>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304800" y="3352800"/>
            <a:ext cx="41910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p:cNvSpPr>
            <a:spLocks noGrp="1"/>
          </p:cNvSpPr>
          <p:nvPr>
            <p:ph type="sldNum" sz="quarter" idx="14"/>
          </p:nvPr>
        </p:nvSpPr>
        <p:spPr/>
        <p:txBody>
          <a:bodyPr/>
          <a:lstStyle/>
          <a:p>
            <a:pPr>
              <a:defRPr/>
            </a:pPr>
            <a:fld id="{2F0FE6C8-51A2-4AA8-BE8B-722D435E963D}" type="slidenum">
              <a:rPr lang="en-US" smtClean="0"/>
              <a:pPr>
                <a:defRPr/>
              </a:pPr>
              <a:t>‹#›</a:t>
            </a:fld>
            <a:endParaRPr lang="en-US"/>
          </a:p>
        </p:txBody>
      </p:sp>
      <p:sp>
        <p:nvSpPr>
          <p:cNvPr id="12" name="Footer Placeholder 11"/>
          <p:cNvSpPr>
            <a:spLocks noGrp="1"/>
          </p:cNvSpPr>
          <p:nvPr>
            <p:ph type="ftr" sz="quarter" idx="15"/>
          </p:nvPr>
        </p:nvSpPr>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22414180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Box 2"/>
          <p:cNvSpPr txBox="1"/>
          <p:nvPr userDrawn="1"/>
        </p:nvSpPr>
        <p:spPr>
          <a:xfrm>
            <a:off x="2667000" y="2895600"/>
            <a:ext cx="3705181" cy="1015663"/>
          </a:xfrm>
          <a:prstGeom prst="rect">
            <a:avLst/>
          </a:prstGeom>
          <a:noFill/>
        </p:spPr>
        <p:txBody>
          <a:bodyPr wrap="none" rtlCol="0">
            <a:spAutoFit/>
          </a:bodyPr>
          <a:lstStyle/>
          <a:p>
            <a:pPr algn="ctr"/>
            <a:r>
              <a:rPr lang="en-US" sz="6000" dirty="0">
                <a:solidFill>
                  <a:schemeClr val="tx2"/>
                </a:solidFill>
              </a:rPr>
              <a:t>Thank You!</a:t>
            </a:r>
          </a:p>
        </p:txBody>
      </p:sp>
      <p:sp>
        <p:nvSpPr>
          <p:cNvPr id="4" name="Slide Number Placeholder 3"/>
          <p:cNvSpPr>
            <a:spLocks noGrp="1"/>
          </p:cNvSpPr>
          <p:nvPr>
            <p:ph type="sldNum" sz="quarter" idx="10"/>
          </p:nvPr>
        </p:nvSpPr>
        <p:spPr/>
        <p:txBody>
          <a:bodyPr/>
          <a:lstStyle/>
          <a:p>
            <a:pPr>
              <a:defRPr/>
            </a:pPr>
            <a:fld id="{2F0FE6C8-51A2-4AA8-BE8B-722D435E963D}" type="slidenum">
              <a:rPr lang="en-US" smtClean="0"/>
              <a:pPr>
                <a:defRPr/>
              </a:pPr>
              <a:t>‹#›</a:t>
            </a:fld>
            <a:endParaRPr lang="en-US"/>
          </a:p>
        </p:txBody>
      </p:sp>
      <p:sp>
        <p:nvSpPr>
          <p:cNvPr id="5" name="Footer Placeholder 4"/>
          <p:cNvSpPr>
            <a:spLocks noGrp="1"/>
          </p:cNvSpPr>
          <p:nvPr>
            <p:ph type="ftr" sz="quarter" idx="11"/>
          </p:nvPr>
        </p:nvSpPr>
        <p:spPr/>
        <p:txBody>
          <a:bodyPr/>
          <a:lstStyle/>
          <a:p>
            <a:pPr>
              <a:defRPr/>
            </a:pPr>
            <a:r>
              <a:rPr lang="en-US"/>
              <a:t>Module 12: Remote Replication</a:t>
            </a:r>
            <a:endParaRPr lang="en-US" dirty="0"/>
          </a:p>
        </p:txBody>
      </p:sp>
      <p:pic>
        <p:nvPicPr>
          <p:cNvPr id="6" name="Picture 5" descr="EMC_proven_Professional.blue-01.jpg"/>
          <p:cNvPicPr>
            <a:picLocks noChangeAspect="1"/>
          </p:cNvPicPr>
          <p:nvPr userDrawn="1"/>
        </p:nvPicPr>
        <p:blipFill>
          <a:blip r:embed="rId2" cstate="print"/>
          <a:stretch>
            <a:fillRect/>
          </a:stretch>
        </p:blipFill>
        <p:spPr>
          <a:xfrm>
            <a:off x="220640" y="206992"/>
            <a:ext cx="933047" cy="1443956"/>
          </a:xfrm>
          <a:prstGeom prst="rect">
            <a:avLst/>
          </a:prstGeom>
        </p:spPr>
      </p:pic>
    </p:spTree>
    <p:extLst>
      <p:ext uri="{BB962C8B-B14F-4D97-AF65-F5344CB8AC3E}">
        <p14:creationId xmlns:p14="http://schemas.microsoft.com/office/powerpoint/2010/main" val="342813693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cSld name="1_Content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Content Placeholder 2"/>
          <p:cNvSpPr>
            <a:spLocks noGrp="1"/>
          </p:cNvSpPr>
          <p:nvPr>
            <p:ph idx="1"/>
          </p:nvPr>
        </p:nvSpPr>
        <p:spPr>
          <a:xfrm>
            <a:off x="304800" y="914400"/>
            <a:ext cx="84582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1"/>
          </p:nvPr>
        </p:nvSpPr>
        <p:spPr/>
        <p:txBody>
          <a:bodyPr/>
          <a:lstStyle>
            <a:lvl1pPr>
              <a:defRPr>
                <a:solidFill>
                  <a:schemeClr val="tx1">
                    <a:lumMod val="75000"/>
                    <a:lumOff val="25000"/>
                  </a:schemeClr>
                </a:solidFill>
              </a:defRPr>
            </a:lvl1pPr>
          </a:lstStyle>
          <a:p>
            <a:pPr>
              <a:defRPr/>
            </a:pPr>
            <a:fld id="{5BA1DFFF-3F85-458B-986A-7762775E0CEF}" type="slidenum">
              <a:rPr lang="en-US" smtClean="0"/>
              <a:pPr>
                <a:defRPr/>
              </a:pPr>
              <a:t>‹#›</a:t>
            </a:fld>
            <a:endParaRPr lang="en-US" dirty="0"/>
          </a:p>
        </p:txBody>
      </p:sp>
      <p:sp>
        <p:nvSpPr>
          <p:cNvPr id="7" name="Footer Placeholder 4"/>
          <p:cNvSpPr>
            <a:spLocks noGrp="1"/>
          </p:cNvSpPr>
          <p:nvPr>
            <p:ph type="ftr" sz="quarter" idx="12"/>
          </p:nvPr>
        </p:nvSpPr>
        <p:spPr>
          <a:xfrm>
            <a:off x="4495800" y="6629400"/>
            <a:ext cx="4191000" cy="228600"/>
          </a:xfrm>
        </p:spPr>
        <p:txBody>
          <a:bodyPr/>
          <a:lstStyle/>
          <a:p>
            <a:pPr>
              <a:defRPr/>
            </a:pPr>
            <a:r>
              <a:rPr lang="en-US"/>
              <a:t>Module 12: Remote Replication</a:t>
            </a:r>
            <a:endParaRPr lang="en-US" dirty="0"/>
          </a:p>
        </p:txBody>
      </p:sp>
    </p:spTree>
    <p:extLst>
      <p:ext uri="{BB962C8B-B14F-4D97-AF65-F5344CB8AC3E}">
        <p14:creationId xmlns:p14="http://schemas.microsoft.com/office/powerpoint/2010/main" val="9745666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3_Content_BulletsLeft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5" name="Footer Placeholder 5"/>
          <p:cNvSpPr>
            <a:spLocks noGrp="1"/>
          </p:cNvSpPr>
          <p:nvPr>
            <p:ph type="ftr" sz="quarter" idx="13"/>
          </p:nvPr>
        </p:nvSpPr>
        <p:spPr>
          <a:xfrm>
            <a:off x="4953000" y="6629400"/>
            <a:ext cx="3962400" cy="228600"/>
          </a:xfrm>
        </p:spPr>
        <p:txBody>
          <a:bodyPr/>
          <a:lstStyle>
            <a:lvl1pPr>
              <a:defRPr/>
            </a:lvl1pPr>
          </a:lstStyle>
          <a:p>
            <a:pPr>
              <a:defRPr/>
            </a:pPr>
            <a:r>
              <a:rPr lang="en-US"/>
              <a:t>Module 12: Remote Replication</a:t>
            </a:r>
          </a:p>
        </p:txBody>
      </p:sp>
      <p:sp>
        <p:nvSpPr>
          <p:cNvPr id="6" name="Slide Number Placeholder 6"/>
          <p:cNvSpPr>
            <a:spLocks noGrp="1"/>
          </p:cNvSpPr>
          <p:nvPr>
            <p:ph type="sldNum" sz="quarter" idx="14"/>
          </p:nvPr>
        </p:nvSpPr>
        <p:spPr/>
        <p:txBody>
          <a:bodyPr/>
          <a:lstStyle>
            <a:lvl1pPr>
              <a:defRPr/>
            </a:lvl1pPr>
          </a:lstStyle>
          <a:p>
            <a:pPr>
              <a:defRPr/>
            </a:pPr>
            <a:fld id="{F6773B01-4140-4737-A600-00C5477C65A7}" type="slidenum">
              <a:rPr lang="en-US" smtClean="0"/>
              <a:pPr>
                <a:defRPr/>
              </a:pPr>
              <a:t>‹#›</a:t>
            </a:fld>
            <a:endParaRPr lang="en-US"/>
          </a:p>
        </p:txBody>
      </p:sp>
    </p:spTree>
    <p:extLst>
      <p:ext uri="{BB962C8B-B14F-4D97-AF65-F5344CB8AC3E}">
        <p14:creationId xmlns:p14="http://schemas.microsoft.com/office/powerpoint/2010/main" val="37093347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4_Content_BulletsLeft_PictureRigh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8200" y="914400"/>
            <a:ext cx="4114800" cy="4953000"/>
          </a:xfrm>
        </p:spPr>
        <p:txBody>
          <a:bodyPr>
            <a:normAutofit/>
          </a:bodyPr>
          <a:lstStyle>
            <a:lvl1pPr>
              <a:buNone/>
              <a:defRPr/>
            </a:lvl1pPr>
          </a:lstStyle>
          <a:p>
            <a:pPr lvl="0"/>
            <a:r>
              <a:rPr lang="en-US" noProof="0"/>
              <a:t>Click icon to add picture</a:t>
            </a:r>
            <a:endParaRPr lang="en-US" noProof="0" dirty="0"/>
          </a:p>
        </p:txBody>
      </p:sp>
      <p:sp>
        <p:nvSpPr>
          <p:cNvPr id="3" name="Content Placeholder 2"/>
          <p:cNvSpPr>
            <a:spLocks noGrp="1"/>
          </p:cNvSpPr>
          <p:nvPr>
            <p:ph sz="half" idx="1"/>
          </p:nvPr>
        </p:nvSpPr>
        <p:spPr>
          <a:xfrm>
            <a:off x="304800" y="914400"/>
            <a:ext cx="4191000" cy="4953001"/>
          </a:xfrm>
        </p:spPr>
        <p:txBody>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304800" y="76200"/>
            <a:ext cx="8458200" cy="762000"/>
          </a:xfrm>
        </p:spPr>
        <p:txBody>
          <a:bodyPr/>
          <a:lstStyle>
            <a:lvl1pPr>
              <a:defRPr>
                <a:solidFill>
                  <a:schemeClr val="accent1"/>
                </a:solidFill>
              </a:defRPr>
            </a:lvl1pPr>
          </a:lstStyle>
          <a:p>
            <a:r>
              <a:rPr lang="en-US"/>
              <a:t>Click to edit Master title style</a:t>
            </a:r>
            <a:endParaRPr lang="en-US" dirty="0"/>
          </a:p>
        </p:txBody>
      </p:sp>
      <p:sp>
        <p:nvSpPr>
          <p:cNvPr id="5" name="Footer Placeholder 5"/>
          <p:cNvSpPr>
            <a:spLocks noGrp="1"/>
          </p:cNvSpPr>
          <p:nvPr>
            <p:ph type="ftr" sz="quarter" idx="13"/>
          </p:nvPr>
        </p:nvSpPr>
        <p:spPr>
          <a:xfrm>
            <a:off x="4953000" y="6629400"/>
            <a:ext cx="3962400" cy="228600"/>
          </a:xfrm>
        </p:spPr>
        <p:txBody>
          <a:bodyPr/>
          <a:lstStyle>
            <a:lvl1pPr>
              <a:defRPr/>
            </a:lvl1pPr>
          </a:lstStyle>
          <a:p>
            <a:pPr>
              <a:defRPr/>
            </a:pPr>
            <a:r>
              <a:rPr lang="en-US"/>
              <a:t>Module 12: Remote Replication</a:t>
            </a:r>
          </a:p>
        </p:txBody>
      </p:sp>
      <p:sp>
        <p:nvSpPr>
          <p:cNvPr id="6" name="Slide Number Placeholder 6"/>
          <p:cNvSpPr>
            <a:spLocks noGrp="1"/>
          </p:cNvSpPr>
          <p:nvPr>
            <p:ph type="sldNum" sz="quarter" idx="14"/>
          </p:nvPr>
        </p:nvSpPr>
        <p:spPr/>
        <p:txBody>
          <a:bodyPr/>
          <a:lstStyle>
            <a:lvl1pPr>
              <a:defRPr/>
            </a:lvl1pPr>
          </a:lstStyle>
          <a:p>
            <a:pPr>
              <a:defRPr/>
            </a:pPr>
            <a:fld id="{F6773B01-4140-4737-A600-00C5477C65A7}" type="slidenum">
              <a:rPr lang="en-US" smtClean="0"/>
              <a:pPr>
                <a:defRPr/>
              </a:pPr>
              <a:t>‹#›</a:t>
            </a:fld>
            <a:endParaRPr lang="en-US"/>
          </a:p>
        </p:txBody>
      </p:sp>
    </p:spTree>
    <p:extLst>
      <p:ext uri="{BB962C8B-B14F-4D97-AF65-F5344CB8AC3E}">
        <p14:creationId xmlns:p14="http://schemas.microsoft.com/office/powerpoint/2010/main" val="3847346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theme" Target="../theme/theme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slideLayout" Target="../slideLayouts/slideLayout66.xml"/><Relationship Id="rId3" Type="http://schemas.openxmlformats.org/officeDocument/2006/relationships/slideLayout" Target="../slideLayouts/slideLayout51.xml"/><Relationship Id="rId21" Type="http://schemas.openxmlformats.org/officeDocument/2006/relationships/theme" Target="../theme/theme4.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slideLayout" Target="../slideLayouts/slideLayout68.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grpSp>
        <p:nvGrpSpPr>
          <p:cNvPr id="32" name="Group 31"/>
          <p:cNvGrpSpPr/>
          <p:nvPr/>
        </p:nvGrpSpPr>
        <p:grpSpPr>
          <a:xfrm>
            <a:off x="0" y="0"/>
            <a:ext cx="9144000" cy="6858000"/>
            <a:chOff x="-1" y="0"/>
            <a:chExt cx="12188825" cy="6858000"/>
          </a:xfrm>
        </p:grpSpPr>
        <p:sp>
          <p:nvSpPr>
            <p:cNvPr id="8" name="Rectangle 8"/>
            <p:cNvSpPr>
              <a:spLocks noChangeArrowheads="1"/>
            </p:cNvSpPr>
            <p:nvPr/>
          </p:nvSpPr>
          <p:spPr bwMode="auto">
            <a:xfrm>
              <a:off x="4164514" y="6705600"/>
              <a:ext cx="8024310" cy="152400"/>
            </a:xfrm>
            <a:prstGeom prst="rect">
              <a:avLst/>
            </a:prstGeom>
            <a:gradFill rotWithShape="0">
              <a:gsLst>
                <a:gs pos="0">
                  <a:schemeClr val="accent5">
                    <a:lumMod val="20000"/>
                    <a:lumOff val="80000"/>
                  </a:schemeClr>
                </a:gs>
                <a:gs pos="100000">
                  <a:schemeClr val="accent5">
                    <a:lumMod val="75000"/>
                  </a:schemeClr>
                </a:gs>
              </a:gsLst>
              <a:lin ang="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9" name="Rectangle 9"/>
            <p:cNvSpPr>
              <a:spLocks noChangeArrowheads="1"/>
            </p:cNvSpPr>
            <p:nvPr/>
          </p:nvSpPr>
          <p:spPr bwMode="auto">
            <a:xfrm>
              <a:off x="11680956" y="1981200"/>
              <a:ext cx="507868" cy="4267200"/>
            </a:xfrm>
            <a:prstGeom prst="rect">
              <a:avLst/>
            </a:prstGeom>
            <a:gradFill rotWithShape="0">
              <a:gsLst>
                <a:gs pos="0">
                  <a:schemeClr val="tx2">
                    <a:lumMod val="20000"/>
                    <a:lumOff val="80000"/>
                  </a:schemeClr>
                </a:gs>
                <a:gs pos="100000">
                  <a:schemeClr val="tx2">
                    <a:lumMod val="60000"/>
                    <a:lumOff val="40000"/>
                  </a:schemeClr>
                </a:gs>
              </a:gsLst>
              <a:lin ang="540000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0" name="Rectangle 10"/>
            <p:cNvSpPr>
              <a:spLocks noChangeArrowheads="1"/>
            </p:cNvSpPr>
            <p:nvPr/>
          </p:nvSpPr>
          <p:spPr bwMode="auto">
            <a:xfrm>
              <a:off x="-1" y="5257800"/>
              <a:ext cx="609441" cy="152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1" name="Rectangle 11"/>
            <p:cNvSpPr>
              <a:spLocks noChangeArrowheads="1"/>
            </p:cNvSpPr>
            <p:nvPr/>
          </p:nvSpPr>
          <p:spPr bwMode="auto">
            <a:xfrm>
              <a:off x="-1" y="5410200"/>
              <a:ext cx="609441" cy="1447800"/>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2" name="Rectangle 12"/>
            <p:cNvSpPr>
              <a:spLocks noChangeArrowheads="1"/>
            </p:cNvSpPr>
            <p:nvPr/>
          </p:nvSpPr>
          <p:spPr bwMode="auto">
            <a:xfrm>
              <a:off x="11680956" y="0"/>
              <a:ext cx="507868" cy="1981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3" name="Rectangle 13"/>
            <p:cNvSpPr>
              <a:spLocks noChangeArrowheads="1"/>
            </p:cNvSpPr>
            <p:nvPr/>
          </p:nvSpPr>
          <p:spPr bwMode="auto">
            <a:xfrm>
              <a:off x="7618015" y="0"/>
              <a:ext cx="4062942" cy="304800"/>
            </a:xfrm>
            <a:prstGeom prst="rect">
              <a:avLst/>
            </a:prstGeom>
            <a:solidFill>
              <a:schemeClr val="accent1"/>
            </a:solidFill>
            <a:ln w="9525">
              <a:solidFill>
                <a:schemeClr val="accent3"/>
              </a:solidFill>
              <a:miter lim="800000"/>
              <a:headEnd/>
              <a:tailEnd/>
            </a:ln>
            <a:effectLst/>
          </p:spPr>
          <p:txBody>
            <a:bodyPr wrap="none" anchor="ctr"/>
            <a:lstStyle/>
            <a:p>
              <a:pPr algn="ctr"/>
              <a:endParaRPr kumimoji="1" lang="en-US" sz="2400">
                <a:latin typeface="굴림" pitchFamily="50" charset="-127"/>
              </a:endParaRPr>
            </a:p>
          </p:txBody>
        </p:sp>
        <p:sp>
          <p:nvSpPr>
            <p:cNvPr id="14" name="Rectangle 14"/>
            <p:cNvSpPr>
              <a:spLocks noChangeArrowheads="1"/>
            </p:cNvSpPr>
            <p:nvPr/>
          </p:nvSpPr>
          <p:spPr bwMode="auto">
            <a:xfrm>
              <a:off x="609440" y="304800"/>
              <a:ext cx="711015" cy="762000"/>
            </a:xfrm>
            <a:prstGeom prst="rect">
              <a:avLst/>
            </a:prstGeom>
            <a:solidFill>
              <a:schemeClr val="bg2">
                <a:lumMod val="50000"/>
                <a:alpha val="50000"/>
              </a:schemeClr>
            </a:soli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5" name="Rectangle 15"/>
            <p:cNvSpPr>
              <a:spLocks noChangeArrowheads="1"/>
            </p:cNvSpPr>
            <p:nvPr/>
          </p:nvSpPr>
          <p:spPr bwMode="auto">
            <a:xfrm>
              <a:off x="-1" y="1066800"/>
              <a:ext cx="609441" cy="4191000"/>
            </a:xfrm>
            <a:prstGeom prst="rect">
              <a:avLst/>
            </a:prstGeom>
            <a:gradFill rotWithShape="0">
              <a:gsLst>
                <a:gs pos="0">
                  <a:schemeClr val="bg2">
                    <a:lumMod val="50000"/>
                  </a:schemeClr>
                </a:gs>
                <a:gs pos="100000">
                  <a:schemeClr val="bg1"/>
                </a:gs>
              </a:gsLst>
              <a:lin ang="5400000" scaled="1"/>
            </a:gradFill>
            <a:ln w="9525">
              <a:solidFill>
                <a:schemeClr val="tx1"/>
              </a:solidFill>
              <a:miter lim="800000"/>
              <a:headEnd/>
              <a:tailEnd/>
            </a:ln>
            <a:effectLst/>
          </p:spPr>
          <p:txBody>
            <a:bodyPr wrap="none" anchor="ctr"/>
            <a:lstStyle/>
            <a:p>
              <a:pPr algn="ctr"/>
              <a:endParaRPr kumimoji="1" lang="en-US" sz="2400">
                <a:latin typeface="굴림" pitchFamily="50" charset="-127"/>
              </a:endParaRPr>
            </a:p>
          </p:txBody>
        </p:sp>
        <p:sp>
          <p:nvSpPr>
            <p:cNvPr id="16" name="Rectangle 16"/>
            <p:cNvSpPr>
              <a:spLocks noChangeArrowheads="1"/>
            </p:cNvSpPr>
            <p:nvPr/>
          </p:nvSpPr>
          <p:spPr bwMode="auto">
            <a:xfrm>
              <a:off x="-1" y="304800"/>
              <a:ext cx="609441" cy="7620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7" name="Rectangle 17"/>
            <p:cNvSpPr>
              <a:spLocks noChangeArrowheads="1"/>
            </p:cNvSpPr>
            <p:nvPr/>
          </p:nvSpPr>
          <p:spPr bwMode="auto">
            <a:xfrm>
              <a:off x="-1" y="0"/>
              <a:ext cx="1320456" cy="304800"/>
            </a:xfrm>
            <a:prstGeom prst="rect">
              <a:avLst/>
            </a:prstGeom>
            <a:solidFill>
              <a:schemeClr val="accent1"/>
            </a:solidFill>
            <a:ln w="19050">
              <a:solidFill>
                <a:schemeClr val="accent1"/>
              </a:solidFill>
              <a:miter lim="800000"/>
              <a:headEnd/>
              <a:tailEnd/>
            </a:ln>
            <a:effectLst/>
          </p:spPr>
          <p:txBody>
            <a:bodyPr wrap="none" anchor="ctr"/>
            <a:lstStyle/>
            <a:p>
              <a:pPr algn="ctr"/>
              <a:endParaRPr kumimoji="1" lang="en-US" sz="2400">
                <a:latin typeface="굴림" pitchFamily="50" charset="-127"/>
              </a:endParaRPr>
            </a:p>
          </p:txBody>
        </p:sp>
        <p:sp>
          <p:nvSpPr>
            <p:cNvPr id="18" name="Rectangle 18"/>
            <p:cNvSpPr>
              <a:spLocks noChangeArrowheads="1"/>
            </p:cNvSpPr>
            <p:nvPr/>
          </p:nvSpPr>
          <p:spPr bwMode="auto">
            <a:xfrm>
              <a:off x="1320455" y="0"/>
              <a:ext cx="6297560" cy="304800"/>
            </a:xfrm>
            <a:prstGeom prst="rect">
              <a:avLst/>
            </a:prstGeom>
            <a:solidFill>
              <a:schemeClr val="bg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9" name="Line 19"/>
            <p:cNvSpPr>
              <a:spLocks noChangeShapeType="1"/>
            </p:cNvSpPr>
            <p:nvPr/>
          </p:nvSpPr>
          <p:spPr bwMode="auto">
            <a:xfrm flipV="1">
              <a:off x="609440" y="304800"/>
              <a:ext cx="0" cy="6553200"/>
            </a:xfrm>
            <a:prstGeom prst="line">
              <a:avLst/>
            </a:prstGeom>
            <a:noFill/>
            <a:ln w="762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0" name="Line 20"/>
            <p:cNvSpPr>
              <a:spLocks noChangeShapeType="1"/>
            </p:cNvSpPr>
            <p:nvPr/>
          </p:nvSpPr>
          <p:spPr bwMode="auto">
            <a:xfrm>
              <a:off x="609440" y="6705600"/>
              <a:ext cx="11579384" cy="0"/>
            </a:xfrm>
            <a:prstGeom prst="line">
              <a:avLst/>
            </a:prstGeom>
            <a:noFill/>
            <a:ln w="571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1" name="Line 21"/>
            <p:cNvSpPr>
              <a:spLocks noChangeShapeType="1"/>
            </p:cNvSpPr>
            <p:nvPr/>
          </p:nvSpPr>
          <p:spPr bwMode="auto">
            <a:xfrm flipV="1">
              <a:off x="11680956" y="0"/>
              <a:ext cx="0" cy="6705600"/>
            </a:xfrm>
            <a:prstGeom prst="line">
              <a:avLst/>
            </a:prstGeom>
            <a:noFill/>
            <a:ln w="571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2" name="Line 22"/>
            <p:cNvSpPr>
              <a:spLocks noChangeShapeType="1"/>
            </p:cNvSpPr>
            <p:nvPr/>
          </p:nvSpPr>
          <p:spPr bwMode="auto">
            <a:xfrm>
              <a:off x="-1" y="304800"/>
              <a:ext cx="12188825" cy="0"/>
            </a:xfrm>
            <a:prstGeom prst="line">
              <a:avLst/>
            </a:prstGeom>
            <a:noFill/>
            <a:ln w="3810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3" name="Line 23"/>
            <p:cNvSpPr>
              <a:spLocks noChangeShapeType="1"/>
            </p:cNvSpPr>
            <p:nvPr/>
          </p:nvSpPr>
          <p:spPr bwMode="auto">
            <a:xfrm flipH="1">
              <a:off x="7618015" y="457200"/>
              <a:ext cx="4570809" cy="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4" name="Line 24"/>
            <p:cNvSpPr>
              <a:spLocks noChangeShapeType="1"/>
            </p:cNvSpPr>
            <p:nvPr/>
          </p:nvSpPr>
          <p:spPr bwMode="auto">
            <a:xfrm flipV="1">
              <a:off x="7618015" y="0"/>
              <a:ext cx="0" cy="45720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5" name="Line 25"/>
            <p:cNvSpPr>
              <a:spLocks noChangeShapeType="1"/>
            </p:cNvSpPr>
            <p:nvPr/>
          </p:nvSpPr>
          <p:spPr bwMode="auto">
            <a:xfrm>
              <a:off x="11680956" y="1981200"/>
              <a:ext cx="5078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6" name="Line 26"/>
            <p:cNvSpPr>
              <a:spLocks noChangeShapeType="1"/>
            </p:cNvSpPr>
            <p:nvPr/>
          </p:nvSpPr>
          <p:spPr bwMode="auto">
            <a:xfrm>
              <a:off x="1320455" y="0"/>
              <a:ext cx="0" cy="1066800"/>
            </a:xfrm>
            <a:prstGeom prst="line">
              <a:avLst/>
            </a:prstGeom>
            <a:noFill/>
            <a:ln w="19050">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27" name="Line 27"/>
            <p:cNvSpPr>
              <a:spLocks noChangeShapeType="1"/>
            </p:cNvSpPr>
            <p:nvPr/>
          </p:nvSpPr>
          <p:spPr bwMode="auto">
            <a:xfrm flipH="1">
              <a:off x="-1" y="1066800"/>
              <a:ext cx="1320456" cy="0"/>
            </a:xfrm>
            <a:prstGeom prst="line">
              <a:avLst/>
            </a:prstGeom>
            <a:noFill/>
            <a:ln w="2857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30" name="Line 30"/>
            <p:cNvSpPr>
              <a:spLocks noChangeShapeType="1"/>
            </p:cNvSpPr>
            <p:nvPr/>
          </p:nvSpPr>
          <p:spPr bwMode="auto">
            <a:xfrm flipH="1">
              <a:off x="-1" y="5257800"/>
              <a:ext cx="609441" cy="0"/>
            </a:xfrm>
            <a:prstGeom prst="line">
              <a:avLst/>
            </a:prstGeom>
            <a:noFill/>
            <a:ln w="2857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sp>
          <p:nvSpPr>
            <p:cNvPr id="31" name="Line 31"/>
            <p:cNvSpPr>
              <a:spLocks noChangeShapeType="1"/>
            </p:cNvSpPr>
            <p:nvPr/>
          </p:nvSpPr>
          <p:spPr bwMode="auto">
            <a:xfrm flipH="1">
              <a:off x="-1" y="5410200"/>
              <a:ext cx="609441"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p>
          </p:txBody>
        </p:sp>
      </p:grpSp>
      <p:sp>
        <p:nvSpPr>
          <p:cNvPr id="2" name="Title Placeholder 1"/>
          <p:cNvSpPr>
            <a:spLocks noGrp="1"/>
          </p:cNvSpPr>
          <p:nvPr>
            <p:ph type="title"/>
          </p:nvPr>
        </p:nvSpPr>
        <p:spPr>
          <a:xfrm>
            <a:off x="1142108" y="533400"/>
            <a:ext cx="7202776" cy="11430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42108" y="1828800"/>
            <a:ext cx="7202776" cy="4191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138759" y="6172201"/>
            <a:ext cx="5148187" cy="273049"/>
          </a:xfrm>
          <a:prstGeom prst="rect">
            <a:avLst/>
          </a:prstGeom>
        </p:spPr>
        <p:txBody>
          <a:bodyPr vert="horz" lIns="91440" tIns="45720" rIns="91440" bIns="45720" rtlCol="0" anchor="ctr"/>
          <a:lstStyle>
            <a:lvl1pPr algn="l">
              <a:defRPr sz="1100">
                <a:solidFill>
                  <a:schemeClr val="tx1"/>
                </a:solidFill>
              </a:defRPr>
            </a:lvl1pPr>
          </a:lstStyle>
          <a:p>
            <a:r>
              <a:rPr lang="en-US"/>
              <a:t>Ali Broumandnia, Broumandnia@gmail.com</a:t>
            </a:r>
            <a:endParaRPr lang="en-US" dirty="0"/>
          </a:p>
        </p:txBody>
      </p:sp>
      <p:sp>
        <p:nvSpPr>
          <p:cNvPr id="4" name="Date Placeholder 3"/>
          <p:cNvSpPr>
            <a:spLocks noGrp="1"/>
          </p:cNvSpPr>
          <p:nvPr>
            <p:ph type="dt" sz="half" idx="2"/>
          </p:nvPr>
        </p:nvSpPr>
        <p:spPr>
          <a:xfrm>
            <a:off x="6458441" y="6172201"/>
            <a:ext cx="990302" cy="273049"/>
          </a:xfrm>
          <a:prstGeom prst="rect">
            <a:avLst/>
          </a:prstGeom>
        </p:spPr>
        <p:txBody>
          <a:bodyPr vert="horz" lIns="91440" tIns="45720" rIns="91440" bIns="45720" rtlCol="0" anchor="ctr"/>
          <a:lstStyle>
            <a:lvl1pPr algn="r">
              <a:defRPr sz="1100">
                <a:solidFill>
                  <a:schemeClr val="tx1"/>
                </a:solidFill>
              </a:defRPr>
            </a:lvl1pPr>
          </a:lstStyle>
          <a:p>
            <a:fld id="{8C8B50E2-90D3-4CE8-8674-6FD3DB52E0C3}" type="datetime1">
              <a:rPr lang="en-US" smtClean="0"/>
              <a:t>1/8/2026</a:t>
            </a:fld>
            <a:endParaRPr lang="en-US"/>
          </a:p>
        </p:txBody>
      </p:sp>
      <p:sp>
        <p:nvSpPr>
          <p:cNvPr id="6" name="Slide Number Placeholder 5"/>
          <p:cNvSpPr>
            <a:spLocks noGrp="1"/>
          </p:cNvSpPr>
          <p:nvPr>
            <p:ph type="sldNum" sz="quarter" idx="4"/>
          </p:nvPr>
        </p:nvSpPr>
        <p:spPr>
          <a:xfrm>
            <a:off x="7601739" y="6172201"/>
            <a:ext cx="743144" cy="273049"/>
          </a:xfrm>
          <a:prstGeom prst="rect">
            <a:avLst/>
          </a:prstGeom>
        </p:spPr>
        <p:txBody>
          <a:bodyPr vert="horz" lIns="91440" tIns="45720" rIns="91440" bIns="45720" rtlCol="0" anchor="ctr"/>
          <a:lstStyle>
            <a:lvl1pPr algn="r">
              <a:defRPr sz="1100">
                <a:solidFill>
                  <a:schemeClr val="tx1"/>
                </a:solidFill>
              </a:defRPr>
            </a:lvl1pPr>
          </a:lstStyle>
          <a:p>
            <a:fld id="{E5137D0E-4A4F-4307-8994-C1891D747D59}" type="slidenum">
              <a:rPr lang="en-US" smtClean="0"/>
              <a:pPr/>
              <a:t>‹#›</a:t>
            </a:fld>
            <a:endParaRPr lang="en-US"/>
          </a:p>
        </p:txBody>
      </p:sp>
    </p:spTree>
    <p:extLst>
      <p:ext uri="{BB962C8B-B14F-4D97-AF65-F5344CB8AC3E}">
        <p14:creationId xmlns:p14="http://schemas.microsoft.com/office/powerpoint/2010/main" val="7745226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1" eaLnBrk="1" latinLnBrk="0" hangingPunct="1">
        <a:lnSpc>
          <a:spcPct val="90000"/>
        </a:lnSpc>
        <a:spcBef>
          <a:spcPct val="0"/>
        </a:spcBef>
        <a:buNone/>
        <a:defRPr sz="3200" kern="1200">
          <a:solidFill>
            <a:schemeClr val="tx2"/>
          </a:solidFill>
          <a:latin typeface="+mj-lt"/>
          <a:ea typeface="+mj-ea"/>
          <a:cs typeface="+mj-cs"/>
        </a:defRPr>
      </a:lvl1pPr>
    </p:titleStyle>
    <p:bodyStyle>
      <a:lvl1pPr marL="223838" indent="-223838" algn="r" defTabSz="914400" rtl="1" eaLnBrk="1" latinLnBrk="0" hangingPunct="1">
        <a:lnSpc>
          <a:spcPct val="90000"/>
        </a:lnSpc>
        <a:spcBef>
          <a:spcPts val="1800"/>
        </a:spcBef>
        <a:buClr>
          <a:schemeClr val="accent2"/>
        </a:buClr>
        <a:buFont typeface="Arial" pitchFamily="34" charset="0"/>
        <a:buChar char="•"/>
        <a:defRPr sz="2000" kern="1200">
          <a:solidFill>
            <a:schemeClr val="tx1"/>
          </a:solidFill>
          <a:latin typeface="+mn-lt"/>
          <a:ea typeface="+mn-ea"/>
          <a:cs typeface="+mn-cs"/>
        </a:defRPr>
      </a:lvl1pPr>
      <a:lvl2pPr marL="502920" indent="-223838" algn="r" defTabSz="914400" rtl="1" eaLnBrk="1" latinLnBrk="0" hangingPunct="1">
        <a:lnSpc>
          <a:spcPct val="90000"/>
        </a:lnSpc>
        <a:spcBef>
          <a:spcPts val="800"/>
        </a:spcBef>
        <a:buClr>
          <a:schemeClr val="accent2"/>
        </a:buClr>
        <a:buFont typeface="Arial" pitchFamily="34" charset="0"/>
        <a:buChar char="–"/>
        <a:defRPr sz="1800" kern="1200">
          <a:solidFill>
            <a:schemeClr val="tx1"/>
          </a:solidFill>
          <a:latin typeface="+mn-lt"/>
          <a:ea typeface="+mn-ea"/>
          <a:cs typeface="+mn-cs"/>
        </a:defRPr>
      </a:lvl2pPr>
      <a:lvl3pPr marL="741363" indent="-171450" algn="r" defTabSz="914400" rtl="1" eaLnBrk="1" latinLnBrk="0" hangingPunct="1">
        <a:lnSpc>
          <a:spcPct val="90000"/>
        </a:lnSpc>
        <a:spcBef>
          <a:spcPts val="600"/>
        </a:spcBef>
        <a:buClr>
          <a:schemeClr val="accent2"/>
        </a:buClr>
        <a:buFont typeface="Arial" pitchFamily="34" charset="0"/>
        <a:buChar char="•"/>
        <a:defRPr sz="1600" kern="1200">
          <a:solidFill>
            <a:schemeClr val="tx1"/>
          </a:solidFill>
          <a:latin typeface="+mn-lt"/>
          <a:ea typeface="+mn-ea"/>
          <a:cs typeface="+mn-cs"/>
        </a:defRPr>
      </a:lvl3pPr>
      <a:lvl4pPr marL="966788" indent="-173038" algn="r" defTabSz="914400" rtl="1" eaLnBrk="1" latinLnBrk="0" hangingPunct="1">
        <a:lnSpc>
          <a:spcPct val="90000"/>
        </a:lnSpc>
        <a:spcBef>
          <a:spcPts val="600"/>
        </a:spcBef>
        <a:buClr>
          <a:schemeClr val="accent2"/>
        </a:buClr>
        <a:buFont typeface="Arial" pitchFamily="34" charset="0"/>
        <a:buChar char="–"/>
        <a:defRPr sz="1400" kern="1200">
          <a:solidFill>
            <a:schemeClr val="tx1"/>
          </a:solidFill>
          <a:latin typeface="+mn-lt"/>
          <a:ea typeface="+mn-ea"/>
          <a:cs typeface="+mn-cs"/>
        </a:defRPr>
      </a:lvl4pPr>
      <a:lvl5pPr marL="1208088" indent="-173038" algn="r" defTabSz="914400" rtl="1" eaLnBrk="1" latinLnBrk="0" hangingPunct="1">
        <a:lnSpc>
          <a:spcPct val="90000"/>
        </a:lnSpc>
        <a:spcBef>
          <a:spcPts val="600"/>
        </a:spcBef>
        <a:buClr>
          <a:schemeClr val="accent2"/>
        </a:buClr>
        <a:buFont typeface="Arial" pitchFamily="34" charset="0"/>
        <a:buChar char="•"/>
        <a:defRPr sz="1400" kern="1200">
          <a:solidFill>
            <a:schemeClr val="tx1"/>
          </a:solidFill>
          <a:latin typeface="+mn-lt"/>
          <a:ea typeface="+mn-ea"/>
          <a:cs typeface="+mn-cs"/>
        </a:defRPr>
      </a:lvl5pPr>
      <a:lvl6pPr marL="1444752"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6pPr>
      <a:lvl7pPr marL="1682496"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7pPr>
      <a:lvl8pPr marL="1920240"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8pPr>
      <a:lvl9pPr marL="2157984" indent="-173736" algn="r" defTabSz="914400" rtl="1" eaLnBrk="1" latinLnBrk="0" hangingPunct="1">
        <a:lnSpc>
          <a:spcPct val="90000"/>
        </a:lnSpc>
        <a:spcBef>
          <a:spcPts val="600"/>
        </a:spcBef>
        <a:buFont typeface="Arial" pitchFamily="34" charset="0"/>
        <a:buChar char="•"/>
        <a:defRPr sz="1400" kern="1200">
          <a:solidFill>
            <a:schemeClr val="tx1"/>
          </a:solidFill>
          <a:latin typeface="+mn-lt"/>
          <a:ea typeface="+mn-ea"/>
          <a:cs typeface="+mn-cs"/>
        </a:defRPr>
      </a:lvl9pPr>
    </p:bodyStyle>
    <p:otherStyle>
      <a:defPPr>
        <a:defRP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04800" y="76200"/>
            <a:ext cx="84582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304800" y="914400"/>
            <a:ext cx="84582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495800" y="6629400"/>
            <a:ext cx="4191000" cy="228600"/>
          </a:xfrm>
          <a:prstGeom prst="rect">
            <a:avLst/>
          </a:prstGeom>
        </p:spPr>
        <p:txBody>
          <a:bodyPr vert="horz" lIns="91440" tIns="45720" rIns="91440" bIns="45720" rtlCol="0" anchor="b"/>
          <a:lstStyle>
            <a:lvl1pPr algn="r" fontAlgn="auto">
              <a:spcBef>
                <a:spcPts val="0"/>
              </a:spcBef>
              <a:spcAft>
                <a:spcPts val="0"/>
              </a:spcAft>
              <a:defRPr sz="1000" smtClean="0">
                <a:solidFill>
                  <a:schemeClr val="tx1">
                    <a:lumMod val="75000"/>
                    <a:lumOff val="25000"/>
                  </a:schemeClr>
                </a:solidFill>
                <a:latin typeface="Calibri" pitchFamily="34" charset="0"/>
                <a:cs typeface="+mn-cs"/>
              </a:defRPr>
            </a:lvl1pPr>
          </a:lstStyle>
          <a:p>
            <a:pPr>
              <a:defRPr/>
            </a:pPr>
            <a:r>
              <a:rPr lang="en-US" dirty="0"/>
              <a:t>Module #: Module Name</a:t>
            </a:r>
          </a:p>
        </p:txBody>
      </p:sp>
      <p:sp>
        <p:nvSpPr>
          <p:cNvPr id="6" name="Slide Number Placeholder 5"/>
          <p:cNvSpPr>
            <a:spLocks noGrp="1"/>
          </p:cNvSpPr>
          <p:nvPr>
            <p:ph type="sldNum" sz="quarter" idx="4"/>
          </p:nvPr>
        </p:nvSpPr>
        <p:spPr>
          <a:xfrm>
            <a:off x="8686800" y="6629400"/>
            <a:ext cx="457200" cy="228600"/>
          </a:xfrm>
          <a:prstGeom prst="rect">
            <a:avLst/>
          </a:prstGeom>
        </p:spPr>
        <p:txBody>
          <a:bodyPr vert="horz" lIns="91440" tIns="45720" rIns="91440" bIns="45720" rtlCol="0" anchor="b"/>
          <a:lstStyle>
            <a:lvl1pPr algn="r" fontAlgn="auto">
              <a:spcBef>
                <a:spcPts val="0"/>
              </a:spcBef>
              <a:spcAft>
                <a:spcPts val="0"/>
              </a:spcAft>
              <a:defRPr sz="1000" smtClean="0">
                <a:solidFill>
                  <a:schemeClr val="tx1">
                    <a:lumMod val="75000"/>
                    <a:lumOff val="25000"/>
                  </a:schemeClr>
                </a:solidFill>
                <a:latin typeface="Calibri" pitchFamily="34" charset="0"/>
                <a:cs typeface="+mn-cs"/>
              </a:defRPr>
            </a:lvl1pPr>
          </a:lstStyle>
          <a:p>
            <a:pPr>
              <a:defRPr/>
            </a:pPr>
            <a:fld id="{2F0FE6C8-51A2-4AA8-BE8B-722D435E963D}" type="slidenum">
              <a:rPr lang="en-US"/>
              <a:pPr>
                <a:defRPr/>
              </a:pPr>
              <a:t>‹#›</a:t>
            </a:fld>
            <a:endParaRPr lang="en-US"/>
          </a:p>
        </p:txBody>
      </p:sp>
      <p:sp>
        <p:nvSpPr>
          <p:cNvPr id="8" name="Rectangle 7"/>
          <p:cNvSpPr/>
          <p:nvPr/>
        </p:nvSpPr>
        <p:spPr>
          <a:xfrm>
            <a:off x="0" y="6611779"/>
            <a:ext cx="4984978" cy="253916"/>
          </a:xfrm>
          <a:prstGeom prst="rect">
            <a:avLst/>
          </a:prstGeom>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sz="1050" dirty="0">
                <a:solidFill>
                  <a:schemeClr val="accent1">
                    <a:lumMod val="75000"/>
                  </a:schemeClr>
                </a:solidFill>
                <a:latin typeface="Calibri" pitchFamily="34" charset="0"/>
              </a:rPr>
              <a:t>EMC Proven Professional</a:t>
            </a:r>
            <a:r>
              <a:rPr lang="en-US" sz="1000" kern="1200" dirty="0">
                <a:solidFill>
                  <a:schemeClr val="tx1">
                    <a:lumMod val="75000"/>
                    <a:lumOff val="25000"/>
                  </a:schemeClr>
                </a:solidFill>
                <a:latin typeface="Calibri" pitchFamily="34" charset="0"/>
                <a:ea typeface="+mn-ea"/>
                <a:cs typeface="+mn-cs"/>
              </a:rPr>
              <a:t>. Copyright © 2012 EMC Corporation. All Rights Reserved</a:t>
            </a:r>
            <a:r>
              <a:rPr lang="en-US" sz="950" dirty="0">
                <a:solidFill>
                  <a:schemeClr val="bg1">
                    <a:lumMod val="50000"/>
                  </a:schemeClr>
                </a:solidFill>
                <a:latin typeface="Calibri" pitchFamily="34" charset="0"/>
              </a:rPr>
              <a:t>.</a:t>
            </a:r>
          </a:p>
        </p:txBody>
      </p:sp>
      <p:sp>
        <p:nvSpPr>
          <p:cNvPr id="9" name="Rectangle 8"/>
          <p:cNvSpPr/>
          <p:nvPr/>
        </p:nvSpPr>
        <p:spPr bwMode="gray">
          <a:xfrm>
            <a:off x="0" y="6102750"/>
            <a:ext cx="9144000" cy="51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13" name="TextBox 12"/>
          <p:cNvSpPr txBox="1"/>
          <p:nvPr/>
        </p:nvSpPr>
        <p:spPr>
          <a:xfrm>
            <a:off x="304800" y="5410200"/>
            <a:ext cx="3382816" cy="307777"/>
          </a:xfrm>
          <a:prstGeom prst="rect">
            <a:avLst/>
          </a:prstGeom>
        </p:spPr>
        <p:txBody>
          <a:bodyPr wrap="square" rtlCol="0">
            <a:spAutoFit/>
          </a:bodyPr>
          <a:lstStyle/>
          <a:p>
            <a:r>
              <a:rPr lang="en-US" sz="1400" dirty="0">
                <a:solidFill>
                  <a:schemeClr val="bg1"/>
                </a:solidFill>
                <a:latin typeface="Calibri" pitchFamily="34" charset="0"/>
                <a:cs typeface="Calibri" pitchFamily="34" charset="0"/>
              </a:rPr>
              <a:t>EMC</a:t>
            </a:r>
            <a:r>
              <a:rPr lang="en-US" sz="1400" baseline="0" dirty="0">
                <a:solidFill>
                  <a:schemeClr val="bg1"/>
                </a:solidFill>
                <a:latin typeface="Calibri" pitchFamily="34" charset="0"/>
                <a:cs typeface="Calibri" pitchFamily="34" charset="0"/>
              </a:rPr>
              <a:t> </a:t>
            </a:r>
            <a:r>
              <a:rPr lang="en-US" sz="1400" dirty="0">
                <a:solidFill>
                  <a:schemeClr val="bg1"/>
                </a:solidFill>
                <a:latin typeface="Calibri" pitchFamily="34" charset="0"/>
                <a:cs typeface="Calibri" pitchFamily="34" charset="0"/>
              </a:rPr>
              <a:t>Proven Professional</a:t>
            </a:r>
          </a:p>
        </p:txBody>
      </p:sp>
    </p:spTree>
    <p:extLst>
      <p:ext uri="{BB962C8B-B14F-4D97-AF65-F5344CB8AC3E}">
        <p14:creationId xmlns:p14="http://schemas.microsoft.com/office/powerpoint/2010/main" val="36284511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Lst>
  <p:hf hdr="0" dt="0"/>
  <p:txStyles>
    <p:titleStyle>
      <a:lvl1pPr algn="l" rtl="0" eaLnBrk="1" fontAlgn="base" hangingPunct="1">
        <a:spcBef>
          <a:spcPct val="0"/>
        </a:spcBef>
        <a:spcAft>
          <a:spcPct val="0"/>
        </a:spcAft>
        <a:defRPr sz="2800" kern="1200">
          <a:solidFill>
            <a:srgbClr val="2C95DD"/>
          </a:solidFill>
          <a:latin typeface="+mj-lt"/>
          <a:ea typeface="+mj-ea"/>
          <a:cs typeface="+mj-cs"/>
        </a:defRPr>
      </a:lvl1pPr>
      <a:lvl2pPr algn="l" rtl="0" eaLnBrk="1" fontAlgn="base" hangingPunct="1">
        <a:spcBef>
          <a:spcPct val="0"/>
        </a:spcBef>
        <a:spcAft>
          <a:spcPct val="0"/>
        </a:spcAft>
        <a:defRPr sz="2800">
          <a:solidFill>
            <a:srgbClr val="2C95DD"/>
          </a:solidFill>
          <a:latin typeface="MetaNormalLF-Roman" pitchFamily="34" charset="0"/>
          <a:cs typeface="Arial" charset="0"/>
        </a:defRPr>
      </a:lvl2pPr>
      <a:lvl3pPr algn="l" rtl="0" eaLnBrk="1" fontAlgn="base" hangingPunct="1">
        <a:spcBef>
          <a:spcPct val="0"/>
        </a:spcBef>
        <a:spcAft>
          <a:spcPct val="0"/>
        </a:spcAft>
        <a:defRPr sz="2800">
          <a:solidFill>
            <a:srgbClr val="2C95DD"/>
          </a:solidFill>
          <a:latin typeface="MetaNormalLF-Roman" pitchFamily="34" charset="0"/>
          <a:cs typeface="Arial" charset="0"/>
        </a:defRPr>
      </a:lvl3pPr>
      <a:lvl4pPr algn="l" rtl="0" eaLnBrk="1" fontAlgn="base" hangingPunct="1">
        <a:spcBef>
          <a:spcPct val="0"/>
        </a:spcBef>
        <a:spcAft>
          <a:spcPct val="0"/>
        </a:spcAft>
        <a:defRPr sz="2800">
          <a:solidFill>
            <a:srgbClr val="2C95DD"/>
          </a:solidFill>
          <a:latin typeface="MetaNormalLF-Roman" pitchFamily="34" charset="0"/>
          <a:cs typeface="Arial" charset="0"/>
        </a:defRPr>
      </a:lvl4pPr>
      <a:lvl5pPr algn="l" rtl="0" eaLnBrk="1" fontAlgn="base" hangingPunct="1">
        <a:spcBef>
          <a:spcPct val="0"/>
        </a:spcBef>
        <a:spcAft>
          <a:spcPct val="0"/>
        </a:spcAft>
        <a:defRPr sz="2800">
          <a:solidFill>
            <a:srgbClr val="2C95DD"/>
          </a:solidFill>
          <a:latin typeface="MetaNormalLF-Roman" pitchFamily="34" charset="0"/>
          <a:cs typeface="Arial" charset="0"/>
        </a:defRPr>
      </a:lvl5pPr>
      <a:lvl6pPr marL="457200" algn="l" rtl="0" eaLnBrk="1" fontAlgn="base" hangingPunct="1">
        <a:spcBef>
          <a:spcPct val="0"/>
        </a:spcBef>
        <a:spcAft>
          <a:spcPct val="0"/>
        </a:spcAft>
        <a:defRPr sz="2800">
          <a:solidFill>
            <a:srgbClr val="00B0F0"/>
          </a:solidFill>
          <a:latin typeface="MetaNormalLF-Roman" pitchFamily="34" charset="0"/>
          <a:cs typeface="Arial" charset="0"/>
        </a:defRPr>
      </a:lvl6pPr>
      <a:lvl7pPr marL="914400" algn="l" rtl="0" eaLnBrk="1" fontAlgn="base" hangingPunct="1">
        <a:spcBef>
          <a:spcPct val="0"/>
        </a:spcBef>
        <a:spcAft>
          <a:spcPct val="0"/>
        </a:spcAft>
        <a:defRPr sz="2800">
          <a:solidFill>
            <a:srgbClr val="00B0F0"/>
          </a:solidFill>
          <a:latin typeface="MetaNormalLF-Roman" pitchFamily="34" charset="0"/>
          <a:cs typeface="Arial" charset="0"/>
        </a:defRPr>
      </a:lvl7pPr>
      <a:lvl8pPr marL="1371600" algn="l" rtl="0" eaLnBrk="1" fontAlgn="base" hangingPunct="1">
        <a:spcBef>
          <a:spcPct val="0"/>
        </a:spcBef>
        <a:spcAft>
          <a:spcPct val="0"/>
        </a:spcAft>
        <a:defRPr sz="2800">
          <a:solidFill>
            <a:srgbClr val="00B0F0"/>
          </a:solidFill>
          <a:latin typeface="MetaNormalLF-Roman" pitchFamily="34" charset="0"/>
          <a:cs typeface="Arial" charset="0"/>
        </a:defRPr>
      </a:lvl8pPr>
      <a:lvl9pPr marL="1828800" algn="l" rtl="0" eaLnBrk="1" fontAlgn="base" hangingPunct="1">
        <a:spcBef>
          <a:spcPct val="0"/>
        </a:spcBef>
        <a:spcAft>
          <a:spcPct val="0"/>
        </a:spcAft>
        <a:defRPr sz="2800">
          <a:solidFill>
            <a:srgbClr val="00B0F0"/>
          </a:solidFill>
          <a:latin typeface="MetaNormalLF-Roman" pitchFamily="34" charset="0"/>
          <a:cs typeface="Arial" charset="0"/>
        </a:defRPr>
      </a:lvl9pPr>
    </p:titleStyle>
    <p:bodyStyle>
      <a:lvl1pPr marL="231775" indent="-231775" algn="l" rtl="0" eaLnBrk="1" fontAlgn="base" hangingPunct="1">
        <a:spcBef>
          <a:spcPct val="20000"/>
        </a:spcBef>
        <a:spcAft>
          <a:spcPct val="0"/>
        </a:spcAft>
        <a:buClr>
          <a:srgbClr val="92D050"/>
        </a:buClr>
        <a:buSzPct val="120000"/>
        <a:buFont typeface="Arial" charset="0"/>
        <a:buChar char="•"/>
        <a:defRPr sz="2400" kern="1200">
          <a:solidFill>
            <a:schemeClr val="bg2">
              <a:lumMod val="75000"/>
            </a:schemeClr>
          </a:solidFill>
          <a:latin typeface="Calibri" pitchFamily="34" charset="0"/>
          <a:ea typeface="+mn-ea"/>
          <a:cs typeface="+mn-cs"/>
        </a:defRPr>
      </a:lvl1pPr>
      <a:lvl2pPr marL="682625" indent="-341313" algn="l" rtl="0" eaLnBrk="1" fontAlgn="base" hangingPunct="1">
        <a:spcBef>
          <a:spcPct val="20000"/>
        </a:spcBef>
        <a:spcAft>
          <a:spcPct val="0"/>
        </a:spcAft>
        <a:buClr>
          <a:srgbClr val="FFC425"/>
        </a:buClr>
        <a:buSzPct val="90000"/>
        <a:buFont typeface="Webdings" pitchFamily="18" charset="2"/>
        <a:buChar char="4"/>
        <a:defRPr sz="2200" kern="1200">
          <a:solidFill>
            <a:schemeClr val="bg2">
              <a:lumMod val="75000"/>
            </a:schemeClr>
          </a:solidFill>
          <a:latin typeface="Calibri" pitchFamily="34" charset="0"/>
          <a:ea typeface="+mn-ea"/>
          <a:cs typeface="+mn-cs"/>
        </a:defRPr>
      </a:lvl2pPr>
      <a:lvl3pPr marL="1143000" indent="-338138" algn="l" rtl="0" eaLnBrk="1" fontAlgn="base" hangingPunct="1">
        <a:spcBef>
          <a:spcPct val="20000"/>
        </a:spcBef>
        <a:spcAft>
          <a:spcPct val="0"/>
        </a:spcAft>
        <a:buClr>
          <a:srgbClr val="B5761B"/>
        </a:buClr>
        <a:buSzPct val="90000"/>
        <a:buFont typeface="Webdings" pitchFamily="18" charset="2"/>
        <a:buChar char="8"/>
        <a:defRPr sz="2000" kern="1200">
          <a:solidFill>
            <a:schemeClr val="bg2">
              <a:lumMod val="75000"/>
            </a:schemeClr>
          </a:solidFill>
          <a:latin typeface="Calibri" pitchFamily="34" charset="0"/>
          <a:ea typeface="+mn-ea"/>
          <a:cs typeface="+mn-cs"/>
        </a:defRPr>
      </a:lvl3pPr>
      <a:lvl4pPr marL="1487488" indent="-231775" algn="l" rtl="0" eaLnBrk="1" fontAlgn="base" hangingPunct="1">
        <a:spcBef>
          <a:spcPct val="20000"/>
        </a:spcBef>
        <a:spcAft>
          <a:spcPct val="0"/>
        </a:spcAft>
        <a:buClr>
          <a:schemeClr val="tx2"/>
        </a:buClr>
        <a:buFont typeface="Wingdings" pitchFamily="2" charset="2"/>
        <a:buChar char="§"/>
        <a:defRPr kern="1200">
          <a:solidFill>
            <a:schemeClr val="bg2">
              <a:lumMod val="75000"/>
            </a:schemeClr>
          </a:solidFill>
          <a:latin typeface="Calibri" pitchFamily="34" charset="0"/>
          <a:ea typeface="+mn-ea"/>
          <a:cs typeface="+mn-cs"/>
        </a:defRPr>
      </a:lvl4pPr>
      <a:lvl5pPr marL="1828800" indent="-231775" algn="l" rtl="0" eaLnBrk="1" fontAlgn="base" hangingPunct="1">
        <a:spcBef>
          <a:spcPct val="20000"/>
        </a:spcBef>
        <a:spcAft>
          <a:spcPct val="0"/>
        </a:spcAft>
        <a:buClr>
          <a:srgbClr val="7030A0"/>
        </a:buClr>
        <a:buSzPct val="110000"/>
        <a:buFont typeface="Arial" charset="0"/>
        <a:buChar char="•"/>
        <a:defRPr kern="1200">
          <a:solidFill>
            <a:schemeClr val="bg2">
              <a:lumMod val="75000"/>
            </a:schemeClr>
          </a:solidFill>
          <a:latin typeface="Calibri"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04800" y="76200"/>
            <a:ext cx="84582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304800" y="914400"/>
            <a:ext cx="84582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495800" y="6629400"/>
            <a:ext cx="4191000" cy="228600"/>
          </a:xfrm>
          <a:prstGeom prst="rect">
            <a:avLst/>
          </a:prstGeom>
        </p:spPr>
        <p:txBody>
          <a:bodyPr vert="horz" lIns="91440" tIns="45720" rIns="91440" bIns="45720" rtlCol="0" anchor="b"/>
          <a:lstStyle>
            <a:lvl1pPr algn="r" fontAlgn="auto">
              <a:spcBef>
                <a:spcPts val="0"/>
              </a:spcBef>
              <a:spcAft>
                <a:spcPts val="0"/>
              </a:spcAft>
              <a:defRPr sz="1000" smtClean="0">
                <a:solidFill>
                  <a:schemeClr val="tx1">
                    <a:lumMod val="75000"/>
                    <a:lumOff val="25000"/>
                  </a:schemeClr>
                </a:solidFill>
                <a:latin typeface="Calibri" pitchFamily="34" charset="0"/>
                <a:cs typeface="+mn-cs"/>
              </a:defRPr>
            </a:lvl1pPr>
          </a:lstStyle>
          <a:p>
            <a:pPr>
              <a:defRPr/>
            </a:pPr>
            <a:r>
              <a:rPr lang="en-US"/>
              <a:t>Module 11: Local Replication</a:t>
            </a:r>
            <a:endParaRPr lang="en-US" dirty="0"/>
          </a:p>
        </p:txBody>
      </p:sp>
      <p:sp>
        <p:nvSpPr>
          <p:cNvPr id="6" name="Slide Number Placeholder 5"/>
          <p:cNvSpPr>
            <a:spLocks noGrp="1"/>
          </p:cNvSpPr>
          <p:nvPr>
            <p:ph type="sldNum" sz="quarter" idx="4"/>
          </p:nvPr>
        </p:nvSpPr>
        <p:spPr>
          <a:xfrm>
            <a:off x="8686800" y="6629400"/>
            <a:ext cx="457200" cy="228600"/>
          </a:xfrm>
          <a:prstGeom prst="rect">
            <a:avLst/>
          </a:prstGeom>
        </p:spPr>
        <p:txBody>
          <a:bodyPr vert="horz" lIns="91440" tIns="45720" rIns="91440" bIns="45720" rtlCol="0" anchor="b"/>
          <a:lstStyle>
            <a:lvl1pPr algn="r" fontAlgn="auto">
              <a:spcBef>
                <a:spcPts val="0"/>
              </a:spcBef>
              <a:spcAft>
                <a:spcPts val="0"/>
              </a:spcAft>
              <a:defRPr sz="1000" smtClean="0">
                <a:solidFill>
                  <a:schemeClr val="tx1">
                    <a:lumMod val="75000"/>
                    <a:lumOff val="25000"/>
                  </a:schemeClr>
                </a:solidFill>
                <a:latin typeface="Calibri" pitchFamily="34" charset="0"/>
                <a:cs typeface="+mn-cs"/>
              </a:defRPr>
            </a:lvl1pPr>
          </a:lstStyle>
          <a:p>
            <a:pPr>
              <a:defRPr/>
            </a:pPr>
            <a:fld id="{2F0FE6C8-51A2-4AA8-BE8B-722D435E963D}" type="slidenum">
              <a:rPr lang="en-US"/>
              <a:pPr>
                <a:defRPr/>
              </a:pPr>
              <a:t>‹#›</a:t>
            </a:fld>
            <a:endParaRPr lang="en-US"/>
          </a:p>
        </p:txBody>
      </p:sp>
      <p:sp>
        <p:nvSpPr>
          <p:cNvPr id="8" name="Rectangle 7"/>
          <p:cNvSpPr/>
          <p:nvPr/>
        </p:nvSpPr>
        <p:spPr>
          <a:xfrm>
            <a:off x="0" y="6611779"/>
            <a:ext cx="4984978" cy="253916"/>
          </a:xfrm>
          <a:prstGeom prst="rect">
            <a:avLst/>
          </a:prstGeom>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sz="1050" dirty="0">
                <a:solidFill>
                  <a:schemeClr val="accent1">
                    <a:lumMod val="75000"/>
                  </a:schemeClr>
                </a:solidFill>
                <a:latin typeface="Calibri" pitchFamily="34" charset="0"/>
              </a:rPr>
              <a:t>EMC Proven Professional</a:t>
            </a:r>
            <a:r>
              <a:rPr lang="en-US" sz="1000" kern="1200" dirty="0">
                <a:solidFill>
                  <a:schemeClr val="tx1">
                    <a:lumMod val="75000"/>
                    <a:lumOff val="25000"/>
                  </a:schemeClr>
                </a:solidFill>
                <a:latin typeface="Calibri" pitchFamily="34" charset="0"/>
                <a:ea typeface="+mn-ea"/>
                <a:cs typeface="+mn-cs"/>
              </a:rPr>
              <a:t>. Copyright © 2012 EMC Corporation. All Rights Reserved</a:t>
            </a:r>
            <a:r>
              <a:rPr lang="en-US" sz="950" dirty="0">
                <a:solidFill>
                  <a:schemeClr val="bg1">
                    <a:lumMod val="50000"/>
                  </a:schemeClr>
                </a:solidFill>
                <a:latin typeface="Calibri" pitchFamily="34" charset="0"/>
              </a:rPr>
              <a:t>.</a:t>
            </a:r>
          </a:p>
        </p:txBody>
      </p:sp>
      <p:sp>
        <p:nvSpPr>
          <p:cNvPr id="9" name="Rectangle 8"/>
          <p:cNvSpPr/>
          <p:nvPr/>
        </p:nvSpPr>
        <p:spPr bwMode="gray">
          <a:xfrm>
            <a:off x="0" y="6102750"/>
            <a:ext cx="9144000" cy="51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13" name="TextBox 12"/>
          <p:cNvSpPr txBox="1"/>
          <p:nvPr/>
        </p:nvSpPr>
        <p:spPr>
          <a:xfrm>
            <a:off x="304800" y="5410200"/>
            <a:ext cx="3382816" cy="307777"/>
          </a:xfrm>
          <a:prstGeom prst="rect">
            <a:avLst/>
          </a:prstGeom>
        </p:spPr>
        <p:txBody>
          <a:bodyPr wrap="square" rtlCol="0">
            <a:spAutoFit/>
          </a:bodyPr>
          <a:lstStyle/>
          <a:p>
            <a:r>
              <a:rPr lang="en-US" sz="1400" dirty="0">
                <a:solidFill>
                  <a:schemeClr val="bg1"/>
                </a:solidFill>
                <a:latin typeface="Calibri" pitchFamily="34" charset="0"/>
                <a:cs typeface="Calibri" pitchFamily="34" charset="0"/>
              </a:rPr>
              <a:t>EMC</a:t>
            </a:r>
            <a:r>
              <a:rPr lang="en-US" sz="1400" baseline="0" dirty="0">
                <a:solidFill>
                  <a:schemeClr val="bg1"/>
                </a:solidFill>
                <a:latin typeface="Calibri" pitchFamily="34" charset="0"/>
                <a:cs typeface="Calibri" pitchFamily="34" charset="0"/>
              </a:rPr>
              <a:t> </a:t>
            </a:r>
            <a:r>
              <a:rPr lang="en-US" sz="1400" dirty="0">
                <a:solidFill>
                  <a:schemeClr val="bg1"/>
                </a:solidFill>
                <a:latin typeface="Calibri" pitchFamily="34" charset="0"/>
                <a:cs typeface="Calibri" pitchFamily="34" charset="0"/>
              </a:rPr>
              <a:t>Proven Professional</a:t>
            </a:r>
          </a:p>
        </p:txBody>
      </p:sp>
    </p:spTree>
    <p:extLst>
      <p:ext uri="{BB962C8B-B14F-4D97-AF65-F5344CB8AC3E}">
        <p14:creationId xmlns:p14="http://schemas.microsoft.com/office/powerpoint/2010/main" val="69980061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Lst>
  <p:hf hdr="0" dt="0"/>
  <p:txStyles>
    <p:titleStyle>
      <a:lvl1pPr algn="l" rtl="0" eaLnBrk="1" fontAlgn="base" hangingPunct="1">
        <a:spcBef>
          <a:spcPct val="0"/>
        </a:spcBef>
        <a:spcAft>
          <a:spcPct val="0"/>
        </a:spcAft>
        <a:defRPr sz="2800" kern="1200">
          <a:solidFill>
            <a:srgbClr val="2C95DD"/>
          </a:solidFill>
          <a:latin typeface="+mj-lt"/>
          <a:ea typeface="+mj-ea"/>
          <a:cs typeface="+mj-cs"/>
        </a:defRPr>
      </a:lvl1pPr>
      <a:lvl2pPr algn="l" rtl="0" eaLnBrk="1" fontAlgn="base" hangingPunct="1">
        <a:spcBef>
          <a:spcPct val="0"/>
        </a:spcBef>
        <a:spcAft>
          <a:spcPct val="0"/>
        </a:spcAft>
        <a:defRPr sz="2800">
          <a:solidFill>
            <a:srgbClr val="2C95DD"/>
          </a:solidFill>
          <a:latin typeface="MetaNormalLF-Roman" pitchFamily="34" charset="0"/>
          <a:cs typeface="Arial" charset="0"/>
        </a:defRPr>
      </a:lvl2pPr>
      <a:lvl3pPr algn="l" rtl="0" eaLnBrk="1" fontAlgn="base" hangingPunct="1">
        <a:spcBef>
          <a:spcPct val="0"/>
        </a:spcBef>
        <a:spcAft>
          <a:spcPct val="0"/>
        </a:spcAft>
        <a:defRPr sz="2800">
          <a:solidFill>
            <a:srgbClr val="2C95DD"/>
          </a:solidFill>
          <a:latin typeface="MetaNormalLF-Roman" pitchFamily="34" charset="0"/>
          <a:cs typeface="Arial" charset="0"/>
        </a:defRPr>
      </a:lvl3pPr>
      <a:lvl4pPr algn="l" rtl="0" eaLnBrk="1" fontAlgn="base" hangingPunct="1">
        <a:spcBef>
          <a:spcPct val="0"/>
        </a:spcBef>
        <a:spcAft>
          <a:spcPct val="0"/>
        </a:spcAft>
        <a:defRPr sz="2800">
          <a:solidFill>
            <a:srgbClr val="2C95DD"/>
          </a:solidFill>
          <a:latin typeface="MetaNormalLF-Roman" pitchFamily="34" charset="0"/>
          <a:cs typeface="Arial" charset="0"/>
        </a:defRPr>
      </a:lvl4pPr>
      <a:lvl5pPr algn="l" rtl="0" eaLnBrk="1" fontAlgn="base" hangingPunct="1">
        <a:spcBef>
          <a:spcPct val="0"/>
        </a:spcBef>
        <a:spcAft>
          <a:spcPct val="0"/>
        </a:spcAft>
        <a:defRPr sz="2800">
          <a:solidFill>
            <a:srgbClr val="2C95DD"/>
          </a:solidFill>
          <a:latin typeface="MetaNormalLF-Roman" pitchFamily="34" charset="0"/>
          <a:cs typeface="Arial" charset="0"/>
        </a:defRPr>
      </a:lvl5pPr>
      <a:lvl6pPr marL="457200" algn="l" rtl="0" eaLnBrk="1" fontAlgn="base" hangingPunct="1">
        <a:spcBef>
          <a:spcPct val="0"/>
        </a:spcBef>
        <a:spcAft>
          <a:spcPct val="0"/>
        </a:spcAft>
        <a:defRPr sz="2800">
          <a:solidFill>
            <a:srgbClr val="00B0F0"/>
          </a:solidFill>
          <a:latin typeface="MetaNormalLF-Roman" pitchFamily="34" charset="0"/>
          <a:cs typeface="Arial" charset="0"/>
        </a:defRPr>
      </a:lvl6pPr>
      <a:lvl7pPr marL="914400" algn="l" rtl="0" eaLnBrk="1" fontAlgn="base" hangingPunct="1">
        <a:spcBef>
          <a:spcPct val="0"/>
        </a:spcBef>
        <a:spcAft>
          <a:spcPct val="0"/>
        </a:spcAft>
        <a:defRPr sz="2800">
          <a:solidFill>
            <a:srgbClr val="00B0F0"/>
          </a:solidFill>
          <a:latin typeface="MetaNormalLF-Roman" pitchFamily="34" charset="0"/>
          <a:cs typeface="Arial" charset="0"/>
        </a:defRPr>
      </a:lvl7pPr>
      <a:lvl8pPr marL="1371600" algn="l" rtl="0" eaLnBrk="1" fontAlgn="base" hangingPunct="1">
        <a:spcBef>
          <a:spcPct val="0"/>
        </a:spcBef>
        <a:spcAft>
          <a:spcPct val="0"/>
        </a:spcAft>
        <a:defRPr sz="2800">
          <a:solidFill>
            <a:srgbClr val="00B0F0"/>
          </a:solidFill>
          <a:latin typeface="MetaNormalLF-Roman" pitchFamily="34" charset="0"/>
          <a:cs typeface="Arial" charset="0"/>
        </a:defRPr>
      </a:lvl8pPr>
      <a:lvl9pPr marL="1828800" algn="l" rtl="0" eaLnBrk="1" fontAlgn="base" hangingPunct="1">
        <a:spcBef>
          <a:spcPct val="0"/>
        </a:spcBef>
        <a:spcAft>
          <a:spcPct val="0"/>
        </a:spcAft>
        <a:defRPr sz="2800">
          <a:solidFill>
            <a:srgbClr val="00B0F0"/>
          </a:solidFill>
          <a:latin typeface="MetaNormalLF-Roman" pitchFamily="34" charset="0"/>
          <a:cs typeface="Arial" charset="0"/>
        </a:defRPr>
      </a:lvl9pPr>
    </p:titleStyle>
    <p:bodyStyle>
      <a:lvl1pPr marL="231775" indent="-231775" algn="l" rtl="0" eaLnBrk="1" fontAlgn="base" hangingPunct="1">
        <a:spcBef>
          <a:spcPct val="20000"/>
        </a:spcBef>
        <a:spcAft>
          <a:spcPct val="0"/>
        </a:spcAft>
        <a:buClr>
          <a:srgbClr val="92D050"/>
        </a:buClr>
        <a:buSzPct val="120000"/>
        <a:buFont typeface="Arial" charset="0"/>
        <a:buChar char="•"/>
        <a:defRPr sz="2400" kern="1200">
          <a:solidFill>
            <a:schemeClr val="bg2">
              <a:lumMod val="75000"/>
            </a:schemeClr>
          </a:solidFill>
          <a:latin typeface="Calibri" pitchFamily="34" charset="0"/>
          <a:ea typeface="+mn-ea"/>
          <a:cs typeface="+mn-cs"/>
        </a:defRPr>
      </a:lvl1pPr>
      <a:lvl2pPr marL="682625" indent="-341313" algn="l" rtl="0" eaLnBrk="1" fontAlgn="base" hangingPunct="1">
        <a:spcBef>
          <a:spcPct val="20000"/>
        </a:spcBef>
        <a:spcAft>
          <a:spcPct val="0"/>
        </a:spcAft>
        <a:buClr>
          <a:srgbClr val="FFC425"/>
        </a:buClr>
        <a:buSzPct val="90000"/>
        <a:buFont typeface="Webdings" pitchFamily="18" charset="2"/>
        <a:buChar char="4"/>
        <a:defRPr sz="2200" kern="1200">
          <a:solidFill>
            <a:schemeClr val="bg2">
              <a:lumMod val="75000"/>
            </a:schemeClr>
          </a:solidFill>
          <a:latin typeface="Calibri" pitchFamily="34" charset="0"/>
          <a:ea typeface="+mn-ea"/>
          <a:cs typeface="+mn-cs"/>
        </a:defRPr>
      </a:lvl2pPr>
      <a:lvl3pPr marL="1143000" indent="-338138" algn="l" rtl="0" eaLnBrk="1" fontAlgn="base" hangingPunct="1">
        <a:spcBef>
          <a:spcPct val="20000"/>
        </a:spcBef>
        <a:spcAft>
          <a:spcPct val="0"/>
        </a:spcAft>
        <a:buClr>
          <a:srgbClr val="B5761B"/>
        </a:buClr>
        <a:buSzPct val="90000"/>
        <a:buFont typeface="Webdings" pitchFamily="18" charset="2"/>
        <a:buChar char="8"/>
        <a:defRPr sz="2000" kern="1200">
          <a:solidFill>
            <a:schemeClr val="bg2">
              <a:lumMod val="75000"/>
            </a:schemeClr>
          </a:solidFill>
          <a:latin typeface="Calibri" pitchFamily="34" charset="0"/>
          <a:ea typeface="+mn-ea"/>
          <a:cs typeface="+mn-cs"/>
        </a:defRPr>
      </a:lvl3pPr>
      <a:lvl4pPr marL="1487488" indent="-231775" algn="l" rtl="0" eaLnBrk="1" fontAlgn="base" hangingPunct="1">
        <a:spcBef>
          <a:spcPct val="20000"/>
        </a:spcBef>
        <a:spcAft>
          <a:spcPct val="0"/>
        </a:spcAft>
        <a:buClr>
          <a:schemeClr val="tx2"/>
        </a:buClr>
        <a:buFont typeface="Wingdings" pitchFamily="2" charset="2"/>
        <a:buChar char="§"/>
        <a:defRPr kern="1200">
          <a:solidFill>
            <a:schemeClr val="bg2">
              <a:lumMod val="75000"/>
            </a:schemeClr>
          </a:solidFill>
          <a:latin typeface="Calibri" pitchFamily="34" charset="0"/>
          <a:ea typeface="+mn-ea"/>
          <a:cs typeface="+mn-cs"/>
        </a:defRPr>
      </a:lvl4pPr>
      <a:lvl5pPr marL="1828800" indent="-231775" algn="l" rtl="0" eaLnBrk="1" fontAlgn="base" hangingPunct="1">
        <a:spcBef>
          <a:spcPct val="20000"/>
        </a:spcBef>
        <a:spcAft>
          <a:spcPct val="0"/>
        </a:spcAft>
        <a:buClr>
          <a:srgbClr val="7030A0"/>
        </a:buClr>
        <a:buSzPct val="110000"/>
        <a:buFont typeface="Arial" charset="0"/>
        <a:buChar char="•"/>
        <a:defRPr kern="1200">
          <a:solidFill>
            <a:schemeClr val="bg2">
              <a:lumMod val="75000"/>
            </a:schemeClr>
          </a:solidFill>
          <a:latin typeface="Calibri"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04800" y="76200"/>
            <a:ext cx="84582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304800" y="914400"/>
            <a:ext cx="8458200" cy="5181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495800" y="6629400"/>
            <a:ext cx="4191000" cy="228600"/>
          </a:xfrm>
          <a:prstGeom prst="rect">
            <a:avLst/>
          </a:prstGeom>
        </p:spPr>
        <p:txBody>
          <a:bodyPr vert="horz" lIns="91440" tIns="45720" rIns="91440" bIns="45720" rtlCol="0" anchor="b"/>
          <a:lstStyle>
            <a:lvl1pPr algn="r" fontAlgn="auto">
              <a:spcBef>
                <a:spcPts val="0"/>
              </a:spcBef>
              <a:spcAft>
                <a:spcPts val="0"/>
              </a:spcAft>
              <a:defRPr sz="1000" smtClean="0">
                <a:solidFill>
                  <a:schemeClr val="tx1">
                    <a:lumMod val="75000"/>
                    <a:lumOff val="25000"/>
                  </a:schemeClr>
                </a:solidFill>
                <a:latin typeface="Calibri" pitchFamily="34" charset="0"/>
                <a:cs typeface="+mn-cs"/>
              </a:defRPr>
            </a:lvl1pPr>
          </a:lstStyle>
          <a:p>
            <a:pPr>
              <a:defRPr/>
            </a:pPr>
            <a:r>
              <a:rPr lang="en-US"/>
              <a:t>Module 12: Remote Replication</a:t>
            </a:r>
            <a:endParaRPr lang="en-US" dirty="0"/>
          </a:p>
        </p:txBody>
      </p:sp>
      <p:sp>
        <p:nvSpPr>
          <p:cNvPr id="6" name="Slide Number Placeholder 5"/>
          <p:cNvSpPr>
            <a:spLocks noGrp="1"/>
          </p:cNvSpPr>
          <p:nvPr>
            <p:ph type="sldNum" sz="quarter" idx="4"/>
          </p:nvPr>
        </p:nvSpPr>
        <p:spPr>
          <a:xfrm>
            <a:off x="8686800" y="6629400"/>
            <a:ext cx="457200" cy="228600"/>
          </a:xfrm>
          <a:prstGeom prst="rect">
            <a:avLst/>
          </a:prstGeom>
        </p:spPr>
        <p:txBody>
          <a:bodyPr vert="horz" lIns="91440" tIns="45720" rIns="91440" bIns="45720" rtlCol="0" anchor="b"/>
          <a:lstStyle>
            <a:lvl1pPr algn="r" fontAlgn="auto">
              <a:spcBef>
                <a:spcPts val="0"/>
              </a:spcBef>
              <a:spcAft>
                <a:spcPts val="0"/>
              </a:spcAft>
              <a:defRPr sz="1000" smtClean="0">
                <a:solidFill>
                  <a:schemeClr val="tx1">
                    <a:lumMod val="75000"/>
                    <a:lumOff val="25000"/>
                  </a:schemeClr>
                </a:solidFill>
                <a:latin typeface="Calibri" pitchFamily="34" charset="0"/>
                <a:cs typeface="+mn-cs"/>
              </a:defRPr>
            </a:lvl1pPr>
          </a:lstStyle>
          <a:p>
            <a:pPr>
              <a:defRPr/>
            </a:pPr>
            <a:fld id="{2F0FE6C8-51A2-4AA8-BE8B-722D435E963D}" type="slidenum">
              <a:rPr lang="en-US"/>
              <a:pPr>
                <a:defRPr/>
              </a:pPr>
              <a:t>‹#›</a:t>
            </a:fld>
            <a:endParaRPr lang="en-US"/>
          </a:p>
        </p:txBody>
      </p:sp>
      <p:sp>
        <p:nvSpPr>
          <p:cNvPr id="8" name="Rectangle 7"/>
          <p:cNvSpPr/>
          <p:nvPr/>
        </p:nvSpPr>
        <p:spPr>
          <a:xfrm>
            <a:off x="0" y="6611779"/>
            <a:ext cx="4984978" cy="253916"/>
          </a:xfrm>
          <a:prstGeom prst="rect">
            <a:avLst/>
          </a:prstGeom>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sz="1050" dirty="0">
                <a:solidFill>
                  <a:schemeClr val="accent1">
                    <a:lumMod val="75000"/>
                  </a:schemeClr>
                </a:solidFill>
                <a:latin typeface="Calibri" pitchFamily="34" charset="0"/>
              </a:rPr>
              <a:t>EMC Proven Professional</a:t>
            </a:r>
            <a:r>
              <a:rPr lang="en-US" sz="1000" kern="1200" dirty="0">
                <a:solidFill>
                  <a:schemeClr val="tx1">
                    <a:lumMod val="75000"/>
                    <a:lumOff val="25000"/>
                  </a:schemeClr>
                </a:solidFill>
                <a:latin typeface="Calibri" pitchFamily="34" charset="0"/>
                <a:ea typeface="+mn-ea"/>
                <a:cs typeface="+mn-cs"/>
              </a:rPr>
              <a:t>. Copyright © 2012 EMC Corporation. All Rights Reserved</a:t>
            </a:r>
            <a:r>
              <a:rPr lang="en-US" sz="950" dirty="0">
                <a:solidFill>
                  <a:schemeClr val="bg1">
                    <a:lumMod val="50000"/>
                  </a:schemeClr>
                </a:solidFill>
                <a:latin typeface="Calibri" pitchFamily="34" charset="0"/>
              </a:rPr>
              <a:t>.</a:t>
            </a:r>
          </a:p>
        </p:txBody>
      </p:sp>
      <p:sp>
        <p:nvSpPr>
          <p:cNvPr id="9" name="Rectangle 8"/>
          <p:cNvSpPr/>
          <p:nvPr/>
        </p:nvSpPr>
        <p:spPr bwMode="gray">
          <a:xfrm>
            <a:off x="0" y="6102750"/>
            <a:ext cx="9144000" cy="51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Tree>
    <p:extLst>
      <p:ext uri="{BB962C8B-B14F-4D97-AF65-F5344CB8AC3E}">
        <p14:creationId xmlns:p14="http://schemas.microsoft.com/office/powerpoint/2010/main" val="45814105"/>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Lst>
  <p:hf hdr="0" dt="0"/>
  <p:txStyles>
    <p:titleStyle>
      <a:lvl1pPr algn="l" rtl="0" eaLnBrk="1" fontAlgn="base" hangingPunct="1">
        <a:spcBef>
          <a:spcPct val="0"/>
        </a:spcBef>
        <a:spcAft>
          <a:spcPct val="0"/>
        </a:spcAft>
        <a:defRPr sz="2800" kern="1200">
          <a:solidFill>
            <a:srgbClr val="2C95DD"/>
          </a:solidFill>
          <a:latin typeface="+mj-lt"/>
          <a:ea typeface="+mj-ea"/>
          <a:cs typeface="+mj-cs"/>
        </a:defRPr>
      </a:lvl1pPr>
      <a:lvl2pPr algn="l" rtl="0" eaLnBrk="1" fontAlgn="base" hangingPunct="1">
        <a:spcBef>
          <a:spcPct val="0"/>
        </a:spcBef>
        <a:spcAft>
          <a:spcPct val="0"/>
        </a:spcAft>
        <a:defRPr sz="2800">
          <a:solidFill>
            <a:srgbClr val="2C95DD"/>
          </a:solidFill>
          <a:latin typeface="MetaNormalLF-Roman" pitchFamily="34" charset="0"/>
          <a:cs typeface="Arial" charset="0"/>
        </a:defRPr>
      </a:lvl2pPr>
      <a:lvl3pPr algn="l" rtl="0" eaLnBrk="1" fontAlgn="base" hangingPunct="1">
        <a:spcBef>
          <a:spcPct val="0"/>
        </a:spcBef>
        <a:spcAft>
          <a:spcPct val="0"/>
        </a:spcAft>
        <a:defRPr sz="2800">
          <a:solidFill>
            <a:srgbClr val="2C95DD"/>
          </a:solidFill>
          <a:latin typeface="MetaNormalLF-Roman" pitchFamily="34" charset="0"/>
          <a:cs typeface="Arial" charset="0"/>
        </a:defRPr>
      </a:lvl3pPr>
      <a:lvl4pPr algn="l" rtl="0" eaLnBrk="1" fontAlgn="base" hangingPunct="1">
        <a:spcBef>
          <a:spcPct val="0"/>
        </a:spcBef>
        <a:spcAft>
          <a:spcPct val="0"/>
        </a:spcAft>
        <a:defRPr sz="2800">
          <a:solidFill>
            <a:srgbClr val="2C95DD"/>
          </a:solidFill>
          <a:latin typeface="MetaNormalLF-Roman" pitchFamily="34" charset="0"/>
          <a:cs typeface="Arial" charset="0"/>
        </a:defRPr>
      </a:lvl4pPr>
      <a:lvl5pPr algn="l" rtl="0" eaLnBrk="1" fontAlgn="base" hangingPunct="1">
        <a:spcBef>
          <a:spcPct val="0"/>
        </a:spcBef>
        <a:spcAft>
          <a:spcPct val="0"/>
        </a:spcAft>
        <a:defRPr sz="2800">
          <a:solidFill>
            <a:srgbClr val="2C95DD"/>
          </a:solidFill>
          <a:latin typeface="MetaNormalLF-Roman" pitchFamily="34" charset="0"/>
          <a:cs typeface="Arial" charset="0"/>
        </a:defRPr>
      </a:lvl5pPr>
      <a:lvl6pPr marL="457200" algn="l" rtl="0" eaLnBrk="1" fontAlgn="base" hangingPunct="1">
        <a:spcBef>
          <a:spcPct val="0"/>
        </a:spcBef>
        <a:spcAft>
          <a:spcPct val="0"/>
        </a:spcAft>
        <a:defRPr sz="2800">
          <a:solidFill>
            <a:srgbClr val="00B0F0"/>
          </a:solidFill>
          <a:latin typeface="MetaNormalLF-Roman" pitchFamily="34" charset="0"/>
          <a:cs typeface="Arial" charset="0"/>
        </a:defRPr>
      </a:lvl6pPr>
      <a:lvl7pPr marL="914400" algn="l" rtl="0" eaLnBrk="1" fontAlgn="base" hangingPunct="1">
        <a:spcBef>
          <a:spcPct val="0"/>
        </a:spcBef>
        <a:spcAft>
          <a:spcPct val="0"/>
        </a:spcAft>
        <a:defRPr sz="2800">
          <a:solidFill>
            <a:srgbClr val="00B0F0"/>
          </a:solidFill>
          <a:latin typeface="MetaNormalLF-Roman" pitchFamily="34" charset="0"/>
          <a:cs typeface="Arial" charset="0"/>
        </a:defRPr>
      </a:lvl7pPr>
      <a:lvl8pPr marL="1371600" algn="l" rtl="0" eaLnBrk="1" fontAlgn="base" hangingPunct="1">
        <a:spcBef>
          <a:spcPct val="0"/>
        </a:spcBef>
        <a:spcAft>
          <a:spcPct val="0"/>
        </a:spcAft>
        <a:defRPr sz="2800">
          <a:solidFill>
            <a:srgbClr val="00B0F0"/>
          </a:solidFill>
          <a:latin typeface="MetaNormalLF-Roman" pitchFamily="34" charset="0"/>
          <a:cs typeface="Arial" charset="0"/>
        </a:defRPr>
      </a:lvl8pPr>
      <a:lvl9pPr marL="1828800" algn="l" rtl="0" eaLnBrk="1" fontAlgn="base" hangingPunct="1">
        <a:spcBef>
          <a:spcPct val="0"/>
        </a:spcBef>
        <a:spcAft>
          <a:spcPct val="0"/>
        </a:spcAft>
        <a:defRPr sz="2800">
          <a:solidFill>
            <a:srgbClr val="00B0F0"/>
          </a:solidFill>
          <a:latin typeface="MetaNormalLF-Roman" pitchFamily="34" charset="0"/>
          <a:cs typeface="Arial" charset="0"/>
        </a:defRPr>
      </a:lvl9pPr>
    </p:titleStyle>
    <p:bodyStyle>
      <a:lvl1pPr marL="231775" indent="-231775" algn="l" rtl="0" eaLnBrk="1" fontAlgn="base" hangingPunct="1">
        <a:spcBef>
          <a:spcPct val="20000"/>
        </a:spcBef>
        <a:spcAft>
          <a:spcPct val="0"/>
        </a:spcAft>
        <a:buClr>
          <a:srgbClr val="92D050"/>
        </a:buClr>
        <a:buSzPct val="120000"/>
        <a:buFont typeface="Arial" charset="0"/>
        <a:buChar char="•"/>
        <a:defRPr sz="2400" kern="1200">
          <a:solidFill>
            <a:schemeClr val="bg2">
              <a:lumMod val="75000"/>
            </a:schemeClr>
          </a:solidFill>
          <a:latin typeface="Calibri" pitchFamily="34" charset="0"/>
          <a:ea typeface="+mn-ea"/>
          <a:cs typeface="+mn-cs"/>
        </a:defRPr>
      </a:lvl1pPr>
      <a:lvl2pPr marL="682625" indent="-341313" algn="l" rtl="0" eaLnBrk="1" fontAlgn="base" hangingPunct="1">
        <a:spcBef>
          <a:spcPct val="20000"/>
        </a:spcBef>
        <a:spcAft>
          <a:spcPct val="0"/>
        </a:spcAft>
        <a:buClr>
          <a:srgbClr val="FFC425"/>
        </a:buClr>
        <a:buSzPct val="90000"/>
        <a:buFont typeface="Webdings" pitchFamily="18" charset="2"/>
        <a:buChar char="4"/>
        <a:defRPr sz="2200" kern="1200">
          <a:solidFill>
            <a:schemeClr val="bg2">
              <a:lumMod val="75000"/>
            </a:schemeClr>
          </a:solidFill>
          <a:latin typeface="Calibri" pitchFamily="34" charset="0"/>
          <a:ea typeface="+mn-ea"/>
          <a:cs typeface="+mn-cs"/>
        </a:defRPr>
      </a:lvl2pPr>
      <a:lvl3pPr marL="1143000" indent="-338138" algn="l" rtl="0" eaLnBrk="1" fontAlgn="base" hangingPunct="1">
        <a:spcBef>
          <a:spcPct val="20000"/>
        </a:spcBef>
        <a:spcAft>
          <a:spcPct val="0"/>
        </a:spcAft>
        <a:buClr>
          <a:srgbClr val="B5761B"/>
        </a:buClr>
        <a:buSzPct val="90000"/>
        <a:buFont typeface="Webdings" pitchFamily="18" charset="2"/>
        <a:buChar char="8"/>
        <a:defRPr sz="2000" kern="1200">
          <a:solidFill>
            <a:schemeClr val="bg2">
              <a:lumMod val="75000"/>
            </a:schemeClr>
          </a:solidFill>
          <a:latin typeface="Calibri" pitchFamily="34" charset="0"/>
          <a:ea typeface="+mn-ea"/>
          <a:cs typeface="+mn-cs"/>
        </a:defRPr>
      </a:lvl3pPr>
      <a:lvl4pPr marL="1487488" indent="-231775" algn="l" rtl="0" eaLnBrk="1" fontAlgn="base" hangingPunct="1">
        <a:spcBef>
          <a:spcPct val="20000"/>
        </a:spcBef>
        <a:spcAft>
          <a:spcPct val="0"/>
        </a:spcAft>
        <a:buClr>
          <a:schemeClr val="tx2"/>
        </a:buClr>
        <a:buFont typeface="Wingdings" pitchFamily="2" charset="2"/>
        <a:buChar char="§"/>
        <a:defRPr kern="1200">
          <a:solidFill>
            <a:schemeClr val="bg2">
              <a:lumMod val="75000"/>
            </a:schemeClr>
          </a:solidFill>
          <a:latin typeface="Calibri" pitchFamily="34" charset="0"/>
          <a:ea typeface="+mn-ea"/>
          <a:cs typeface="+mn-cs"/>
        </a:defRPr>
      </a:lvl4pPr>
      <a:lvl5pPr marL="1828800" indent="-231775" algn="l" rtl="0" eaLnBrk="1" fontAlgn="base" hangingPunct="1">
        <a:spcBef>
          <a:spcPct val="20000"/>
        </a:spcBef>
        <a:spcAft>
          <a:spcPct val="0"/>
        </a:spcAft>
        <a:buClr>
          <a:srgbClr val="7030A0"/>
        </a:buClr>
        <a:buSzPct val="110000"/>
        <a:buFont typeface="Arial" charset="0"/>
        <a:buChar char="•"/>
        <a:defRPr kern="1200">
          <a:solidFill>
            <a:schemeClr val="bg2">
              <a:lumMod val="75000"/>
            </a:schemeClr>
          </a:solidFill>
          <a:latin typeface="Calibri"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0.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5.xml"/><Relationship Id="rId5" Type="http://schemas.openxmlformats.org/officeDocument/2006/relationships/image" Target="../media/image3.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5.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6.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6.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6.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8.png"/></Relationships>
</file>

<file path=ppt/slides/_rels/slide3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6.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6.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4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4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45.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8.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48.xml"/><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32.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8.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48.xml"/><Relationship Id="rId4" Type="http://schemas.openxmlformats.org/officeDocument/2006/relationships/image" Target="../media/image10.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48.xml"/><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48.xml"/><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8.xml"/></Relationships>
</file>

<file path=ppt/slides/_rels/slide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48.xml"/></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4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8.xml"/></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45.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3.xml"/></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66.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66.xml"/><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6.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66.xml"/><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6.xml"/></Relationships>
</file>

<file path=ppt/slides/_rels/slide9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jpeg"/><Relationship Id="rId7"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50.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6.xml"/></Relationships>
</file>

<file path=ppt/slides/_rels/slide9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63.xml"/><Relationship Id="rId1" Type="http://schemas.openxmlformats.org/officeDocument/2006/relationships/slideLayout" Target="../slideLayouts/slideLayout63.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6.xml"/></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63.xml"/></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63.xml"/></Relationships>
</file>

<file path=ppt/slides/_rels/slide9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7.xml"/><Relationship Id="rId1" Type="http://schemas.openxmlformats.org/officeDocument/2006/relationships/slideLayout" Target="../slideLayouts/slideLayout66.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6.xml"/></Relationships>
</file>

<file path=ppt/slides/_rels/slide9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6.png"/><Relationship Id="rId7" Type="http://schemas.openxmlformats.org/officeDocument/2006/relationships/image" Target="../media/image17.png"/><Relationship Id="rId2" Type="http://schemas.openxmlformats.org/officeDocument/2006/relationships/notesSlide" Target="../notesSlides/notesSlide69.xml"/><Relationship Id="rId1" Type="http://schemas.openxmlformats.org/officeDocument/2006/relationships/slideLayout" Target="../slideLayouts/slideLayout6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0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0.xml"/><Relationship Id="rId1" Type="http://schemas.openxmlformats.org/officeDocument/2006/relationships/slideLayout" Target="../slideLayouts/slideLayout51.xml"/><Relationship Id="rId4" Type="http://schemas.openxmlformats.org/officeDocument/2006/relationships/image" Target="../media/image20.png"/></Relationships>
</file>

<file path=ppt/slides/_rels/slide1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1.xml"/><Relationship Id="rId1" Type="http://schemas.openxmlformats.org/officeDocument/2006/relationships/slideLayout" Target="../slideLayouts/slideLayout67.xml"/><Relationship Id="rId4" Type="http://schemas.openxmlformats.org/officeDocument/2006/relationships/image" Target="../media/image19.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8.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6.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66.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A967-073E-461E-A4ED-3C3696782A47}"/>
              </a:ext>
            </a:extLst>
          </p:cNvPr>
          <p:cNvSpPr>
            <a:spLocks noGrp="1"/>
          </p:cNvSpPr>
          <p:nvPr>
            <p:ph type="ctrTitle"/>
          </p:nvPr>
        </p:nvSpPr>
        <p:spPr>
          <a:xfrm>
            <a:off x="1143000" y="1219201"/>
            <a:ext cx="6858000" cy="1066800"/>
          </a:xfrm>
        </p:spPr>
        <p:txBody>
          <a:bodyPr/>
          <a:lstStyle/>
          <a:p>
            <a:pPr algn="ctr"/>
            <a:r>
              <a:rPr lang="en-GB" sz="5100" dirty="0">
                <a:solidFill>
                  <a:srgbClr val="C00000"/>
                </a:solidFill>
                <a:latin typeface="Book Antiqua" panose="02040602050305030304" pitchFamily="18" charset="0"/>
              </a:rPr>
              <a:t>Unit-IV</a:t>
            </a:r>
            <a:endParaRPr lang="en-IN" sz="5100" dirty="0">
              <a:solidFill>
                <a:srgbClr val="C00000"/>
              </a:solidFill>
              <a:latin typeface="Book Antiqua" panose="02040602050305030304" pitchFamily="18" charset="0"/>
            </a:endParaRPr>
          </a:p>
        </p:txBody>
      </p:sp>
      <p:sp>
        <p:nvSpPr>
          <p:cNvPr id="3" name="Subtitle 2">
            <a:extLst>
              <a:ext uri="{FF2B5EF4-FFF2-40B4-BE49-F238E27FC236}">
                <a16:creationId xmlns:a16="http://schemas.microsoft.com/office/drawing/2014/main" id="{9BEBF5C5-91F7-4A90-B54D-8DA3C01E7159}"/>
              </a:ext>
            </a:extLst>
          </p:cNvPr>
          <p:cNvSpPr>
            <a:spLocks noGrp="1"/>
          </p:cNvSpPr>
          <p:nvPr>
            <p:ph type="subTitle" idx="1"/>
          </p:nvPr>
        </p:nvSpPr>
        <p:spPr>
          <a:xfrm>
            <a:off x="1168400" y="2452968"/>
            <a:ext cx="7162800" cy="2119032"/>
          </a:xfrm>
        </p:spPr>
        <p:txBody>
          <a:bodyPr>
            <a:noAutofit/>
          </a:bodyPr>
          <a:lstStyle/>
          <a:p>
            <a:r>
              <a:rPr lang="en-US" sz="1400" dirty="0">
                <a:latin typeface="Bookman Old Style" panose="02050604050505020204" pitchFamily="18" charset="0"/>
              </a:rPr>
              <a:t>Backup Purpose, Backup Considerations, Backup Granularity, Recovery Considerations, Backup Methods, Backup Process, Backup and restore Operations, Backup Topologies, Backup in NAS Environments, Backup Technologies. </a:t>
            </a:r>
            <a:endParaRPr lang="en-IN" sz="1400" dirty="0">
              <a:latin typeface="Bookman Old Style" panose="02050604050505020204" pitchFamily="18" charset="0"/>
            </a:endParaRPr>
          </a:p>
          <a:p>
            <a:endParaRPr lang="en-US" sz="1400" dirty="0">
              <a:latin typeface="Bookman Old Style" panose="02050604050505020204" pitchFamily="18" charset="0"/>
            </a:endParaRPr>
          </a:p>
          <a:p>
            <a:r>
              <a:rPr lang="en-US" sz="1400" dirty="0">
                <a:latin typeface="Bookman Old Style" panose="02050604050505020204" pitchFamily="18" charset="0"/>
              </a:rPr>
              <a:t>Local Replication, Remote Replication: Source and Target, Uses of Local Replicas, Data Consistency, Local Replication Technologies, Restore and Restart Considerations, Creating Multiple Replicas, Management Interface, Modes of Remote Replication, Remote Replication Technologies, Network Infrastructure, Continuous data protection</a:t>
            </a:r>
            <a:endParaRPr lang="en-IN" sz="1400" dirty="0">
              <a:latin typeface="Bookman Old Style" panose="02050604050505020204" pitchFamily="18" charset="0"/>
            </a:endParaRPr>
          </a:p>
        </p:txBody>
      </p:sp>
    </p:spTree>
    <p:extLst>
      <p:ext uri="{BB962C8B-B14F-4D97-AF65-F5344CB8AC3E}">
        <p14:creationId xmlns:p14="http://schemas.microsoft.com/office/powerpoint/2010/main" val="3806475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What is Backup?</a:t>
            </a:r>
          </a:p>
        </p:txBody>
      </p:sp>
      <p:sp>
        <p:nvSpPr>
          <p:cNvPr id="15" name="Content Placeholder 7"/>
          <p:cNvSpPr>
            <a:spLocks noGrp="1"/>
          </p:cNvSpPr>
          <p:nvPr>
            <p:ph idx="1"/>
          </p:nvPr>
        </p:nvSpPr>
        <p:spPr>
          <a:xfrm>
            <a:off x="304800" y="2506133"/>
            <a:ext cx="8458200" cy="3276600"/>
          </a:xfrm>
        </p:spPr>
        <p:txBody>
          <a:bodyPr/>
          <a:lstStyle/>
          <a:p>
            <a:r>
              <a:rPr lang="pt-BR" sz="2100" dirty="0">
                <a:solidFill>
                  <a:schemeClr val="tx1"/>
                </a:solidFill>
                <a:latin typeface="Book Antiqua" panose="02040602050305030304" pitchFamily="18" charset="0"/>
              </a:rPr>
              <a:t>Organization also takes backup to comply with regulatory requirements</a:t>
            </a:r>
          </a:p>
          <a:p>
            <a:r>
              <a:rPr lang="en-US" sz="2100" dirty="0">
                <a:solidFill>
                  <a:schemeClr val="tx1"/>
                </a:solidFill>
                <a:latin typeface="Book Antiqua" panose="02040602050305030304" pitchFamily="18" charset="0"/>
              </a:rPr>
              <a:t>Backups are performed to serve three purposes:</a:t>
            </a:r>
          </a:p>
          <a:p>
            <a:pPr lvl="1"/>
            <a:r>
              <a:rPr lang="en-US" sz="2100" dirty="0">
                <a:solidFill>
                  <a:schemeClr val="tx1"/>
                </a:solidFill>
                <a:latin typeface="Book Antiqua" panose="02040602050305030304" pitchFamily="18" charset="0"/>
              </a:rPr>
              <a:t>Disaster recovery</a:t>
            </a:r>
          </a:p>
          <a:p>
            <a:pPr lvl="1"/>
            <a:r>
              <a:rPr lang="en-US" sz="2100" dirty="0">
                <a:solidFill>
                  <a:schemeClr val="tx1"/>
                </a:solidFill>
                <a:latin typeface="Book Antiqua" panose="02040602050305030304" pitchFamily="18" charset="0"/>
              </a:rPr>
              <a:t>Operational recovery</a:t>
            </a:r>
          </a:p>
          <a:p>
            <a:pPr lvl="1"/>
            <a:r>
              <a:rPr lang="en-US" sz="2100" dirty="0">
                <a:solidFill>
                  <a:schemeClr val="tx1"/>
                </a:solidFill>
                <a:latin typeface="Book Antiqua" panose="02040602050305030304" pitchFamily="18" charset="0"/>
              </a:rPr>
              <a:t>Archive</a:t>
            </a:r>
          </a:p>
          <a:p>
            <a:endParaRPr lang="en-US" sz="2100" dirty="0">
              <a:solidFill>
                <a:schemeClr val="tx1"/>
              </a:solidFill>
              <a:latin typeface="Book Antiqua" panose="02040602050305030304" pitchFamily="18" charset="0"/>
            </a:endParaRPr>
          </a:p>
        </p:txBody>
      </p:sp>
      <p:sp>
        <p:nvSpPr>
          <p:cNvPr id="9" name="Footer Placeholder 8"/>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0" name="Slide Number Placeholder 9"/>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11" name="Rectangle 10"/>
          <p:cNvSpPr/>
          <p:nvPr/>
        </p:nvSpPr>
        <p:spPr>
          <a:xfrm>
            <a:off x="457200" y="1143000"/>
            <a:ext cx="8001000" cy="1143000"/>
          </a:xfrm>
          <a:prstGeom prst="rect">
            <a:avLst/>
          </a:prstGeom>
          <a:solidFill>
            <a:schemeClr val="bg1">
              <a:lumMod val="95000"/>
            </a:schemeClr>
          </a:solidFill>
          <a:ln>
            <a:solidFill>
              <a:srgbClr val="00B050"/>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97330" tIns="229108" rIns="297330" bIns="113792"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MetaNormalLF-Roman"/>
                <a:ea typeface="+mn-ea"/>
                <a:cs typeface="Arial"/>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rPr>
              <a:t>It is an additional copy of production data that is created and retained for the sole purpose of recovering lost or corrupted data.</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endParaRPr>
          </a:p>
        </p:txBody>
      </p:sp>
      <p:sp>
        <p:nvSpPr>
          <p:cNvPr id="12" name="Rounded Rectangle 4"/>
          <p:cNvSpPr/>
          <p:nvPr/>
        </p:nvSpPr>
        <p:spPr>
          <a:xfrm>
            <a:off x="685800" y="914400"/>
            <a:ext cx="1097280" cy="369216"/>
          </a:xfrm>
          <a:prstGeom prst="rect">
            <a:avLst/>
          </a:prstGeom>
        </p:spPr>
        <p:style>
          <a:lnRef idx="0">
            <a:schemeClr val="accent3"/>
          </a:lnRef>
          <a:fillRef idx="3">
            <a:schemeClr val="accent3"/>
          </a:fillRef>
          <a:effectRef idx="3">
            <a:schemeClr val="accent3"/>
          </a:effectRef>
          <a:fontRef idx="minor">
            <a:schemeClr val="lt1"/>
          </a:fontRef>
        </p:style>
        <p:txBody>
          <a:bodyPr spcFirstLastPara="0" vert="horz" wrap="square" lIns="101362" tIns="0" rIns="101362" bIns="0" numCol="1" spcCol="1270" anchor="ctr" anchorCtr="0">
            <a:noAutofit/>
          </a:bodyPr>
          <a:lstStyle/>
          <a:p>
            <a:pPr marL="0" marR="0" lvl="0" indent="0" algn="ctr" defTabSz="800100" rtl="0" eaLnBrk="1" fontAlgn="base"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mn-ea"/>
                <a:cs typeface="Arial"/>
              </a:rPr>
              <a:t>Backup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6F298-ACCC-8915-7BCF-1DF79BA7A2A1}"/>
              </a:ext>
            </a:extLst>
          </p:cNvPr>
          <p:cNvSpPr>
            <a:spLocks noGrp="1"/>
          </p:cNvSpPr>
          <p:nvPr>
            <p:ph type="title"/>
          </p:nvPr>
        </p:nvSpPr>
        <p:spPr>
          <a:xfrm>
            <a:off x="279400" y="152400"/>
            <a:ext cx="8458200" cy="457200"/>
          </a:xfrm>
        </p:spPr>
        <p:txBody>
          <a:bodyPr/>
          <a:lstStyle/>
          <a:p>
            <a:pPr algn="ctr"/>
            <a:r>
              <a:rPr lang="en-IN" b="1" dirty="0">
                <a:solidFill>
                  <a:srgbClr val="C00000"/>
                </a:solidFill>
                <a:latin typeface="Book Antiqua" panose="02040602050305030304" pitchFamily="18" charset="0"/>
              </a:rPr>
              <a:t>Backup Purpose</a:t>
            </a:r>
            <a:endParaRPr lang="en-IN"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DCDBB25F-9972-92CB-4F67-C2C6CEC0328D}"/>
              </a:ext>
            </a:extLst>
          </p:cNvPr>
          <p:cNvSpPr>
            <a:spLocks noGrp="1"/>
          </p:cNvSpPr>
          <p:nvPr>
            <p:ph idx="1"/>
          </p:nvPr>
        </p:nvSpPr>
        <p:spPr>
          <a:xfrm>
            <a:off x="313267" y="762000"/>
            <a:ext cx="8534400" cy="4800600"/>
          </a:xfrm>
        </p:spPr>
        <p:txBody>
          <a:bodyPr/>
          <a:lstStyle/>
          <a:p>
            <a:pPr marL="0" indent="0" algn="just">
              <a:lnSpc>
                <a:spcPct val="150000"/>
              </a:lnSpc>
              <a:buNone/>
            </a:pPr>
            <a:r>
              <a:rPr lang="en-GB" sz="1400" dirty="0">
                <a:solidFill>
                  <a:schemeClr val="tx1"/>
                </a:solidFill>
                <a:latin typeface="Book Antiqua" panose="02040602050305030304" pitchFamily="18" charset="0"/>
              </a:rPr>
              <a:t>Backups are performed to serve three purposes: disaster recovery, operational recovery, and archival. </a:t>
            </a:r>
          </a:p>
          <a:p>
            <a:pPr marL="0" indent="0" algn="just">
              <a:lnSpc>
                <a:spcPct val="150000"/>
              </a:lnSpc>
              <a:buNone/>
            </a:pPr>
            <a:endParaRPr lang="en-IN" sz="200" b="1" dirty="0">
              <a:solidFill>
                <a:schemeClr val="tx1"/>
              </a:solidFill>
              <a:latin typeface="Book Antiqua" panose="02040602050305030304" pitchFamily="18" charset="0"/>
            </a:endParaRPr>
          </a:p>
          <a:p>
            <a:pPr marL="0" indent="0" algn="just">
              <a:lnSpc>
                <a:spcPct val="150000"/>
              </a:lnSpc>
              <a:buNone/>
            </a:pPr>
            <a:r>
              <a:rPr lang="en-IN" sz="1400" b="1" dirty="0">
                <a:solidFill>
                  <a:srgbClr val="C00000"/>
                </a:solidFill>
                <a:latin typeface="Book Antiqua" panose="02040602050305030304" pitchFamily="18" charset="0"/>
              </a:rPr>
              <a:t>Disaster Recovery</a:t>
            </a:r>
          </a:p>
          <a:p>
            <a:pPr algn="just">
              <a:lnSpc>
                <a:spcPct val="150000"/>
              </a:lnSpc>
            </a:pPr>
            <a:r>
              <a:rPr lang="en-GB" sz="1400" dirty="0">
                <a:solidFill>
                  <a:schemeClr val="tx1"/>
                </a:solidFill>
                <a:latin typeface="Book Antiqua" panose="02040602050305030304" pitchFamily="18" charset="0"/>
              </a:rPr>
              <a:t>The backup copies are used for restoring data at an alternate site when the primary site is incapacitated due to a disaster. </a:t>
            </a:r>
          </a:p>
          <a:p>
            <a:pPr algn="just">
              <a:lnSpc>
                <a:spcPct val="150000"/>
              </a:lnSpc>
            </a:pPr>
            <a:r>
              <a:rPr lang="en-GB" sz="1400" dirty="0">
                <a:solidFill>
                  <a:schemeClr val="tx1"/>
                </a:solidFill>
                <a:latin typeface="Book Antiqua" panose="02040602050305030304" pitchFamily="18" charset="0"/>
              </a:rPr>
              <a:t>Based on recovery-point objective (RPO) and recovery-time objective (RTO) requirements, organizations use different data protection strategies for disaster recovery. </a:t>
            </a:r>
          </a:p>
          <a:p>
            <a:pPr algn="just">
              <a:lnSpc>
                <a:spcPct val="150000"/>
              </a:lnSpc>
            </a:pPr>
            <a:r>
              <a:rPr lang="en-GB" sz="1400" dirty="0">
                <a:solidFill>
                  <a:schemeClr val="tx1"/>
                </a:solidFill>
                <a:latin typeface="Book Antiqua" panose="02040602050305030304" pitchFamily="18" charset="0"/>
              </a:rPr>
              <a:t>When tape-based backup is used as a disaster recovery option, the backup tape media is shipped and stored at an offsite location. </a:t>
            </a:r>
          </a:p>
          <a:p>
            <a:pPr algn="just">
              <a:lnSpc>
                <a:spcPct val="150000"/>
              </a:lnSpc>
            </a:pPr>
            <a:r>
              <a:rPr lang="en-GB" sz="1400" dirty="0">
                <a:solidFill>
                  <a:schemeClr val="tx1"/>
                </a:solidFill>
                <a:latin typeface="Book Antiqua" panose="02040602050305030304" pitchFamily="18" charset="0"/>
              </a:rPr>
              <a:t>Later, these tapes can be recalled for restoration at the disaster recovery site. </a:t>
            </a:r>
          </a:p>
          <a:p>
            <a:pPr algn="just">
              <a:lnSpc>
                <a:spcPct val="150000"/>
              </a:lnSpc>
            </a:pPr>
            <a:r>
              <a:rPr lang="en-GB" sz="1400" dirty="0">
                <a:solidFill>
                  <a:schemeClr val="tx1"/>
                </a:solidFill>
                <a:latin typeface="Book Antiqua" panose="02040602050305030304" pitchFamily="18" charset="0"/>
              </a:rPr>
              <a:t>Organizations with stringent RPO and RTO requirements use remote replication technology to replicate data to a disaster recovery site. </a:t>
            </a:r>
          </a:p>
          <a:p>
            <a:pPr algn="just">
              <a:lnSpc>
                <a:spcPct val="150000"/>
              </a:lnSpc>
            </a:pPr>
            <a:r>
              <a:rPr lang="en-GB" sz="1400" dirty="0">
                <a:solidFill>
                  <a:schemeClr val="tx1"/>
                </a:solidFill>
                <a:latin typeface="Book Antiqua" panose="02040602050305030304" pitchFamily="18" charset="0"/>
              </a:rPr>
              <a:t>This allows organizations to bring production systems online in a relatively short period of time if a disaster occurs. </a:t>
            </a:r>
          </a:p>
        </p:txBody>
      </p:sp>
      <p:sp>
        <p:nvSpPr>
          <p:cNvPr id="4" name="Footer Placeholder 3">
            <a:extLst>
              <a:ext uri="{FF2B5EF4-FFF2-40B4-BE49-F238E27FC236}">
                <a16:creationId xmlns:a16="http://schemas.microsoft.com/office/drawing/2014/main" id="{365BA707-DD3E-7A23-9C81-0C3CD33D80B6}"/>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6D9FF41F-DBB1-C641-F003-8A81603C3C42}"/>
              </a:ext>
            </a:extLst>
          </p:cNvPr>
          <p:cNvSpPr>
            <a:spLocks noGrp="1"/>
          </p:cNvSpPr>
          <p:nvPr>
            <p:ph type="sldNum" sz="quarter" idx="11"/>
          </p:nvPr>
        </p:nvSpPr>
        <p:spPr/>
        <p:txBody>
          <a:bodyPr/>
          <a:lstStyle/>
          <a:p>
            <a:pPr>
              <a:defRPr/>
            </a:pPr>
            <a:fld id="{5BA1DFFF-3F85-458B-986A-7762775E0CEF}" type="slidenum">
              <a:rPr lang="en-US" smtClean="0"/>
              <a:pPr>
                <a:defRPr/>
              </a:pPr>
              <a:t>3</a:t>
            </a:fld>
            <a:endParaRPr lang="en-US"/>
          </a:p>
        </p:txBody>
      </p:sp>
    </p:spTree>
    <p:extLst>
      <p:ext uri="{BB962C8B-B14F-4D97-AF65-F5344CB8AC3E}">
        <p14:creationId xmlns:p14="http://schemas.microsoft.com/office/powerpoint/2010/main" val="202014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7A03F-9A0C-7948-272D-DFD06C94AB33}"/>
              </a:ext>
            </a:extLst>
          </p:cNvPr>
          <p:cNvSpPr>
            <a:spLocks noGrp="1"/>
          </p:cNvSpPr>
          <p:nvPr>
            <p:ph type="title"/>
          </p:nvPr>
        </p:nvSpPr>
        <p:spPr/>
        <p:txBody>
          <a:bodyPr/>
          <a:lstStyle/>
          <a:p>
            <a:pPr algn="ctr"/>
            <a:r>
              <a:rPr lang="en-IN" b="1" dirty="0">
                <a:solidFill>
                  <a:srgbClr val="C00000"/>
                </a:solidFill>
                <a:latin typeface="Book Antiqua" panose="02040602050305030304" pitchFamily="18" charset="0"/>
              </a:rPr>
              <a:t>Backup Purpose</a:t>
            </a:r>
            <a:endParaRPr lang="en-IN" dirty="0"/>
          </a:p>
        </p:txBody>
      </p:sp>
      <p:sp>
        <p:nvSpPr>
          <p:cNvPr id="3" name="Content Placeholder 2">
            <a:extLst>
              <a:ext uri="{FF2B5EF4-FFF2-40B4-BE49-F238E27FC236}">
                <a16:creationId xmlns:a16="http://schemas.microsoft.com/office/drawing/2014/main" id="{6B6360F2-544B-F658-D1BE-2E0FBA925803}"/>
              </a:ext>
            </a:extLst>
          </p:cNvPr>
          <p:cNvSpPr>
            <a:spLocks noGrp="1"/>
          </p:cNvSpPr>
          <p:nvPr>
            <p:ph idx="1"/>
          </p:nvPr>
        </p:nvSpPr>
        <p:spPr>
          <a:xfrm>
            <a:off x="304800" y="914400"/>
            <a:ext cx="8458200" cy="4876800"/>
          </a:xfrm>
        </p:spPr>
        <p:txBody>
          <a:bodyPr/>
          <a:lstStyle/>
          <a:p>
            <a:pPr marL="0" indent="0" algn="just">
              <a:lnSpc>
                <a:spcPct val="150000"/>
              </a:lnSpc>
              <a:buNone/>
            </a:pPr>
            <a:r>
              <a:rPr lang="en-IN" sz="1400" b="1" dirty="0">
                <a:solidFill>
                  <a:srgbClr val="C00000"/>
                </a:solidFill>
                <a:latin typeface="Book Antiqua" panose="02040602050305030304" pitchFamily="18" charset="0"/>
              </a:rPr>
              <a:t>Operational Recovery</a:t>
            </a:r>
          </a:p>
          <a:p>
            <a:pPr algn="just">
              <a:lnSpc>
                <a:spcPct val="150000"/>
              </a:lnSpc>
            </a:pPr>
            <a:r>
              <a:rPr lang="en-GB" sz="1400" dirty="0">
                <a:solidFill>
                  <a:schemeClr val="tx1"/>
                </a:solidFill>
                <a:latin typeface="Book Antiqua" panose="02040602050305030304" pitchFamily="18" charset="0"/>
              </a:rPr>
              <a:t>Data in the production environment changes with every business transaction and operation. </a:t>
            </a:r>
          </a:p>
          <a:p>
            <a:pPr algn="just">
              <a:lnSpc>
                <a:spcPct val="150000"/>
              </a:lnSpc>
            </a:pPr>
            <a:r>
              <a:rPr lang="en-GB" sz="1400" dirty="0">
                <a:solidFill>
                  <a:schemeClr val="tx1"/>
                </a:solidFill>
                <a:latin typeface="Book Antiqua" panose="02040602050305030304" pitchFamily="18" charset="0"/>
              </a:rPr>
              <a:t>Backups are used to restore data if data loss or logical corruption occurs during routine processing. The majority of restore requests in most organizations fall in this category. </a:t>
            </a:r>
          </a:p>
          <a:p>
            <a:pPr algn="just">
              <a:lnSpc>
                <a:spcPct val="150000"/>
              </a:lnSpc>
            </a:pPr>
            <a:r>
              <a:rPr lang="en-GB" sz="1400" dirty="0">
                <a:solidFill>
                  <a:schemeClr val="tx1"/>
                </a:solidFill>
                <a:latin typeface="Book Antiqua" panose="02040602050305030304" pitchFamily="18" charset="0"/>
              </a:rPr>
              <a:t>For example, it is common for a user to accidentally delete an important e-mail or for a file to become corrupted, which can be restored using backup data.</a:t>
            </a:r>
          </a:p>
          <a:p>
            <a:pPr marL="0" indent="0" algn="just">
              <a:lnSpc>
                <a:spcPct val="150000"/>
              </a:lnSpc>
              <a:buNone/>
            </a:pPr>
            <a:endParaRPr lang="en-IN" sz="1400" b="1" dirty="0">
              <a:solidFill>
                <a:srgbClr val="C00000"/>
              </a:solidFill>
              <a:latin typeface="Book Antiqua" panose="02040602050305030304" pitchFamily="18" charset="0"/>
            </a:endParaRPr>
          </a:p>
          <a:p>
            <a:pPr marL="0" indent="0" algn="just">
              <a:lnSpc>
                <a:spcPct val="150000"/>
              </a:lnSpc>
              <a:buNone/>
            </a:pPr>
            <a:r>
              <a:rPr lang="en-IN" sz="1400" b="1" dirty="0">
                <a:solidFill>
                  <a:srgbClr val="C00000"/>
                </a:solidFill>
                <a:latin typeface="Book Antiqua" panose="02040602050305030304" pitchFamily="18" charset="0"/>
              </a:rPr>
              <a:t>Archival</a:t>
            </a:r>
          </a:p>
          <a:p>
            <a:pPr algn="just">
              <a:lnSpc>
                <a:spcPct val="150000"/>
              </a:lnSpc>
            </a:pPr>
            <a:r>
              <a:rPr lang="en-GB" sz="1400" dirty="0">
                <a:solidFill>
                  <a:schemeClr val="tx1"/>
                </a:solidFill>
                <a:latin typeface="Book Antiqua" panose="02040602050305030304" pitchFamily="18" charset="0"/>
              </a:rPr>
              <a:t>Backups are also performed to address archival requirements. </a:t>
            </a:r>
          </a:p>
          <a:p>
            <a:pPr algn="just">
              <a:lnSpc>
                <a:spcPct val="150000"/>
              </a:lnSpc>
            </a:pPr>
            <a:r>
              <a:rPr lang="en-GB" sz="1400" dirty="0">
                <a:solidFill>
                  <a:schemeClr val="tx1"/>
                </a:solidFill>
                <a:latin typeface="Book Antiqua" panose="02040602050305030304" pitchFamily="18" charset="0"/>
              </a:rPr>
              <a:t>Although </a:t>
            </a:r>
            <a:r>
              <a:rPr lang="en-GB" sz="1400" dirty="0">
                <a:solidFill>
                  <a:srgbClr val="0000FF"/>
                </a:solidFill>
                <a:latin typeface="Book Antiqua" panose="02040602050305030304" pitchFamily="18" charset="0"/>
              </a:rPr>
              <a:t>Content Addressed Storage (CAS) </a:t>
            </a:r>
            <a:r>
              <a:rPr lang="en-GB" sz="1400" dirty="0">
                <a:solidFill>
                  <a:schemeClr val="tx1"/>
                </a:solidFill>
                <a:latin typeface="Book Antiqua" panose="02040602050305030304" pitchFamily="18" charset="0"/>
              </a:rPr>
              <a:t>has emerged as the primary solution for archives traditional backups are still used by small and medium enterprises for long-term preservation of transaction records, e-mail messages, and other business records required for regulatory compliance.</a:t>
            </a:r>
            <a:endParaRPr lang="en-IN" sz="1400" dirty="0">
              <a:solidFill>
                <a:schemeClr val="tx1"/>
              </a:solidFill>
              <a:latin typeface="Book Antiqua" panose="02040602050305030304" pitchFamily="18" charset="0"/>
            </a:endParaRPr>
          </a:p>
          <a:p>
            <a:pPr>
              <a:lnSpc>
                <a:spcPct val="150000"/>
              </a:lnSpc>
            </a:pPr>
            <a:endParaRPr lang="en-IN" dirty="0"/>
          </a:p>
        </p:txBody>
      </p:sp>
      <p:sp>
        <p:nvSpPr>
          <p:cNvPr id="4" name="Footer Placeholder 3">
            <a:extLst>
              <a:ext uri="{FF2B5EF4-FFF2-40B4-BE49-F238E27FC236}">
                <a16:creationId xmlns:a16="http://schemas.microsoft.com/office/drawing/2014/main" id="{F40A6BEE-B34E-ACEF-B66A-C668DA825038}"/>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D7286153-9029-7628-B6BA-FBB2CF98D7EE}"/>
              </a:ext>
            </a:extLst>
          </p:cNvPr>
          <p:cNvSpPr>
            <a:spLocks noGrp="1"/>
          </p:cNvSpPr>
          <p:nvPr>
            <p:ph type="sldNum" sz="quarter" idx="11"/>
          </p:nvPr>
        </p:nvSpPr>
        <p:spPr/>
        <p:txBody>
          <a:bodyPr/>
          <a:lstStyle/>
          <a:p>
            <a:pPr>
              <a:defRPr/>
            </a:pPr>
            <a:fld id="{5BA1DFFF-3F85-458B-986A-7762775E0CEF}" type="slidenum">
              <a:rPr lang="en-US" smtClean="0"/>
              <a:pPr>
                <a:defRPr/>
              </a:pPr>
              <a:t>4</a:t>
            </a:fld>
            <a:endParaRPr lang="en-US"/>
          </a:p>
        </p:txBody>
      </p:sp>
    </p:spTree>
    <p:extLst>
      <p:ext uri="{BB962C8B-B14F-4D97-AF65-F5344CB8AC3E}">
        <p14:creationId xmlns:p14="http://schemas.microsoft.com/office/powerpoint/2010/main" val="860006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2100" b="1" dirty="0">
                <a:solidFill>
                  <a:srgbClr val="C00000"/>
                </a:solidFill>
                <a:latin typeface="Book Antiqua" panose="02040602050305030304" pitchFamily="18" charset="0"/>
              </a:rPr>
              <a:t>Backup Considerations</a:t>
            </a:r>
            <a:endParaRPr lang="en-US" sz="2100" dirty="0"/>
          </a:p>
        </p:txBody>
      </p:sp>
      <p:sp>
        <p:nvSpPr>
          <p:cNvPr id="3" name="Content Placeholder 2"/>
          <p:cNvSpPr>
            <a:spLocks noGrp="1"/>
          </p:cNvSpPr>
          <p:nvPr>
            <p:ph idx="1"/>
          </p:nvPr>
        </p:nvSpPr>
        <p:spPr/>
        <p:txBody>
          <a:bodyPr/>
          <a:lstStyle/>
          <a:p>
            <a:r>
              <a:rPr lang="en-US" sz="2100" dirty="0">
                <a:solidFill>
                  <a:schemeClr val="tx1"/>
                </a:solidFill>
                <a:latin typeface="Book Antiqua" panose="02040602050305030304" pitchFamily="18" charset="0"/>
              </a:rPr>
              <a:t>Customer business needs determine:</a:t>
            </a:r>
          </a:p>
          <a:p>
            <a:pPr lvl="1"/>
            <a:r>
              <a:rPr lang="en-US" sz="2100" dirty="0">
                <a:solidFill>
                  <a:schemeClr val="tx1"/>
                </a:solidFill>
                <a:latin typeface="Book Antiqua" panose="02040602050305030304" pitchFamily="18" charset="0"/>
              </a:rPr>
              <a:t>What are the restore requirements – RPO &amp; RTO?</a:t>
            </a:r>
          </a:p>
          <a:p>
            <a:pPr lvl="1"/>
            <a:r>
              <a:rPr lang="en-US" sz="2100" dirty="0">
                <a:solidFill>
                  <a:schemeClr val="tx1"/>
                </a:solidFill>
                <a:latin typeface="Book Antiqua" panose="02040602050305030304" pitchFamily="18" charset="0"/>
              </a:rPr>
              <a:t>Which data needs to be backed up?</a:t>
            </a:r>
          </a:p>
          <a:p>
            <a:pPr lvl="1"/>
            <a:r>
              <a:rPr lang="en-US" sz="2100" dirty="0">
                <a:solidFill>
                  <a:schemeClr val="tx1"/>
                </a:solidFill>
                <a:latin typeface="Book Antiqua" panose="02040602050305030304" pitchFamily="18" charset="0"/>
              </a:rPr>
              <a:t>How frequently should data be backed up?</a:t>
            </a:r>
          </a:p>
          <a:p>
            <a:pPr lvl="1"/>
            <a:r>
              <a:rPr lang="en-US" sz="2100" dirty="0">
                <a:solidFill>
                  <a:schemeClr val="tx1"/>
                </a:solidFill>
                <a:latin typeface="Book Antiqua" panose="02040602050305030304" pitchFamily="18" charset="0"/>
              </a:rPr>
              <a:t>How long will it take to backup?</a:t>
            </a:r>
          </a:p>
          <a:p>
            <a:pPr lvl="1"/>
            <a:r>
              <a:rPr lang="en-US" sz="2100" dirty="0">
                <a:solidFill>
                  <a:schemeClr val="tx1"/>
                </a:solidFill>
                <a:latin typeface="Book Antiqua" panose="02040602050305030304" pitchFamily="18" charset="0"/>
              </a:rPr>
              <a:t>How many copies to create?</a:t>
            </a:r>
          </a:p>
          <a:p>
            <a:pPr lvl="1"/>
            <a:r>
              <a:rPr lang="en-US" sz="2100" dirty="0">
                <a:solidFill>
                  <a:schemeClr val="tx1"/>
                </a:solidFill>
                <a:latin typeface="Book Antiqua" panose="02040602050305030304" pitchFamily="18" charset="0"/>
              </a:rPr>
              <a:t>How long to retain backup copies?</a:t>
            </a:r>
          </a:p>
          <a:p>
            <a:pPr lvl="1"/>
            <a:r>
              <a:rPr lang="en-US" sz="2100" dirty="0">
                <a:solidFill>
                  <a:schemeClr val="tx1"/>
                </a:solidFill>
                <a:latin typeface="Book Antiqua" panose="02040602050305030304" pitchFamily="18" charset="0"/>
              </a:rPr>
              <a:t>Location, size, and number of files?</a:t>
            </a:r>
          </a:p>
          <a:p>
            <a:pPr lvl="1"/>
            <a:endParaRPr lang="en-US" sz="2100" dirty="0">
              <a:solidFill>
                <a:schemeClr val="tx1"/>
              </a:solidFill>
              <a:latin typeface="Book Antiqua" panose="02040602050305030304" pitchFamily="18" charset="0"/>
            </a:endParaRPr>
          </a:p>
          <a:p>
            <a:endParaRPr lang="en-US" sz="2100" dirty="0">
              <a:solidFill>
                <a:schemeClr val="tx1"/>
              </a:solidFill>
              <a:latin typeface="Book Antiqua" panose="02040602050305030304" pitchFamily="18" charset="0"/>
            </a:endParaRPr>
          </a:p>
        </p:txBody>
      </p:sp>
      <p:sp>
        <p:nvSpPr>
          <p:cNvPr id="4" name="Footer Placeholder 3"/>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extLst>
      <p:ext uri="{BB962C8B-B14F-4D97-AF65-F5344CB8AC3E}">
        <p14:creationId xmlns:p14="http://schemas.microsoft.com/office/powerpoint/2010/main" val="3683138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14318-5FAB-E279-8349-444BAD7DF258}"/>
              </a:ext>
            </a:extLst>
          </p:cNvPr>
          <p:cNvSpPr>
            <a:spLocks noGrp="1"/>
          </p:cNvSpPr>
          <p:nvPr>
            <p:ph type="title"/>
          </p:nvPr>
        </p:nvSpPr>
        <p:spPr/>
        <p:txBody>
          <a:bodyPr/>
          <a:lstStyle/>
          <a:p>
            <a:pPr algn="ctr"/>
            <a:r>
              <a:rPr lang="en-IN" sz="2100" b="1" dirty="0">
                <a:solidFill>
                  <a:srgbClr val="C00000"/>
                </a:solidFill>
                <a:latin typeface="Book Antiqua" panose="02040602050305030304" pitchFamily="18" charset="0"/>
              </a:rPr>
              <a:t>Backup Considerations</a:t>
            </a:r>
            <a:endParaRPr lang="en-IN" sz="2100"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451ED5CC-46E0-AC31-C4E4-0F0ED57E5C5A}"/>
              </a:ext>
            </a:extLst>
          </p:cNvPr>
          <p:cNvSpPr>
            <a:spLocks noGrp="1"/>
          </p:cNvSpPr>
          <p:nvPr>
            <p:ph idx="1"/>
          </p:nvPr>
        </p:nvSpPr>
        <p:spPr>
          <a:xfrm>
            <a:off x="342900" y="838200"/>
            <a:ext cx="8458200" cy="5181600"/>
          </a:xfrm>
        </p:spPr>
        <p:txBody>
          <a:bodyPr/>
          <a:lstStyle/>
          <a:p>
            <a:pPr algn="just">
              <a:lnSpc>
                <a:spcPct val="150000"/>
              </a:lnSpc>
            </a:pPr>
            <a:r>
              <a:rPr lang="en-GB" sz="1400" dirty="0">
                <a:solidFill>
                  <a:schemeClr val="tx1"/>
                </a:solidFill>
                <a:latin typeface="Book Antiqua" panose="02040602050305030304" pitchFamily="18" charset="0"/>
              </a:rPr>
              <a:t>The amount of data loss and downtime that a business can endure in terms of RPO and RTO are the primary considerations in selecting and implementing a specific backup strategy. </a:t>
            </a:r>
          </a:p>
          <a:p>
            <a:pPr algn="just">
              <a:lnSpc>
                <a:spcPct val="150000"/>
              </a:lnSpc>
            </a:pPr>
            <a:r>
              <a:rPr lang="en-GB" sz="1400" dirty="0">
                <a:solidFill>
                  <a:schemeClr val="tx1"/>
                </a:solidFill>
                <a:latin typeface="Book Antiqua" panose="02040602050305030304" pitchFamily="18" charset="0"/>
              </a:rPr>
              <a:t>RPO refers to the point in time to which data must be recovered, and the point in time from which to restart business operations. This specifies the time interval between two backups. </a:t>
            </a:r>
          </a:p>
          <a:p>
            <a:pPr algn="just">
              <a:lnSpc>
                <a:spcPct val="150000"/>
              </a:lnSpc>
            </a:pPr>
            <a:r>
              <a:rPr lang="en-GB" sz="1400" dirty="0">
                <a:solidFill>
                  <a:schemeClr val="tx1"/>
                </a:solidFill>
                <a:latin typeface="Book Antiqua" panose="02040602050305030304" pitchFamily="18" charset="0"/>
              </a:rPr>
              <a:t>In other words, the RPO determines backup frequency. </a:t>
            </a:r>
          </a:p>
          <a:p>
            <a:pPr algn="just">
              <a:lnSpc>
                <a:spcPct val="150000"/>
              </a:lnSpc>
            </a:pPr>
            <a:r>
              <a:rPr lang="en-GB" sz="1400" dirty="0">
                <a:solidFill>
                  <a:schemeClr val="tx1"/>
                </a:solidFill>
                <a:latin typeface="Book Antiqua" panose="02040602050305030304" pitchFamily="18" charset="0"/>
              </a:rPr>
              <a:t>For example, if an application requires an RPO of 1 day, it would need the data to be backed up at least once every day. </a:t>
            </a:r>
          </a:p>
          <a:p>
            <a:pPr algn="just">
              <a:lnSpc>
                <a:spcPct val="150000"/>
              </a:lnSpc>
            </a:pPr>
            <a:r>
              <a:rPr lang="en-GB" sz="1400" dirty="0">
                <a:solidFill>
                  <a:schemeClr val="tx1"/>
                </a:solidFill>
                <a:latin typeface="Book Antiqua" panose="02040602050305030304" pitchFamily="18" charset="0"/>
              </a:rPr>
              <a:t>Another consideration is the retention period, which defines the duration for which a business needs to retain the backup copies. </a:t>
            </a:r>
          </a:p>
          <a:p>
            <a:pPr algn="just">
              <a:lnSpc>
                <a:spcPct val="150000"/>
              </a:lnSpc>
            </a:pPr>
            <a:r>
              <a:rPr lang="en-GB" sz="1400" dirty="0">
                <a:solidFill>
                  <a:schemeClr val="tx1"/>
                </a:solidFill>
                <a:latin typeface="Book Antiqua" panose="02040602050305030304" pitchFamily="18" charset="0"/>
              </a:rPr>
              <a:t>Some data is retained for years and some only for a few days. </a:t>
            </a:r>
          </a:p>
          <a:p>
            <a:pPr algn="just">
              <a:lnSpc>
                <a:spcPct val="150000"/>
              </a:lnSpc>
            </a:pPr>
            <a:r>
              <a:rPr lang="en-GB" sz="1400" dirty="0">
                <a:solidFill>
                  <a:schemeClr val="tx1"/>
                </a:solidFill>
                <a:latin typeface="Book Antiqua" panose="02040602050305030304" pitchFamily="18" charset="0"/>
              </a:rPr>
              <a:t>For example, data backed up for archival is retained for a longer period than data backed up </a:t>
            </a:r>
            <a:r>
              <a:rPr lang="en-IN" sz="1400" dirty="0">
                <a:solidFill>
                  <a:schemeClr val="tx1"/>
                </a:solidFill>
                <a:latin typeface="Book Antiqua" panose="02040602050305030304" pitchFamily="18" charset="0"/>
              </a:rPr>
              <a:t>for operational recovery.</a:t>
            </a:r>
          </a:p>
        </p:txBody>
      </p:sp>
      <p:sp>
        <p:nvSpPr>
          <p:cNvPr id="4" name="Footer Placeholder 3">
            <a:extLst>
              <a:ext uri="{FF2B5EF4-FFF2-40B4-BE49-F238E27FC236}">
                <a16:creationId xmlns:a16="http://schemas.microsoft.com/office/drawing/2014/main" id="{A9B152D3-CA93-1F19-A537-CCD3E3C2C377}"/>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9F370201-792A-E5F5-7C4D-4B6CE8FB45DF}"/>
              </a:ext>
            </a:extLst>
          </p:cNvPr>
          <p:cNvSpPr>
            <a:spLocks noGrp="1"/>
          </p:cNvSpPr>
          <p:nvPr>
            <p:ph type="sldNum" sz="quarter" idx="11"/>
          </p:nvPr>
        </p:nvSpPr>
        <p:spPr/>
        <p:txBody>
          <a:bodyPr/>
          <a:lstStyle/>
          <a:p>
            <a:pPr>
              <a:defRPr/>
            </a:pPr>
            <a:fld id="{5BA1DFFF-3F85-458B-986A-7762775E0CEF}" type="slidenum">
              <a:rPr lang="en-US" smtClean="0"/>
              <a:pPr>
                <a:defRPr/>
              </a:pPr>
              <a:t>6</a:t>
            </a:fld>
            <a:endParaRPr lang="en-US"/>
          </a:p>
        </p:txBody>
      </p:sp>
    </p:spTree>
    <p:extLst>
      <p:ext uri="{BB962C8B-B14F-4D97-AF65-F5344CB8AC3E}">
        <p14:creationId xmlns:p14="http://schemas.microsoft.com/office/powerpoint/2010/main" val="3069850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4B271-90D5-862E-3323-B163A8C141D0}"/>
              </a:ext>
            </a:extLst>
          </p:cNvPr>
          <p:cNvSpPr>
            <a:spLocks noGrp="1"/>
          </p:cNvSpPr>
          <p:nvPr>
            <p:ph type="title"/>
          </p:nvPr>
        </p:nvSpPr>
        <p:spPr>
          <a:xfrm>
            <a:off x="266700" y="152400"/>
            <a:ext cx="8458200" cy="762000"/>
          </a:xfrm>
        </p:spPr>
        <p:txBody>
          <a:bodyPr/>
          <a:lstStyle/>
          <a:p>
            <a:pPr algn="ctr"/>
            <a:r>
              <a:rPr lang="en-US" sz="2100" dirty="0">
                <a:solidFill>
                  <a:srgbClr val="C00000"/>
                </a:solidFill>
                <a:latin typeface="Book Antiqua" panose="02040602050305030304" pitchFamily="18" charset="0"/>
              </a:rPr>
              <a:t>Backup Granularity </a:t>
            </a:r>
            <a:endParaRPr lang="en-IN" sz="2100"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43F1DB91-5B79-07BE-26DB-82430D386C99}"/>
              </a:ext>
            </a:extLst>
          </p:cNvPr>
          <p:cNvSpPr>
            <a:spLocks noGrp="1"/>
          </p:cNvSpPr>
          <p:nvPr>
            <p:ph idx="1"/>
          </p:nvPr>
        </p:nvSpPr>
        <p:spPr>
          <a:xfrm>
            <a:off x="342900" y="1181100"/>
            <a:ext cx="8458200" cy="3467100"/>
          </a:xfrm>
        </p:spPr>
        <p:txBody>
          <a:bodyPr/>
          <a:lstStyle/>
          <a:p>
            <a:pPr algn="just">
              <a:lnSpc>
                <a:spcPct val="150000"/>
              </a:lnSpc>
            </a:pPr>
            <a:r>
              <a:rPr lang="en-GB" sz="1700" dirty="0">
                <a:solidFill>
                  <a:schemeClr val="tx1"/>
                </a:solidFill>
                <a:latin typeface="Book Antiqua" panose="02040602050305030304" pitchFamily="18" charset="0"/>
              </a:rPr>
              <a:t>Backup granularity depends on business needs and the required RTO/RPO.</a:t>
            </a:r>
          </a:p>
          <a:p>
            <a:pPr algn="just">
              <a:lnSpc>
                <a:spcPct val="150000"/>
              </a:lnSpc>
            </a:pPr>
            <a:r>
              <a:rPr lang="en-GB" sz="1700" dirty="0">
                <a:solidFill>
                  <a:schemeClr val="tx1"/>
                </a:solidFill>
                <a:latin typeface="Book Antiqua" panose="02040602050305030304" pitchFamily="18" charset="0"/>
              </a:rPr>
              <a:t>Based on the granularity, backups can be categorized as </a:t>
            </a:r>
            <a:r>
              <a:rPr lang="en-GB" sz="1700" dirty="0">
                <a:solidFill>
                  <a:srgbClr val="0000FF"/>
                </a:solidFill>
                <a:latin typeface="Book Antiqua" panose="02040602050305030304" pitchFamily="18" charset="0"/>
              </a:rPr>
              <a:t>full, incremental and</a:t>
            </a:r>
          </a:p>
          <a:p>
            <a:pPr algn="just">
              <a:lnSpc>
                <a:spcPct val="150000"/>
              </a:lnSpc>
            </a:pPr>
            <a:r>
              <a:rPr lang="en-GB" sz="1700" dirty="0">
                <a:solidFill>
                  <a:srgbClr val="0000FF"/>
                </a:solidFill>
                <a:latin typeface="Book Antiqua" panose="02040602050305030304" pitchFamily="18" charset="0"/>
              </a:rPr>
              <a:t>cumulative (differential). </a:t>
            </a:r>
          </a:p>
          <a:p>
            <a:pPr algn="just">
              <a:lnSpc>
                <a:spcPct val="150000"/>
              </a:lnSpc>
            </a:pPr>
            <a:r>
              <a:rPr lang="en-GB" sz="1700" dirty="0">
                <a:solidFill>
                  <a:schemeClr val="tx1"/>
                </a:solidFill>
                <a:latin typeface="Book Antiqua" panose="02040602050305030304" pitchFamily="18" charset="0"/>
              </a:rPr>
              <a:t>Most organizations use a combination of these three backup types to meet their backup and recovery requirements. </a:t>
            </a:r>
          </a:p>
          <a:p>
            <a:pPr algn="just">
              <a:lnSpc>
                <a:spcPct val="150000"/>
              </a:lnSpc>
            </a:pPr>
            <a:r>
              <a:rPr lang="en-GB" sz="1700" dirty="0">
                <a:solidFill>
                  <a:schemeClr val="tx1"/>
                </a:solidFill>
                <a:latin typeface="Book Antiqua" panose="02040602050305030304" pitchFamily="18" charset="0"/>
              </a:rPr>
              <a:t>Figure 10-1 shows the different backup granularity levels.</a:t>
            </a:r>
            <a:endParaRPr lang="en-IN" sz="17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80BA21BA-1D6E-B711-0B14-B6DC400C62CF}"/>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27B38890-6EC9-8A84-838C-FFF4EA83495F}"/>
              </a:ext>
            </a:extLst>
          </p:cNvPr>
          <p:cNvSpPr>
            <a:spLocks noGrp="1"/>
          </p:cNvSpPr>
          <p:nvPr>
            <p:ph type="sldNum" sz="quarter" idx="11"/>
          </p:nvPr>
        </p:nvSpPr>
        <p:spPr/>
        <p:txBody>
          <a:bodyPr/>
          <a:lstStyle/>
          <a:p>
            <a:pPr>
              <a:defRPr/>
            </a:pPr>
            <a:fld id="{5BA1DFFF-3F85-458B-986A-7762775E0CEF}" type="slidenum">
              <a:rPr lang="en-US" smtClean="0"/>
              <a:pPr>
                <a:defRPr/>
              </a:pPr>
              <a:t>7</a:t>
            </a:fld>
            <a:endParaRPr lang="en-US"/>
          </a:p>
        </p:txBody>
      </p:sp>
    </p:spTree>
    <p:extLst>
      <p:ext uri="{BB962C8B-B14F-4D97-AF65-F5344CB8AC3E}">
        <p14:creationId xmlns:p14="http://schemas.microsoft.com/office/powerpoint/2010/main" val="1451946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solidFill>
                  <a:srgbClr val="C00000"/>
                </a:solidFill>
              </a:rPr>
              <a:t>Backup Granularity </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10: Backup and Archive</a:t>
            </a:r>
          </a:p>
        </p:txBody>
      </p:sp>
      <p:sp>
        <p:nvSpPr>
          <p:cNvPr id="9" name="Rectangle 694"/>
          <p:cNvSpPr>
            <a:spLocks noChangeArrowheads="1"/>
          </p:cNvSpPr>
          <p:nvPr/>
        </p:nvSpPr>
        <p:spPr bwMode="auto">
          <a:xfrm>
            <a:off x="6446838" y="1282700"/>
            <a:ext cx="209550"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Rectangle 695"/>
          <p:cNvSpPr>
            <a:spLocks noChangeArrowheads="1"/>
          </p:cNvSpPr>
          <p:nvPr/>
        </p:nvSpPr>
        <p:spPr bwMode="auto">
          <a:xfrm>
            <a:off x="8412163" y="1285875"/>
            <a:ext cx="239712"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Rectangle 696"/>
          <p:cNvSpPr>
            <a:spLocks noChangeArrowheads="1"/>
          </p:cNvSpPr>
          <p:nvPr/>
        </p:nvSpPr>
        <p:spPr bwMode="auto">
          <a:xfrm>
            <a:off x="423863" y="1281113"/>
            <a:ext cx="214312"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Rectangle 693"/>
          <p:cNvSpPr>
            <a:spLocks noChangeArrowheads="1"/>
          </p:cNvSpPr>
          <p:nvPr/>
        </p:nvSpPr>
        <p:spPr bwMode="auto">
          <a:xfrm>
            <a:off x="2427288" y="1281113"/>
            <a:ext cx="217487"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Rectangle 571"/>
          <p:cNvSpPr>
            <a:spLocks noChangeArrowheads="1"/>
          </p:cNvSpPr>
          <p:nvPr/>
        </p:nvSpPr>
        <p:spPr bwMode="auto">
          <a:xfrm>
            <a:off x="466725" y="990600"/>
            <a:ext cx="1088824" cy="276999"/>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Full Backup</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 name="Rectangle 574"/>
          <p:cNvSpPr>
            <a:spLocks noChangeArrowheads="1"/>
          </p:cNvSpPr>
          <p:nvPr/>
        </p:nvSpPr>
        <p:spPr bwMode="auto">
          <a:xfrm>
            <a:off x="8650288" y="1281113"/>
            <a:ext cx="147637" cy="630238"/>
          </a:xfrm>
          <a:prstGeom prst="rect">
            <a:avLst/>
          </a:prstGeom>
          <a:solidFill>
            <a:srgbClr val="CCCCCC"/>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Rectangle 575"/>
          <p:cNvSpPr>
            <a:spLocks noChangeArrowheads="1"/>
          </p:cNvSpPr>
          <p:nvPr/>
        </p:nvSpPr>
        <p:spPr bwMode="auto">
          <a:xfrm>
            <a:off x="4649788" y="1281113"/>
            <a:ext cx="1798637" cy="630238"/>
          </a:xfrm>
          <a:prstGeom prst="rect">
            <a:avLst/>
          </a:prstGeom>
          <a:solidFill>
            <a:srgbClr val="CCCCCC"/>
          </a:soli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 name="Rectangle 576"/>
          <p:cNvSpPr>
            <a:spLocks noChangeArrowheads="1"/>
          </p:cNvSpPr>
          <p:nvPr/>
        </p:nvSpPr>
        <p:spPr bwMode="auto">
          <a:xfrm>
            <a:off x="2643188" y="1281113"/>
            <a:ext cx="1797050" cy="630238"/>
          </a:xfrm>
          <a:prstGeom prst="rect">
            <a:avLst/>
          </a:prstGeom>
          <a:solidFill>
            <a:srgbClr val="CCCCCC"/>
          </a:soli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Rectangle 577"/>
          <p:cNvSpPr>
            <a:spLocks noChangeArrowheads="1"/>
          </p:cNvSpPr>
          <p:nvPr/>
        </p:nvSpPr>
        <p:spPr bwMode="auto">
          <a:xfrm>
            <a:off x="6656388" y="1281113"/>
            <a:ext cx="1782762" cy="630238"/>
          </a:xfrm>
          <a:prstGeom prst="rect">
            <a:avLst/>
          </a:prstGeom>
          <a:solidFill>
            <a:srgbClr val="CCCCCC"/>
          </a:soli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Rectangle 578"/>
          <p:cNvSpPr>
            <a:spLocks noChangeArrowheads="1"/>
          </p:cNvSpPr>
          <p:nvPr/>
        </p:nvSpPr>
        <p:spPr bwMode="auto">
          <a:xfrm>
            <a:off x="636588" y="1281113"/>
            <a:ext cx="1797050" cy="630238"/>
          </a:xfrm>
          <a:prstGeom prst="rect">
            <a:avLst/>
          </a:prstGeom>
          <a:solidFill>
            <a:srgbClr val="CCCCCC"/>
          </a:soli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9" name="Rectangle 579"/>
          <p:cNvSpPr>
            <a:spLocks noChangeArrowheads="1"/>
          </p:cNvSpPr>
          <p:nvPr/>
        </p:nvSpPr>
        <p:spPr bwMode="auto">
          <a:xfrm>
            <a:off x="312738" y="1281113"/>
            <a:ext cx="114300" cy="630238"/>
          </a:xfrm>
          <a:prstGeom prst="rect">
            <a:avLst/>
          </a:prstGeom>
          <a:solidFill>
            <a:srgbClr val="CCCCCC"/>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 name="Rectangle 597"/>
          <p:cNvSpPr>
            <a:spLocks noChangeArrowheads="1"/>
          </p:cNvSpPr>
          <p:nvPr/>
        </p:nvSpPr>
        <p:spPr bwMode="auto">
          <a:xfrm>
            <a:off x="4440238" y="1284288"/>
            <a:ext cx="209550"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 name="Line 615"/>
          <p:cNvSpPr>
            <a:spLocks noChangeShapeType="1"/>
          </p:cNvSpPr>
          <p:nvPr/>
        </p:nvSpPr>
        <p:spPr bwMode="auto">
          <a:xfrm flipH="1">
            <a:off x="312738" y="1281113"/>
            <a:ext cx="8485187"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 name="Line 616"/>
          <p:cNvSpPr>
            <a:spLocks noChangeShapeType="1"/>
          </p:cNvSpPr>
          <p:nvPr/>
        </p:nvSpPr>
        <p:spPr bwMode="auto">
          <a:xfrm>
            <a:off x="312738" y="1911350"/>
            <a:ext cx="8485187"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3" name="Rectangle 617"/>
          <p:cNvSpPr>
            <a:spLocks noChangeArrowheads="1"/>
          </p:cNvSpPr>
          <p:nvPr/>
        </p:nvSpPr>
        <p:spPr bwMode="auto">
          <a:xfrm>
            <a:off x="466725" y="19510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24" name="Rectangle 618"/>
          <p:cNvSpPr>
            <a:spLocks noChangeArrowheads="1"/>
          </p:cNvSpPr>
          <p:nvPr/>
        </p:nvSpPr>
        <p:spPr bwMode="auto">
          <a:xfrm>
            <a:off x="2463800" y="19510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25" name="Rectangle 619"/>
          <p:cNvSpPr>
            <a:spLocks noChangeArrowheads="1"/>
          </p:cNvSpPr>
          <p:nvPr/>
        </p:nvSpPr>
        <p:spPr bwMode="auto">
          <a:xfrm>
            <a:off x="4473575" y="19510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26" name="Rectangle 620"/>
          <p:cNvSpPr>
            <a:spLocks noChangeArrowheads="1"/>
          </p:cNvSpPr>
          <p:nvPr/>
        </p:nvSpPr>
        <p:spPr bwMode="auto">
          <a:xfrm>
            <a:off x="6494463" y="19510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27" name="Rectangle 621"/>
          <p:cNvSpPr>
            <a:spLocks noChangeArrowheads="1"/>
          </p:cNvSpPr>
          <p:nvPr/>
        </p:nvSpPr>
        <p:spPr bwMode="auto">
          <a:xfrm>
            <a:off x="8483600" y="19510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29" name="Freeform 338"/>
          <p:cNvSpPr>
            <a:spLocks/>
          </p:cNvSpPr>
          <p:nvPr/>
        </p:nvSpPr>
        <p:spPr bwMode="auto">
          <a:xfrm>
            <a:off x="636588" y="2638425"/>
            <a:ext cx="7802562" cy="630238"/>
          </a:xfrm>
          <a:custGeom>
            <a:avLst/>
            <a:gdLst/>
            <a:ahLst/>
            <a:cxnLst>
              <a:cxn ang="0">
                <a:pos x="4120" y="216"/>
              </a:cxn>
              <a:cxn ang="0">
                <a:pos x="4348" y="216"/>
              </a:cxn>
              <a:cxn ang="0">
                <a:pos x="4348" y="794"/>
              </a:cxn>
              <a:cxn ang="0">
                <a:pos x="6294" y="794"/>
              </a:cxn>
              <a:cxn ang="0">
                <a:pos x="6294" y="101"/>
              </a:cxn>
              <a:cxn ang="0">
                <a:pos x="6522" y="101"/>
              </a:cxn>
              <a:cxn ang="0">
                <a:pos x="6522" y="794"/>
              </a:cxn>
              <a:cxn ang="0">
                <a:pos x="8453" y="794"/>
              </a:cxn>
              <a:cxn ang="0">
                <a:pos x="8453" y="0"/>
              </a:cxn>
              <a:cxn ang="0">
                <a:pos x="0" y="0"/>
              </a:cxn>
              <a:cxn ang="0">
                <a:pos x="0" y="794"/>
              </a:cxn>
              <a:cxn ang="0">
                <a:pos x="85" y="794"/>
              </a:cxn>
              <a:cxn ang="0">
                <a:pos x="85" y="573"/>
              </a:cxn>
              <a:cxn ang="0">
                <a:pos x="313" y="573"/>
              </a:cxn>
              <a:cxn ang="0">
                <a:pos x="313" y="794"/>
              </a:cxn>
              <a:cxn ang="0">
                <a:pos x="398" y="794"/>
              </a:cxn>
              <a:cxn ang="0">
                <a:pos x="398" y="573"/>
              </a:cxn>
              <a:cxn ang="0">
                <a:pos x="625" y="573"/>
              </a:cxn>
              <a:cxn ang="0">
                <a:pos x="625" y="794"/>
              </a:cxn>
              <a:cxn ang="0">
                <a:pos x="711" y="794"/>
              </a:cxn>
              <a:cxn ang="0">
                <a:pos x="711" y="573"/>
              </a:cxn>
              <a:cxn ang="0">
                <a:pos x="938" y="573"/>
              </a:cxn>
              <a:cxn ang="0">
                <a:pos x="938" y="794"/>
              </a:cxn>
              <a:cxn ang="0">
                <a:pos x="1024" y="794"/>
              </a:cxn>
              <a:cxn ang="0">
                <a:pos x="1024" y="573"/>
              </a:cxn>
              <a:cxn ang="0">
                <a:pos x="1251" y="573"/>
              </a:cxn>
              <a:cxn ang="0">
                <a:pos x="1251" y="794"/>
              </a:cxn>
              <a:cxn ang="0">
                <a:pos x="1946" y="794"/>
              </a:cxn>
              <a:cxn ang="0">
                <a:pos x="1946" y="361"/>
              </a:cxn>
              <a:cxn ang="0">
                <a:pos x="2174" y="361"/>
              </a:cxn>
              <a:cxn ang="0">
                <a:pos x="2174" y="794"/>
              </a:cxn>
              <a:cxn ang="0">
                <a:pos x="4120" y="794"/>
              </a:cxn>
              <a:cxn ang="0">
                <a:pos x="4120" y="216"/>
              </a:cxn>
            </a:cxnLst>
            <a:rect l="0" t="0" r="r" b="b"/>
            <a:pathLst>
              <a:path w="8453" h="794">
                <a:moveTo>
                  <a:pt x="4120" y="216"/>
                </a:moveTo>
                <a:lnTo>
                  <a:pt x="4348" y="216"/>
                </a:lnTo>
                <a:lnTo>
                  <a:pt x="4348" y="794"/>
                </a:lnTo>
                <a:lnTo>
                  <a:pt x="6294" y="794"/>
                </a:lnTo>
                <a:lnTo>
                  <a:pt x="6294" y="101"/>
                </a:lnTo>
                <a:lnTo>
                  <a:pt x="6522" y="101"/>
                </a:lnTo>
                <a:lnTo>
                  <a:pt x="6522" y="794"/>
                </a:lnTo>
                <a:lnTo>
                  <a:pt x="8453" y="794"/>
                </a:lnTo>
                <a:lnTo>
                  <a:pt x="8453" y="0"/>
                </a:lnTo>
                <a:lnTo>
                  <a:pt x="0" y="0"/>
                </a:lnTo>
                <a:lnTo>
                  <a:pt x="0" y="794"/>
                </a:lnTo>
                <a:lnTo>
                  <a:pt x="85" y="794"/>
                </a:lnTo>
                <a:lnTo>
                  <a:pt x="85" y="573"/>
                </a:lnTo>
                <a:lnTo>
                  <a:pt x="313" y="573"/>
                </a:lnTo>
                <a:lnTo>
                  <a:pt x="313" y="794"/>
                </a:lnTo>
                <a:lnTo>
                  <a:pt x="398" y="794"/>
                </a:lnTo>
                <a:lnTo>
                  <a:pt x="398" y="573"/>
                </a:lnTo>
                <a:lnTo>
                  <a:pt x="625" y="573"/>
                </a:lnTo>
                <a:lnTo>
                  <a:pt x="625" y="794"/>
                </a:lnTo>
                <a:lnTo>
                  <a:pt x="711" y="794"/>
                </a:lnTo>
                <a:lnTo>
                  <a:pt x="711" y="573"/>
                </a:lnTo>
                <a:lnTo>
                  <a:pt x="938" y="573"/>
                </a:lnTo>
                <a:lnTo>
                  <a:pt x="938" y="794"/>
                </a:lnTo>
                <a:lnTo>
                  <a:pt x="1024" y="794"/>
                </a:lnTo>
                <a:lnTo>
                  <a:pt x="1024" y="573"/>
                </a:lnTo>
                <a:lnTo>
                  <a:pt x="1251" y="573"/>
                </a:lnTo>
                <a:lnTo>
                  <a:pt x="1251" y="794"/>
                </a:lnTo>
                <a:lnTo>
                  <a:pt x="1946" y="794"/>
                </a:lnTo>
                <a:lnTo>
                  <a:pt x="1946" y="361"/>
                </a:lnTo>
                <a:lnTo>
                  <a:pt x="2174" y="361"/>
                </a:lnTo>
                <a:lnTo>
                  <a:pt x="2174" y="794"/>
                </a:lnTo>
                <a:lnTo>
                  <a:pt x="4120" y="794"/>
                </a:lnTo>
                <a:lnTo>
                  <a:pt x="4120" y="216"/>
                </a:lnTo>
                <a:close/>
              </a:path>
            </a:pathLst>
          </a:custGeom>
          <a:solidFill>
            <a:srgbClr val="CCCCCC"/>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Rectangle 703"/>
          <p:cNvSpPr>
            <a:spLocks noChangeArrowheads="1"/>
          </p:cNvSpPr>
          <p:nvPr/>
        </p:nvSpPr>
        <p:spPr bwMode="auto">
          <a:xfrm>
            <a:off x="6446838" y="2640013"/>
            <a:ext cx="209550"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Rectangle 704"/>
          <p:cNvSpPr>
            <a:spLocks noChangeArrowheads="1"/>
          </p:cNvSpPr>
          <p:nvPr/>
        </p:nvSpPr>
        <p:spPr bwMode="auto">
          <a:xfrm>
            <a:off x="8428038" y="2643188"/>
            <a:ext cx="223837"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2" name="Rectangle 705"/>
          <p:cNvSpPr>
            <a:spLocks noChangeArrowheads="1"/>
          </p:cNvSpPr>
          <p:nvPr/>
        </p:nvSpPr>
        <p:spPr bwMode="auto">
          <a:xfrm>
            <a:off x="423863" y="2638425"/>
            <a:ext cx="214312"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Rectangle 706"/>
          <p:cNvSpPr>
            <a:spLocks noChangeArrowheads="1"/>
          </p:cNvSpPr>
          <p:nvPr/>
        </p:nvSpPr>
        <p:spPr bwMode="auto">
          <a:xfrm>
            <a:off x="2430463" y="2638425"/>
            <a:ext cx="220662"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Rectangle 707"/>
          <p:cNvSpPr>
            <a:spLocks noChangeArrowheads="1"/>
          </p:cNvSpPr>
          <p:nvPr/>
        </p:nvSpPr>
        <p:spPr bwMode="auto">
          <a:xfrm>
            <a:off x="4438650" y="2641600"/>
            <a:ext cx="211137" cy="62071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Rectangle 339"/>
          <p:cNvSpPr>
            <a:spLocks noChangeArrowheads="1"/>
          </p:cNvSpPr>
          <p:nvPr/>
        </p:nvSpPr>
        <p:spPr bwMode="auto">
          <a:xfrm>
            <a:off x="1003300" y="3100388"/>
            <a:ext cx="211137" cy="176213"/>
          </a:xfrm>
          <a:prstGeom prst="rect">
            <a:avLst/>
          </a:prstGeom>
          <a:solidFill>
            <a:srgbClr val="F7F7F7"/>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6" name="Rectangle 340"/>
          <p:cNvSpPr>
            <a:spLocks noChangeArrowheads="1"/>
          </p:cNvSpPr>
          <p:nvPr/>
        </p:nvSpPr>
        <p:spPr bwMode="auto">
          <a:xfrm>
            <a:off x="1581150" y="3100388"/>
            <a:ext cx="211137" cy="176213"/>
          </a:xfrm>
          <a:prstGeom prst="rect">
            <a:avLst/>
          </a:prstGeom>
          <a:solidFill>
            <a:srgbClr val="F7F7F7"/>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Rectangle 341"/>
          <p:cNvSpPr>
            <a:spLocks noChangeArrowheads="1"/>
          </p:cNvSpPr>
          <p:nvPr/>
        </p:nvSpPr>
        <p:spPr bwMode="auto">
          <a:xfrm>
            <a:off x="1293813" y="3100388"/>
            <a:ext cx="209550" cy="176213"/>
          </a:xfrm>
          <a:prstGeom prst="rect">
            <a:avLst/>
          </a:prstGeom>
          <a:solidFill>
            <a:srgbClr val="F7F7F7"/>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8" name="Rectangle 342"/>
          <p:cNvSpPr>
            <a:spLocks noChangeArrowheads="1"/>
          </p:cNvSpPr>
          <p:nvPr/>
        </p:nvSpPr>
        <p:spPr bwMode="auto">
          <a:xfrm>
            <a:off x="8650288" y="2646363"/>
            <a:ext cx="147637" cy="630238"/>
          </a:xfrm>
          <a:prstGeom prst="rect">
            <a:avLst/>
          </a:prstGeom>
          <a:solidFill>
            <a:srgbClr val="CCCCCC"/>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9" name="Rectangle 343"/>
          <p:cNvSpPr>
            <a:spLocks noChangeArrowheads="1"/>
          </p:cNvSpPr>
          <p:nvPr/>
        </p:nvSpPr>
        <p:spPr bwMode="auto">
          <a:xfrm>
            <a:off x="312738" y="2646363"/>
            <a:ext cx="114300" cy="630238"/>
          </a:xfrm>
          <a:prstGeom prst="rect">
            <a:avLst/>
          </a:prstGeom>
          <a:solidFill>
            <a:srgbClr val="CCCCCC"/>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0" name="Rectangle 356"/>
          <p:cNvSpPr>
            <a:spLocks noChangeArrowheads="1"/>
          </p:cNvSpPr>
          <p:nvPr/>
        </p:nvSpPr>
        <p:spPr bwMode="auto">
          <a:xfrm>
            <a:off x="7323138" y="2894013"/>
            <a:ext cx="180975" cy="37782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1" name="Rectangle 369"/>
          <p:cNvSpPr>
            <a:spLocks noChangeArrowheads="1"/>
          </p:cNvSpPr>
          <p:nvPr/>
        </p:nvSpPr>
        <p:spPr bwMode="auto">
          <a:xfrm>
            <a:off x="7023100" y="3062288"/>
            <a:ext cx="192087" cy="2095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2" name="Rectangle 370"/>
          <p:cNvSpPr>
            <a:spLocks noChangeArrowheads="1"/>
          </p:cNvSpPr>
          <p:nvPr/>
        </p:nvSpPr>
        <p:spPr bwMode="auto">
          <a:xfrm>
            <a:off x="7889875" y="3149600"/>
            <a:ext cx="180975" cy="1222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Rectangle 382"/>
          <p:cNvSpPr>
            <a:spLocks noChangeArrowheads="1"/>
          </p:cNvSpPr>
          <p:nvPr/>
        </p:nvSpPr>
        <p:spPr bwMode="auto">
          <a:xfrm>
            <a:off x="6734175" y="2959100"/>
            <a:ext cx="192087" cy="3127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4" name="Rectangle 389"/>
          <p:cNvSpPr>
            <a:spLocks noChangeArrowheads="1"/>
          </p:cNvSpPr>
          <p:nvPr/>
        </p:nvSpPr>
        <p:spPr bwMode="auto">
          <a:xfrm>
            <a:off x="8166100" y="2959100"/>
            <a:ext cx="201612" cy="3127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5" name="Rectangle 391"/>
          <p:cNvSpPr>
            <a:spLocks noChangeArrowheads="1"/>
          </p:cNvSpPr>
          <p:nvPr/>
        </p:nvSpPr>
        <p:spPr bwMode="auto">
          <a:xfrm>
            <a:off x="7607300" y="2801938"/>
            <a:ext cx="180975" cy="46990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6" name="Rectangle 412"/>
          <p:cNvSpPr>
            <a:spLocks noChangeArrowheads="1"/>
          </p:cNvSpPr>
          <p:nvPr/>
        </p:nvSpPr>
        <p:spPr bwMode="auto">
          <a:xfrm>
            <a:off x="4730750" y="2801938"/>
            <a:ext cx="184150" cy="46990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7" name="Rectangle 417"/>
          <p:cNvSpPr>
            <a:spLocks noChangeArrowheads="1"/>
          </p:cNvSpPr>
          <p:nvPr/>
        </p:nvSpPr>
        <p:spPr bwMode="auto">
          <a:xfrm>
            <a:off x="5324475" y="2894013"/>
            <a:ext cx="195262" cy="37782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8" name="Rectangle 430"/>
          <p:cNvSpPr>
            <a:spLocks noChangeArrowheads="1"/>
          </p:cNvSpPr>
          <p:nvPr/>
        </p:nvSpPr>
        <p:spPr bwMode="auto">
          <a:xfrm>
            <a:off x="5024438" y="3062288"/>
            <a:ext cx="184150" cy="2095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9" name="Rectangle 431"/>
          <p:cNvSpPr>
            <a:spLocks noChangeArrowheads="1"/>
          </p:cNvSpPr>
          <p:nvPr/>
        </p:nvSpPr>
        <p:spPr bwMode="auto">
          <a:xfrm>
            <a:off x="5889625" y="3149600"/>
            <a:ext cx="195262" cy="1222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0" name="Rectangle 443"/>
          <p:cNvSpPr>
            <a:spLocks noChangeArrowheads="1"/>
          </p:cNvSpPr>
          <p:nvPr/>
        </p:nvSpPr>
        <p:spPr bwMode="auto">
          <a:xfrm>
            <a:off x="5602288" y="2959100"/>
            <a:ext cx="184150" cy="3127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1" name="Rectangle 450"/>
          <p:cNvSpPr>
            <a:spLocks noChangeArrowheads="1"/>
          </p:cNvSpPr>
          <p:nvPr/>
        </p:nvSpPr>
        <p:spPr bwMode="auto">
          <a:xfrm>
            <a:off x="6169025" y="2959100"/>
            <a:ext cx="184150" cy="3127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2" name="Rectangle 467"/>
          <p:cNvSpPr>
            <a:spLocks noChangeArrowheads="1"/>
          </p:cNvSpPr>
          <p:nvPr/>
        </p:nvSpPr>
        <p:spPr bwMode="auto">
          <a:xfrm>
            <a:off x="3586163" y="2759075"/>
            <a:ext cx="190500" cy="512763"/>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3" name="Rectangle 474"/>
          <p:cNvSpPr>
            <a:spLocks noChangeArrowheads="1"/>
          </p:cNvSpPr>
          <p:nvPr/>
        </p:nvSpPr>
        <p:spPr bwMode="auto">
          <a:xfrm>
            <a:off x="2714625" y="2801938"/>
            <a:ext cx="190500" cy="46990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4" name="Rectangle 478"/>
          <p:cNvSpPr>
            <a:spLocks noChangeArrowheads="1"/>
          </p:cNvSpPr>
          <p:nvPr/>
        </p:nvSpPr>
        <p:spPr bwMode="auto">
          <a:xfrm>
            <a:off x="3308350" y="2894013"/>
            <a:ext cx="201612" cy="37782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5" name="Rectangle 492"/>
          <p:cNvSpPr>
            <a:spLocks noChangeArrowheads="1"/>
          </p:cNvSpPr>
          <p:nvPr/>
        </p:nvSpPr>
        <p:spPr bwMode="auto">
          <a:xfrm>
            <a:off x="3008313" y="3062288"/>
            <a:ext cx="190500" cy="2095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6" name="Rectangle 493"/>
          <p:cNvSpPr>
            <a:spLocks noChangeArrowheads="1"/>
          </p:cNvSpPr>
          <p:nvPr/>
        </p:nvSpPr>
        <p:spPr bwMode="auto">
          <a:xfrm>
            <a:off x="3873500" y="3149600"/>
            <a:ext cx="212725" cy="1222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7" name="Rectangle 505"/>
          <p:cNvSpPr>
            <a:spLocks noChangeArrowheads="1"/>
          </p:cNvSpPr>
          <p:nvPr/>
        </p:nvSpPr>
        <p:spPr bwMode="auto">
          <a:xfrm>
            <a:off x="4157663" y="2959100"/>
            <a:ext cx="201612" cy="3127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8" name="Rectangle 533"/>
          <p:cNvSpPr>
            <a:spLocks noChangeArrowheads="1"/>
          </p:cNvSpPr>
          <p:nvPr/>
        </p:nvSpPr>
        <p:spPr bwMode="auto">
          <a:xfrm>
            <a:off x="709613" y="2801938"/>
            <a:ext cx="215900" cy="46990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9" name="Rectangle 534"/>
          <p:cNvSpPr>
            <a:spLocks noChangeArrowheads="1"/>
          </p:cNvSpPr>
          <p:nvPr/>
        </p:nvSpPr>
        <p:spPr bwMode="auto">
          <a:xfrm>
            <a:off x="1581150" y="2894013"/>
            <a:ext cx="209550" cy="37782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0" name="Rectangle 546"/>
          <p:cNvSpPr>
            <a:spLocks noChangeArrowheads="1"/>
          </p:cNvSpPr>
          <p:nvPr/>
        </p:nvSpPr>
        <p:spPr bwMode="auto">
          <a:xfrm>
            <a:off x="1293813" y="2959100"/>
            <a:ext cx="207962" cy="3127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1" name="Rectangle 554"/>
          <p:cNvSpPr>
            <a:spLocks noChangeArrowheads="1"/>
          </p:cNvSpPr>
          <p:nvPr/>
        </p:nvSpPr>
        <p:spPr bwMode="auto">
          <a:xfrm>
            <a:off x="1003300" y="3062288"/>
            <a:ext cx="230187" cy="2095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2" name="Rectangle 555"/>
          <p:cNvSpPr>
            <a:spLocks noChangeArrowheads="1"/>
          </p:cNvSpPr>
          <p:nvPr/>
        </p:nvSpPr>
        <p:spPr bwMode="auto">
          <a:xfrm>
            <a:off x="1871663" y="3149600"/>
            <a:ext cx="204787" cy="1222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3" name="Rectangle 562"/>
          <p:cNvSpPr>
            <a:spLocks noChangeArrowheads="1"/>
          </p:cNvSpPr>
          <p:nvPr/>
        </p:nvSpPr>
        <p:spPr bwMode="auto">
          <a:xfrm>
            <a:off x="2147888" y="3149600"/>
            <a:ext cx="204787" cy="122238"/>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4" name="Line 569"/>
          <p:cNvSpPr>
            <a:spLocks noChangeShapeType="1"/>
          </p:cNvSpPr>
          <p:nvPr/>
        </p:nvSpPr>
        <p:spPr bwMode="auto">
          <a:xfrm flipH="1">
            <a:off x="312738" y="2646363"/>
            <a:ext cx="8485187"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5" name="Line 570"/>
          <p:cNvSpPr>
            <a:spLocks noChangeShapeType="1"/>
          </p:cNvSpPr>
          <p:nvPr/>
        </p:nvSpPr>
        <p:spPr bwMode="auto">
          <a:xfrm>
            <a:off x="312738" y="3276600"/>
            <a:ext cx="8485187"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6" name="Rectangle 573"/>
          <p:cNvSpPr>
            <a:spLocks noChangeArrowheads="1"/>
          </p:cNvSpPr>
          <p:nvPr/>
        </p:nvSpPr>
        <p:spPr bwMode="auto">
          <a:xfrm>
            <a:off x="457200" y="2362200"/>
            <a:ext cx="1894621" cy="276999"/>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Incremental Backup</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67" name="Rectangle 622"/>
          <p:cNvSpPr>
            <a:spLocks noChangeArrowheads="1"/>
          </p:cNvSpPr>
          <p:nvPr/>
        </p:nvSpPr>
        <p:spPr bwMode="auto">
          <a:xfrm>
            <a:off x="381000" y="33226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68" name="Rectangle 623"/>
          <p:cNvSpPr>
            <a:spLocks noChangeArrowheads="1"/>
          </p:cNvSpPr>
          <p:nvPr/>
        </p:nvSpPr>
        <p:spPr bwMode="auto">
          <a:xfrm>
            <a:off x="2463800" y="33226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69" name="Rectangle 624"/>
          <p:cNvSpPr>
            <a:spLocks noChangeArrowheads="1"/>
          </p:cNvSpPr>
          <p:nvPr/>
        </p:nvSpPr>
        <p:spPr bwMode="auto">
          <a:xfrm>
            <a:off x="4473575" y="33226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0" name="Rectangle 625"/>
          <p:cNvSpPr>
            <a:spLocks noChangeArrowheads="1"/>
          </p:cNvSpPr>
          <p:nvPr/>
        </p:nvSpPr>
        <p:spPr bwMode="auto">
          <a:xfrm>
            <a:off x="6494463" y="33226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1" name="Rectangle 626"/>
          <p:cNvSpPr>
            <a:spLocks noChangeArrowheads="1"/>
          </p:cNvSpPr>
          <p:nvPr/>
        </p:nvSpPr>
        <p:spPr bwMode="auto">
          <a:xfrm>
            <a:off x="8483600" y="3322637"/>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2" name="Rectangle 627"/>
          <p:cNvSpPr>
            <a:spLocks noChangeArrowheads="1"/>
          </p:cNvSpPr>
          <p:nvPr/>
        </p:nvSpPr>
        <p:spPr bwMode="auto">
          <a:xfrm>
            <a:off x="762000" y="3322637"/>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3" name="Rectangle 628"/>
          <p:cNvSpPr>
            <a:spLocks noChangeArrowheads="1"/>
          </p:cNvSpPr>
          <p:nvPr/>
        </p:nvSpPr>
        <p:spPr bwMode="auto">
          <a:xfrm>
            <a:off x="1066800" y="3322637"/>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4" name="Rectangle 629"/>
          <p:cNvSpPr>
            <a:spLocks noChangeArrowheads="1"/>
          </p:cNvSpPr>
          <p:nvPr/>
        </p:nvSpPr>
        <p:spPr bwMode="auto">
          <a:xfrm>
            <a:off x="1600200" y="33205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5" name="Rectangle 630"/>
          <p:cNvSpPr>
            <a:spLocks noChangeArrowheads="1"/>
          </p:cNvSpPr>
          <p:nvPr/>
        </p:nvSpPr>
        <p:spPr bwMode="auto">
          <a:xfrm>
            <a:off x="1295400" y="3322637"/>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6" name="Rectangle 631"/>
          <p:cNvSpPr>
            <a:spLocks noChangeArrowheads="1"/>
          </p:cNvSpPr>
          <p:nvPr/>
        </p:nvSpPr>
        <p:spPr bwMode="auto">
          <a:xfrm>
            <a:off x="1952625" y="3322637"/>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7" name="Rectangle 632"/>
          <p:cNvSpPr>
            <a:spLocks noChangeArrowheads="1"/>
          </p:cNvSpPr>
          <p:nvPr/>
        </p:nvSpPr>
        <p:spPr bwMode="auto">
          <a:xfrm>
            <a:off x="2209800" y="3322637"/>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8" name="Rectangle 633"/>
          <p:cNvSpPr>
            <a:spLocks noChangeArrowheads="1"/>
          </p:cNvSpPr>
          <p:nvPr/>
        </p:nvSpPr>
        <p:spPr bwMode="auto">
          <a:xfrm>
            <a:off x="2743200" y="3322637"/>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79" name="Rectangle 634"/>
          <p:cNvSpPr>
            <a:spLocks noChangeArrowheads="1"/>
          </p:cNvSpPr>
          <p:nvPr/>
        </p:nvSpPr>
        <p:spPr bwMode="auto">
          <a:xfrm>
            <a:off x="3048000" y="3322637"/>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0" name="Rectangle 635"/>
          <p:cNvSpPr>
            <a:spLocks noChangeArrowheads="1"/>
          </p:cNvSpPr>
          <p:nvPr/>
        </p:nvSpPr>
        <p:spPr bwMode="auto">
          <a:xfrm>
            <a:off x="3581400" y="33205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1" name="Rectangle 636"/>
          <p:cNvSpPr>
            <a:spLocks noChangeArrowheads="1"/>
          </p:cNvSpPr>
          <p:nvPr/>
        </p:nvSpPr>
        <p:spPr bwMode="auto">
          <a:xfrm>
            <a:off x="3352800" y="3322637"/>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2" name="Rectangle 637"/>
          <p:cNvSpPr>
            <a:spLocks noChangeArrowheads="1"/>
          </p:cNvSpPr>
          <p:nvPr/>
        </p:nvSpPr>
        <p:spPr bwMode="auto">
          <a:xfrm>
            <a:off x="3963988" y="3322637"/>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3" name="Rectangle 638"/>
          <p:cNvSpPr>
            <a:spLocks noChangeArrowheads="1"/>
          </p:cNvSpPr>
          <p:nvPr/>
        </p:nvSpPr>
        <p:spPr bwMode="auto">
          <a:xfrm>
            <a:off x="4251325" y="3322637"/>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4" name="Rectangle 639"/>
          <p:cNvSpPr>
            <a:spLocks noChangeArrowheads="1"/>
          </p:cNvSpPr>
          <p:nvPr/>
        </p:nvSpPr>
        <p:spPr bwMode="auto">
          <a:xfrm>
            <a:off x="4773168" y="3322637"/>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5" name="Rectangle 640"/>
          <p:cNvSpPr>
            <a:spLocks noChangeArrowheads="1"/>
          </p:cNvSpPr>
          <p:nvPr/>
        </p:nvSpPr>
        <p:spPr bwMode="auto">
          <a:xfrm>
            <a:off x="5078413" y="3322637"/>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6" name="Rectangle 641"/>
          <p:cNvSpPr>
            <a:spLocks noChangeArrowheads="1"/>
          </p:cNvSpPr>
          <p:nvPr/>
        </p:nvSpPr>
        <p:spPr bwMode="auto">
          <a:xfrm>
            <a:off x="5638800" y="33205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7" name="Rectangle 642"/>
          <p:cNvSpPr>
            <a:spLocks noChangeArrowheads="1"/>
          </p:cNvSpPr>
          <p:nvPr/>
        </p:nvSpPr>
        <p:spPr bwMode="auto">
          <a:xfrm>
            <a:off x="5334000" y="3322637"/>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8" name="Rectangle 643"/>
          <p:cNvSpPr>
            <a:spLocks noChangeArrowheads="1"/>
          </p:cNvSpPr>
          <p:nvPr/>
        </p:nvSpPr>
        <p:spPr bwMode="auto">
          <a:xfrm>
            <a:off x="5973763" y="3322637"/>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89" name="Rectangle 644"/>
          <p:cNvSpPr>
            <a:spLocks noChangeArrowheads="1"/>
          </p:cNvSpPr>
          <p:nvPr/>
        </p:nvSpPr>
        <p:spPr bwMode="auto">
          <a:xfrm>
            <a:off x="6248400" y="3322637"/>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0" name="Rectangle 645"/>
          <p:cNvSpPr>
            <a:spLocks noChangeArrowheads="1"/>
          </p:cNvSpPr>
          <p:nvPr/>
        </p:nvSpPr>
        <p:spPr bwMode="auto">
          <a:xfrm>
            <a:off x="6808788" y="3322637"/>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1" name="Rectangle 646"/>
          <p:cNvSpPr>
            <a:spLocks noChangeArrowheads="1"/>
          </p:cNvSpPr>
          <p:nvPr/>
        </p:nvSpPr>
        <p:spPr bwMode="auto">
          <a:xfrm>
            <a:off x="7086600" y="3322637"/>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2" name="Rectangle 647"/>
          <p:cNvSpPr>
            <a:spLocks noChangeArrowheads="1"/>
          </p:cNvSpPr>
          <p:nvPr/>
        </p:nvSpPr>
        <p:spPr bwMode="auto">
          <a:xfrm>
            <a:off x="7620000" y="33205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3" name="Rectangle 648"/>
          <p:cNvSpPr>
            <a:spLocks noChangeArrowheads="1"/>
          </p:cNvSpPr>
          <p:nvPr/>
        </p:nvSpPr>
        <p:spPr bwMode="auto">
          <a:xfrm>
            <a:off x="7315200" y="3322637"/>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4" name="Rectangle 649"/>
          <p:cNvSpPr>
            <a:spLocks noChangeArrowheads="1"/>
          </p:cNvSpPr>
          <p:nvPr/>
        </p:nvSpPr>
        <p:spPr bwMode="auto">
          <a:xfrm>
            <a:off x="7970838" y="3322637"/>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5" name="Rectangle 650"/>
          <p:cNvSpPr>
            <a:spLocks noChangeArrowheads="1"/>
          </p:cNvSpPr>
          <p:nvPr/>
        </p:nvSpPr>
        <p:spPr bwMode="auto">
          <a:xfrm>
            <a:off x="8261350" y="3322637"/>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7" name="Rectangle 714"/>
          <p:cNvSpPr>
            <a:spLocks noChangeArrowheads="1"/>
          </p:cNvSpPr>
          <p:nvPr/>
        </p:nvSpPr>
        <p:spPr bwMode="auto">
          <a:xfrm>
            <a:off x="8166100" y="4143375"/>
            <a:ext cx="222250" cy="57467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8" name="Rectangle 715"/>
          <p:cNvSpPr>
            <a:spLocks noChangeArrowheads="1"/>
          </p:cNvSpPr>
          <p:nvPr/>
        </p:nvSpPr>
        <p:spPr bwMode="auto">
          <a:xfrm>
            <a:off x="7881938" y="4240212"/>
            <a:ext cx="219075" cy="477837"/>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9" name="Rectangle 716"/>
          <p:cNvSpPr>
            <a:spLocks noChangeArrowheads="1"/>
          </p:cNvSpPr>
          <p:nvPr/>
        </p:nvSpPr>
        <p:spPr bwMode="auto">
          <a:xfrm>
            <a:off x="7597775" y="4333875"/>
            <a:ext cx="212725" cy="38417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0" name="Rectangle 717"/>
          <p:cNvSpPr>
            <a:spLocks noChangeArrowheads="1"/>
          </p:cNvSpPr>
          <p:nvPr/>
        </p:nvSpPr>
        <p:spPr bwMode="auto">
          <a:xfrm>
            <a:off x="7313613" y="4392612"/>
            <a:ext cx="223837" cy="3111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1" name="Rectangle 718"/>
          <p:cNvSpPr>
            <a:spLocks noChangeArrowheads="1"/>
          </p:cNvSpPr>
          <p:nvPr/>
        </p:nvSpPr>
        <p:spPr bwMode="auto">
          <a:xfrm>
            <a:off x="7024688" y="4495800"/>
            <a:ext cx="211137" cy="20796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2" name="Rectangle 719"/>
          <p:cNvSpPr>
            <a:spLocks noChangeArrowheads="1"/>
          </p:cNvSpPr>
          <p:nvPr/>
        </p:nvSpPr>
        <p:spPr bwMode="auto">
          <a:xfrm>
            <a:off x="6731000" y="4592637"/>
            <a:ext cx="217487" cy="1254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3" name="Rectangle 721"/>
          <p:cNvSpPr>
            <a:spLocks noChangeArrowheads="1"/>
          </p:cNvSpPr>
          <p:nvPr/>
        </p:nvSpPr>
        <p:spPr bwMode="auto">
          <a:xfrm>
            <a:off x="6172200" y="4140200"/>
            <a:ext cx="211137" cy="579437"/>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4" name="Rectangle 722"/>
          <p:cNvSpPr>
            <a:spLocks noChangeArrowheads="1"/>
          </p:cNvSpPr>
          <p:nvPr/>
        </p:nvSpPr>
        <p:spPr bwMode="auto">
          <a:xfrm>
            <a:off x="5872163" y="4241800"/>
            <a:ext cx="238125" cy="477837"/>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5" name="Rectangle 723"/>
          <p:cNvSpPr>
            <a:spLocks noChangeArrowheads="1"/>
          </p:cNvSpPr>
          <p:nvPr/>
        </p:nvSpPr>
        <p:spPr bwMode="auto">
          <a:xfrm>
            <a:off x="5588000" y="4324350"/>
            <a:ext cx="217487" cy="395287"/>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6" name="Rectangle 724"/>
          <p:cNvSpPr>
            <a:spLocks noChangeArrowheads="1"/>
          </p:cNvSpPr>
          <p:nvPr/>
        </p:nvSpPr>
        <p:spPr bwMode="auto">
          <a:xfrm>
            <a:off x="5305425" y="4394200"/>
            <a:ext cx="209550" cy="3111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7" name="Rectangle 725"/>
          <p:cNvSpPr>
            <a:spLocks noChangeArrowheads="1"/>
          </p:cNvSpPr>
          <p:nvPr/>
        </p:nvSpPr>
        <p:spPr bwMode="auto">
          <a:xfrm>
            <a:off x="5014913" y="4497387"/>
            <a:ext cx="215900" cy="20796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8" name="Rectangle 726"/>
          <p:cNvSpPr>
            <a:spLocks noChangeArrowheads="1"/>
          </p:cNvSpPr>
          <p:nvPr/>
        </p:nvSpPr>
        <p:spPr bwMode="auto">
          <a:xfrm>
            <a:off x="4727575" y="4595812"/>
            <a:ext cx="215900" cy="12382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9" name="Rectangle 708"/>
          <p:cNvSpPr>
            <a:spLocks noChangeArrowheads="1"/>
          </p:cNvSpPr>
          <p:nvPr/>
        </p:nvSpPr>
        <p:spPr bwMode="auto">
          <a:xfrm>
            <a:off x="4164013" y="4143375"/>
            <a:ext cx="222250" cy="573087"/>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0" name="Rectangle 709"/>
          <p:cNvSpPr>
            <a:spLocks noChangeArrowheads="1"/>
          </p:cNvSpPr>
          <p:nvPr/>
        </p:nvSpPr>
        <p:spPr bwMode="auto">
          <a:xfrm>
            <a:off x="3875088" y="4238625"/>
            <a:ext cx="223837" cy="477837"/>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1" name="Rectangle 710"/>
          <p:cNvSpPr>
            <a:spLocks noChangeArrowheads="1"/>
          </p:cNvSpPr>
          <p:nvPr/>
        </p:nvSpPr>
        <p:spPr bwMode="auto">
          <a:xfrm>
            <a:off x="3586163" y="4335462"/>
            <a:ext cx="222250" cy="38100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2" name="Rectangle 711"/>
          <p:cNvSpPr>
            <a:spLocks noChangeArrowheads="1"/>
          </p:cNvSpPr>
          <p:nvPr/>
        </p:nvSpPr>
        <p:spPr bwMode="auto">
          <a:xfrm>
            <a:off x="3298825" y="4391025"/>
            <a:ext cx="217487" cy="3111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3" name="Rectangle 712"/>
          <p:cNvSpPr>
            <a:spLocks noChangeArrowheads="1"/>
          </p:cNvSpPr>
          <p:nvPr/>
        </p:nvSpPr>
        <p:spPr bwMode="auto">
          <a:xfrm>
            <a:off x="3008313" y="4494212"/>
            <a:ext cx="211137" cy="20796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4" name="Rectangle 713"/>
          <p:cNvSpPr>
            <a:spLocks noChangeArrowheads="1"/>
          </p:cNvSpPr>
          <p:nvPr/>
        </p:nvSpPr>
        <p:spPr bwMode="auto">
          <a:xfrm>
            <a:off x="2720975" y="4595812"/>
            <a:ext cx="211137" cy="1206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5" name="Rectangle 697"/>
          <p:cNvSpPr>
            <a:spLocks noChangeArrowheads="1"/>
          </p:cNvSpPr>
          <p:nvPr/>
        </p:nvSpPr>
        <p:spPr bwMode="auto">
          <a:xfrm>
            <a:off x="6446838" y="4087812"/>
            <a:ext cx="209550" cy="6207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6" name="Rectangle 698"/>
          <p:cNvSpPr>
            <a:spLocks noChangeArrowheads="1"/>
          </p:cNvSpPr>
          <p:nvPr/>
        </p:nvSpPr>
        <p:spPr bwMode="auto">
          <a:xfrm>
            <a:off x="8428038" y="4090987"/>
            <a:ext cx="223837" cy="6207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7" name="Rectangle 699"/>
          <p:cNvSpPr>
            <a:spLocks noChangeArrowheads="1"/>
          </p:cNvSpPr>
          <p:nvPr/>
        </p:nvSpPr>
        <p:spPr bwMode="auto">
          <a:xfrm>
            <a:off x="423863" y="4086225"/>
            <a:ext cx="212725" cy="6207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8" name="Rectangle 700"/>
          <p:cNvSpPr>
            <a:spLocks noChangeArrowheads="1"/>
          </p:cNvSpPr>
          <p:nvPr/>
        </p:nvSpPr>
        <p:spPr bwMode="auto">
          <a:xfrm>
            <a:off x="2432050" y="4086225"/>
            <a:ext cx="219075" cy="6207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9" name="Rectangle 701"/>
          <p:cNvSpPr>
            <a:spLocks noChangeArrowheads="1"/>
          </p:cNvSpPr>
          <p:nvPr/>
        </p:nvSpPr>
        <p:spPr bwMode="auto">
          <a:xfrm>
            <a:off x="4440238" y="4089400"/>
            <a:ext cx="209550" cy="6207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0" name="Freeform 88"/>
          <p:cNvSpPr>
            <a:spLocks/>
          </p:cNvSpPr>
          <p:nvPr/>
        </p:nvSpPr>
        <p:spPr bwMode="auto">
          <a:xfrm>
            <a:off x="4649788" y="4087812"/>
            <a:ext cx="1797050" cy="630237"/>
          </a:xfrm>
          <a:custGeom>
            <a:avLst/>
            <a:gdLst/>
            <a:ahLst/>
            <a:cxnLst>
              <a:cxn ang="0">
                <a:pos x="1336" y="201"/>
              </a:cxn>
              <a:cxn ang="0">
                <a:pos x="1564" y="201"/>
              </a:cxn>
              <a:cxn ang="0">
                <a:pos x="1564" y="794"/>
              </a:cxn>
              <a:cxn ang="0">
                <a:pos x="1649" y="794"/>
              </a:cxn>
              <a:cxn ang="0">
                <a:pos x="1649" y="71"/>
              </a:cxn>
              <a:cxn ang="0">
                <a:pos x="1877" y="71"/>
              </a:cxn>
              <a:cxn ang="0">
                <a:pos x="1877" y="794"/>
              </a:cxn>
              <a:cxn ang="0">
                <a:pos x="1946" y="794"/>
              </a:cxn>
              <a:cxn ang="0">
                <a:pos x="1946" y="0"/>
              </a:cxn>
              <a:cxn ang="0">
                <a:pos x="0" y="0"/>
              </a:cxn>
              <a:cxn ang="0">
                <a:pos x="0" y="794"/>
              </a:cxn>
              <a:cxn ang="0">
                <a:pos x="85" y="794"/>
              </a:cxn>
              <a:cxn ang="0">
                <a:pos x="85" y="639"/>
              </a:cxn>
              <a:cxn ang="0">
                <a:pos x="313" y="639"/>
              </a:cxn>
              <a:cxn ang="0">
                <a:pos x="313" y="794"/>
              </a:cxn>
              <a:cxn ang="0">
                <a:pos x="398" y="794"/>
              </a:cxn>
              <a:cxn ang="0">
                <a:pos x="398" y="524"/>
              </a:cxn>
              <a:cxn ang="0">
                <a:pos x="625" y="524"/>
              </a:cxn>
              <a:cxn ang="0">
                <a:pos x="625" y="794"/>
              </a:cxn>
              <a:cxn ang="0">
                <a:pos x="711" y="794"/>
              </a:cxn>
              <a:cxn ang="0">
                <a:pos x="711" y="397"/>
              </a:cxn>
              <a:cxn ang="0">
                <a:pos x="938" y="397"/>
              </a:cxn>
              <a:cxn ang="0">
                <a:pos x="938" y="794"/>
              </a:cxn>
              <a:cxn ang="0">
                <a:pos x="1024" y="794"/>
              </a:cxn>
              <a:cxn ang="0">
                <a:pos x="1024" y="314"/>
              </a:cxn>
              <a:cxn ang="0">
                <a:pos x="1251" y="314"/>
              </a:cxn>
              <a:cxn ang="0">
                <a:pos x="1251" y="794"/>
              </a:cxn>
              <a:cxn ang="0">
                <a:pos x="1336" y="794"/>
              </a:cxn>
              <a:cxn ang="0">
                <a:pos x="1336" y="201"/>
              </a:cxn>
            </a:cxnLst>
            <a:rect l="0" t="0" r="r" b="b"/>
            <a:pathLst>
              <a:path w="1946" h="794">
                <a:moveTo>
                  <a:pt x="1336" y="201"/>
                </a:moveTo>
                <a:lnTo>
                  <a:pt x="1564" y="201"/>
                </a:lnTo>
                <a:lnTo>
                  <a:pt x="1564" y="794"/>
                </a:lnTo>
                <a:lnTo>
                  <a:pt x="1649" y="794"/>
                </a:lnTo>
                <a:lnTo>
                  <a:pt x="1649" y="71"/>
                </a:lnTo>
                <a:lnTo>
                  <a:pt x="1877" y="71"/>
                </a:lnTo>
                <a:lnTo>
                  <a:pt x="1877" y="794"/>
                </a:lnTo>
                <a:lnTo>
                  <a:pt x="1946" y="794"/>
                </a:lnTo>
                <a:lnTo>
                  <a:pt x="1946" y="0"/>
                </a:lnTo>
                <a:lnTo>
                  <a:pt x="0" y="0"/>
                </a:lnTo>
                <a:lnTo>
                  <a:pt x="0" y="794"/>
                </a:lnTo>
                <a:lnTo>
                  <a:pt x="85" y="794"/>
                </a:lnTo>
                <a:lnTo>
                  <a:pt x="85" y="639"/>
                </a:lnTo>
                <a:lnTo>
                  <a:pt x="313" y="639"/>
                </a:lnTo>
                <a:lnTo>
                  <a:pt x="313" y="794"/>
                </a:lnTo>
                <a:lnTo>
                  <a:pt x="398" y="794"/>
                </a:lnTo>
                <a:lnTo>
                  <a:pt x="398" y="524"/>
                </a:lnTo>
                <a:lnTo>
                  <a:pt x="625" y="524"/>
                </a:lnTo>
                <a:lnTo>
                  <a:pt x="625" y="794"/>
                </a:lnTo>
                <a:lnTo>
                  <a:pt x="711" y="794"/>
                </a:lnTo>
                <a:lnTo>
                  <a:pt x="711" y="397"/>
                </a:lnTo>
                <a:lnTo>
                  <a:pt x="938" y="397"/>
                </a:lnTo>
                <a:lnTo>
                  <a:pt x="938" y="794"/>
                </a:lnTo>
                <a:lnTo>
                  <a:pt x="1024" y="794"/>
                </a:lnTo>
                <a:lnTo>
                  <a:pt x="1024" y="314"/>
                </a:lnTo>
                <a:lnTo>
                  <a:pt x="1251" y="314"/>
                </a:lnTo>
                <a:lnTo>
                  <a:pt x="1251" y="794"/>
                </a:lnTo>
                <a:lnTo>
                  <a:pt x="1336" y="794"/>
                </a:lnTo>
                <a:lnTo>
                  <a:pt x="1336" y="201"/>
                </a:lnTo>
                <a:close/>
              </a:path>
            </a:pathLst>
          </a:custGeom>
          <a:solidFill>
            <a:srgbClr val="CCCCCC"/>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1" name="Freeform 95"/>
          <p:cNvSpPr>
            <a:spLocks/>
          </p:cNvSpPr>
          <p:nvPr/>
        </p:nvSpPr>
        <p:spPr bwMode="auto">
          <a:xfrm>
            <a:off x="2643188" y="4087812"/>
            <a:ext cx="1797050" cy="630237"/>
          </a:xfrm>
          <a:custGeom>
            <a:avLst/>
            <a:gdLst/>
            <a:ahLst/>
            <a:cxnLst>
              <a:cxn ang="0">
                <a:pos x="1649" y="71"/>
              </a:cxn>
              <a:cxn ang="0">
                <a:pos x="1877" y="71"/>
              </a:cxn>
              <a:cxn ang="0">
                <a:pos x="1877" y="794"/>
              </a:cxn>
              <a:cxn ang="0">
                <a:pos x="1946" y="794"/>
              </a:cxn>
              <a:cxn ang="0">
                <a:pos x="1946" y="0"/>
              </a:cxn>
              <a:cxn ang="0">
                <a:pos x="0" y="0"/>
              </a:cxn>
              <a:cxn ang="0">
                <a:pos x="0" y="794"/>
              </a:cxn>
              <a:cxn ang="0">
                <a:pos x="85" y="794"/>
              </a:cxn>
              <a:cxn ang="0">
                <a:pos x="85" y="639"/>
              </a:cxn>
              <a:cxn ang="0">
                <a:pos x="313" y="639"/>
              </a:cxn>
              <a:cxn ang="0">
                <a:pos x="313" y="794"/>
              </a:cxn>
              <a:cxn ang="0">
                <a:pos x="398" y="794"/>
              </a:cxn>
              <a:cxn ang="0">
                <a:pos x="398" y="524"/>
              </a:cxn>
              <a:cxn ang="0">
                <a:pos x="625" y="524"/>
              </a:cxn>
              <a:cxn ang="0">
                <a:pos x="625" y="794"/>
              </a:cxn>
              <a:cxn ang="0">
                <a:pos x="711" y="794"/>
              </a:cxn>
              <a:cxn ang="0">
                <a:pos x="711" y="397"/>
              </a:cxn>
              <a:cxn ang="0">
                <a:pos x="938" y="397"/>
              </a:cxn>
              <a:cxn ang="0">
                <a:pos x="938" y="794"/>
              </a:cxn>
              <a:cxn ang="0">
                <a:pos x="1024" y="794"/>
              </a:cxn>
              <a:cxn ang="0">
                <a:pos x="1024" y="314"/>
              </a:cxn>
              <a:cxn ang="0">
                <a:pos x="1251" y="314"/>
              </a:cxn>
              <a:cxn ang="0">
                <a:pos x="1251" y="794"/>
              </a:cxn>
              <a:cxn ang="0">
                <a:pos x="1336" y="794"/>
              </a:cxn>
              <a:cxn ang="0">
                <a:pos x="1336" y="201"/>
              </a:cxn>
              <a:cxn ang="0">
                <a:pos x="1564" y="201"/>
              </a:cxn>
              <a:cxn ang="0">
                <a:pos x="1564" y="794"/>
              </a:cxn>
              <a:cxn ang="0">
                <a:pos x="1649" y="794"/>
              </a:cxn>
              <a:cxn ang="0">
                <a:pos x="1649" y="71"/>
              </a:cxn>
            </a:cxnLst>
            <a:rect l="0" t="0" r="r" b="b"/>
            <a:pathLst>
              <a:path w="1946" h="794">
                <a:moveTo>
                  <a:pt x="1649" y="71"/>
                </a:moveTo>
                <a:lnTo>
                  <a:pt x="1877" y="71"/>
                </a:lnTo>
                <a:lnTo>
                  <a:pt x="1877" y="794"/>
                </a:lnTo>
                <a:lnTo>
                  <a:pt x="1946" y="794"/>
                </a:lnTo>
                <a:lnTo>
                  <a:pt x="1946" y="0"/>
                </a:lnTo>
                <a:lnTo>
                  <a:pt x="0" y="0"/>
                </a:lnTo>
                <a:lnTo>
                  <a:pt x="0" y="794"/>
                </a:lnTo>
                <a:lnTo>
                  <a:pt x="85" y="794"/>
                </a:lnTo>
                <a:lnTo>
                  <a:pt x="85" y="639"/>
                </a:lnTo>
                <a:lnTo>
                  <a:pt x="313" y="639"/>
                </a:lnTo>
                <a:lnTo>
                  <a:pt x="313" y="794"/>
                </a:lnTo>
                <a:lnTo>
                  <a:pt x="398" y="794"/>
                </a:lnTo>
                <a:lnTo>
                  <a:pt x="398" y="524"/>
                </a:lnTo>
                <a:lnTo>
                  <a:pt x="625" y="524"/>
                </a:lnTo>
                <a:lnTo>
                  <a:pt x="625" y="794"/>
                </a:lnTo>
                <a:lnTo>
                  <a:pt x="711" y="794"/>
                </a:lnTo>
                <a:lnTo>
                  <a:pt x="711" y="397"/>
                </a:lnTo>
                <a:lnTo>
                  <a:pt x="938" y="397"/>
                </a:lnTo>
                <a:lnTo>
                  <a:pt x="938" y="794"/>
                </a:lnTo>
                <a:lnTo>
                  <a:pt x="1024" y="794"/>
                </a:lnTo>
                <a:lnTo>
                  <a:pt x="1024" y="314"/>
                </a:lnTo>
                <a:lnTo>
                  <a:pt x="1251" y="314"/>
                </a:lnTo>
                <a:lnTo>
                  <a:pt x="1251" y="794"/>
                </a:lnTo>
                <a:lnTo>
                  <a:pt x="1336" y="794"/>
                </a:lnTo>
                <a:lnTo>
                  <a:pt x="1336" y="201"/>
                </a:lnTo>
                <a:lnTo>
                  <a:pt x="1564" y="201"/>
                </a:lnTo>
                <a:lnTo>
                  <a:pt x="1564" y="794"/>
                </a:lnTo>
                <a:lnTo>
                  <a:pt x="1649" y="794"/>
                </a:lnTo>
                <a:lnTo>
                  <a:pt x="1649" y="71"/>
                </a:lnTo>
                <a:close/>
              </a:path>
            </a:pathLst>
          </a:custGeom>
          <a:solidFill>
            <a:srgbClr val="CCCCCC"/>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2" name="Freeform 102"/>
          <p:cNvSpPr>
            <a:spLocks/>
          </p:cNvSpPr>
          <p:nvPr/>
        </p:nvSpPr>
        <p:spPr bwMode="auto">
          <a:xfrm>
            <a:off x="6656388" y="4087812"/>
            <a:ext cx="1782762" cy="630237"/>
          </a:xfrm>
          <a:custGeom>
            <a:avLst/>
            <a:gdLst/>
            <a:ahLst/>
            <a:cxnLst>
              <a:cxn ang="0">
                <a:pos x="398" y="524"/>
              </a:cxn>
              <a:cxn ang="0">
                <a:pos x="625" y="524"/>
              </a:cxn>
              <a:cxn ang="0">
                <a:pos x="625" y="794"/>
              </a:cxn>
              <a:cxn ang="0">
                <a:pos x="711" y="794"/>
              </a:cxn>
              <a:cxn ang="0">
                <a:pos x="711" y="397"/>
              </a:cxn>
              <a:cxn ang="0">
                <a:pos x="938" y="397"/>
              </a:cxn>
              <a:cxn ang="0">
                <a:pos x="938" y="794"/>
              </a:cxn>
              <a:cxn ang="0">
                <a:pos x="1024" y="794"/>
              </a:cxn>
              <a:cxn ang="0">
                <a:pos x="1024" y="314"/>
              </a:cxn>
              <a:cxn ang="0">
                <a:pos x="1251" y="314"/>
              </a:cxn>
              <a:cxn ang="0">
                <a:pos x="1251" y="794"/>
              </a:cxn>
              <a:cxn ang="0">
                <a:pos x="1336" y="794"/>
              </a:cxn>
              <a:cxn ang="0">
                <a:pos x="1336" y="201"/>
              </a:cxn>
              <a:cxn ang="0">
                <a:pos x="1564" y="201"/>
              </a:cxn>
              <a:cxn ang="0">
                <a:pos x="1564" y="794"/>
              </a:cxn>
              <a:cxn ang="0">
                <a:pos x="1649" y="794"/>
              </a:cxn>
              <a:cxn ang="0">
                <a:pos x="1649" y="71"/>
              </a:cxn>
              <a:cxn ang="0">
                <a:pos x="1877" y="71"/>
              </a:cxn>
              <a:cxn ang="0">
                <a:pos x="1877" y="794"/>
              </a:cxn>
              <a:cxn ang="0">
                <a:pos x="1931" y="794"/>
              </a:cxn>
              <a:cxn ang="0">
                <a:pos x="1931" y="0"/>
              </a:cxn>
              <a:cxn ang="0">
                <a:pos x="0" y="0"/>
              </a:cxn>
              <a:cxn ang="0">
                <a:pos x="0" y="794"/>
              </a:cxn>
              <a:cxn ang="0">
                <a:pos x="85" y="794"/>
              </a:cxn>
              <a:cxn ang="0">
                <a:pos x="85" y="639"/>
              </a:cxn>
              <a:cxn ang="0">
                <a:pos x="313" y="639"/>
              </a:cxn>
              <a:cxn ang="0">
                <a:pos x="313" y="794"/>
              </a:cxn>
              <a:cxn ang="0">
                <a:pos x="398" y="794"/>
              </a:cxn>
              <a:cxn ang="0">
                <a:pos x="398" y="524"/>
              </a:cxn>
            </a:cxnLst>
            <a:rect l="0" t="0" r="r" b="b"/>
            <a:pathLst>
              <a:path w="1931" h="794">
                <a:moveTo>
                  <a:pt x="398" y="524"/>
                </a:moveTo>
                <a:lnTo>
                  <a:pt x="625" y="524"/>
                </a:lnTo>
                <a:lnTo>
                  <a:pt x="625" y="794"/>
                </a:lnTo>
                <a:lnTo>
                  <a:pt x="711" y="794"/>
                </a:lnTo>
                <a:lnTo>
                  <a:pt x="711" y="397"/>
                </a:lnTo>
                <a:lnTo>
                  <a:pt x="938" y="397"/>
                </a:lnTo>
                <a:lnTo>
                  <a:pt x="938" y="794"/>
                </a:lnTo>
                <a:lnTo>
                  <a:pt x="1024" y="794"/>
                </a:lnTo>
                <a:lnTo>
                  <a:pt x="1024" y="314"/>
                </a:lnTo>
                <a:lnTo>
                  <a:pt x="1251" y="314"/>
                </a:lnTo>
                <a:lnTo>
                  <a:pt x="1251" y="794"/>
                </a:lnTo>
                <a:lnTo>
                  <a:pt x="1336" y="794"/>
                </a:lnTo>
                <a:lnTo>
                  <a:pt x="1336" y="201"/>
                </a:lnTo>
                <a:lnTo>
                  <a:pt x="1564" y="201"/>
                </a:lnTo>
                <a:lnTo>
                  <a:pt x="1564" y="794"/>
                </a:lnTo>
                <a:lnTo>
                  <a:pt x="1649" y="794"/>
                </a:lnTo>
                <a:lnTo>
                  <a:pt x="1649" y="71"/>
                </a:lnTo>
                <a:lnTo>
                  <a:pt x="1877" y="71"/>
                </a:lnTo>
                <a:lnTo>
                  <a:pt x="1877" y="794"/>
                </a:lnTo>
                <a:lnTo>
                  <a:pt x="1931" y="794"/>
                </a:lnTo>
                <a:lnTo>
                  <a:pt x="1931" y="0"/>
                </a:lnTo>
                <a:lnTo>
                  <a:pt x="0" y="0"/>
                </a:lnTo>
                <a:lnTo>
                  <a:pt x="0" y="794"/>
                </a:lnTo>
                <a:lnTo>
                  <a:pt x="85" y="794"/>
                </a:lnTo>
                <a:lnTo>
                  <a:pt x="85" y="639"/>
                </a:lnTo>
                <a:lnTo>
                  <a:pt x="313" y="639"/>
                </a:lnTo>
                <a:lnTo>
                  <a:pt x="313" y="794"/>
                </a:lnTo>
                <a:lnTo>
                  <a:pt x="398" y="794"/>
                </a:lnTo>
                <a:lnTo>
                  <a:pt x="398" y="524"/>
                </a:lnTo>
                <a:close/>
              </a:path>
            </a:pathLst>
          </a:custGeom>
          <a:solidFill>
            <a:srgbClr val="CCCCCC"/>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3" name="Rectangle 109"/>
          <p:cNvSpPr>
            <a:spLocks noChangeArrowheads="1"/>
          </p:cNvSpPr>
          <p:nvPr/>
        </p:nvSpPr>
        <p:spPr bwMode="auto">
          <a:xfrm>
            <a:off x="8650288" y="4087812"/>
            <a:ext cx="147637" cy="630237"/>
          </a:xfrm>
          <a:prstGeom prst="rect">
            <a:avLst/>
          </a:prstGeom>
          <a:solidFill>
            <a:srgbClr val="CCCCCC"/>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4" name="Rectangle 110"/>
          <p:cNvSpPr>
            <a:spLocks noChangeArrowheads="1"/>
          </p:cNvSpPr>
          <p:nvPr/>
        </p:nvSpPr>
        <p:spPr bwMode="auto">
          <a:xfrm>
            <a:off x="312738" y="4087812"/>
            <a:ext cx="114300" cy="630237"/>
          </a:xfrm>
          <a:prstGeom prst="rect">
            <a:avLst/>
          </a:prstGeom>
          <a:solidFill>
            <a:srgbClr val="CCCCCC"/>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5" name="Freeform 111"/>
          <p:cNvSpPr>
            <a:spLocks/>
          </p:cNvSpPr>
          <p:nvPr/>
        </p:nvSpPr>
        <p:spPr bwMode="auto">
          <a:xfrm>
            <a:off x="636588" y="4087812"/>
            <a:ext cx="1797050" cy="630237"/>
          </a:xfrm>
          <a:custGeom>
            <a:avLst/>
            <a:gdLst/>
            <a:ahLst/>
            <a:cxnLst>
              <a:cxn ang="0">
                <a:pos x="85" y="639"/>
              </a:cxn>
              <a:cxn ang="0">
                <a:pos x="313" y="639"/>
              </a:cxn>
              <a:cxn ang="0">
                <a:pos x="313" y="794"/>
              </a:cxn>
              <a:cxn ang="0">
                <a:pos x="398" y="794"/>
              </a:cxn>
              <a:cxn ang="0">
                <a:pos x="398" y="524"/>
              </a:cxn>
              <a:cxn ang="0">
                <a:pos x="625" y="524"/>
              </a:cxn>
              <a:cxn ang="0">
                <a:pos x="625" y="794"/>
              </a:cxn>
              <a:cxn ang="0">
                <a:pos x="711" y="794"/>
              </a:cxn>
              <a:cxn ang="0">
                <a:pos x="711" y="397"/>
              </a:cxn>
              <a:cxn ang="0">
                <a:pos x="938" y="397"/>
              </a:cxn>
              <a:cxn ang="0">
                <a:pos x="938" y="794"/>
              </a:cxn>
              <a:cxn ang="0">
                <a:pos x="1024" y="794"/>
              </a:cxn>
              <a:cxn ang="0">
                <a:pos x="1024" y="314"/>
              </a:cxn>
              <a:cxn ang="0">
                <a:pos x="1251" y="314"/>
              </a:cxn>
              <a:cxn ang="0">
                <a:pos x="1251" y="794"/>
              </a:cxn>
              <a:cxn ang="0">
                <a:pos x="1336" y="794"/>
              </a:cxn>
              <a:cxn ang="0">
                <a:pos x="1336" y="201"/>
              </a:cxn>
              <a:cxn ang="0">
                <a:pos x="1564" y="201"/>
              </a:cxn>
              <a:cxn ang="0">
                <a:pos x="1564" y="794"/>
              </a:cxn>
              <a:cxn ang="0">
                <a:pos x="1649" y="794"/>
              </a:cxn>
              <a:cxn ang="0">
                <a:pos x="1649" y="71"/>
              </a:cxn>
              <a:cxn ang="0">
                <a:pos x="1877" y="71"/>
              </a:cxn>
              <a:cxn ang="0">
                <a:pos x="1877" y="794"/>
              </a:cxn>
              <a:cxn ang="0">
                <a:pos x="1946" y="794"/>
              </a:cxn>
              <a:cxn ang="0">
                <a:pos x="1946" y="0"/>
              </a:cxn>
              <a:cxn ang="0">
                <a:pos x="0" y="0"/>
              </a:cxn>
              <a:cxn ang="0">
                <a:pos x="0" y="794"/>
              </a:cxn>
              <a:cxn ang="0">
                <a:pos x="85" y="794"/>
              </a:cxn>
              <a:cxn ang="0">
                <a:pos x="85" y="639"/>
              </a:cxn>
            </a:cxnLst>
            <a:rect l="0" t="0" r="r" b="b"/>
            <a:pathLst>
              <a:path w="1946" h="794">
                <a:moveTo>
                  <a:pt x="85" y="639"/>
                </a:moveTo>
                <a:lnTo>
                  <a:pt x="313" y="639"/>
                </a:lnTo>
                <a:lnTo>
                  <a:pt x="313" y="794"/>
                </a:lnTo>
                <a:lnTo>
                  <a:pt x="398" y="794"/>
                </a:lnTo>
                <a:lnTo>
                  <a:pt x="398" y="524"/>
                </a:lnTo>
                <a:lnTo>
                  <a:pt x="625" y="524"/>
                </a:lnTo>
                <a:lnTo>
                  <a:pt x="625" y="794"/>
                </a:lnTo>
                <a:lnTo>
                  <a:pt x="711" y="794"/>
                </a:lnTo>
                <a:lnTo>
                  <a:pt x="711" y="397"/>
                </a:lnTo>
                <a:lnTo>
                  <a:pt x="938" y="397"/>
                </a:lnTo>
                <a:lnTo>
                  <a:pt x="938" y="794"/>
                </a:lnTo>
                <a:lnTo>
                  <a:pt x="1024" y="794"/>
                </a:lnTo>
                <a:lnTo>
                  <a:pt x="1024" y="314"/>
                </a:lnTo>
                <a:lnTo>
                  <a:pt x="1251" y="314"/>
                </a:lnTo>
                <a:lnTo>
                  <a:pt x="1251" y="794"/>
                </a:lnTo>
                <a:lnTo>
                  <a:pt x="1336" y="794"/>
                </a:lnTo>
                <a:lnTo>
                  <a:pt x="1336" y="201"/>
                </a:lnTo>
                <a:lnTo>
                  <a:pt x="1564" y="201"/>
                </a:lnTo>
                <a:lnTo>
                  <a:pt x="1564" y="794"/>
                </a:lnTo>
                <a:lnTo>
                  <a:pt x="1649" y="794"/>
                </a:lnTo>
                <a:lnTo>
                  <a:pt x="1649" y="71"/>
                </a:lnTo>
                <a:lnTo>
                  <a:pt x="1877" y="71"/>
                </a:lnTo>
                <a:lnTo>
                  <a:pt x="1877" y="794"/>
                </a:lnTo>
                <a:lnTo>
                  <a:pt x="1946" y="794"/>
                </a:lnTo>
                <a:lnTo>
                  <a:pt x="1946" y="0"/>
                </a:lnTo>
                <a:lnTo>
                  <a:pt x="0" y="0"/>
                </a:lnTo>
                <a:lnTo>
                  <a:pt x="0" y="794"/>
                </a:lnTo>
                <a:lnTo>
                  <a:pt x="85" y="794"/>
                </a:lnTo>
                <a:lnTo>
                  <a:pt x="85" y="639"/>
                </a:lnTo>
                <a:close/>
              </a:path>
            </a:pathLst>
          </a:custGeom>
          <a:solidFill>
            <a:srgbClr val="CCCCCC"/>
          </a:solidFill>
          <a:ln w="9525" cap="flat" cmpd="sng">
            <a:noFill/>
            <a:prstDash val="solid"/>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6" name="Rectangle 152"/>
          <p:cNvSpPr>
            <a:spLocks noChangeArrowheads="1"/>
          </p:cNvSpPr>
          <p:nvPr/>
        </p:nvSpPr>
        <p:spPr bwMode="auto">
          <a:xfrm>
            <a:off x="2159000" y="4143375"/>
            <a:ext cx="211137" cy="574675"/>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7" name="Rectangle 159"/>
          <p:cNvSpPr>
            <a:spLocks noChangeArrowheads="1"/>
          </p:cNvSpPr>
          <p:nvPr/>
        </p:nvSpPr>
        <p:spPr bwMode="auto">
          <a:xfrm>
            <a:off x="1870075" y="4240212"/>
            <a:ext cx="212725" cy="477837"/>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8" name="Rectangle 166"/>
          <p:cNvSpPr>
            <a:spLocks noChangeArrowheads="1"/>
          </p:cNvSpPr>
          <p:nvPr/>
        </p:nvSpPr>
        <p:spPr bwMode="auto">
          <a:xfrm>
            <a:off x="1581150" y="4337050"/>
            <a:ext cx="211137" cy="38100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9" name="Rectangle 178"/>
          <p:cNvSpPr>
            <a:spLocks noChangeArrowheads="1"/>
          </p:cNvSpPr>
          <p:nvPr/>
        </p:nvSpPr>
        <p:spPr bwMode="auto">
          <a:xfrm>
            <a:off x="1293813" y="4392612"/>
            <a:ext cx="217487" cy="311150"/>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0" name="Rectangle 186"/>
          <p:cNvSpPr>
            <a:spLocks noChangeArrowheads="1"/>
          </p:cNvSpPr>
          <p:nvPr/>
        </p:nvSpPr>
        <p:spPr bwMode="auto">
          <a:xfrm>
            <a:off x="1003300" y="4495800"/>
            <a:ext cx="211137" cy="20796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1" name="Rectangle 187"/>
          <p:cNvSpPr>
            <a:spLocks noChangeArrowheads="1"/>
          </p:cNvSpPr>
          <p:nvPr/>
        </p:nvSpPr>
        <p:spPr bwMode="auto">
          <a:xfrm>
            <a:off x="711200" y="4592637"/>
            <a:ext cx="215900" cy="1254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lgn="ctr">
            <a:noFill/>
            <a:miter lim="800000"/>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2" name="Line 336"/>
          <p:cNvSpPr>
            <a:spLocks noChangeShapeType="1"/>
          </p:cNvSpPr>
          <p:nvPr/>
        </p:nvSpPr>
        <p:spPr bwMode="auto">
          <a:xfrm flipH="1">
            <a:off x="312738" y="4087812"/>
            <a:ext cx="8485187"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3" name="Line 337"/>
          <p:cNvSpPr>
            <a:spLocks noChangeShapeType="1"/>
          </p:cNvSpPr>
          <p:nvPr/>
        </p:nvSpPr>
        <p:spPr bwMode="auto">
          <a:xfrm>
            <a:off x="312738" y="4718050"/>
            <a:ext cx="8485187" cy="0"/>
          </a:xfrm>
          <a:prstGeom prst="line">
            <a:avLst/>
          </a:prstGeom>
          <a:noFill/>
          <a:ln w="3810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4" name="Rectangle 572"/>
          <p:cNvSpPr>
            <a:spLocks noChangeArrowheads="1"/>
          </p:cNvSpPr>
          <p:nvPr/>
        </p:nvSpPr>
        <p:spPr bwMode="auto">
          <a:xfrm>
            <a:off x="457200" y="3810000"/>
            <a:ext cx="3110082" cy="276999"/>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Cumulative (Differential) Backup</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35" name="Rectangle 651"/>
          <p:cNvSpPr>
            <a:spLocks noChangeArrowheads="1"/>
          </p:cNvSpPr>
          <p:nvPr/>
        </p:nvSpPr>
        <p:spPr bwMode="auto">
          <a:xfrm>
            <a:off x="381000" y="4770438"/>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36" name="Rectangle 652"/>
          <p:cNvSpPr>
            <a:spLocks noChangeArrowheads="1"/>
          </p:cNvSpPr>
          <p:nvPr/>
        </p:nvSpPr>
        <p:spPr bwMode="auto">
          <a:xfrm>
            <a:off x="2438400" y="4770438"/>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37" name="Rectangle 653"/>
          <p:cNvSpPr>
            <a:spLocks noChangeArrowheads="1"/>
          </p:cNvSpPr>
          <p:nvPr/>
        </p:nvSpPr>
        <p:spPr bwMode="auto">
          <a:xfrm>
            <a:off x="4473575" y="4770438"/>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38" name="Rectangle 654"/>
          <p:cNvSpPr>
            <a:spLocks noChangeArrowheads="1"/>
          </p:cNvSpPr>
          <p:nvPr/>
        </p:nvSpPr>
        <p:spPr bwMode="auto">
          <a:xfrm>
            <a:off x="6494463" y="4770438"/>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39" name="Rectangle 655"/>
          <p:cNvSpPr>
            <a:spLocks noChangeArrowheads="1"/>
          </p:cNvSpPr>
          <p:nvPr/>
        </p:nvSpPr>
        <p:spPr bwMode="auto">
          <a:xfrm>
            <a:off x="8483600" y="4770438"/>
            <a:ext cx="15549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Su</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0" name="Rectangle 656"/>
          <p:cNvSpPr>
            <a:spLocks noChangeArrowheads="1"/>
          </p:cNvSpPr>
          <p:nvPr/>
        </p:nvSpPr>
        <p:spPr bwMode="auto">
          <a:xfrm>
            <a:off x="762000" y="4770438"/>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1" name="Rectangle 657"/>
          <p:cNvSpPr>
            <a:spLocks noChangeArrowheads="1"/>
          </p:cNvSpPr>
          <p:nvPr/>
        </p:nvSpPr>
        <p:spPr bwMode="auto">
          <a:xfrm>
            <a:off x="1066800" y="4770438"/>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2" name="Rectangle 658"/>
          <p:cNvSpPr>
            <a:spLocks noChangeArrowheads="1"/>
          </p:cNvSpPr>
          <p:nvPr/>
        </p:nvSpPr>
        <p:spPr bwMode="auto">
          <a:xfrm>
            <a:off x="1600200" y="47683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3" name="Rectangle 659"/>
          <p:cNvSpPr>
            <a:spLocks noChangeArrowheads="1"/>
          </p:cNvSpPr>
          <p:nvPr/>
        </p:nvSpPr>
        <p:spPr bwMode="auto">
          <a:xfrm>
            <a:off x="1295400" y="4770438"/>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4" name="Rectangle 660"/>
          <p:cNvSpPr>
            <a:spLocks noChangeArrowheads="1"/>
          </p:cNvSpPr>
          <p:nvPr/>
        </p:nvSpPr>
        <p:spPr bwMode="auto">
          <a:xfrm>
            <a:off x="1905000" y="4770438"/>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5" name="Rectangle 661"/>
          <p:cNvSpPr>
            <a:spLocks noChangeArrowheads="1"/>
          </p:cNvSpPr>
          <p:nvPr/>
        </p:nvSpPr>
        <p:spPr bwMode="auto">
          <a:xfrm>
            <a:off x="2209800" y="4770438"/>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6" name="Rectangle 662"/>
          <p:cNvSpPr>
            <a:spLocks noChangeArrowheads="1"/>
          </p:cNvSpPr>
          <p:nvPr/>
        </p:nvSpPr>
        <p:spPr bwMode="auto">
          <a:xfrm>
            <a:off x="2743200" y="4770438"/>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7" name="Rectangle 663"/>
          <p:cNvSpPr>
            <a:spLocks noChangeArrowheads="1"/>
          </p:cNvSpPr>
          <p:nvPr/>
        </p:nvSpPr>
        <p:spPr bwMode="auto">
          <a:xfrm>
            <a:off x="3048000" y="4770438"/>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8" name="Rectangle 664"/>
          <p:cNvSpPr>
            <a:spLocks noChangeArrowheads="1"/>
          </p:cNvSpPr>
          <p:nvPr/>
        </p:nvSpPr>
        <p:spPr bwMode="auto">
          <a:xfrm>
            <a:off x="3581400" y="47683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49" name="Rectangle 665"/>
          <p:cNvSpPr>
            <a:spLocks noChangeArrowheads="1"/>
          </p:cNvSpPr>
          <p:nvPr/>
        </p:nvSpPr>
        <p:spPr bwMode="auto">
          <a:xfrm>
            <a:off x="3352800" y="4770438"/>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0" name="Rectangle 666"/>
          <p:cNvSpPr>
            <a:spLocks noChangeArrowheads="1"/>
          </p:cNvSpPr>
          <p:nvPr/>
        </p:nvSpPr>
        <p:spPr bwMode="auto">
          <a:xfrm>
            <a:off x="3963988" y="4770438"/>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1" name="Rectangle 667"/>
          <p:cNvSpPr>
            <a:spLocks noChangeArrowheads="1"/>
          </p:cNvSpPr>
          <p:nvPr/>
        </p:nvSpPr>
        <p:spPr bwMode="auto">
          <a:xfrm>
            <a:off x="4251325" y="4770438"/>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2" name="Rectangle 668"/>
          <p:cNvSpPr>
            <a:spLocks noChangeArrowheads="1"/>
          </p:cNvSpPr>
          <p:nvPr/>
        </p:nvSpPr>
        <p:spPr bwMode="auto">
          <a:xfrm>
            <a:off x="4808538" y="4770438"/>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3" name="Rectangle 669"/>
          <p:cNvSpPr>
            <a:spLocks noChangeArrowheads="1"/>
          </p:cNvSpPr>
          <p:nvPr/>
        </p:nvSpPr>
        <p:spPr bwMode="auto">
          <a:xfrm>
            <a:off x="5078413" y="4770438"/>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4" name="Rectangle 670"/>
          <p:cNvSpPr>
            <a:spLocks noChangeArrowheads="1"/>
          </p:cNvSpPr>
          <p:nvPr/>
        </p:nvSpPr>
        <p:spPr bwMode="auto">
          <a:xfrm>
            <a:off x="5638800" y="47683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5" name="Rectangle 671"/>
          <p:cNvSpPr>
            <a:spLocks noChangeArrowheads="1"/>
          </p:cNvSpPr>
          <p:nvPr/>
        </p:nvSpPr>
        <p:spPr bwMode="auto">
          <a:xfrm>
            <a:off x="5334000" y="4770438"/>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6" name="Rectangle 672"/>
          <p:cNvSpPr>
            <a:spLocks noChangeArrowheads="1"/>
          </p:cNvSpPr>
          <p:nvPr/>
        </p:nvSpPr>
        <p:spPr bwMode="auto">
          <a:xfrm>
            <a:off x="5973763" y="4770438"/>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7" name="Rectangle 673"/>
          <p:cNvSpPr>
            <a:spLocks noChangeArrowheads="1"/>
          </p:cNvSpPr>
          <p:nvPr/>
        </p:nvSpPr>
        <p:spPr bwMode="auto">
          <a:xfrm>
            <a:off x="6262688" y="4770438"/>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8" name="Rectangle 674"/>
          <p:cNvSpPr>
            <a:spLocks noChangeArrowheads="1"/>
          </p:cNvSpPr>
          <p:nvPr/>
        </p:nvSpPr>
        <p:spPr bwMode="auto">
          <a:xfrm>
            <a:off x="6808788" y="4770438"/>
            <a:ext cx="13465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9" name="Rectangle 675"/>
          <p:cNvSpPr>
            <a:spLocks noChangeArrowheads="1"/>
          </p:cNvSpPr>
          <p:nvPr/>
        </p:nvSpPr>
        <p:spPr bwMode="auto">
          <a:xfrm>
            <a:off x="7086600" y="4770438"/>
            <a:ext cx="76944"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60" name="Rectangle 676"/>
          <p:cNvSpPr>
            <a:spLocks noChangeArrowheads="1"/>
          </p:cNvSpPr>
          <p:nvPr/>
        </p:nvSpPr>
        <p:spPr bwMode="auto">
          <a:xfrm>
            <a:off x="7620000" y="4768334"/>
            <a:ext cx="160300"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Th</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61" name="Rectangle 677"/>
          <p:cNvSpPr>
            <a:spLocks noChangeArrowheads="1"/>
          </p:cNvSpPr>
          <p:nvPr/>
        </p:nvSpPr>
        <p:spPr bwMode="auto">
          <a:xfrm>
            <a:off x="7315200" y="4770438"/>
            <a:ext cx="13946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62" name="Rectangle 678"/>
          <p:cNvSpPr>
            <a:spLocks noChangeArrowheads="1"/>
          </p:cNvSpPr>
          <p:nvPr/>
        </p:nvSpPr>
        <p:spPr bwMode="auto">
          <a:xfrm>
            <a:off x="7970838" y="4770438"/>
            <a:ext cx="70532"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63" name="Rectangle 679"/>
          <p:cNvSpPr>
            <a:spLocks noChangeArrowheads="1"/>
          </p:cNvSpPr>
          <p:nvPr/>
        </p:nvSpPr>
        <p:spPr bwMode="auto">
          <a:xfrm>
            <a:off x="8261350" y="4770438"/>
            <a:ext cx="7213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65" name="Freeform 683"/>
          <p:cNvSpPr>
            <a:spLocks/>
          </p:cNvSpPr>
          <p:nvPr/>
        </p:nvSpPr>
        <p:spPr bwMode="auto">
          <a:xfrm>
            <a:off x="2932113" y="5181600"/>
            <a:ext cx="3052763" cy="754062"/>
          </a:xfrm>
          <a:custGeom>
            <a:avLst/>
            <a:gdLst/>
            <a:ahLst/>
            <a:cxnLst>
              <a:cxn ang="0">
                <a:pos x="1" y="168"/>
              </a:cxn>
              <a:cxn ang="0">
                <a:pos x="3" y="128"/>
              </a:cxn>
              <a:cxn ang="0">
                <a:pos x="23" y="65"/>
              </a:cxn>
              <a:cxn ang="0">
                <a:pos x="56" y="23"/>
              </a:cxn>
              <a:cxn ang="0">
                <a:pos x="104" y="2"/>
              </a:cxn>
              <a:cxn ang="0">
                <a:pos x="136" y="0"/>
              </a:cxn>
              <a:cxn ang="0">
                <a:pos x="4663" y="0"/>
              </a:cxn>
              <a:cxn ang="0">
                <a:pos x="4691" y="5"/>
              </a:cxn>
              <a:cxn ang="0">
                <a:pos x="4715" y="15"/>
              </a:cxn>
              <a:cxn ang="0">
                <a:pos x="4735" y="31"/>
              </a:cxn>
              <a:cxn ang="0">
                <a:pos x="4752" y="52"/>
              </a:cxn>
              <a:cxn ang="0">
                <a:pos x="4765" y="78"/>
              </a:cxn>
              <a:cxn ang="0">
                <a:pos x="4775" y="110"/>
              </a:cxn>
              <a:cxn ang="0">
                <a:pos x="4782" y="147"/>
              </a:cxn>
              <a:cxn ang="0">
                <a:pos x="4784" y="184"/>
              </a:cxn>
              <a:cxn ang="0">
                <a:pos x="4783" y="991"/>
              </a:cxn>
              <a:cxn ang="0">
                <a:pos x="4783" y="1009"/>
              </a:cxn>
              <a:cxn ang="0">
                <a:pos x="4780" y="1041"/>
              </a:cxn>
              <a:cxn ang="0">
                <a:pos x="4778" y="1051"/>
              </a:cxn>
              <a:cxn ang="0">
                <a:pos x="4769" y="1088"/>
              </a:cxn>
              <a:cxn ang="0">
                <a:pos x="4757" y="1118"/>
              </a:cxn>
              <a:cxn ang="0">
                <a:pos x="4740" y="1142"/>
              </a:cxn>
              <a:cxn ang="0">
                <a:pos x="4718" y="1160"/>
              </a:cxn>
              <a:cxn ang="0">
                <a:pos x="4693" y="1172"/>
              </a:cxn>
              <a:cxn ang="0">
                <a:pos x="4680" y="1175"/>
              </a:cxn>
              <a:cxn ang="0">
                <a:pos x="4656" y="1178"/>
              </a:cxn>
              <a:cxn ang="0">
                <a:pos x="136" y="1179"/>
              </a:cxn>
              <a:cxn ang="0">
                <a:pos x="102" y="1175"/>
              </a:cxn>
              <a:cxn ang="0">
                <a:pos x="75" y="1167"/>
              </a:cxn>
              <a:cxn ang="0">
                <a:pos x="51" y="1151"/>
              </a:cxn>
              <a:cxn ang="0">
                <a:pos x="33" y="1131"/>
              </a:cxn>
              <a:cxn ang="0">
                <a:pos x="18" y="1103"/>
              </a:cxn>
              <a:cxn ang="0">
                <a:pos x="8" y="1071"/>
              </a:cxn>
              <a:cxn ang="0">
                <a:pos x="1" y="1031"/>
              </a:cxn>
              <a:cxn ang="0">
                <a:pos x="0" y="986"/>
              </a:cxn>
              <a:cxn ang="0">
                <a:pos x="0" y="178"/>
              </a:cxn>
            </a:cxnLst>
            <a:rect l="0" t="0" r="r" b="b"/>
            <a:pathLst>
              <a:path w="4784" h="1179">
                <a:moveTo>
                  <a:pt x="0" y="177"/>
                </a:moveTo>
                <a:lnTo>
                  <a:pt x="1" y="168"/>
                </a:lnTo>
                <a:lnTo>
                  <a:pt x="1" y="147"/>
                </a:lnTo>
                <a:lnTo>
                  <a:pt x="3" y="128"/>
                </a:lnTo>
                <a:lnTo>
                  <a:pt x="12" y="94"/>
                </a:lnTo>
                <a:lnTo>
                  <a:pt x="23" y="65"/>
                </a:lnTo>
                <a:lnTo>
                  <a:pt x="38" y="42"/>
                </a:lnTo>
                <a:lnTo>
                  <a:pt x="56" y="23"/>
                </a:lnTo>
                <a:lnTo>
                  <a:pt x="79" y="10"/>
                </a:lnTo>
                <a:lnTo>
                  <a:pt x="104" y="2"/>
                </a:lnTo>
                <a:lnTo>
                  <a:pt x="119" y="0"/>
                </a:lnTo>
                <a:lnTo>
                  <a:pt x="136" y="0"/>
                </a:lnTo>
                <a:lnTo>
                  <a:pt x="4648" y="0"/>
                </a:lnTo>
                <a:lnTo>
                  <a:pt x="4663" y="0"/>
                </a:lnTo>
                <a:lnTo>
                  <a:pt x="4677" y="2"/>
                </a:lnTo>
                <a:lnTo>
                  <a:pt x="4691" y="5"/>
                </a:lnTo>
                <a:lnTo>
                  <a:pt x="4704" y="10"/>
                </a:lnTo>
                <a:lnTo>
                  <a:pt x="4715" y="15"/>
                </a:lnTo>
                <a:lnTo>
                  <a:pt x="4725" y="23"/>
                </a:lnTo>
                <a:lnTo>
                  <a:pt x="4735" y="31"/>
                </a:lnTo>
                <a:lnTo>
                  <a:pt x="4745" y="42"/>
                </a:lnTo>
                <a:lnTo>
                  <a:pt x="4752" y="52"/>
                </a:lnTo>
                <a:lnTo>
                  <a:pt x="4759" y="65"/>
                </a:lnTo>
                <a:lnTo>
                  <a:pt x="4765" y="78"/>
                </a:lnTo>
                <a:lnTo>
                  <a:pt x="4771" y="94"/>
                </a:lnTo>
                <a:lnTo>
                  <a:pt x="4775" y="110"/>
                </a:lnTo>
                <a:lnTo>
                  <a:pt x="4780" y="128"/>
                </a:lnTo>
                <a:lnTo>
                  <a:pt x="4782" y="147"/>
                </a:lnTo>
                <a:lnTo>
                  <a:pt x="4784" y="168"/>
                </a:lnTo>
                <a:lnTo>
                  <a:pt x="4784" y="184"/>
                </a:lnTo>
                <a:lnTo>
                  <a:pt x="4784" y="986"/>
                </a:lnTo>
                <a:lnTo>
                  <a:pt x="4783" y="991"/>
                </a:lnTo>
                <a:lnTo>
                  <a:pt x="4783" y="997"/>
                </a:lnTo>
                <a:lnTo>
                  <a:pt x="4783" y="1009"/>
                </a:lnTo>
                <a:lnTo>
                  <a:pt x="4782" y="1031"/>
                </a:lnTo>
                <a:lnTo>
                  <a:pt x="4780" y="1041"/>
                </a:lnTo>
                <a:lnTo>
                  <a:pt x="4778" y="1045"/>
                </a:lnTo>
                <a:lnTo>
                  <a:pt x="4778" y="1051"/>
                </a:lnTo>
                <a:lnTo>
                  <a:pt x="4775" y="1071"/>
                </a:lnTo>
                <a:lnTo>
                  <a:pt x="4769" y="1088"/>
                </a:lnTo>
                <a:lnTo>
                  <a:pt x="4764" y="1103"/>
                </a:lnTo>
                <a:lnTo>
                  <a:pt x="4757" y="1118"/>
                </a:lnTo>
                <a:lnTo>
                  <a:pt x="4749" y="1131"/>
                </a:lnTo>
                <a:lnTo>
                  <a:pt x="4740" y="1142"/>
                </a:lnTo>
                <a:lnTo>
                  <a:pt x="4730" y="1151"/>
                </a:lnTo>
                <a:lnTo>
                  <a:pt x="4718" y="1160"/>
                </a:lnTo>
                <a:lnTo>
                  <a:pt x="4707" y="1167"/>
                </a:lnTo>
                <a:lnTo>
                  <a:pt x="4693" y="1172"/>
                </a:lnTo>
                <a:lnTo>
                  <a:pt x="4686" y="1173"/>
                </a:lnTo>
                <a:lnTo>
                  <a:pt x="4680" y="1175"/>
                </a:lnTo>
                <a:lnTo>
                  <a:pt x="4664" y="1178"/>
                </a:lnTo>
                <a:lnTo>
                  <a:pt x="4656" y="1178"/>
                </a:lnTo>
                <a:lnTo>
                  <a:pt x="4648" y="1179"/>
                </a:lnTo>
                <a:lnTo>
                  <a:pt x="136" y="1179"/>
                </a:lnTo>
                <a:lnTo>
                  <a:pt x="118" y="1178"/>
                </a:lnTo>
                <a:lnTo>
                  <a:pt x="102" y="1175"/>
                </a:lnTo>
                <a:lnTo>
                  <a:pt x="87" y="1172"/>
                </a:lnTo>
                <a:lnTo>
                  <a:pt x="75" y="1167"/>
                </a:lnTo>
                <a:lnTo>
                  <a:pt x="62" y="1160"/>
                </a:lnTo>
                <a:lnTo>
                  <a:pt x="51" y="1151"/>
                </a:lnTo>
                <a:lnTo>
                  <a:pt x="42" y="1142"/>
                </a:lnTo>
                <a:lnTo>
                  <a:pt x="33" y="1131"/>
                </a:lnTo>
                <a:lnTo>
                  <a:pt x="25" y="1118"/>
                </a:lnTo>
                <a:lnTo>
                  <a:pt x="18" y="1103"/>
                </a:lnTo>
                <a:lnTo>
                  <a:pt x="12" y="1088"/>
                </a:lnTo>
                <a:lnTo>
                  <a:pt x="8" y="1071"/>
                </a:lnTo>
                <a:lnTo>
                  <a:pt x="3" y="1051"/>
                </a:lnTo>
                <a:lnTo>
                  <a:pt x="1" y="1031"/>
                </a:lnTo>
                <a:lnTo>
                  <a:pt x="0" y="1009"/>
                </a:lnTo>
                <a:lnTo>
                  <a:pt x="0" y="986"/>
                </a:lnTo>
                <a:lnTo>
                  <a:pt x="0" y="184"/>
                </a:lnTo>
                <a:lnTo>
                  <a:pt x="0" y="178"/>
                </a:lnTo>
                <a:lnTo>
                  <a:pt x="0" y="177"/>
                </a:lnTo>
              </a:path>
            </a:pathLst>
          </a:custGeom>
          <a:noFill/>
          <a:ln w="38100">
            <a:solidFill>
              <a:srgbClr val="666666"/>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6" name="Rectangle 692"/>
          <p:cNvSpPr>
            <a:spLocks noChangeArrowheads="1"/>
          </p:cNvSpPr>
          <p:nvPr/>
        </p:nvSpPr>
        <p:spPr bwMode="auto">
          <a:xfrm>
            <a:off x="3394553" y="5495925"/>
            <a:ext cx="2274982" cy="276999"/>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Amount of Data Backup</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67" name="Rectangle 727"/>
          <p:cNvSpPr>
            <a:spLocks noChangeArrowheads="1"/>
          </p:cNvSpPr>
          <p:nvPr/>
        </p:nvSpPr>
        <p:spPr bwMode="auto">
          <a:xfrm>
            <a:off x="3079751" y="5248275"/>
            <a:ext cx="209550" cy="620712"/>
          </a:xfrm>
          <a:prstGeom prst="rect">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 name="TextBox 2">
            <a:extLst>
              <a:ext uri="{FF2B5EF4-FFF2-40B4-BE49-F238E27FC236}">
                <a16:creationId xmlns:a16="http://schemas.microsoft.com/office/drawing/2014/main" id="{24E07790-7FCA-B30E-29F2-0768155B8A33}"/>
              </a:ext>
            </a:extLst>
          </p:cNvPr>
          <p:cNvSpPr txBox="1"/>
          <p:nvPr/>
        </p:nvSpPr>
        <p:spPr>
          <a:xfrm>
            <a:off x="3824817" y="678025"/>
            <a:ext cx="3652838" cy="276999"/>
          </a:xfrm>
          <a:prstGeom prst="rect">
            <a:avLst/>
          </a:prstGeom>
          <a:noFill/>
        </p:spPr>
        <p:txBody>
          <a:bodyPr wrap="square">
            <a:spAutoFit/>
          </a:bodyPr>
          <a:lstStyle/>
          <a:p>
            <a:r>
              <a:rPr lang="en-GB" sz="1200" b="1" i="0" u="none" strike="noStrike" baseline="0" dirty="0">
                <a:solidFill>
                  <a:srgbClr val="0000FF"/>
                </a:solidFill>
                <a:latin typeface="Book Antiqua" panose="02040602050305030304" pitchFamily="18" charset="0"/>
              </a:rPr>
              <a:t>Figure 10-1: </a:t>
            </a:r>
            <a:r>
              <a:rPr lang="en-GB" sz="1200" b="0" i="0" u="none" strike="noStrike" baseline="0" dirty="0">
                <a:solidFill>
                  <a:srgbClr val="0000FF"/>
                </a:solidFill>
                <a:latin typeface="Book Antiqua" panose="02040602050305030304" pitchFamily="18" charset="0"/>
              </a:rPr>
              <a:t>Backup granularity levels</a:t>
            </a:r>
            <a:endParaRPr lang="en-IN" sz="1200" dirty="0">
              <a:solidFill>
                <a:srgbClr val="0000FF"/>
              </a:solidFill>
              <a:latin typeface="Book Antiqua" panose="0204060205030503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FA2F8-8581-3E6C-027F-5D47F33E4A42}"/>
              </a:ext>
            </a:extLst>
          </p:cNvPr>
          <p:cNvSpPr>
            <a:spLocks noGrp="1"/>
          </p:cNvSpPr>
          <p:nvPr>
            <p:ph type="title"/>
          </p:nvPr>
        </p:nvSpPr>
        <p:spPr/>
        <p:txBody>
          <a:bodyPr/>
          <a:lstStyle/>
          <a:p>
            <a:r>
              <a:rPr lang="en-US" sz="2100" dirty="0">
                <a:solidFill>
                  <a:srgbClr val="C00000"/>
                </a:solidFill>
                <a:latin typeface="Book Antiqua" panose="02040602050305030304" pitchFamily="18" charset="0"/>
              </a:rPr>
              <a:t>Backup Granularity </a:t>
            </a:r>
            <a:endParaRPr lang="en-IN" sz="2100" dirty="0">
              <a:latin typeface="Book Antiqua" panose="02040602050305030304" pitchFamily="18" charset="0"/>
            </a:endParaRPr>
          </a:p>
        </p:txBody>
      </p:sp>
      <p:sp>
        <p:nvSpPr>
          <p:cNvPr id="3" name="Slide Number Placeholder 2">
            <a:extLst>
              <a:ext uri="{FF2B5EF4-FFF2-40B4-BE49-F238E27FC236}">
                <a16:creationId xmlns:a16="http://schemas.microsoft.com/office/drawing/2014/main" id="{796E6F17-EA77-D11A-DF0C-6B18848D57D9}"/>
              </a:ext>
            </a:extLst>
          </p:cNvPr>
          <p:cNvSpPr>
            <a:spLocks noGrp="1"/>
          </p:cNvSpPr>
          <p:nvPr>
            <p:ph type="sldNum" sz="quarter" idx="10"/>
          </p:nvPr>
        </p:nvSpPr>
        <p:spPr/>
        <p:txBody>
          <a:bodyPr/>
          <a:lstStyle/>
          <a:p>
            <a:pPr>
              <a:defRPr/>
            </a:pPr>
            <a:fld id="{2F0FE6C8-51A2-4AA8-BE8B-722D435E963D}" type="slidenum">
              <a:rPr lang="en-US" smtClean="0"/>
              <a:pPr>
                <a:defRPr/>
              </a:pPr>
              <a:t>9</a:t>
            </a:fld>
            <a:endParaRPr lang="en-US"/>
          </a:p>
        </p:txBody>
      </p:sp>
      <p:sp>
        <p:nvSpPr>
          <p:cNvPr id="4" name="Footer Placeholder 3">
            <a:extLst>
              <a:ext uri="{FF2B5EF4-FFF2-40B4-BE49-F238E27FC236}">
                <a16:creationId xmlns:a16="http://schemas.microsoft.com/office/drawing/2014/main" id="{5B61F3EB-3A62-3F4B-3D2D-FE1401393C57}"/>
              </a:ext>
            </a:extLst>
          </p:cNvPr>
          <p:cNvSpPr>
            <a:spLocks noGrp="1"/>
          </p:cNvSpPr>
          <p:nvPr>
            <p:ph type="ftr" sz="quarter" idx="11"/>
          </p:nvPr>
        </p:nvSpPr>
        <p:spPr/>
        <p:txBody>
          <a:bodyPr/>
          <a:lstStyle/>
          <a:p>
            <a:pPr>
              <a:defRPr/>
            </a:pPr>
            <a:r>
              <a:rPr lang="en-US"/>
              <a:t>Module #: Module Name</a:t>
            </a:r>
            <a:endParaRPr lang="en-US" dirty="0"/>
          </a:p>
        </p:txBody>
      </p:sp>
      <p:sp>
        <p:nvSpPr>
          <p:cNvPr id="6" name="TextBox 5">
            <a:extLst>
              <a:ext uri="{FF2B5EF4-FFF2-40B4-BE49-F238E27FC236}">
                <a16:creationId xmlns:a16="http://schemas.microsoft.com/office/drawing/2014/main" id="{08F2E228-4F0A-4B02-F7E7-8556490CC53F}"/>
              </a:ext>
            </a:extLst>
          </p:cNvPr>
          <p:cNvSpPr txBox="1"/>
          <p:nvPr/>
        </p:nvSpPr>
        <p:spPr>
          <a:xfrm>
            <a:off x="457200" y="685800"/>
            <a:ext cx="8305800" cy="4620304"/>
          </a:xfrm>
          <a:prstGeom prst="rect">
            <a:avLst/>
          </a:prstGeom>
          <a:noFill/>
        </p:spPr>
        <p:txBody>
          <a:bodyPr wrap="square">
            <a:spAutoFit/>
          </a:bodyPr>
          <a:lstStyle/>
          <a:p>
            <a:pPr algn="just">
              <a:lnSpc>
                <a:spcPct val="150000"/>
              </a:lnSpc>
            </a:pPr>
            <a:r>
              <a:rPr lang="en-GB" sz="1800" b="1" i="1" u="none" strike="noStrike" baseline="0" dirty="0">
                <a:solidFill>
                  <a:srgbClr val="0000FF"/>
                </a:solidFill>
                <a:latin typeface="Book Antiqua" panose="02040602050305030304" pitchFamily="18" charset="0"/>
              </a:rPr>
              <a:t>Full backup </a:t>
            </a:r>
            <a:r>
              <a:rPr lang="en-GB" sz="1800" b="0" i="0" u="none" strike="noStrike" baseline="0" dirty="0">
                <a:latin typeface="Book Antiqua" panose="02040602050305030304" pitchFamily="18" charset="0"/>
              </a:rPr>
              <a:t>is a backup of the complete data on the production volumes. </a:t>
            </a:r>
          </a:p>
          <a:p>
            <a:pPr marL="742950" lvl="1" indent="-285750" algn="just">
              <a:lnSpc>
                <a:spcPct val="150000"/>
              </a:lnSpc>
              <a:buFont typeface="Arial" panose="020B0604020202020204" pitchFamily="34" charset="0"/>
              <a:buChar char="•"/>
            </a:pPr>
            <a:r>
              <a:rPr lang="en-GB" b="0" i="0" u="none" strike="noStrike" baseline="0" dirty="0">
                <a:latin typeface="Book Antiqua" panose="02040602050305030304" pitchFamily="18" charset="0"/>
              </a:rPr>
              <a:t>A</a:t>
            </a:r>
            <a:r>
              <a:rPr lang="en-GB" dirty="0">
                <a:latin typeface="Book Antiqua" panose="02040602050305030304" pitchFamily="18" charset="0"/>
              </a:rPr>
              <a:t> </a:t>
            </a:r>
            <a:r>
              <a:rPr lang="en-GB" b="0" i="0" u="none" strike="noStrike" baseline="0" dirty="0">
                <a:latin typeface="Book Antiqua" panose="02040602050305030304" pitchFamily="18" charset="0"/>
              </a:rPr>
              <a:t>full backup copy is created by copying the data in the production volumes to a backup storage device. </a:t>
            </a:r>
          </a:p>
          <a:p>
            <a:pPr marL="742950" lvl="1" indent="-285750" algn="just">
              <a:lnSpc>
                <a:spcPct val="150000"/>
              </a:lnSpc>
              <a:buFont typeface="Arial" panose="020B0604020202020204" pitchFamily="34" charset="0"/>
              <a:buChar char="•"/>
            </a:pPr>
            <a:r>
              <a:rPr lang="en-GB" b="0" i="0" u="none" strike="noStrike" baseline="0" dirty="0">
                <a:latin typeface="Book Antiqua" panose="02040602050305030304" pitchFamily="18" charset="0"/>
              </a:rPr>
              <a:t>It provides a faster recovery but requires more storage space and also takes more time to back up. </a:t>
            </a:r>
          </a:p>
          <a:p>
            <a:pPr algn="just">
              <a:lnSpc>
                <a:spcPct val="150000"/>
              </a:lnSpc>
            </a:pPr>
            <a:r>
              <a:rPr lang="en-GB" b="1" i="1" dirty="0">
                <a:solidFill>
                  <a:srgbClr val="0000FF"/>
                </a:solidFill>
                <a:latin typeface="Book Antiqua" panose="02040602050305030304" pitchFamily="18" charset="0"/>
              </a:rPr>
              <a:t>Incremental backup </a:t>
            </a:r>
            <a:r>
              <a:rPr lang="en-GB" sz="1800" b="0" i="0" u="none" strike="noStrike" baseline="0" dirty="0">
                <a:latin typeface="Book Antiqua" panose="02040602050305030304" pitchFamily="18" charset="0"/>
              </a:rPr>
              <a:t>copies the data that has changed since the last full or incremental backup, whichever has occurred more recently. </a:t>
            </a:r>
          </a:p>
          <a:p>
            <a:pPr algn="just">
              <a:lnSpc>
                <a:spcPct val="150000"/>
              </a:lnSpc>
            </a:pPr>
            <a:r>
              <a:rPr lang="en-GB" sz="1800" b="0" i="0" u="none" strike="noStrike" baseline="0" dirty="0">
                <a:latin typeface="Book Antiqua" panose="02040602050305030304" pitchFamily="18" charset="0"/>
              </a:rPr>
              <a:t>This is much faster than a full backup </a:t>
            </a:r>
            <a:r>
              <a:rPr lang="en-GB" sz="1800" b="0" i="0" u="none" strike="noStrike" baseline="0" dirty="0">
                <a:solidFill>
                  <a:schemeClr val="accent6">
                    <a:lumMod val="75000"/>
                  </a:schemeClr>
                </a:solidFill>
                <a:latin typeface="Book Antiqua" panose="02040602050305030304" pitchFamily="18" charset="0"/>
              </a:rPr>
              <a:t>(because the volume of data backed up is restricted to the changed data only) </a:t>
            </a:r>
            <a:r>
              <a:rPr lang="en-GB" sz="1800" b="0" i="0" u="none" strike="noStrike" baseline="0" dirty="0">
                <a:latin typeface="Book Antiqua" panose="02040602050305030304" pitchFamily="18" charset="0"/>
              </a:rPr>
              <a:t>but takes longer to restore. </a:t>
            </a:r>
          </a:p>
          <a:p>
            <a:pPr algn="just">
              <a:lnSpc>
                <a:spcPct val="150000"/>
              </a:lnSpc>
            </a:pPr>
            <a:r>
              <a:rPr lang="en-GB" b="1" i="1" dirty="0">
                <a:solidFill>
                  <a:srgbClr val="0000FF"/>
                </a:solidFill>
                <a:latin typeface="Book Antiqua" panose="02040602050305030304" pitchFamily="18" charset="0"/>
              </a:rPr>
              <a:t>Cumulative backup </a:t>
            </a:r>
            <a:r>
              <a:rPr lang="en-GB" sz="1800" b="0" i="0" u="none" strike="noStrike" baseline="0" dirty="0">
                <a:latin typeface="Book Antiqua" panose="02040602050305030304" pitchFamily="18" charset="0"/>
              </a:rPr>
              <a:t>copies the data that has changed since the last full backup. This method takes longer than an incremental backup but is </a:t>
            </a:r>
            <a:r>
              <a:rPr lang="en-IN" sz="1800" b="0" i="0" u="none" strike="noStrike" baseline="0" dirty="0">
                <a:latin typeface="Book Antiqua" panose="02040602050305030304" pitchFamily="18" charset="0"/>
              </a:rPr>
              <a:t>faster to restore.</a:t>
            </a:r>
            <a:endParaRPr lang="en-IN" dirty="0">
              <a:latin typeface="Book Antiqua" panose="02040602050305030304" pitchFamily="18" charset="0"/>
            </a:endParaRPr>
          </a:p>
        </p:txBody>
      </p:sp>
    </p:spTree>
    <p:extLst>
      <p:ext uri="{BB962C8B-B14F-4D97-AF65-F5344CB8AC3E}">
        <p14:creationId xmlns:p14="http://schemas.microsoft.com/office/powerpoint/2010/main" val="1338091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37E6C-8F75-8204-11D1-5D8080818377}"/>
              </a:ext>
            </a:extLst>
          </p:cNvPr>
          <p:cNvSpPr>
            <a:spLocks noGrp="1"/>
          </p:cNvSpPr>
          <p:nvPr>
            <p:ph type="title"/>
          </p:nvPr>
        </p:nvSpPr>
        <p:spPr>
          <a:xfrm>
            <a:off x="266700" y="270933"/>
            <a:ext cx="8458200" cy="762000"/>
          </a:xfrm>
        </p:spPr>
        <p:txBody>
          <a:bodyPr/>
          <a:lstStyle/>
          <a:p>
            <a:r>
              <a:rPr lang="en-US" dirty="0">
                <a:solidFill>
                  <a:srgbClr val="C00000"/>
                </a:solidFill>
                <a:latin typeface="Book Antiqua" panose="02040602050305030304" pitchFamily="18" charset="0"/>
              </a:rPr>
              <a:t>Restoring from Incremental Backup</a:t>
            </a:r>
            <a:endParaRPr lang="en-IN" dirty="0"/>
          </a:p>
        </p:txBody>
      </p:sp>
      <p:sp>
        <p:nvSpPr>
          <p:cNvPr id="3" name="Slide Number Placeholder 2">
            <a:extLst>
              <a:ext uri="{FF2B5EF4-FFF2-40B4-BE49-F238E27FC236}">
                <a16:creationId xmlns:a16="http://schemas.microsoft.com/office/drawing/2014/main" id="{B993E8C8-D52A-0662-1163-7102E4C9FB04}"/>
              </a:ext>
            </a:extLst>
          </p:cNvPr>
          <p:cNvSpPr>
            <a:spLocks noGrp="1"/>
          </p:cNvSpPr>
          <p:nvPr>
            <p:ph type="sldNum" sz="quarter" idx="10"/>
          </p:nvPr>
        </p:nvSpPr>
        <p:spPr/>
        <p:txBody>
          <a:bodyPr/>
          <a:lstStyle/>
          <a:p>
            <a:pPr>
              <a:defRPr/>
            </a:pPr>
            <a:fld id="{2F0FE6C8-51A2-4AA8-BE8B-722D435E963D}" type="slidenum">
              <a:rPr lang="en-US" smtClean="0"/>
              <a:pPr>
                <a:defRPr/>
              </a:pPr>
              <a:t>10</a:t>
            </a:fld>
            <a:endParaRPr lang="en-US"/>
          </a:p>
        </p:txBody>
      </p:sp>
      <p:sp>
        <p:nvSpPr>
          <p:cNvPr id="4" name="Footer Placeholder 3">
            <a:extLst>
              <a:ext uri="{FF2B5EF4-FFF2-40B4-BE49-F238E27FC236}">
                <a16:creationId xmlns:a16="http://schemas.microsoft.com/office/drawing/2014/main" id="{48CC29A9-C195-9E55-9D35-5801989386EB}"/>
              </a:ext>
            </a:extLst>
          </p:cNvPr>
          <p:cNvSpPr>
            <a:spLocks noGrp="1"/>
          </p:cNvSpPr>
          <p:nvPr>
            <p:ph type="ftr" sz="quarter" idx="11"/>
          </p:nvPr>
        </p:nvSpPr>
        <p:spPr/>
        <p:txBody>
          <a:bodyPr/>
          <a:lstStyle/>
          <a:p>
            <a:pPr>
              <a:defRPr/>
            </a:pPr>
            <a:r>
              <a:rPr lang="en-US"/>
              <a:t>Module #: Module Name</a:t>
            </a:r>
            <a:endParaRPr lang="en-US" dirty="0"/>
          </a:p>
        </p:txBody>
      </p:sp>
      <p:sp>
        <p:nvSpPr>
          <p:cNvPr id="6" name="TextBox 5">
            <a:extLst>
              <a:ext uri="{FF2B5EF4-FFF2-40B4-BE49-F238E27FC236}">
                <a16:creationId xmlns:a16="http://schemas.microsoft.com/office/drawing/2014/main" id="{01F50846-AE84-2D59-AE18-8AAD55AEB4FF}"/>
              </a:ext>
            </a:extLst>
          </p:cNvPr>
          <p:cNvSpPr txBox="1"/>
          <p:nvPr/>
        </p:nvSpPr>
        <p:spPr>
          <a:xfrm>
            <a:off x="342900" y="1143000"/>
            <a:ext cx="8458200" cy="33733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800" b="0" i="0" u="none" strike="noStrike" baseline="0" dirty="0">
                <a:latin typeface="Palatino-Roman"/>
              </a:rPr>
              <a:t>Restore operations vary with the granularity of the backup. </a:t>
            </a:r>
          </a:p>
          <a:p>
            <a:pPr marL="285750" indent="-285750" algn="just">
              <a:lnSpc>
                <a:spcPct val="150000"/>
              </a:lnSpc>
              <a:buFont typeface="Arial" panose="020B0604020202020204" pitchFamily="34" charset="0"/>
              <a:buChar char="•"/>
            </a:pPr>
            <a:r>
              <a:rPr lang="en-GB" sz="1800" b="0" i="0" u="none" strike="noStrike" baseline="0" dirty="0">
                <a:latin typeface="Palatino-Roman"/>
              </a:rPr>
              <a:t>A full backup provides a single repository from which the data can be easily restored. </a:t>
            </a:r>
          </a:p>
          <a:p>
            <a:pPr marL="285750" indent="-285750" algn="just">
              <a:lnSpc>
                <a:spcPct val="150000"/>
              </a:lnSpc>
              <a:buFont typeface="Arial" panose="020B0604020202020204" pitchFamily="34" charset="0"/>
              <a:buChar char="•"/>
            </a:pPr>
            <a:r>
              <a:rPr lang="en-GB" sz="1800" b="0" i="0" u="none" strike="noStrike" baseline="0" dirty="0">
                <a:latin typeface="Palatino-Roman"/>
              </a:rPr>
              <a:t>The</a:t>
            </a:r>
            <a:r>
              <a:rPr lang="en-GB" dirty="0">
                <a:latin typeface="Palatino-Roman"/>
              </a:rPr>
              <a:t> </a:t>
            </a:r>
            <a:r>
              <a:rPr lang="en-GB" sz="1800" b="0" i="0" u="none" strike="noStrike" baseline="0" dirty="0">
                <a:latin typeface="Palatino-Roman"/>
              </a:rPr>
              <a:t>process of restoration from an incremental backup requires the last full backup and all the incremental backups available until the point of restoration. </a:t>
            </a:r>
          </a:p>
          <a:p>
            <a:pPr marL="285750" indent="-285750" algn="just">
              <a:lnSpc>
                <a:spcPct val="150000"/>
              </a:lnSpc>
              <a:buFont typeface="Arial" panose="020B0604020202020204" pitchFamily="34" charset="0"/>
              <a:buChar char="•"/>
            </a:pPr>
            <a:r>
              <a:rPr lang="en-GB" sz="1800" b="0" i="0" u="none" strike="noStrike" baseline="0" dirty="0">
                <a:latin typeface="Palatino-Roman"/>
              </a:rPr>
              <a:t>A restore from a cumulative backup requires the last full backup and the most recent </a:t>
            </a:r>
            <a:r>
              <a:rPr lang="en-IN" sz="1800" b="0" i="0" u="none" strike="noStrike" baseline="0" dirty="0">
                <a:latin typeface="Palatino-Roman"/>
              </a:rPr>
              <a:t>cumulative backup. </a:t>
            </a:r>
          </a:p>
          <a:p>
            <a:pPr marL="285750" indent="-285750" algn="just">
              <a:lnSpc>
                <a:spcPct val="150000"/>
              </a:lnSpc>
              <a:buFont typeface="Arial" panose="020B0604020202020204" pitchFamily="34" charset="0"/>
              <a:buChar char="•"/>
            </a:pPr>
            <a:r>
              <a:rPr lang="en-GB" dirty="0">
                <a:latin typeface="Palatino-Roman"/>
              </a:rPr>
              <a:t>Figure 10-2 shows an example of restoring data from incremental backup.</a:t>
            </a:r>
            <a:endParaRPr lang="en-IN" dirty="0">
              <a:latin typeface="Palatino-Roman"/>
            </a:endParaRPr>
          </a:p>
        </p:txBody>
      </p:sp>
    </p:spTree>
    <p:extLst>
      <p:ext uri="{BB962C8B-B14F-4D97-AF65-F5344CB8AC3E}">
        <p14:creationId xmlns:p14="http://schemas.microsoft.com/office/powerpoint/2010/main" val="572784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solidFill>
                  <a:srgbClr val="C00000"/>
                </a:solidFill>
                <a:latin typeface="Book Antiqua" panose="02040602050305030304" pitchFamily="18" charset="0"/>
              </a:rPr>
              <a:t>Restoring from Incremental Backup</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10: Backup and Archive</a:t>
            </a:r>
          </a:p>
        </p:txBody>
      </p:sp>
      <p:sp>
        <p:nvSpPr>
          <p:cNvPr id="6" name="AutoShape 17"/>
          <p:cNvSpPr>
            <a:spLocks noChangeArrowheads="1"/>
          </p:cNvSpPr>
          <p:nvPr/>
        </p:nvSpPr>
        <p:spPr bwMode="auto">
          <a:xfrm>
            <a:off x="5641975" y="3302000"/>
            <a:ext cx="1530350" cy="120650"/>
          </a:xfrm>
          <a:prstGeom prst="rightArrow">
            <a:avLst>
              <a:gd name="adj1" fmla="val 52630"/>
              <a:gd name="adj2" fmla="val 282870"/>
            </a:avLst>
          </a:prstGeom>
          <a:gradFill rotWithShape="1">
            <a:gsLst>
              <a:gs pos="0">
                <a:srgbClr val="33CCCC"/>
              </a:gs>
              <a:gs pos="100000">
                <a:srgbClr val="DC8300"/>
              </a:gs>
            </a:gsLst>
            <a:lin ang="0" scaled="1"/>
          </a:gradFill>
          <a:ln w="12700"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 name="Rectangle 18"/>
          <p:cNvSpPr>
            <a:spLocks noChangeArrowheads="1"/>
          </p:cNvSpPr>
          <p:nvPr/>
        </p:nvSpPr>
        <p:spPr bwMode="auto">
          <a:xfrm rot="5400000">
            <a:off x="5599113" y="3186113"/>
            <a:ext cx="239712" cy="171450"/>
          </a:xfrm>
          <a:prstGeom prst="rect">
            <a:avLst/>
          </a:prstGeom>
          <a:solidFill>
            <a:srgbClr val="33CCCC"/>
          </a:solidFill>
          <a:ln w="9525"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AutoShape 20"/>
          <p:cNvSpPr>
            <a:spLocks noChangeArrowheads="1"/>
          </p:cNvSpPr>
          <p:nvPr/>
        </p:nvSpPr>
        <p:spPr bwMode="auto">
          <a:xfrm>
            <a:off x="4092575" y="3444875"/>
            <a:ext cx="3079750" cy="120650"/>
          </a:xfrm>
          <a:prstGeom prst="rightArrow">
            <a:avLst>
              <a:gd name="adj1" fmla="val 52630"/>
              <a:gd name="adj2" fmla="val 278899"/>
            </a:avLst>
          </a:prstGeom>
          <a:gradFill rotWithShape="1">
            <a:gsLst>
              <a:gs pos="0">
                <a:srgbClr val="33CCCC"/>
              </a:gs>
              <a:gs pos="100000">
                <a:srgbClr val="DC8300"/>
              </a:gs>
            </a:gsLst>
            <a:lin ang="0" scaled="1"/>
          </a:gradFill>
          <a:ln w="12700"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Rectangle 21"/>
          <p:cNvSpPr>
            <a:spLocks noChangeArrowheads="1"/>
          </p:cNvSpPr>
          <p:nvPr/>
        </p:nvSpPr>
        <p:spPr bwMode="auto">
          <a:xfrm rot="5400000">
            <a:off x="3986213" y="3257550"/>
            <a:ext cx="384175" cy="171450"/>
          </a:xfrm>
          <a:prstGeom prst="rect">
            <a:avLst/>
          </a:prstGeom>
          <a:solidFill>
            <a:srgbClr val="33CCCC"/>
          </a:solidFill>
          <a:ln w="9525"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Rectangle 23"/>
          <p:cNvSpPr>
            <a:spLocks noChangeArrowheads="1"/>
          </p:cNvSpPr>
          <p:nvPr/>
        </p:nvSpPr>
        <p:spPr bwMode="auto">
          <a:xfrm rot="5400000">
            <a:off x="2376488" y="3325813"/>
            <a:ext cx="536575" cy="171450"/>
          </a:xfrm>
          <a:prstGeom prst="rect">
            <a:avLst/>
          </a:prstGeom>
          <a:solidFill>
            <a:srgbClr val="33CCCC"/>
          </a:solidFill>
          <a:ln w="9525"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AutoShape 24"/>
          <p:cNvSpPr>
            <a:spLocks noChangeArrowheads="1"/>
          </p:cNvSpPr>
          <p:nvPr/>
        </p:nvSpPr>
        <p:spPr bwMode="auto">
          <a:xfrm>
            <a:off x="2571750" y="3587750"/>
            <a:ext cx="4600575" cy="120650"/>
          </a:xfrm>
          <a:prstGeom prst="rightArrow">
            <a:avLst>
              <a:gd name="adj1" fmla="val 53120"/>
              <a:gd name="adj2" fmla="val 278925"/>
            </a:avLst>
          </a:prstGeom>
          <a:gradFill rotWithShape="1">
            <a:gsLst>
              <a:gs pos="0">
                <a:srgbClr val="33CCCC"/>
              </a:gs>
              <a:gs pos="100000">
                <a:srgbClr val="DC8300"/>
              </a:gs>
            </a:gsLst>
            <a:lin ang="0" scaled="1"/>
          </a:gradFill>
          <a:ln w="12700"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Line 28"/>
          <p:cNvSpPr>
            <a:spLocks noChangeShapeType="1"/>
          </p:cNvSpPr>
          <p:nvPr/>
        </p:nvSpPr>
        <p:spPr bwMode="auto">
          <a:xfrm flipV="1">
            <a:off x="1876425"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 name="AutoShape 29"/>
          <p:cNvSpPr>
            <a:spLocks noChangeArrowheads="1"/>
          </p:cNvSpPr>
          <p:nvPr/>
        </p:nvSpPr>
        <p:spPr bwMode="auto">
          <a:xfrm>
            <a:off x="2105025" y="2678113"/>
            <a:ext cx="1054100" cy="595313"/>
          </a:xfrm>
          <a:prstGeom prst="can">
            <a:avLst>
              <a:gd name="adj" fmla="val 42398"/>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Rectangle 30"/>
          <p:cNvSpPr>
            <a:spLocks noChangeArrowheads="1"/>
          </p:cNvSpPr>
          <p:nvPr/>
        </p:nvSpPr>
        <p:spPr bwMode="auto">
          <a:xfrm>
            <a:off x="2189509" y="2965660"/>
            <a:ext cx="895502"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Incremental</a:t>
            </a:r>
          </a:p>
        </p:txBody>
      </p:sp>
      <p:sp>
        <p:nvSpPr>
          <p:cNvPr id="18" name="AutoShape 31"/>
          <p:cNvSpPr>
            <a:spLocks noChangeArrowheads="1"/>
          </p:cNvSpPr>
          <p:nvPr/>
        </p:nvSpPr>
        <p:spPr bwMode="auto">
          <a:xfrm>
            <a:off x="221773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9" name="Rectangle 32"/>
          <p:cNvSpPr>
            <a:spLocks noChangeArrowheads="1"/>
          </p:cNvSpPr>
          <p:nvPr/>
        </p:nvSpPr>
        <p:spPr bwMode="auto">
          <a:xfrm>
            <a:off x="2222500" y="1117600"/>
            <a:ext cx="774251"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Tuesday</a:t>
            </a:r>
          </a:p>
        </p:txBody>
      </p:sp>
      <p:sp>
        <p:nvSpPr>
          <p:cNvPr id="20" name="Rectangle 33"/>
          <p:cNvSpPr>
            <a:spLocks noChangeArrowheads="1"/>
          </p:cNvSpPr>
          <p:nvPr/>
        </p:nvSpPr>
        <p:spPr bwMode="auto">
          <a:xfrm>
            <a:off x="2416175" y="2270125"/>
            <a:ext cx="440826"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File 4</a:t>
            </a:r>
          </a:p>
        </p:txBody>
      </p:sp>
      <p:sp>
        <p:nvSpPr>
          <p:cNvPr id="22" name="Line 35"/>
          <p:cNvSpPr>
            <a:spLocks noChangeShapeType="1"/>
          </p:cNvSpPr>
          <p:nvPr/>
        </p:nvSpPr>
        <p:spPr bwMode="auto">
          <a:xfrm flipV="1">
            <a:off x="3387725"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3" name="AutoShape 36"/>
          <p:cNvSpPr>
            <a:spLocks noChangeArrowheads="1"/>
          </p:cNvSpPr>
          <p:nvPr/>
        </p:nvSpPr>
        <p:spPr bwMode="auto">
          <a:xfrm>
            <a:off x="3651250" y="2805113"/>
            <a:ext cx="1054100" cy="468313"/>
          </a:xfrm>
          <a:prstGeom prst="can">
            <a:avLst>
              <a:gd name="adj" fmla="val 42398"/>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4" name="Rectangle 37"/>
          <p:cNvSpPr>
            <a:spLocks noChangeArrowheads="1"/>
          </p:cNvSpPr>
          <p:nvPr/>
        </p:nvSpPr>
        <p:spPr bwMode="auto">
          <a:xfrm>
            <a:off x="3758223" y="2965660"/>
            <a:ext cx="895502"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Incremental</a:t>
            </a:r>
          </a:p>
        </p:txBody>
      </p:sp>
      <p:sp>
        <p:nvSpPr>
          <p:cNvPr id="25" name="AutoShape 38"/>
          <p:cNvSpPr>
            <a:spLocks noChangeArrowheads="1"/>
          </p:cNvSpPr>
          <p:nvPr/>
        </p:nvSpPr>
        <p:spPr bwMode="auto">
          <a:xfrm>
            <a:off x="3763963"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Rectangle 39"/>
          <p:cNvSpPr>
            <a:spLocks noChangeArrowheads="1"/>
          </p:cNvSpPr>
          <p:nvPr/>
        </p:nvSpPr>
        <p:spPr bwMode="auto">
          <a:xfrm>
            <a:off x="3617913" y="1117600"/>
            <a:ext cx="1112933"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Wednesday</a:t>
            </a:r>
          </a:p>
        </p:txBody>
      </p:sp>
      <p:sp>
        <p:nvSpPr>
          <p:cNvPr id="27" name="Rectangle 40"/>
          <p:cNvSpPr>
            <a:spLocks noChangeArrowheads="1"/>
          </p:cNvSpPr>
          <p:nvPr/>
        </p:nvSpPr>
        <p:spPr bwMode="auto">
          <a:xfrm>
            <a:off x="3605213" y="2270125"/>
            <a:ext cx="1206164"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Updated File 3</a:t>
            </a:r>
          </a:p>
        </p:txBody>
      </p:sp>
      <p:sp>
        <p:nvSpPr>
          <p:cNvPr id="29" name="Line 42"/>
          <p:cNvSpPr>
            <a:spLocks noChangeShapeType="1"/>
          </p:cNvSpPr>
          <p:nvPr/>
        </p:nvSpPr>
        <p:spPr bwMode="auto">
          <a:xfrm flipV="1">
            <a:off x="4973638"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AutoShape 43"/>
          <p:cNvSpPr>
            <a:spLocks noChangeArrowheads="1"/>
          </p:cNvSpPr>
          <p:nvPr/>
        </p:nvSpPr>
        <p:spPr bwMode="auto">
          <a:xfrm>
            <a:off x="5202238" y="2562225"/>
            <a:ext cx="1054100" cy="711200"/>
          </a:xfrm>
          <a:prstGeom prst="can">
            <a:avLst>
              <a:gd name="adj" fmla="val 42398"/>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Rectangle 44"/>
          <p:cNvSpPr>
            <a:spLocks noChangeArrowheads="1"/>
          </p:cNvSpPr>
          <p:nvPr/>
        </p:nvSpPr>
        <p:spPr bwMode="auto">
          <a:xfrm>
            <a:off x="5293240" y="2965660"/>
            <a:ext cx="895502"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Incremental</a:t>
            </a:r>
          </a:p>
        </p:txBody>
      </p:sp>
      <p:sp>
        <p:nvSpPr>
          <p:cNvPr id="32" name="AutoShape 45"/>
          <p:cNvSpPr>
            <a:spLocks noChangeArrowheads="1"/>
          </p:cNvSpPr>
          <p:nvPr/>
        </p:nvSpPr>
        <p:spPr bwMode="auto">
          <a:xfrm>
            <a:off x="5314951"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Rectangle 46"/>
          <p:cNvSpPr>
            <a:spLocks noChangeArrowheads="1"/>
          </p:cNvSpPr>
          <p:nvPr/>
        </p:nvSpPr>
        <p:spPr bwMode="auto">
          <a:xfrm>
            <a:off x="5273676" y="1117600"/>
            <a:ext cx="873060"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Thursday</a:t>
            </a:r>
          </a:p>
        </p:txBody>
      </p:sp>
      <p:sp>
        <p:nvSpPr>
          <p:cNvPr id="34" name="Rectangle 47"/>
          <p:cNvSpPr>
            <a:spLocks noChangeArrowheads="1"/>
          </p:cNvSpPr>
          <p:nvPr/>
        </p:nvSpPr>
        <p:spPr bwMode="auto">
          <a:xfrm>
            <a:off x="5513388" y="2270125"/>
            <a:ext cx="440826"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File 5</a:t>
            </a:r>
          </a:p>
        </p:txBody>
      </p:sp>
      <p:sp>
        <p:nvSpPr>
          <p:cNvPr id="36" name="Line 6"/>
          <p:cNvSpPr>
            <a:spLocks noChangeShapeType="1"/>
          </p:cNvSpPr>
          <p:nvPr/>
        </p:nvSpPr>
        <p:spPr bwMode="auto">
          <a:xfrm flipV="1">
            <a:off x="6486525"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AutoShape 4"/>
          <p:cNvSpPr>
            <a:spLocks noChangeArrowheads="1"/>
          </p:cNvSpPr>
          <p:nvPr/>
        </p:nvSpPr>
        <p:spPr bwMode="auto">
          <a:xfrm>
            <a:off x="1038225" y="3714750"/>
            <a:ext cx="6134100" cy="304800"/>
          </a:xfrm>
          <a:prstGeom prst="rightArrow">
            <a:avLst>
              <a:gd name="adj1" fmla="val 65620"/>
              <a:gd name="adj2" fmla="val 112458"/>
            </a:avLst>
          </a:prstGeom>
          <a:gradFill rotWithShape="1">
            <a:gsLst>
              <a:gs pos="0">
                <a:srgbClr val="33CCCC"/>
              </a:gs>
              <a:gs pos="100000">
                <a:srgbClr val="DC8300"/>
              </a:gs>
            </a:gsLst>
            <a:lin ang="0" scaled="1"/>
          </a:gradFill>
          <a:ln w="12700"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8" name="Rectangle 5"/>
          <p:cNvSpPr>
            <a:spLocks noChangeArrowheads="1"/>
          </p:cNvSpPr>
          <p:nvPr/>
        </p:nvSpPr>
        <p:spPr bwMode="auto">
          <a:xfrm rot="5400000">
            <a:off x="795338" y="3554413"/>
            <a:ext cx="650875" cy="171450"/>
          </a:xfrm>
          <a:prstGeom prst="rect">
            <a:avLst/>
          </a:prstGeom>
          <a:solidFill>
            <a:srgbClr val="33CCCC"/>
          </a:solidFill>
          <a:ln w="9525"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9" name="AutoShape 7"/>
          <p:cNvSpPr>
            <a:spLocks noChangeArrowheads="1"/>
          </p:cNvSpPr>
          <p:nvPr/>
        </p:nvSpPr>
        <p:spPr bwMode="auto">
          <a:xfrm>
            <a:off x="7199313" y="3216275"/>
            <a:ext cx="1074738" cy="795338"/>
          </a:xfrm>
          <a:prstGeom prst="can">
            <a:avLst>
              <a:gd name="adj" fmla="val 31130"/>
            </a:avLst>
          </a:prstGeom>
          <a:gradFill rotWithShape="1">
            <a:gsLst>
              <a:gs pos="0">
                <a:srgbClr val="DC8300">
                  <a:gamma/>
                  <a:shade val="46275"/>
                  <a:invGamma/>
                </a:srgbClr>
              </a:gs>
              <a:gs pos="50000">
                <a:srgbClr val="DC8300"/>
              </a:gs>
              <a:gs pos="100000">
                <a:srgbClr val="DC8300">
                  <a:gamma/>
                  <a:shade val="46275"/>
                  <a:invGamma/>
                </a:srgbClr>
              </a:gs>
            </a:gsLst>
            <a:lin ang="0" scaled="1"/>
          </a:grad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0" name="Rectangle 8"/>
          <p:cNvSpPr>
            <a:spLocks noChangeArrowheads="1"/>
          </p:cNvSpPr>
          <p:nvPr/>
        </p:nvSpPr>
        <p:spPr bwMode="auto">
          <a:xfrm>
            <a:off x="6924675" y="2270125"/>
            <a:ext cx="1328890"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Files 1, 2, 3, 4, 5</a:t>
            </a:r>
          </a:p>
        </p:txBody>
      </p:sp>
      <p:sp>
        <p:nvSpPr>
          <p:cNvPr id="41" name="AutoShape 9"/>
          <p:cNvSpPr>
            <a:spLocks noChangeArrowheads="1"/>
          </p:cNvSpPr>
          <p:nvPr/>
        </p:nvSpPr>
        <p:spPr bwMode="auto">
          <a:xfrm>
            <a:off x="6858000" y="1466850"/>
            <a:ext cx="828675" cy="542925"/>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2" name="AutoShape 10"/>
          <p:cNvSpPr>
            <a:spLocks noChangeArrowheads="1"/>
          </p:cNvSpPr>
          <p:nvPr/>
        </p:nvSpPr>
        <p:spPr bwMode="auto">
          <a:xfrm>
            <a:off x="673893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AutoShape 11"/>
          <p:cNvSpPr>
            <a:spLocks noChangeArrowheads="1"/>
          </p:cNvSpPr>
          <p:nvPr/>
        </p:nvSpPr>
        <p:spPr bwMode="auto">
          <a:xfrm>
            <a:off x="6618288" y="1685925"/>
            <a:ext cx="828675" cy="542925"/>
          </a:xfrm>
          <a:prstGeom prst="flowChartDocument">
            <a:avLst/>
          </a:prstGeom>
          <a:solidFill>
            <a:srgbClr val="EAEAEA"/>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4" name="AutoShape 12"/>
          <p:cNvSpPr>
            <a:spLocks noChangeArrowheads="1"/>
          </p:cNvSpPr>
          <p:nvPr/>
        </p:nvSpPr>
        <p:spPr bwMode="auto">
          <a:xfrm>
            <a:off x="7981950" y="1466850"/>
            <a:ext cx="828675" cy="542925"/>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5" name="AutoShape 13"/>
          <p:cNvSpPr>
            <a:spLocks noChangeArrowheads="1"/>
          </p:cNvSpPr>
          <p:nvPr/>
        </p:nvSpPr>
        <p:spPr bwMode="auto">
          <a:xfrm>
            <a:off x="786288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6" name="AutoShape 14"/>
          <p:cNvSpPr>
            <a:spLocks noChangeArrowheads="1"/>
          </p:cNvSpPr>
          <p:nvPr/>
        </p:nvSpPr>
        <p:spPr bwMode="auto">
          <a:xfrm>
            <a:off x="7742238" y="1685925"/>
            <a:ext cx="828675" cy="542925"/>
          </a:xfrm>
          <a:prstGeom prst="flowChartDocument">
            <a:avLst/>
          </a:prstGeom>
          <a:solidFill>
            <a:srgbClr val="EAEAEA"/>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7" name="Rectangle 15"/>
          <p:cNvSpPr>
            <a:spLocks noChangeArrowheads="1"/>
          </p:cNvSpPr>
          <p:nvPr/>
        </p:nvSpPr>
        <p:spPr bwMode="auto">
          <a:xfrm>
            <a:off x="7312025" y="3603625"/>
            <a:ext cx="803425"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Calibri" pitchFamily="34" charset="0"/>
                <a:ea typeface="+mn-ea"/>
                <a:cs typeface="Calibri" pitchFamily="34" charset="0"/>
              </a:rPr>
              <a:t>Production</a:t>
            </a:r>
          </a:p>
        </p:txBody>
      </p:sp>
      <p:sp>
        <p:nvSpPr>
          <p:cNvPr id="48" name="Rectangle 56"/>
          <p:cNvSpPr>
            <a:spLocks noChangeArrowheads="1"/>
          </p:cNvSpPr>
          <p:nvPr/>
        </p:nvSpPr>
        <p:spPr bwMode="auto">
          <a:xfrm>
            <a:off x="7502525" y="1117600"/>
            <a:ext cx="585738"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Friday</a:t>
            </a:r>
          </a:p>
        </p:txBody>
      </p:sp>
      <p:sp>
        <p:nvSpPr>
          <p:cNvPr id="50" name="Rectangle 52"/>
          <p:cNvSpPr>
            <a:spLocks noChangeArrowheads="1"/>
          </p:cNvSpPr>
          <p:nvPr/>
        </p:nvSpPr>
        <p:spPr bwMode="auto">
          <a:xfrm>
            <a:off x="527050" y="2270125"/>
            <a:ext cx="924933"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Files 1, 2, 3</a:t>
            </a:r>
          </a:p>
        </p:txBody>
      </p:sp>
      <p:sp>
        <p:nvSpPr>
          <p:cNvPr id="51" name="AutoShape 49"/>
          <p:cNvSpPr>
            <a:spLocks noChangeArrowheads="1"/>
          </p:cNvSpPr>
          <p:nvPr/>
        </p:nvSpPr>
        <p:spPr bwMode="auto">
          <a:xfrm>
            <a:off x="819150" y="1466850"/>
            <a:ext cx="828675" cy="542925"/>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2" name="AutoShape 50"/>
          <p:cNvSpPr>
            <a:spLocks noChangeArrowheads="1"/>
          </p:cNvSpPr>
          <p:nvPr/>
        </p:nvSpPr>
        <p:spPr bwMode="auto">
          <a:xfrm>
            <a:off x="70008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3" name="AutoShape 51"/>
          <p:cNvSpPr>
            <a:spLocks noChangeArrowheads="1"/>
          </p:cNvSpPr>
          <p:nvPr/>
        </p:nvSpPr>
        <p:spPr bwMode="auto">
          <a:xfrm>
            <a:off x="579438" y="1685925"/>
            <a:ext cx="828675" cy="542925"/>
          </a:xfrm>
          <a:prstGeom prst="flowChartDocument">
            <a:avLst/>
          </a:prstGeom>
          <a:solidFill>
            <a:srgbClr val="EAEAEA"/>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4" name="Rectangle 53"/>
          <p:cNvSpPr>
            <a:spLocks noChangeArrowheads="1"/>
          </p:cNvSpPr>
          <p:nvPr/>
        </p:nvSpPr>
        <p:spPr bwMode="auto">
          <a:xfrm>
            <a:off x="733425" y="1117600"/>
            <a:ext cx="790922"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Monday</a:t>
            </a:r>
          </a:p>
        </p:txBody>
      </p:sp>
      <p:sp>
        <p:nvSpPr>
          <p:cNvPr id="55" name="AutoShape 54"/>
          <p:cNvSpPr>
            <a:spLocks noChangeArrowheads="1"/>
          </p:cNvSpPr>
          <p:nvPr/>
        </p:nvSpPr>
        <p:spPr bwMode="auto">
          <a:xfrm>
            <a:off x="566738" y="2578100"/>
            <a:ext cx="1074738" cy="795338"/>
          </a:xfrm>
          <a:prstGeom prst="can">
            <a:avLst>
              <a:gd name="adj" fmla="val 31130"/>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7" name="Rectangle 26"/>
          <p:cNvSpPr txBox="1">
            <a:spLocks noChangeArrowheads="1"/>
          </p:cNvSpPr>
          <p:nvPr/>
        </p:nvSpPr>
        <p:spPr bwMode="auto">
          <a:xfrm>
            <a:off x="769144" y="4619030"/>
            <a:ext cx="7917656" cy="1296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31775" marR="0" lvl="0" indent="-231775" algn="just" defTabSz="914400" rtl="0" eaLnBrk="1" fontAlgn="base" latinLnBrk="0" hangingPunct="1">
              <a:lnSpc>
                <a:spcPct val="150000"/>
              </a:lnSpc>
              <a:spcBef>
                <a:spcPct val="20000"/>
              </a:spcBef>
              <a:spcAft>
                <a:spcPct val="0"/>
              </a:spcAft>
              <a:buClr>
                <a:srgbClr val="92D050"/>
              </a:buClr>
              <a:buSzPct val="120000"/>
              <a:buFont typeface="Arial" charset="0"/>
              <a:buChar char="•"/>
              <a:tabLst/>
              <a:defRPr/>
            </a:pPr>
            <a:r>
              <a:rPr kumimoji="0" lang="en-US" sz="1400" i="0" u="none" strike="noStrike" kern="1200" cap="none" spc="0" normalizeH="0" baseline="0" noProof="0" dirty="0">
                <a:ln>
                  <a:noFill/>
                </a:ln>
                <a:effectLst/>
                <a:uLnTx/>
                <a:uFillTx/>
                <a:latin typeface="Book Antiqua" panose="02040602050305030304" pitchFamily="18" charset="0"/>
                <a:cs typeface="Arial"/>
              </a:rPr>
              <a:t>Less number of files to be backed up, therefore, it takes less time to backup and requires less storage space</a:t>
            </a:r>
          </a:p>
          <a:p>
            <a:pPr marL="231775" marR="0" lvl="0" indent="-231775" algn="just" defTabSz="914400" rtl="0" eaLnBrk="1" fontAlgn="base" latinLnBrk="0" hangingPunct="1">
              <a:lnSpc>
                <a:spcPct val="150000"/>
              </a:lnSpc>
              <a:spcBef>
                <a:spcPct val="20000"/>
              </a:spcBef>
              <a:spcAft>
                <a:spcPct val="0"/>
              </a:spcAft>
              <a:buClr>
                <a:srgbClr val="92D050"/>
              </a:buClr>
              <a:buSzPct val="120000"/>
              <a:buFont typeface="Arial" charset="0"/>
              <a:buChar char="•"/>
              <a:tabLst/>
              <a:defRPr/>
            </a:pPr>
            <a:r>
              <a:rPr kumimoji="0" lang="en-US" sz="1400" i="0" u="none" strike="noStrike" kern="1200" cap="none" spc="0" normalizeH="0" baseline="0" noProof="0" dirty="0">
                <a:ln>
                  <a:noFill/>
                </a:ln>
                <a:effectLst/>
                <a:uLnTx/>
                <a:uFillTx/>
                <a:latin typeface="Book Antiqua" panose="02040602050305030304" pitchFamily="18" charset="0"/>
                <a:cs typeface="Arial"/>
              </a:rPr>
              <a:t>Longer restore because last full and all subsequent incremental backups must be applied</a:t>
            </a:r>
          </a:p>
        </p:txBody>
      </p:sp>
      <p:sp>
        <p:nvSpPr>
          <p:cNvPr id="58" name="Rectangle 35"/>
          <p:cNvSpPr>
            <a:spLocks noChangeArrowheads="1"/>
          </p:cNvSpPr>
          <p:nvPr/>
        </p:nvSpPr>
        <p:spPr bwMode="auto">
          <a:xfrm>
            <a:off x="674985" y="2965660"/>
            <a:ext cx="849015"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Full Backup</a:t>
            </a:r>
          </a:p>
        </p:txBody>
      </p:sp>
      <p:sp>
        <p:nvSpPr>
          <p:cNvPr id="8" name="TextBox 7">
            <a:extLst>
              <a:ext uri="{FF2B5EF4-FFF2-40B4-BE49-F238E27FC236}">
                <a16:creationId xmlns:a16="http://schemas.microsoft.com/office/drawing/2014/main" id="{6FF6DEB9-E728-DED3-BB0E-61ACF3ACD6F1}"/>
              </a:ext>
            </a:extLst>
          </p:cNvPr>
          <p:cNvSpPr txBox="1"/>
          <p:nvPr/>
        </p:nvSpPr>
        <p:spPr>
          <a:xfrm>
            <a:off x="1102784" y="4122936"/>
            <a:ext cx="7224184" cy="307777"/>
          </a:xfrm>
          <a:prstGeom prst="rect">
            <a:avLst/>
          </a:prstGeom>
          <a:noFill/>
        </p:spPr>
        <p:txBody>
          <a:bodyPr wrap="square">
            <a:spAutoFit/>
          </a:bodyPr>
          <a:lstStyle/>
          <a:p>
            <a:pPr algn="ctr"/>
            <a:r>
              <a:rPr lang="en-GB" sz="1400" b="0" i="0" u="none" strike="noStrike" baseline="0" dirty="0">
                <a:solidFill>
                  <a:srgbClr val="C00000"/>
                </a:solidFill>
                <a:latin typeface="Palatino-Roman"/>
              </a:rPr>
              <a:t>Figure 10-2 shows an example of restoring data from incremental backup.</a:t>
            </a:r>
            <a:endParaRPr lang="en-IN" sz="1400" dirty="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5E751-B844-524D-6669-E4B2F0C8BEDF}"/>
              </a:ext>
            </a:extLst>
          </p:cNvPr>
          <p:cNvSpPr>
            <a:spLocks noGrp="1"/>
          </p:cNvSpPr>
          <p:nvPr>
            <p:ph type="title"/>
          </p:nvPr>
        </p:nvSpPr>
        <p:spPr/>
        <p:txBody>
          <a:bodyPr/>
          <a:lstStyle/>
          <a:p>
            <a:r>
              <a:rPr lang="en-US" sz="2100" dirty="0">
                <a:solidFill>
                  <a:srgbClr val="C00000"/>
                </a:solidFill>
                <a:latin typeface="Book Antiqua" panose="02040602050305030304" pitchFamily="18" charset="0"/>
              </a:rPr>
              <a:t>Restoring from Incremental Backup</a:t>
            </a:r>
            <a:endParaRPr lang="en-IN" sz="2100" dirty="0"/>
          </a:p>
        </p:txBody>
      </p:sp>
      <p:sp>
        <p:nvSpPr>
          <p:cNvPr id="3" name="Slide Number Placeholder 2">
            <a:extLst>
              <a:ext uri="{FF2B5EF4-FFF2-40B4-BE49-F238E27FC236}">
                <a16:creationId xmlns:a16="http://schemas.microsoft.com/office/drawing/2014/main" id="{6422C46E-68DE-7A1B-A5A1-646360F95AD5}"/>
              </a:ext>
            </a:extLst>
          </p:cNvPr>
          <p:cNvSpPr>
            <a:spLocks noGrp="1"/>
          </p:cNvSpPr>
          <p:nvPr>
            <p:ph type="sldNum" sz="quarter" idx="10"/>
          </p:nvPr>
        </p:nvSpPr>
        <p:spPr/>
        <p:txBody>
          <a:bodyPr/>
          <a:lstStyle/>
          <a:p>
            <a:pPr>
              <a:defRPr/>
            </a:pPr>
            <a:fld id="{2F0FE6C8-51A2-4AA8-BE8B-722D435E963D}" type="slidenum">
              <a:rPr lang="en-US" smtClean="0"/>
              <a:pPr>
                <a:defRPr/>
              </a:pPr>
              <a:t>12</a:t>
            </a:fld>
            <a:endParaRPr lang="en-US"/>
          </a:p>
        </p:txBody>
      </p:sp>
      <p:sp>
        <p:nvSpPr>
          <p:cNvPr id="4" name="Footer Placeholder 3">
            <a:extLst>
              <a:ext uri="{FF2B5EF4-FFF2-40B4-BE49-F238E27FC236}">
                <a16:creationId xmlns:a16="http://schemas.microsoft.com/office/drawing/2014/main" id="{74D6C64D-0EBF-4B20-20A4-4B172BD47E2B}"/>
              </a:ext>
            </a:extLst>
          </p:cNvPr>
          <p:cNvSpPr>
            <a:spLocks noGrp="1"/>
          </p:cNvSpPr>
          <p:nvPr>
            <p:ph type="ftr" sz="quarter" idx="11"/>
          </p:nvPr>
        </p:nvSpPr>
        <p:spPr/>
        <p:txBody>
          <a:bodyPr/>
          <a:lstStyle/>
          <a:p>
            <a:pPr>
              <a:defRPr/>
            </a:pPr>
            <a:r>
              <a:rPr lang="en-US"/>
              <a:t>Module #: Module Name</a:t>
            </a:r>
            <a:endParaRPr lang="en-US" dirty="0"/>
          </a:p>
        </p:txBody>
      </p:sp>
      <p:sp>
        <p:nvSpPr>
          <p:cNvPr id="6" name="TextBox 5">
            <a:extLst>
              <a:ext uri="{FF2B5EF4-FFF2-40B4-BE49-F238E27FC236}">
                <a16:creationId xmlns:a16="http://schemas.microsoft.com/office/drawing/2014/main" id="{CE2F8F54-E1F2-7CE4-C2C8-6FE0F3DDD9A5}"/>
              </a:ext>
            </a:extLst>
          </p:cNvPr>
          <p:cNvSpPr txBox="1"/>
          <p:nvPr/>
        </p:nvSpPr>
        <p:spPr>
          <a:xfrm>
            <a:off x="381000" y="838200"/>
            <a:ext cx="8458200" cy="393845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400" b="0" i="0" u="none" strike="noStrike" baseline="0" dirty="0">
                <a:latin typeface="Book Antiqua" panose="02040602050305030304" pitchFamily="18" charset="0"/>
              </a:rPr>
              <a:t>In this example, a full backup is performed on Monday evening. </a:t>
            </a:r>
          </a:p>
          <a:p>
            <a:pPr marL="285750" indent="-285750" algn="just">
              <a:lnSpc>
                <a:spcPct val="150000"/>
              </a:lnSpc>
              <a:buFont typeface="Arial" panose="020B0604020202020204" pitchFamily="34" charset="0"/>
              <a:buChar char="•"/>
            </a:pPr>
            <a:r>
              <a:rPr lang="en-GB" sz="1400" b="0" i="0" u="none" strike="noStrike" baseline="0" dirty="0">
                <a:latin typeface="Book Antiqua" panose="02040602050305030304" pitchFamily="18" charset="0"/>
              </a:rPr>
              <a:t>Each day after that, an incremental backup is performed. </a:t>
            </a:r>
          </a:p>
          <a:p>
            <a:pPr marL="285750" indent="-285750" algn="just">
              <a:lnSpc>
                <a:spcPct val="150000"/>
              </a:lnSpc>
              <a:buFont typeface="Arial" panose="020B0604020202020204" pitchFamily="34" charset="0"/>
              <a:buChar char="•"/>
            </a:pPr>
            <a:r>
              <a:rPr lang="en-GB" sz="1400" b="0" i="0" u="none" strike="noStrike" baseline="0" dirty="0">
                <a:latin typeface="Book Antiqua" panose="02040602050305030304" pitchFamily="18" charset="0"/>
              </a:rPr>
              <a:t>On Tuesday, a new file (File 4 in the figure) is added, and no other files have changed. </a:t>
            </a:r>
          </a:p>
          <a:p>
            <a:pPr marL="285750" indent="-285750" algn="just">
              <a:lnSpc>
                <a:spcPct val="150000"/>
              </a:lnSpc>
              <a:buFont typeface="Arial" panose="020B0604020202020204" pitchFamily="34" charset="0"/>
              <a:buChar char="•"/>
            </a:pPr>
            <a:r>
              <a:rPr lang="en-GB" sz="1400" b="0" i="0" u="none" strike="noStrike" baseline="0" dirty="0">
                <a:latin typeface="Book Antiqua" panose="02040602050305030304" pitchFamily="18" charset="0"/>
              </a:rPr>
              <a:t>Consequently, only File </a:t>
            </a:r>
            <a:r>
              <a:rPr lang="en-GB" sz="1400" dirty="0">
                <a:latin typeface="Book Antiqua" panose="02040602050305030304" pitchFamily="18" charset="0"/>
              </a:rPr>
              <a:t>4 is copied during the incremental backup performed on Tuesday evening. </a:t>
            </a:r>
          </a:p>
          <a:p>
            <a:pPr marL="285750" indent="-285750" algn="just">
              <a:lnSpc>
                <a:spcPct val="150000"/>
              </a:lnSpc>
              <a:buFont typeface="Arial" panose="020B0604020202020204" pitchFamily="34" charset="0"/>
              <a:buChar char="•"/>
            </a:pPr>
            <a:r>
              <a:rPr lang="en-GB" sz="1400" dirty="0">
                <a:latin typeface="Book Antiqua" panose="02040602050305030304" pitchFamily="18" charset="0"/>
              </a:rPr>
              <a:t>On Wednesday, no new files are added, but File 3 has been modified. </a:t>
            </a:r>
          </a:p>
          <a:p>
            <a:pPr marL="285750" indent="-285750" algn="just">
              <a:lnSpc>
                <a:spcPct val="150000"/>
              </a:lnSpc>
              <a:buFont typeface="Arial" panose="020B0604020202020204" pitchFamily="34" charset="0"/>
              <a:buChar char="•"/>
            </a:pPr>
            <a:r>
              <a:rPr lang="en-GB" sz="1400" dirty="0">
                <a:latin typeface="Book Antiqua" panose="02040602050305030304" pitchFamily="18" charset="0"/>
              </a:rPr>
              <a:t>Therefore, only the modified File 3 is copied during the incremental backup on Wednesday evening. </a:t>
            </a:r>
          </a:p>
          <a:p>
            <a:pPr marL="285750" indent="-285750" algn="just">
              <a:lnSpc>
                <a:spcPct val="150000"/>
              </a:lnSpc>
              <a:buFont typeface="Arial" panose="020B0604020202020204" pitchFamily="34" charset="0"/>
              <a:buChar char="•"/>
            </a:pPr>
            <a:r>
              <a:rPr lang="en-GB" sz="1400" dirty="0">
                <a:latin typeface="Book Antiqua" panose="02040602050305030304" pitchFamily="18" charset="0"/>
              </a:rPr>
              <a:t>Similarly, the incremental backup on Thursday copies only File 5. </a:t>
            </a:r>
          </a:p>
          <a:p>
            <a:pPr marL="285750" indent="-285750" algn="just">
              <a:lnSpc>
                <a:spcPct val="150000"/>
              </a:lnSpc>
              <a:buFont typeface="Arial" panose="020B0604020202020204" pitchFamily="34" charset="0"/>
              <a:buChar char="•"/>
            </a:pPr>
            <a:r>
              <a:rPr lang="en-GB" sz="1400" dirty="0">
                <a:latin typeface="Book Antiqua" panose="02040602050305030304" pitchFamily="18" charset="0"/>
              </a:rPr>
              <a:t>On Friday morning, there is data corruption, which requires data restoration from the backup. </a:t>
            </a:r>
          </a:p>
          <a:p>
            <a:pPr marL="285750" indent="-285750" algn="just">
              <a:lnSpc>
                <a:spcPct val="150000"/>
              </a:lnSpc>
              <a:buFont typeface="Arial" panose="020B0604020202020204" pitchFamily="34" charset="0"/>
              <a:buChar char="•"/>
            </a:pPr>
            <a:r>
              <a:rPr lang="en-GB" sz="1400" dirty="0">
                <a:latin typeface="Book Antiqua" panose="02040602050305030304" pitchFamily="18" charset="0"/>
              </a:rPr>
              <a:t>The first step toward data restoration is restoring all data from the full backup of Monday evening. </a:t>
            </a:r>
          </a:p>
          <a:p>
            <a:pPr marL="285750" indent="-285750" algn="just">
              <a:lnSpc>
                <a:spcPct val="150000"/>
              </a:lnSpc>
              <a:buFont typeface="Arial" panose="020B0604020202020204" pitchFamily="34" charset="0"/>
              <a:buChar char="•"/>
            </a:pPr>
            <a:r>
              <a:rPr lang="en-GB" sz="1400" dirty="0">
                <a:latin typeface="Book Antiqua" panose="02040602050305030304" pitchFamily="18" charset="0"/>
              </a:rPr>
              <a:t>The next step is applying the incremental backups of Tuesday, Wednesday, and Thursday. </a:t>
            </a:r>
          </a:p>
          <a:p>
            <a:pPr marL="285750" indent="-285750" algn="just">
              <a:lnSpc>
                <a:spcPct val="150000"/>
              </a:lnSpc>
              <a:buFont typeface="Arial" panose="020B0604020202020204" pitchFamily="34" charset="0"/>
              <a:buChar char="•"/>
            </a:pPr>
            <a:r>
              <a:rPr lang="en-GB" sz="1400" dirty="0">
                <a:latin typeface="Book Antiqua" panose="02040602050305030304" pitchFamily="18" charset="0"/>
              </a:rPr>
              <a:t>In this manner, data can be successfully recovered to its previous state, as it existed on Thursday evening.</a:t>
            </a:r>
          </a:p>
        </p:txBody>
      </p:sp>
    </p:spTree>
    <p:extLst>
      <p:ext uri="{BB962C8B-B14F-4D97-AF65-F5344CB8AC3E}">
        <p14:creationId xmlns:p14="http://schemas.microsoft.com/office/powerpoint/2010/main" val="2250369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71450"/>
            <a:ext cx="8458200" cy="568325"/>
          </a:xfrm>
        </p:spPr>
        <p:txBody>
          <a:bodyPr/>
          <a:lstStyle/>
          <a:p>
            <a:r>
              <a:rPr lang="en-US" sz="2100" dirty="0">
                <a:solidFill>
                  <a:srgbClr val="C00000"/>
                </a:solidFill>
                <a:latin typeface="Book Antiqua" panose="02040602050305030304" pitchFamily="18" charset="0"/>
              </a:rPr>
              <a:t>Restoring from Cumulative Backup</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5" name="Group 63"/>
          <p:cNvGrpSpPr>
            <a:grpSpLocks/>
          </p:cNvGrpSpPr>
          <p:nvPr/>
        </p:nvGrpSpPr>
        <p:grpSpPr bwMode="auto">
          <a:xfrm>
            <a:off x="5641975" y="3275013"/>
            <a:ext cx="1530350" cy="338137"/>
            <a:chOff x="3554" y="2063"/>
            <a:chExt cx="964" cy="213"/>
          </a:xfrm>
        </p:grpSpPr>
        <p:sp>
          <p:nvSpPr>
            <p:cNvPr id="6" name="AutoShape 19"/>
            <p:cNvSpPr>
              <a:spLocks noChangeArrowheads="1"/>
            </p:cNvSpPr>
            <p:nvPr/>
          </p:nvSpPr>
          <p:spPr bwMode="auto">
            <a:xfrm>
              <a:off x="3554" y="2116"/>
              <a:ext cx="964" cy="160"/>
            </a:xfrm>
            <a:prstGeom prst="rightArrow">
              <a:avLst>
                <a:gd name="adj1" fmla="val 52630"/>
                <a:gd name="adj2" fmla="val 134363"/>
              </a:avLst>
            </a:prstGeom>
            <a:gradFill rotWithShape="1">
              <a:gsLst>
                <a:gs pos="0">
                  <a:srgbClr val="33CCCC"/>
                </a:gs>
                <a:gs pos="100000">
                  <a:srgbClr val="DC8300"/>
                </a:gs>
              </a:gsLst>
              <a:lin ang="0" scaled="1"/>
            </a:gradFill>
            <a:ln w="12700"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 name="Rectangle 20"/>
            <p:cNvSpPr>
              <a:spLocks noChangeArrowheads="1"/>
            </p:cNvSpPr>
            <p:nvPr/>
          </p:nvSpPr>
          <p:spPr bwMode="auto">
            <a:xfrm rot="5400000">
              <a:off x="3532" y="2085"/>
              <a:ext cx="151" cy="108"/>
            </a:xfrm>
            <a:prstGeom prst="rect">
              <a:avLst/>
            </a:prstGeom>
            <a:solidFill>
              <a:srgbClr val="33CCCC"/>
            </a:solidFill>
            <a:ln w="9525"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9" name="Line 22"/>
          <p:cNvSpPr>
            <a:spLocks noChangeShapeType="1"/>
          </p:cNvSpPr>
          <p:nvPr/>
        </p:nvSpPr>
        <p:spPr bwMode="auto">
          <a:xfrm flipV="1">
            <a:off x="1876425"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AutoShape 23"/>
          <p:cNvSpPr>
            <a:spLocks noChangeArrowheads="1"/>
          </p:cNvSpPr>
          <p:nvPr/>
        </p:nvSpPr>
        <p:spPr bwMode="auto">
          <a:xfrm>
            <a:off x="2105025" y="2678113"/>
            <a:ext cx="1054100" cy="595313"/>
          </a:xfrm>
          <a:prstGeom prst="can">
            <a:avLst>
              <a:gd name="adj" fmla="val 42398"/>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Rectangle 24"/>
          <p:cNvSpPr>
            <a:spLocks noChangeArrowheads="1"/>
          </p:cNvSpPr>
          <p:nvPr/>
        </p:nvSpPr>
        <p:spPr bwMode="auto">
          <a:xfrm>
            <a:off x="2209800" y="2962656"/>
            <a:ext cx="844655"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Cumulative</a:t>
            </a:r>
          </a:p>
        </p:txBody>
      </p:sp>
      <p:sp>
        <p:nvSpPr>
          <p:cNvPr id="12" name="AutoShape 25"/>
          <p:cNvSpPr>
            <a:spLocks noChangeArrowheads="1"/>
          </p:cNvSpPr>
          <p:nvPr/>
        </p:nvSpPr>
        <p:spPr bwMode="auto">
          <a:xfrm>
            <a:off x="221773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Rectangle 26"/>
          <p:cNvSpPr>
            <a:spLocks noChangeArrowheads="1"/>
          </p:cNvSpPr>
          <p:nvPr/>
        </p:nvSpPr>
        <p:spPr bwMode="auto">
          <a:xfrm>
            <a:off x="2222500" y="1117600"/>
            <a:ext cx="774251"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Tuesday</a:t>
            </a:r>
          </a:p>
        </p:txBody>
      </p:sp>
      <p:sp>
        <p:nvSpPr>
          <p:cNvPr id="14" name="Rectangle 27"/>
          <p:cNvSpPr>
            <a:spLocks noChangeArrowheads="1"/>
          </p:cNvSpPr>
          <p:nvPr/>
        </p:nvSpPr>
        <p:spPr bwMode="auto">
          <a:xfrm>
            <a:off x="2416175" y="2270125"/>
            <a:ext cx="440826"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File 4</a:t>
            </a:r>
          </a:p>
        </p:txBody>
      </p:sp>
      <p:sp>
        <p:nvSpPr>
          <p:cNvPr id="16" name="AutoShape 29"/>
          <p:cNvSpPr>
            <a:spLocks noChangeArrowheads="1"/>
          </p:cNvSpPr>
          <p:nvPr/>
        </p:nvSpPr>
        <p:spPr bwMode="auto">
          <a:xfrm>
            <a:off x="819150" y="1466850"/>
            <a:ext cx="828675" cy="542925"/>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AutoShape 30"/>
          <p:cNvSpPr>
            <a:spLocks noChangeArrowheads="1"/>
          </p:cNvSpPr>
          <p:nvPr/>
        </p:nvSpPr>
        <p:spPr bwMode="auto">
          <a:xfrm>
            <a:off x="70008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AutoShape 31"/>
          <p:cNvSpPr>
            <a:spLocks noChangeArrowheads="1"/>
          </p:cNvSpPr>
          <p:nvPr/>
        </p:nvSpPr>
        <p:spPr bwMode="auto">
          <a:xfrm>
            <a:off x="579438" y="1685925"/>
            <a:ext cx="828675" cy="542925"/>
          </a:xfrm>
          <a:prstGeom prst="flowChartDocument">
            <a:avLst/>
          </a:prstGeom>
          <a:solidFill>
            <a:srgbClr val="EAEAEA"/>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9" name="Rectangle 32"/>
          <p:cNvSpPr>
            <a:spLocks noChangeArrowheads="1"/>
          </p:cNvSpPr>
          <p:nvPr/>
        </p:nvSpPr>
        <p:spPr bwMode="auto">
          <a:xfrm>
            <a:off x="527050" y="2270125"/>
            <a:ext cx="924933"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Files 1, 2, 3</a:t>
            </a:r>
          </a:p>
        </p:txBody>
      </p:sp>
      <p:sp>
        <p:nvSpPr>
          <p:cNvPr id="20" name="Rectangle 33"/>
          <p:cNvSpPr>
            <a:spLocks noChangeArrowheads="1"/>
          </p:cNvSpPr>
          <p:nvPr/>
        </p:nvSpPr>
        <p:spPr bwMode="auto">
          <a:xfrm>
            <a:off x="733425" y="1117600"/>
            <a:ext cx="790922"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Monday</a:t>
            </a:r>
          </a:p>
        </p:txBody>
      </p:sp>
      <p:sp>
        <p:nvSpPr>
          <p:cNvPr id="21" name="AutoShape 34"/>
          <p:cNvSpPr>
            <a:spLocks noChangeArrowheads="1"/>
          </p:cNvSpPr>
          <p:nvPr/>
        </p:nvSpPr>
        <p:spPr bwMode="auto">
          <a:xfrm>
            <a:off x="579438" y="2595563"/>
            <a:ext cx="1074738" cy="795338"/>
          </a:xfrm>
          <a:prstGeom prst="can">
            <a:avLst>
              <a:gd name="adj" fmla="val 31130"/>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 name="Rectangle 35"/>
          <p:cNvSpPr>
            <a:spLocks noChangeArrowheads="1"/>
          </p:cNvSpPr>
          <p:nvPr/>
        </p:nvSpPr>
        <p:spPr bwMode="auto">
          <a:xfrm>
            <a:off x="674985" y="2962656"/>
            <a:ext cx="849015"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Full Backup</a:t>
            </a:r>
          </a:p>
        </p:txBody>
      </p:sp>
      <p:sp>
        <p:nvSpPr>
          <p:cNvPr id="24" name="Line 37"/>
          <p:cNvSpPr>
            <a:spLocks noChangeShapeType="1"/>
          </p:cNvSpPr>
          <p:nvPr/>
        </p:nvSpPr>
        <p:spPr bwMode="auto">
          <a:xfrm flipV="1">
            <a:off x="3387725"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5" name="AutoShape 38"/>
          <p:cNvSpPr>
            <a:spLocks noChangeArrowheads="1"/>
          </p:cNvSpPr>
          <p:nvPr/>
        </p:nvSpPr>
        <p:spPr bwMode="auto">
          <a:xfrm>
            <a:off x="3651250" y="2667000"/>
            <a:ext cx="1054100" cy="654050"/>
          </a:xfrm>
          <a:prstGeom prst="can">
            <a:avLst>
              <a:gd name="adj" fmla="val 39565"/>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Rectangle 39"/>
          <p:cNvSpPr>
            <a:spLocks noChangeArrowheads="1"/>
          </p:cNvSpPr>
          <p:nvPr/>
        </p:nvSpPr>
        <p:spPr bwMode="auto">
          <a:xfrm>
            <a:off x="3781511" y="2962656"/>
            <a:ext cx="844655"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Cumulative</a:t>
            </a:r>
          </a:p>
        </p:txBody>
      </p:sp>
      <p:sp>
        <p:nvSpPr>
          <p:cNvPr id="27" name="Rectangle 40"/>
          <p:cNvSpPr>
            <a:spLocks noChangeArrowheads="1"/>
          </p:cNvSpPr>
          <p:nvPr/>
        </p:nvSpPr>
        <p:spPr bwMode="auto">
          <a:xfrm>
            <a:off x="3617913" y="1117600"/>
            <a:ext cx="1112933"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Wednesday</a:t>
            </a:r>
          </a:p>
        </p:txBody>
      </p:sp>
      <p:sp>
        <p:nvSpPr>
          <p:cNvPr id="28" name="Rectangle 41"/>
          <p:cNvSpPr>
            <a:spLocks noChangeArrowheads="1"/>
          </p:cNvSpPr>
          <p:nvPr/>
        </p:nvSpPr>
        <p:spPr bwMode="auto">
          <a:xfrm>
            <a:off x="3821113" y="2270125"/>
            <a:ext cx="722955"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Files 4, 5</a:t>
            </a:r>
          </a:p>
        </p:txBody>
      </p:sp>
      <p:grpSp>
        <p:nvGrpSpPr>
          <p:cNvPr id="29" name="Group 42"/>
          <p:cNvGrpSpPr>
            <a:grpSpLocks/>
          </p:cNvGrpSpPr>
          <p:nvPr/>
        </p:nvGrpSpPr>
        <p:grpSpPr bwMode="auto">
          <a:xfrm>
            <a:off x="3706813" y="1466850"/>
            <a:ext cx="947738" cy="652463"/>
            <a:chOff x="2343" y="924"/>
            <a:chExt cx="597" cy="411"/>
          </a:xfrm>
        </p:grpSpPr>
        <p:sp>
          <p:nvSpPr>
            <p:cNvPr id="30" name="AutoShape 43"/>
            <p:cNvSpPr>
              <a:spLocks noChangeArrowheads="1"/>
            </p:cNvSpPr>
            <p:nvPr/>
          </p:nvSpPr>
          <p:spPr bwMode="auto">
            <a:xfrm>
              <a:off x="2418" y="924"/>
              <a:ext cx="522" cy="342"/>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AutoShape 44"/>
            <p:cNvSpPr>
              <a:spLocks noChangeArrowheads="1"/>
            </p:cNvSpPr>
            <p:nvPr/>
          </p:nvSpPr>
          <p:spPr bwMode="auto">
            <a:xfrm>
              <a:off x="2343" y="993"/>
              <a:ext cx="522" cy="342"/>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33" name="Line 46"/>
          <p:cNvSpPr>
            <a:spLocks noChangeShapeType="1"/>
          </p:cNvSpPr>
          <p:nvPr/>
        </p:nvSpPr>
        <p:spPr bwMode="auto">
          <a:xfrm flipV="1">
            <a:off x="4973638"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AutoShape 47"/>
          <p:cNvSpPr>
            <a:spLocks noChangeArrowheads="1"/>
          </p:cNvSpPr>
          <p:nvPr/>
        </p:nvSpPr>
        <p:spPr bwMode="auto">
          <a:xfrm>
            <a:off x="5202238" y="2628900"/>
            <a:ext cx="1054100" cy="730250"/>
          </a:xfrm>
          <a:prstGeom prst="can">
            <a:avLst>
              <a:gd name="adj" fmla="val 34565"/>
            </a:avLst>
          </a:prstGeom>
          <a:gradFill rotWithShape="1">
            <a:gsLst>
              <a:gs pos="0">
                <a:srgbClr val="33CCCC">
                  <a:gamma/>
                  <a:shade val="46275"/>
                  <a:invGamma/>
                </a:srgbClr>
              </a:gs>
              <a:gs pos="50000">
                <a:srgbClr val="33CCCC"/>
              </a:gs>
              <a:gs pos="100000">
                <a:srgbClr val="33CCCC">
                  <a:gamma/>
                  <a:shade val="46275"/>
                  <a:invGamma/>
                </a:srgbClr>
              </a:gs>
            </a:gsLst>
            <a:lin ang="0" scaled="1"/>
          </a:gradFill>
          <a:ln w="9525">
            <a:no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Rectangle 48"/>
          <p:cNvSpPr>
            <a:spLocks noChangeArrowheads="1"/>
          </p:cNvSpPr>
          <p:nvPr/>
        </p:nvSpPr>
        <p:spPr bwMode="auto">
          <a:xfrm>
            <a:off x="5306822" y="2962656"/>
            <a:ext cx="844655"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Cumulative</a:t>
            </a:r>
          </a:p>
        </p:txBody>
      </p:sp>
      <p:sp>
        <p:nvSpPr>
          <p:cNvPr id="36" name="Rectangle 49"/>
          <p:cNvSpPr>
            <a:spLocks noChangeArrowheads="1"/>
          </p:cNvSpPr>
          <p:nvPr/>
        </p:nvSpPr>
        <p:spPr bwMode="auto">
          <a:xfrm>
            <a:off x="5273675" y="1117600"/>
            <a:ext cx="873060" cy="2492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Thursday</a:t>
            </a:r>
          </a:p>
        </p:txBody>
      </p:sp>
      <p:sp>
        <p:nvSpPr>
          <p:cNvPr id="37" name="Rectangle 50"/>
          <p:cNvSpPr>
            <a:spLocks noChangeArrowheads="1"/>
          </p:cNvSpPr>
          <p:nvPr/>
        </p:nvSpPr>
        <p:spPr bwMode="auto">
          <a:xfrm>
            <a:off x="5275263" y="2270125"/>
            <a:ext cx="924933"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Files 4, 5, 6</a:t>
            </a:r>
          </a:p>
        </p:txBody>
      </p:sp>
      <p:grpSp>
        <p:nvGrpSpPr>
          <p:cNvPr id="38" name="Group 51"/>
          <p:cNvGrpSpPr>
            <a:grpSpLocks/>
          </p:cNvGrpSpPr>
          <p:nvPr/>
        </p:nvGrpSpPr>
        <p:grpSpPr bwMode="auto">
          <a:xfrm>
            <a:off x="5195888" y="1466850"/>
            <a:ext cx="1068387" cy="762000"/>
            <a:chOff x="3287" y="924"/>
            <a:chExt cx="673" cy="480"/>
          </a:xfrm>
        </p:grpSpPr>
        <p:sp>
          <p:nvSpPr>
            <p:cNvPr id="39" name="AutoShape 52"/>
            <p:cNvSpPr>
              <a:spLocks noChangeArrowheads="1"/>
            </p:cNvSpPr>
            <p:nvPr/>
          </p:nvSpPr>
          <p:spPr bwMode="auto">
            <a:xfrm>
              <a:off x="3438" y="924"/>
              <a:ext cx="522" cy="342"/>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0" name="AutoShape 53"/>
            <p:cNvSpPr>
              <a:spLocks noChangeArrowheads="1"/>
            </p:cNvSpPr>
            <p:nvPr/>
          </p:nvSpPr>
          <p:spPr bwMode="auto">
            <a:xfrm>
              <a:off x="3363" y="993"/>
              <a:ext cx="522" cy="342"/>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1" name="AutoShape 54"/>
            <p:cNvSpPr>
              <a:spLocks noChangeArrowheads="1"/>
            </p:cNvSpPr>
            <p:nvPr/>
          </p:nvSpPr>
          <p:spPr bwMode="auto">
            <a:xfrm>
              <a:off x="3287" y="1062"/>
              <a:ext cx="522" cy="342"/>
            </a:xfrm>
            <a:prstGeom prst="flowChartDocument">
              <a:avLst/>
            </a:prstGeom>
            <a:solidFill>
              <a:srgbClr val="EAEAEA"/>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43" name="AutoShape 6"/>
          <p:cNvSpPr>
            <a:spLocks noChangeArrowheads="1"/>
          </p:cNvSpPr>
          <p:nvPr/>
        </p:nvSpPr>
        <p:spPr bwMode="auto">
          <a:xfrm>
            <a:off x="1038225" y="3714750"/>
            <a:ext cx="6134100" cy="304800"/>
          </a:xfrm>
          <a:prstGeom prst="rightArrow">
            <a:avLst>
              <a:gd name="adj1" fmla="val 65620"/>
              <a:gd name="adj2" fmla="val 112458"/>
            </a:avLst>
          </a:prstGeom>
          <a:gradFill rotWithShape="1">
            <a:gsLst>
              <a:gs pos="0">
                <a:srgbClr val="33CCCC"/>
              </a:gs>
              <a:gs pos="100000">
                <a:srgbClr val="DC8300"/>
              </a:gs>
            </a:gsLst>
            <a:lin ang="0" scaled="1"/>
          </a:gradFill>
          <a:ln w="12700"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4" name="Rectangle 7"/>
          <p:cNvSpPr>
            <a:spLocks noChangeArrowheads="1"/>
          </p:cNvSpPr>
          <p:nvPr/>
        </p:nvSpPr>
        <p:spPr bwMode="auto">
          <a:xfrm rot="5400000">
            <a:off x="795338" y="3554413"/>
            <a:ext cx="650875" cy="171450"/>
          </a:xfrm>
          <a:prstGeom prst="rect">
            <a:avLst/>
          </a:prstGeom>
          <a:solidFill>
            <a:srgbClr val="33CCCC"/>
          </a:solidFill>
          <a:ln w="9525"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5" name="Line 8"/>
          <p:cNvSpPr>
            <a:spLocks noChangeShapeType="1"/>
          </p:cNvSpPr>
          <p:nvPr/>
        </p:nvSpPr>
        <p:spPr bwMode="auto">
          <a:xfrm flipV="1">
            <a:off x="6486525" y="1123950"/>
            <a:ext cx="0" cy="2171700"/>
          </a:xfrm>
          <a:prstGeom prst="line">
            <a:avLst/>
          </a:prstGeom>
          <a:noFill/>
          <a:ln w="28575" cap="rnd">
            <a:solidFill>
              <a:srgbClr val="777777"/>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6" name="AutoShape 9"/>
          <p:cNvSpPr>
            <a:spLocks noChangeArrowheads="1"/>
          </p:cNvSpPr>
          <p:nvPr/>
        </p:nvSpPr>
        <p:spPr bwMode="auto">
          <a:xfrm>
            <a:off x="7199313" y="3216275"/>
            <a:ext cx="1074738" cy="795338"/>
          </a:xfrm>
          <a:prstGeom prst="can">
            <a:avLst>
              <a:gd name="adj" fmla="val 31130"/>
            </a:avLst>
          </a:prstGeom>
          <a:gradFill rotWithShape="1">
            <a:gsLst>
              <a:gs pos="0">
                <a:srgbClr val="DC8300">
                  <a:gamma/>
                  <a:shade val="46275"/>
                  <a:invGamma/>
                </a:srgbClr>
              </a:gs>
              <a:gs pos="50000">
                <a:srgbClr val="DC8300"/>
              </a:gs>
              <a:gs pos="100000">
                <a:srgbClr val="DC8300">
                  <a:gamma/>
                  <a:shade val="46275"/>
                  <a:invGamma/>
                </a:srgbClr>
              </a:gs>
            </a:gsLst>
            <a:lin ang="0" scaled="1"/>
          </a:grad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7" name="Rectangle 10"/>
          <p:cNvSpPr>
            <a:spLocks noChangeArrowheads="1"/>
          </p:cNvSpPr>
          <p:nvPr/>
        </p:nvSpPr>
        <p:spPr bwMode="auto">
          <a:xfrm>
            <a:off x="6827838" y="2270125"/>
            <a:ext cx="1530868" cy="221599"/>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Files 1, 2, 3, 4, 5, 6</a:t>
            </a:r>
          </a:p>
        </p:txBody>
      </p:sp>
      <p:sp>
        <p:nvSpPr>
          <p:cNvPr id="48" name="AutoShape 11"/>
          <p:cNvSpPr>
            <a:spLocks noChangeArrowheads="1"/>
          </p:cNvSpPr>
          <p:nvPr/>
        </p:nvSpPr>
        <p:spPr bwMode="auto">
          <a:xfrm>
            <a:off x="6858000" y="1466850"/>
            <a:ext cx="828675" cy="542925"/>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9" name="AutoShape 12"/>
          <p:cNvSpPr>
            <a:spLocks noChangeArrowheads="1"/>
          </p:cNvSpPr>
          <p:nvPr/>
        </p:nvSpPr>
        <p:spPr bwMode="auto">
          <a:xfrm>
            <a:off x="673893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0" name="AutoShape 13"/>
          <p:cNvSpPr>
            <a:spLocks noChangeArrowheads="1"/>
          </p:cNvSpPr>
          <p:nvPr/>
        </p:nvSpPr>
        <p:spPr bwMode="auto">
          <a:xfrm>
            <a:off x="6618288" y="1685925"/>
            <a:ext cx="828675" cy="542925"/>
          </a:xfrm>
          <a:prstGeom prst="flowChartDocument">
            <a:avLst/>
          </a:prstGeom>
          <a:solidFill>
            <a:srgbClr val="EAEAEA"/>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1" name="AutoShape 14"/>
          <p:cNvSpPr>
            <a:spLocks noChangeArrowheads="1"/>
          </p:cNvSpPr>
          <p:nvPr/>
        </p:nvSpPr>
        <p:spPr bwMode="auto">
          <a:xfrm>
            <a:off x="7981950" y="1466850"/>
            <a:ext cx="828675" cy="542925"/>
          </a:xfrm>
          <a:prstGeom prst="flowChartDocument">
            <a:avLst/>
          </a:prstGeom>
          <a:solidFill>
            <a:srgbClr val="C0C0C0"/>
          </a:soli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2" name="AutoShape 15"/>
          <p:cNvSpPr>
            <a:spLocks noChangeArrowheads="1"/>
          </p:cNvSpPr>
          <p:nvPr/>
        </p:nvSpPr>
        <p:spPr bwMode="auto">
          <a:xfrm>
            <a:off x="7862888" y="1576388"/>
            <a:ext cx="828675" cy="542925"/>
          </a:xfrm>
          <a:prstGeom prst="flowChartDocument">
            <a:avLst/>
          </a:prstGeom>
          <a:solidFill>
            <a:srgbClr val="DDDDDD"/>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3" name="AutoShape 16"/>
          <p:cNvSpPr>
            <a:spLocks noChangeArrowheads="1"/>
          </p:cNvSpPr>
          <p:nvPr/>
        </p:nvSpPr>
        <p:spPr bwMode="auto">
          <a:xfrm>
            <a:off x="7742238" y="1685925"/>
            <a:ext cx="828675" cy="542925"/>
          </a:xfrm>
          <a:prstGeom prst="flowChartDocument">
            <a:avLst/>
          </a:prstGeom>
          <a:solidFill>
            <a:srgbClr val="EAEAEA"/>
          </a:solidFill>
          <a:ln w="12700" algn="ctr">
            <a:solidFill>
              <a:srgbClr val="000000"/>
            </a:solidFill>
            <a:miter lim="800000"/>
            <a:headEnd/>
            <a:tailEnd/>
          </a:ln>
          <a:effectLst>
            <a:outerShdw dist="35921" dir="18900000" algn="ctr" rotWithShape="0">
              <a:schemeClr val="bg1"/>
            </a:outerShdw>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4" name="Rectangle 17"/>
          <p:cNvSpPr>
            <a:spLocks noChangeArrowheads="1"/>
          </p:cNvSpPr>
          <p:nvPr/>
        </p:nvSpPr>
        <p:spPr bwMode="auto">
          <a:xfrm>
            <a:off x="7312025" y="3603625"/>
            <a:ext cx="803425" cy="215444"/>
          </a:xfrm>
          <a:prstGeom prst="rect">
            <a:avLst/>
          </a:prstGeom>
          <a:noFill/>
          <a:ln w="12700">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Calibri" pitchFamily="34" charset="0"/>
                <a:ea typeface="+mn-ea"/>
                <a:cs typeface="Calibri" pitchFamily="34" charset="0"/>
              </a:rPr>
              <a:t>Production</a:t>
            </a:r>
          </a:p>
        </p:txBody>
      </p:sp>
      <p:sp>
        <p:nvSpPr>
          <p:cNvPr id="55" name="Text Box 55"/>
          <p:cNvSpPr txBox="1">
            <a:spLocks noChangeArrowheads="1"/>
          </p:cNvSpPr>
          <p:nvPr/>
        </p:nvSpPr>
        <p:spPr bwMode="auto">
          <a:xfrm>
            <a:off x="7456488" y="1076325"/>
            <a:ext cx="585738" cy="276999"/>
          </a:xfrm>
          <a:prstGeom prst="rect">
            <a:avLst/>
          </a:prstGeom>
          <a:noFill/>
          <a:ln w="25400"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Friday</a:t>
            </a:r>
          </a:p>
        </p:txBody>
      </p:sp>
      <p:sp>
        <p:nvSpPr>
          <p:cNvPr id="57" name="Rectangle 26"/>
          <p:cNvSpPr txBox="1">
            <a:spLocks noChangeArrowheads="1"/>
          </p:cNvSpPr>
          <p:nvPr/>
        </p:nvSpPr>
        <p:spPr bwMode="auto">
          <a:xfrm>
            <a:off x="416984" y="4608249"/>
            <a:ext cx="8346016" cy="12635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31775" marR="0" lvl="1" indent="-231775" algn="just" defTabSz="914400" rtl="0" eaLnBrk="1" fontAlgn="base" latinLnBrk="0" hangingPunct="1">
              <a:lnSpc>
                <a:spcPct val="150000"/>
              </a:lnSpc>
              <a:spcBef>
                <a:spcPct val="20000"/>
              </a:spcBef>
              <a:spcAft>
                <a:spcPct val="0"/>
              </a:spcAft>
              <a:buClr>
                <a:srgbClr val="92D050"/>
              </a:buClr>
              <a:buSzPct val="120000"/>
              <a:buFont typeface="Arial" charset="0"/>
              <a:buChar char="•"/>
              <a:tabLst/>
              <a:defRPr/>
            </a:pPr>
            <a:r>
              <a:rPr lang="en-US" sz="1400" dirty="0">
                <a:latin typeface="Book Antiqua" panose="02040602050305030304" pitchFamily="18" charset="0"/>
                <a:cs typeface="Arial"/>
              </a:rPr>
              <a:t>More files to be backed up, therefore, it takes more time to backup and requires more storage space</a:t>
            </a:r>
          </a:p>
          <a:p>
            <a:pPr marL="231775" marR="0" lvl="1" indent="-231775" algn="just" defTabSz="914400" rtl="0" eaLnBrk="1" fontAlgn="base" latinLnBrk="0" hangingPunct="1">
              <a:lnSpc>
                <a:spcPct val="150000"/>
              </a:lnSpc>
              <a:spcBef>
                <a:spcPct val="20000"/>
              </a:spcBef>
              <a:spcAft>
                <a:spcPct val="0"/>
              </a:spcAft>
              <a:buClr>
                <a:srgbClr val="92D050"/>
              </a:buClr>
              <a:buSzPct val="120000"/>
              <a:buFont typeface="Arial" charset="0"/>
              <a:buChar char="•"/>
              <a:tabLst/>
              <a:defRPr/>
            </a:pPr>
            <a:endParaRPr lang="en-US" sz="300" dirty="0">
              <a:latin typeface="Book Antiqua" panose="02040602050305030304" pitchFamily="18" charset="0"/>
              <a:cs typeface="Arial"/>
            </a:endParaRPr>
          </a:p>
          <a:p>
            <a:pPr marL="231775" marR="0" lvl="1" indent="-231775" algn="just" defTabSz="914400" rtl="0" eaLnBrk="1" fontAlgn="base" latinLnBrk="0" hangingPunct="1">
              <a:lnSpc>
                <a:spcPct val="150000"/>
              </a:lnSpc>
              <a:spcBef>
                <a:spcPct val="20000"/>
              </a:spcBef>
              <a:spcAft>
                <a:spcPct val="0"/>
              </a:spcAft>
              <a:buClr>
                <a:srgbClr val="92D050"/>
              </a:buClr>
              <a:buSzPct val="120000"/>
              <a:buFont typeface="Arial" charset="0"/>
              <a:buChar char="•"/>
              <a:tabLst/>
              <a:defRPr/>
            </a:pPr>
            <a:r>
              <a:rPr lang="en-US" sz="1400" dirty="0">
                <a:latin typeface="Book Antiqua" panose="02040602050305030304" pitchFamily="18" charset="0"/>
                <a:cs typeface="Arial"/>
              </a:rPr>
              <a:t>Faster restore because only the last full and the last cumulative backup must be applied</a:t>
            </a:r>
          </a:p>
        </p:txBody>
      </p:sp>
      <p:sp>
        <p:nvSpPr>
          <p:cNvPr id="15" name="TextBox 14">
            <a:extLst>
              <a:ext uri="{FF2B5EF4-FFF2-40B4-BE49-F238E27FC236}">
                <a16:creationId xmlns:a16="http://schemas.microsoft.com/office/drawing/2014/main" id="{0F531CCA-6D95-CAA6-89E6-04F380D59E0D}"/>
              </a:ext>
            </a:extLst>
          </p:cNvPr>
          <p:cNvSpPr txBox="1"/>
          <p:nvPr/>
        </p:nvSpPr>
        <p:spPr>
          <a:xfrm>
            <a:off x="2036233" y="4087814"/>
            <a:ext cx="4572000" cy="307777"/>
          </a:xfrm>
          <a:prstGeom prst="rect">
            <a:avLst/>
          </a:prstGeom>
          <a:noFill/>
        </p:spPr>
        <p:txBody>
          <a:bodyPr wrap="square">
            <a:spAutoFit/>
          </a:bodyPr>
          <a:lstStyle/>
          <a:p>
            <a:r>
              <a:rPr lang="en-IN" sz="1400" b="1" i="0" u="none" strike="noStrike" baseline="0" dirty="0">
                <a:solidFill>
                  <a:srgbClr val="C00000"/>
                </a:solidFill>
                <a:latin typeface="Book Antiqua" panose="02040602050305030304" pitchFamily="18" charset="0"/>
              </a:rPr>
              <a:t>Figure 10-3: </a:t>
            </a:r>
            <a:r>
              <a:rPr lang="en-IN" sz="1400" b="0" i="0" u="none" strike="noStrike" baseline="0" dirty="0">
                <a:solidFill>
                  <a:srgbClr val="C00000"/>
                </a:solidFill>
                <a:latin typeface="Book Antiqua" panose="02040602050305030304" pitchFamily="18" charset="0"/>
              </a:rPr>
              <a:t>Restoring a cumulative backup</a:t>
            </a:r>
            <a:endParaRPr lang="en-IN" sz="1400" dirty="0">
              <a:solidFill>
                <a:srgbClr val="C00000"/>
              </a:solidFill>
              <a:latin typeface="Book Antiqua" panose="0204060205030503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63E8-4867-5018-40A3-4FDAD91E04A4}"/>
              </a:ext>
            </a:extLst>
          </p:cNvPr>
          <p:cNvSpPr>
            <a:spLocks noGrp="1"/>
          </p:cNvSpPr>
          <p:nvPr>
            <p:ph type="title"/>
          </p:nvPr>
        </p:nvSpPr>
        <p:spPr/>
        <p:txBody>
          <a:bodyPr/>
          <a:lstStyle/>
          <a:p>
            <a:r>
              <a:rPr lang="en-US" sz="2100" dirty="0">
                <a:solidFill>
                  <a:srgbClr val="C00000"/>
                </a:solidFill>
                <a:latin typeface="Book Antiqua" panose="02040602050305030304" pitchFamily="18" charset="0"/>
              </a:rPr>
              <a:t>Restoring from Cumulative Backup</a:t>
            </a:r>
            <a:endParaRPr lang="en-IN" sz="2100" dirty="0"/>
          </a:p>
        </p:txBody>
      </p:sp>
      <p:sp>
        <p:nvSpPr>
          <p:cNvPr id="3" name="Slide Number Placeholder 2">
            <a:extLst>
              <a:ext uri="{FF2B5EF4-FFF2-40B4-BE49-F238E27FC236}">
                <a16:creationId xmlns:a16="http://schemas.microsoft.com/office/drawing/2014/main" id="{FDE17785-F31D-FA9E-6BAB-08944882C373}"/>
              </a:ext>
            </a:extLst>
          </p:cNvPr>
          <p:cNvSpPr>
            <a:spLocks noGrp="1"/>
          </p:cNvSpPr>
          <p:nvPr>
            <p:ph type="sldNum" sz="quarter" idx="10"/>
          </p:nvPr>
        </p:nvSpPr>
        <p:spPr/>
        <p:txBody>
          <a:bodyPr/>
          <a:lstStyle/>
          <a:p>
            <a:pPr>
              <a:defRPr/>
            </a:pPr>
            <a:fld id="{2F0FE6C8-51A2-4AA8-BE8B-722D435E963D}" type="slidenum">
              <a:rPr lang="en-US" smtClean="0"/>
              <a:pPr>
                <a:defRPr/>
              </a:pPr>
              <a:t>14</a:t>
            </a:fld>
            <a:endParaRPr lang="en-US"/>
          </a:p>
        </p:txBody>
      </p:sp>
      <p:sp>
        <p:nvSpPr>
          <p:cNvPr id="4" name="Footer Placeholder 3">
            <a:extLst>
              <a:ext uri="{FF2B5EF4-FFF2-40B4-BE49-F238E27FC236}">
                <a16:creationId xmlns:a16="http://schemas.microsoft.com/office/drawing/2014/main" id="{3F52B733-6A01-DF95-C7D6-A7FA54F07789}"/>
              </a:ext>
            </a:extLst>
          </p:cNvPr>
          <p:cNvSpPr>
            <a:spLocks noGrp="1"/>
          </p:cNvSpPr>
          <p:nvPr>
            <p:ph type="ftr" sz="quarter" idx="11"/>
          </p:nvPr>
        </p:nvSpPr>
        <p:spPr/>
        <p:txBody>
          <a:bodyPr/>
          <a:lstStyle/>
          <a:p>
            <a:pPr>
              <a:defRPr/>
            </a:pPr>
            <a:r>
              <a:rPr lang="en-US"/>
              <a:t>Module #: Module Name</a:t>
            </a:r>
            <a:endParaRPr lang="en-US" dirty="0"/>
          </a:p>
        </p:txBody>
      </p:sp>
      <p:sp>
        <p:nvSpPr>
          <p:cNvPr id="6" name="TextBox 5">
            <a:extLst>
              <a:ext uri="{FF2B5EF4-FFF2-40B4-BE49-F238E27FC236}">
                <a16:creationId xmlns:a16="http://schemas.microsoft.com/office/drawing/2014/main" id="{6A9F9BC4-02F8-AFAD-8C60-973608A0C96B}"/>
              </a:ext>
            </a:extLst>
          </p:cNvPr>
          <p:cNvSpPr txBox="1"/>
          <p:nvPr/>
        </p:nvSpPr>
        <p:spPr>
          <a:xfrm>
            <a:off x="279400" y="762000"/>
            <a:ext cx="8407400" cy="490672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400" b="0" i="0" u="none" strike="noStrike" baseline="0" dirty="0">
                <a:latin typeface="Palatino-Roman"/>
              </a:rPr>
              <a:t>In this example, a full backup of the business data is taken on Monday evening. Each day after that, a cumulative backup is taken. </a:t>
            </a:r>
          </a:p>
          <a:p>
            <a:pPr marL="285750" indent="-285750" algn="just">
              <a:lnSpc>
                <a:spcPct val="150000"/>
              </a:lnSpc>
              <a:buFont typeface="Arial" panose="020B0604020202020204" pitchFamily="34" charset="0"/>
              <a:buChar char="•"/>
            </a:pPr>
            <a:r>
              <a:rPr lang="en-GB" sz="1400" b="0" i="0" u="none" strike="noStrike" baseline="0" dirty="0">
                <a:latin typeface="Palatino-Roman"/>
              </a:rPr>
              <a:t>On Tuesday, File 4 is added and no other data is modified since the previous full backup of Monday evening. </a:t>
            </a:r>
          </a:p>
          <a:p>
            <a:pPr marL="285750" indent="-285750" algn="just">
              <a:lnSpc>
                <a:spcPct val="150000"/>
              </a:lnSpc>
              <a:buFont typeface="Arial" panose="020B0604020202020204" pitchFamily="34" charset="0"/>
              <a:buChar char="•"/>
            </a:pPr>
            <a:r>
              <a:rPr lang="en-GB" sz="1400" b="0" i="0" u="none" strike="noStrike" baseline="0" dirty="0">
                <a:latin typeface="Palatino-Roman"/>
              </a:rPr>
              <a:t>Consequently, the cumulative backup on Tuesday evening copies only File 4. </a:t>
            </a:r>
            <a:r>
              <a:rPr lang="en-GB" sz="1400" dirty="0">
                <a:latin typeface="Palatino-Roman"/>
              </a:rPr>
              <a:t> </a:t>
            </a:r>
            <a:r>
              <a:rPr lang="en-GB" sz="1400" b="0" i="0" u="none" strike="noStrike" baseline="0" dirty="0">
                <a:latin typeface="Palatino-Roman"/>
              </a:rPr>
              <a:t>On Wednesday, File 5 is added. </a:t>
            </a:r>
          </a:p>
          <a:p>
            <a:pPr marL="285750" indent="-285750" algn="just">
              <a:lnSpc>
                <a:spcPct val="150000"/>
              </a:lnSpc>
              <a:buFont typeface="Arial" panose="020B0604020202020204" pitchFamily="34" charset="0"/>
              <a:buChar char="•"/>
            </a:pPr>
            <a:r>
              <a:rPr lang="en-GB" sz="1400" b="0" i="0" u="none" strike="noStrike" baseline="0" dirty="0">
                <a:latin typeface="Palatino-Roman"/>
              </a:rPr>
              <a:t>The cumulative backup taking place on Wednesday evening copies both File 4 and File 5 because these files have been added or modified since the last full backup. </a:t>
            </a:r>
            <a:r>
              <a:rPr lang="en-GB" sz="1400" dirty="0">
                <a:latin typeface="Palatino-Roman"/>
              </a:rPr>
              <a:t> </a:t>
            </a:r>
          </a:p>
          <a:p>
            <a:pPr marL="285750" indent="-285750" algn="just">
              <a:lnSpc>
                <a:spcPct val="150000"/>
              </a:lnSpc>
              <a:buFont typeface="Arial" panose="020B0604020202020204" pitchFamily="34" charset="0"/>
              <a:buChar char="•"/>
            </a:pPr>
            <a:r>
              <a:rPr lang="en-GB" sz="1400" b="0" i="0" u="none" strike="noStrike" baseline="0" dirty="0">
                <a:latin typeface="Palatino-Roman"/>
              </a:rPr>
              <a:t>Similarly, on Thursday, File 6 is added. </a:t>
            </a:r>
          </a:p>
          <a:p>
            <a:pPr marL="285750" indent="-285750" algn="just">
              <a:lnSpc>
                <a:spcPct val="150000"/>
              </a:lnSpc>
              <a:buFont typeface="Arial" panose="020B0604020202020204" pitchFamily="34" charset="0"/>
              <a:buChar char="•"/>
            </a:pPr>
            <a:r>
              <a:rPr lang="en-GB" sz="1400" b="0" i="0" u="none" strike="noStrike" baseline="0" dirty="0">
                <a:latin typeface="Palatino-Roman"/>
              </a:rPr>
              <a:t>Therefore, the cumulative backup on Thursday evening copies all three files: File 4, File 5, and File 6. </a:t>
            </a:r>
          </a:p>
          <a:p>
            <a:pPr marL="285750" indent="-285750" algn="just">
              <a:lnSpc>
                <a:spcPct val="150000"/>
              </a:lnSpc>
              <a:buFont typeface="Arial" panose="020B0604020202020204" pitchFamily="34" charset="0"/>
              <a:buChar char="•"/>
            </a:pPr>
            <a:r>
              <a:rPr lang="en-GB" sz="1400" b="0" i="0" u="none" strike="noStrike" baseline="0" dirty="0">
                <a:latin typeface="Palatino-Roman"/>
              </a:rPr>
              <a:t>On Friday morning, data corruption occurs that requires data restoration using backup copies. </a:t>
            </a:r>
          </a:p>
          <a:p>
            <a:pPr marL="285750" indent="-285750" algn="just">
              <a:lnSpc>
                <a:spcPct val="150000"/>
              </a:lnSpc>
              <a:buFont typeface="Arial" panose="020B0604020202020204" pitchFamily="34" charset="0"/>
              <a:buChar char="•"/>
            </a:pPr>
            <a:r>
              <a:rPr lang="en-GB" sz="1400" b="0" i="0" u="none" strike="noStrike" baseline="0" dirty="0">
                <a:latin typeface="Palatino-Roman"/>
              </a:rPr>
              <a:t>The first step in restoring data is to restore all the data from the full backup of Monday evening. </a:t>
            </a:r>
          </a:p>
          <a:p>
            <a:pPr marL="285750" indent="-285750" algn="just">
              <a:lnSpc>
                <a:spcPct val="150000"/>
              </a:lnSpc>
              <a:buFont typeface="Arial" panose="020B0604020202020204" pitchFamily="34" charset="0"/>
              <a:buChar char="•"/>
            </a:pPr>
            <a:r>
              <a:rPr lang="en-GB" sz="1400" b="0" i="0" u="none" strike="noStrike" baseline="0" dirty="0">
                <a:latin typeface="Palatino-Roman"/>
              </a:rPr>
              <a:t>The next step is to apply only the latest cumulative backup, which is taken on Thursday evening.</a:t>
            </a:r>
          </a:p>
          <a:p>
            <a:pPr marL="285750" indent="-285750" algn="just">
              <a:lnSpc>
                <a:spcPct val="150000"/>
              </a:lnSpc>
              <a:buFont typeface="Arial" panose="020B0604020202020204" pitchFamily="34" charset="0"/>
              <a:buChar char="•"/>
            </a:pPr>
            <a:r>
              <a:rPr lang="en-GB" sz="1400" b="0" i="0" u="none" strike="noStrike" baseline="0" dirty="0">
                <a:latin typeface="Palatino-Roman"/>
              </a:rPr>
              <a:t>In this way, the production data can be recovered faster because its needs only two copies of data — the last full backup and the latest cumulative backup.</a:t>
            </a:r>
            <a:endParaRPr lang="en-IN" sz="1400" dirty="0"/>
          </a:p>
        </p:txBody>
      </p:sp>
    </p:spTree>
    <p:extLst>
      <p:ext uri="{BB962C8B-B14F-4D97-AF65-F5344CB8AC3E}">
        <p14:creationId xmlns:p14="http://schemas.microsoft.com/office/powerpoint/2010/main" val="109879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B06A6-213B-025E-1CFA-7AA273FA1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269A2-94B6-0CBC-FCBE-7349EA8AFC49}"/>
              </a:ext>
            </a:extLst>
          </p:cNvPr>
          <p:cNvSpPr>
            <a:spLocks noGrp="1"/>
          </p:cNvSpPr>
          <p:nvPr>
            <p:ph type="title"/>
          </p:nvPr>
        </p:nvSpPr>
        <p:spPr>
          <a:xfrm>
            <a:off x="1142108" y="533400"/>
            <a:ext cx="7202776" cy="762000"/>
          </a:xfrm>
        </p:spPr>
        <p:txBody>
          <a:bodyPr/>
          <a:lstStyle/>
          <a:p>
            <a:pPr algn="ctr"/>
            <a:r>
              <a:rPr lang="en-US" sz="2100" b="1" dirty="0">
                <a:solidFill>
                  <a:srgbClr val="C00000"/>
                </a:solidFill>
                <a:latin typeface="Book Antiqua" panose="02040602050305030304" pitchFamily="18" charset="0"/>
              </a:rPr>
              <a:t>Recovery Considerations</a:t>
            </a:r>
            <a:endParaRPr lang="fa-IR" sz="2100" b="1"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14945576-F418-7FC4-5B6E-B86CB6934ACF}"/>
              </a:ext>
            </a:extLst>
          </p:cNvPr>
          <p:cNvSpPr>
            <a:spLocks noGrp="1"/>
          </p:cNvSpPr>
          <p:nvPr>
            <p:ph idx="1"/>
          </p:nvPr>
        </p:nvSpPr>
        <p:spPr>
          <a:xfrm>
            <a:off x="533400" y="1320800"/>
            <a:ext cx="8229600" cy="4191000"/>
          </a:xfrm>
        </p:spPr>
        <p:txBody>
          <a:bodyPr>
            <a:noAutofit/>
          </a:bodyPr>
          <a:lstStyle/>
          <a:p>
            <a:pPr algn="just" rtl="0">
              <a:lnSpc>
                <a:spcPct val="150000"/>
              </a:lnSpc>
            </a:pPr>
            <a:r>
              <a:rPr lang="en-US" sz="1700" dirty="0">
                <a:solidFill>
                  <a:schemeClr val="tx1"/>
                </a:solidFill>
                <a:latin typeface="Bookman Old Style" panose="02050604050505020204" pitchFamily="18" charset="0"/>
              </a:rPr>
              <a:t>RPO and RTO are major considerations when planning a backup strategy.</a:t>
            </a:r>
          </a:p>
          <a:p>
            <a:pPr algn="just" rtl="0">
              <a:lnSpc>
                <a:spcPct val="150000"/>
              </a:lnSpc>
            </a:pPr>
            <a:r>
              <a:rPr lang="en-US" sz="1700" dirty="0">
                <a:solidFill>
                  <a:schemeClr val="tx1"/>
                </a:solidFill>
                <a:latin typeface="Bookman Old Style" panose="02050604050505020204" pitchFamily="18" charset="0"/>
              </a:rPr>
              <a:t>The retention period for a backup is also derived from an RPO specified for operational recovery.</a:t>
            </a:r>
          </a:p>
          <a:p>
            <a:pPr algn="just" rtl="0">
              <a:lnSpc>
                <a:spcPct val="150000"/>
              </a:lnSpc>
            </a:pPr>
            <a:r>
              <a:rPr lang="en-US" sz="1700" dirty="0">
                <a:solidFill>
                  <a:schemeClr val="tx1"/>
                </a:solidFill>
                <a:latin typeface="Bookman Old Style" panose="02050604050505020204" pitchFamily="18" charset="0"/>
              </a:rPr>
              <a:t>If short retention periods are specified for backups, it may not be possible to recover all the data needed for the requested recovery point, as some data may be older than the retention period.</a:t>
            </a:r>
          </a:p>
          <a:p>
            <a:pPr algn="just" rtl="0">
              <a:lnSpc>
                <a:spcPct val="150000"/>
              </a:lnSpc>
            </a:pPr>
            <a:endParaRPr lang="fa-IR" sz="1700" b="1" dirty="0">
              <a:solidFill>
                <a:schemeClr val="tx1"/>
              </a:solidFill>
              <a:effectLst>
                <a:outerShdw blurRad="38100" dist="38100" dir="2700000" algn="tl">
                  <a:srgbClr val="000000">
                    <a:alpha val="43137"/>
                  </a:srgbClr>
                </a:outerShdw>
              </a:effectLst>
              <a:latin typeface="Bookman Old Style" panose="02050604050505020204" pitchFamily="18" charset="0"/>
            </a:endParaRPr>
          </a:p>
        </p:txBody>
      </p:sp>
      <p:sp>
        <p:nvSpPr>
          <p:cNvPr id="5" name="Slide Number Placeholder 4">
            <a:extLst>
              <a:ext uri="{FF2B5EF4-FFF2-40B4-BE49-F238E27FC236}">
                <a16:creationId xmlns:a16="http://schemas.microsoft.com/office/drawing/2014/main" id="{08580F9B-9ABE-A00E-52AF-F22E88BABFD3}"/>
              </a:ext>
            </a:extLst>
          </p:cNvPr>
          <p:cNvSpPr>
            <a:spLocks noGrp="1"/>
          </p:cNvSpPr>
          <p:nvPr>
            <p:ph type="sldNum" sz="quarter" idx="12"/>
          </p:nvPr>
        </p:nvSpPr>
        <p:spPr>
          <a:xfrm>
            <a:off x="7601739" y="6172201"/>
            <a:ext cx="743144" cy="273049"/>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5137D0E-4A4F-4307-8994-C1891D747D59}" type="slidenum">
              <a:rPr lang="en-US" smtClean="0"/>
              <a:pPr/>
              <a:t>15</a:t>
            </a:fld>
            <a:endParaRPr lang="en-US"/>
          </a:p>
        </p:txBody>
      </p:sp>
    </p:spTree>
    <p:extLst>
      <p:ext uri="{BB962C8B-B14F-4D97-AF65-F5344CB8AC3E}">
        <p14:creationId xmlns:p14="http://schemas.microsoft.com/office/powerpoint/2010/main" val="214624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632B-1A3D-EC2A-E99B-744F6D966903}"/>
              </a:ext>
            </a:extLst>
          </p:cNvPr>
          <p:cNvSpPr>
            <a:spLocks noGrp="1"/>
          </p:cNvSpPr>
          <p:nvPr>
            <p:ph type="title"/>
          </p:nvPr>
        </p:nvSpPr>
        <p:spPr/>
        <p:txBody>
          <a:bodyPr/>
          <a:lstStyle/>
          <a:p>
            <a:pPr algn="ctr"/>
            <a:r>
              <a:rPr lang="en-GB" sz="2100" dirty="0">
                <a:solidFill>
                  <a:srgbClr val="C00000"/>
                </a:solidFill>
                <a:latin typeface="Book Antiqua" panose="02040602050305030304" pitchFamily="18" charset="0"/>
              </a:rPr>
              <a:t>Quiz : Question-1</a:t>
            </a:r>
            <a:endParaRPr lang="en-IN" sz="2100" dirty="0">
              <a:solidFill>
                <a:srgbClr val="C00000"/>
              </a:solidFill>
              <a:latin typeface="Book Antiqua" panose="02040602050305030304" pitchFamily="18" charset="0"/>
            </a:endParaRPr>
          </a:p>
        </p:txBody>
      </p:sp>
      <p:graphicFrame>
        <p:nvGraphicFramePr>
          <p:cNvPr id="7" name="Content Placeholder 6">
            <a:extLst>
              <a:ext uri="{FF2B5EF4-FFF2-40B4-BE49-F238E27FC236}">
                <a16:creationId xmlns:a16="http://schemas.microsoft.com/office/drawing/2014/main" id="{B916F649-344A-7DB1-1D13-6CD0461D5F82}"/>
              </a:ext>
            </a:extLst>
          </p:cNvPr>
          <p:cNvGraphicFramePr>
            <a:graphicFrameLocks noGrp="1"/>
          </p:cNvGraphicFramePr>
          <p:nvPr>
            <p:ph idx="1"/>
            <p:extLst>
              <p:ext uri="{D42A27DB-BD31-4B8C-83A1-F6EECF244321}">
                <p14:modId xmlns:p14="http://schemas.microsoft.com/office/powerpoint/2010/main" val="3977295879"/>
              </p:ext>
            </p:extLst>
          </p:nvPr>
        </p:nvGraphicFramePr>
        <p:xfrm>
          <a:off x="838200" y="1752600"/>
          <a:ext cx="7543800" cy="2560320"/>
        </p:xfrm>
        <a:graphic>
          <a:graphicData uri="http://schemas.openxmlformats.org/drawingml/2006/table">
            <a:tbl>
              <a:tblPr firstRow="1" firstCol="1" bandRow="1"/>
              <a:tblGrid>
                <a:gridCol w="7543800">
                  <a:extLst>
                    <a:ext uri="{9D8B030D-6E8A-4147-A177-3AD203B41FA5}">
                      <a16:colId xmlns:a16="http://schemas.microsoft.com/office/drawing/2014/main" val="1379437634"/>
                    </a:ext>
                  </a:extLst>
                </a:gridCol>
              </a:tblGrid>
              <a:tr h="1367515">
                <a:tc>
                  <a:txBody>
                    <a:bodyPr/>
                    <a:lstStyle/>
                    <a:p>
                      <a:pPr algn="just">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You have 5 files: A, B, C, D, E. The below given actions are to be performed.</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1</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Full Backup</a:t>
                      </a:r>
                    </a:p>
                    <a:p>
                      <a:pPr>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2</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–Changed: C ;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backup</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3</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–Changed: A, D ;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backup</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4</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–Changed: E ;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backup</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lgn="just">
                        <a:buNone/>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a:t>
                      </a:r>
                    </a:p>
                    <a:p>
                      <a:pPr algn="just">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Answer the following questions: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 Full backup is implemented on Day 1.</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an Incremental backup is implemented for Day 2, Day 3 and Day 4.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Steps required to Restore data entirely for the Backup done from Day 1 to Day 4</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What happens to restore operation, if any of the I</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ncremental backup file is missing?</a:t>
                      </a:r>
                    </a:p>
                    <a:p>
                      <a:pPr marL="342900" lvl="0" indent="-342900" algn="just">
                        <a:buFont typeface="+mj-lt"/>
                        <a:buAutoNum type="romanLcParenBoth"/>
                      </a:pP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8077" marR="4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3397615"/>
                  </a:ext>
                </a:extLst>
              </a:tr>
            </a:tbl>
          </a:graphicData>
        </a:graphic>
      </p:graphicFrame>
      <p:sp>
        <p:nvSpPr>
          <p:cNvPr id="4" name="Footer Placeholder 3">
            <a:extLst>
              <a:ext uri="{FF2B5EF4-FFF2-40B4-BE49-F238E27FC236}">
                <a16:creationId xmlns:a16="http://schemas.microsoft.com/office/drawing/2014/main" id="{F92DB9CD-EEC3-05AD-176C-40820F13A7A2}"/>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42AF2488-6740-697C-7375-30222F2B2BAC}"/>
              </a:ext>
            </a:extLst>
          </p:cNvPr>
          <p:cNvSpPr>
            <a:spLocks noGrp="1"/>
          </p:cNvSpPr>
          <p:nvPr>
            <p:ph type="sldNum" sz="quarter" idx="11"/>
          </p:nvPr>
        </p:nvSpPr>
        <p:spPr/>
        <p:txBody>
          <a:bodyPr/>
          <a:lstStyle/>
          <a:p>
            <a:pPr>
              <a:defRPr/>
            </a:pPr>
            <a:fld id="{5BA1DFFF-3F85-458B-986A-7762775E0CEF}" type="slidenum">
              <a:rPr lang="en-US" smtClean="0"/>
              <a:pPr>
                <a:defRPr/>
              </a:pPr>
              <a:t>16</a:t>
            </a:fld>
            <a:endParaRPr lang="en-US"/>
          </a:p>
        </p:txBody>
      </p:sp>
    </p:spTree>
    <p:extLst>
      <p:ext uri="{BB962C8B-B14F-4D97-AF65-F5344CB8AC3E}">
        <p14:creationId xmlns:p14="http://schemas.microsoft.com/office/powerpoint/2010/main" val="4198792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4198-2651-1556-2642-F41CB9320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797B9-7DC4-62C9-C11C-4B1CDC16B923}"/>
              </a:ext>
            </a:extLst>
          </p:cNvPr>
          <p:cNvSpPr>
            <a:spLocks noGrp="1"/>
          </p:cNvSpPr>
          <p:nvPr>
            <p:ph type="title"/>
          </p:nvPr>
        </p:nvSpPr>
        <p:spPr/>
        <p:txBody>
          <a:bodyPr/>
          <a:lstStyle/>
          <a:p>
            <a:pPr algn="ctr"/>
            <a:r>
              <a:rPr lang="en-GB" sz="2100" dirty="0">
                <a:solidFill>
                  <a:srgbClr val="C00000"/>
                </a:solidFill>
                <a:latin typeface="Book Antiqua" panose="02040602050305030304" pitchFamily="18" charset="0"/>
              </a:rPr>
              <a:t>Quiz : Answer-1</a:t>
            </a:r>
            <a:endParaRPr lang="en-IN" sz="2100" dirty="0">
              <a:solidFill>
                <a:srgbClr val="C00000"/>
              </a:solidFill>
              <a:latin typeface="Book Antiqua" panose="02040602050305030304" pitchFamily="18" charset="0"/>
            </a:endParaRPr>
          </a:p>
        </p:txBody>
      </p:sp>
      <p:graphicFrame>
        <p:nvGraphicFramePr>
          <p:cNvPr id="7" name="Content Placeholder 6">
            <a:extLst>
              <a:ext uri="{FF2B5EF4-FFF2-40B4-BE49-F238E27FC236}">
                <a16:creationId xmlns:a16="http://schemas.microsoft.com/office/drawing/2014/main" id="{F446C325-69E7-6A07-70D3-E766AA4BB636}"/>
              </a:ext>
            </a:extLst>
          </p:cNvPr>
          <p:cNvGraphicFramePr>
            <a:graphicFrameLocks noGrp="1"/>
          </p:cNvGraphicFramePr>
          <p:nvPr>
            <p:ph idx="1"/>
            <p:extLst>
              <p:ext uri="{D42A27DB-BD31-4B8C-83A1-F6EECF244321}">
                <p14:modId xmlns:p14="http://schemas.microsoft.com/office/powerpoint/2010/main" val="2710716072"/>
              </p:ext>
            </p:extLst>
          </p:nvPr>
        </p:nvGraphicFramePr>
        <p:xfrm>
          <a:off x="457200" y="685800"/>
          <a:ext cx="8382000" cy="5273040"/>
        </p:xfrm>
        <a:graphic>
          <a:graphicData uri="http://schemas.openxmlformats.org/drawingml/2006/table">
            <a:tbl>
              <a:tblPr firstRow="1" firstCol="1" bandRow="1"/>
              <a:tblGrid>
                <a:gridCol w="8382000">
                  <a:extLst>
                    <a:ext uri="{9D8B030D-6E8A-4147-A177-3AD203B41FA5}">
                      <a16:colId xmlns:a16="http://schemas.microsoft.com/office/drawing/2014/main" val="1379437634"/>
                    </a:ext>
                  </a:extLst>
                </a:gridCol>
              </a:tblGrid>
              <a:tr h="1367515">
                <a:tc>
                  <a:txBody>
                    <a:bodyPr/>
                    <a:lstStyle/>
                    <a:p>
                      <a:pPr algn="just">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You have 5 files: A, B, C, D, E. The below given actions are to be performed.</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1</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Full Backup</a:t>
                      </a:r>
                    </a:p>
                    <a:p>
                      <a:pPr>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2</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–Changed: C ;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backup</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3</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–Changed: A, D ;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backup</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4</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–Changed: E ;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backup</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lgn="just">
                        <a:buNone/>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a:t>
                      </a:r>
                    </a:p>
                    <a:p>
                      <a:pPr algn="just">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Answer the following questions: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 Full backup is implemented on Day 1.</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an Incremental backup is implemented for Day 2, Day 3 and Day 4.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Steps required to Restore data entirely for the Backup done from Day 1 to Day 4</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What happens to restore operation, if any of the I</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ncremental backup file is missing?</a:t>
                      </a:r>
                    </a:p>
                    <a:p>
                      <a:pPr marL="342900" lvl="0" indent="-342900" algn="just">
                        <a:buFont typeface="+mj-lt"/>
                        <a:buAutoNum type="romanLcParenBoth"/>
                      </a:pP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8077" marR="4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3397615"/>
                  </a:ext>
                </a:extLst>
              </a:tr>
              <a:tr h="1282045">
                <a:tc>
                  <a: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GB" sz="1400" b="1" i="0" dirty="0">
                          <a:solidFill>
                            <a:srgbClr val="0000FF"/>
                          </a:solidFill>
                          <a:latin typeface="Book Antiqua" panose="02040602050305030304" pitchFamily="18" charset="0"/>
                        </a:rPr>
                        <a:t>Incremental backup </a:t>
                      </a:r>
                      <a:r>
                        <a:rPr lang="en-GB" sz="1400" b="0" i="0" u="none" strike="noStrike" baseline="0" dirty="0">
                          <a:latin typeface="Book Antiqua" panose="02040602050305030304" pitchFamily="18" charset="0"/>
                        </a:rPr>
                        <a:t>copies the data that has changed since the last full or incremental backup, whichever has occurred more recently. </a:t>
                      </a:r>
                    </a:p>
                    <a:p>
                      <a:pPr marL="342900" lvl="0" indent="-342900">
                        <a:buFont typeface="+mj-lt"/>
                        <a:buAutoNum type="romanLcParenBoth"/>
                      </a:pPr>
                      <a:endParaRPr lang="en-IN" sz="10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buFont typeface="+mj-lt"/>
                        <a:buAutoNum type="romanLcParenBoth"/>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Day 1 - Backup: A, B, C, D, E</a:t>
                      </a:r>
                    </a:p>
                    <a:p>
                      <a:pPr marL="342900" lvl="0" indent="-342900">
                        <a:buFont typeface="+mj-lt"/>
                        <a:buAutoNum type="romanLcParenBoth"/>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Day 2 - Backup Set: [C], Day 3 - Backup Set: [A, D] and Day 4 - Backup Set: [E]</a:t>
                      </a: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Steps to Restore data entirely</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tabLst>
                          <a:tab pos="457200" algn="l"/>
                          <a:tab pos="2868930" algn="l"/>
                        </a:tabLst>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Full Backup (Day 1)</a:t>
                      </a:r>
                    </a:p>
                    <a:p>
                      <a:pPr marL="342900" lvl="0" indent="-342900" algn="just">
                        <a:buFont typeface="+mj-lt"/>
                        <a:buAutoNum type="arabicPeriod"/>
                        <a:tabLst>
                          <a:tab pos="457200" algn="l"/>
                          <a:tab pos="2868930" algn="l"/>
                        </a:tabLst>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Day 2</a:t>
                      </a:r>
                    </a:p>
                    <a:p>
                      <a:pPr marL="342900" lvl="0" indent="-342900" algn="just">
                        <a:buFont typeface="+mj-lt"/>
                        <a:buAutoNum type="arabicPeriod"/>
                        <a:tabLst>
                          <a:tab pos="457200" algn="l"/>
                          <a:tab pos="2868930" algn="l"/>
                        </a:tabLst>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Day 3</a:t>
                      </a:r>
                    </a:p>
                    <a:p>
                      <a:pPr marL="342900" lvl="0" indent="-342900" algn="just">
                        <a:buFont typeface="+mj-lt"/>
                        <a:buAutoNum type="arabicPeriod"/>
                        <a:tabLst>
                          <a:tab pos="457200" algn="l"/>
                          <a:tab pos="2868930" algn="l"/>
                        </a:tabLst>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Incremental Day 4</a:t>
                      </a:r>
                    </a:p>
                    <a:p>
                      <a:pPr marL="287655" indent="-287655">
                        <a:buNone/>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All increments are required</a:t>
                      </a:r>
                    </a:p>
                    <a:p>
                      <a:pPr marL="287655" indent="-287655">
                        <a:buNone/>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(iv) If any incremental backup is missing, restore will be incomplete.</a:t>
                      </a:r>
                    </a:p>
                    <a:p>
                      <a:pPr>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txBody>
                  <a:tcPr marL="48077" marR="4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1808881"/>
                  </a:ext>
                </a:extLst>
              </a:tr>
            </a:tbl>
          </a:graphicData>
        </a:graphic>
      </p:graphicFrame>
      <p:sp>
        <p:nvSpPr>
          <p:cNvPr id="4" name="Footer Placeholder 3">
            <a:extLst>
              <a:ext uri="{FF2B5EF4-FFF2-40B4-BE49-F238E27FC236}">
                <a16:creationId xmlns:a16="http://schemas.microsoft.com/office/drawing/2014/main" id="{B80A3165-2881-822C-D18A-9F9C4663D216}"/>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B5082B33-9B40-1919-EB8F-9498FF7FDEE2}"/>
              </a:ext>
            </a:extLst>
          </p:cNvPr>
          <p:cNvSpPr>
            <a:spLocks noGrp="1"/>
          </p:cNvSpPr>
          <p:nvPr>
            <p:ph type="sldNum" sz="quarter" idx="11"/>
          </p:nvPr>
        </p:nvSpPr>
        <p:spPr/>
        <p:txBody>
          <a:bodyPr/>
          <a:lstStyle/>
          <a:p>
            <a:pPr>
              <a:defRPr/>
            </a:pPr>
            <a:fld id="{5BA1DFFF-3F85-458B-986A-7762775E0CEF}" type="slidenum">
              <a:rPr lang="en-US" smtClean="0"/>
              <a:pPr>
                <a:defRPr/>
              </a:pPr>
              <a:t>17</a:t>
            </a:fld>
            <a:endParaRPr lang="en-US"/>
          </a:p>
        </p:txBody>
      </p:sp>
    </p:spTree>
    <p:extLst>
      <p:ext uri="{BB962C8B-B14F-4D97-AF65-F5344CB8AC3E}">
        <p14:creationId xmlns:p14="http://schemas.microsoft.com/office/powerpoint/2010/main" val="3929534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75C8D-A79D-1A88-BF0F-293E85933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8D8F6-A322-28A7-EA6A-E36E11C71146}"/>
              </a:ext>
            </a:extLst>
          </p:cNvPr>
          <p:cNvSpPr>
            <a:spLocks noGrp="1"/>
          </p:cNvSpPr>
          <p:nvPr>
            <p:ph type="title"/>
          </p:nvPr>
        </p:nvSpPr>
        <p:spPr/>
        <p:txBody>
          <a:bodyPr/>
          <a:lstStyle/>
          <a:p>
            <a:pPr algn="ctr"/>
            <a:r>
              <a:rPr lang="en-GB" dirty="0">
                <a:solidFill>
                  <a:srgbClr val="C00000"/>
                </a:solidFill>
                <a:latin typeface="Book Antiqua" panose="02040602050305030304" pitchFamily="18" charset="0"/>
              </a:rPr>
              <a:t>Quiz : Question-2</a:t>
            </a:r>
            <a:endParaRPr lang="en-IN" dirty="0"/>
          </a:p>
        </p:txBody>
      </p:sp>
      <p:graphicFrame>
        <p:nvGraphicFramePr>
          <p:cNvPr id="7" name="Content Placeholder 6">
            <a:extLst>
              <a:ext uri="{FF2B5EF4-FFF2-40B4-BE49-F238E27FC236}">
                <a16:creationId xmlns:a16="http://schemas.microsoft.com/office/drawing/2014/main" id="{977D704C-3119-7C39-667E-49E894151808}"/>
              </a:ext>
            </a:extLst>
          </p:cNvPr>
          <p:cNvGraphicFramePr>
            <a:graphicFrameLocks noGrp="1"/>
          </p:cNvGraphicFramePr>
          <p:nvPr>
            <p:ph idx="1"/>
            <p:extLst>
              <p:ext uri="{D42A27DB-BD31-4B8C-83A1-F6EECF244321}">
                <p14:modId xmlns:p14="http://schemas.microsoft.com/office/powerpoint/2010/main" val="1470491309"/>
              </p:ext>
            </p:extLst>
          </p:nvPr>
        </p:nvGraphicFramePr>
        <p:xfrm>
          <a:off x="495300" y="1143000"/>
          <a:ext cx="8001000" cy="3147060"/>
        </p:xfrm>
        <a:graphic>
          <a:graphicData uri="http://schemas.openxmlformats.org/drawingml/2006/table">
            <a:tbl>
              <a:tblPr firstRow="1" firstCol="1" bandRow="1"/>
              <a:tblGrid>
                <a:gridCol w="8001000">
                  <a:extLst>
                    <a:ext uri="{9D8B030D-6E8A-4147-A177-3AD203B41FA5}">
                      <a16:colId xmlns:a16="http://schemas.microsoft.com/office/drawing/2014/main" val="1379437634"/>
                    </a:ext>
                  </a:extLst>
                </a:gridCol>
              </a:tblGrid>
              <a:tr h="2532040">
                <a:tc>
                  <a:txBody>
                    <a:bodyPr/>
                    <a:lstStyle/>
                    <a:p>
                      <a:pPr algn="just">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You have 5 files: A, B, C, D, E. The below given actions are to be performed adopting </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Cumulative (Differential) Backup.</a:t>
                      </a:r>
                    </a:p>
                    <a:p>
                      <a:pPr marL="228600">
                        <a:lnSpc>
                          <a:spcPct val="115000"/>
                        </a:lnSpc>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1</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Full Backup</a:t>
                      </a:r>
                    </a:p>
                    <a:p>
                      <a:pPr marL="228600">
                        <a:lnSpc>
                          <a:spcPct val="115000"/>
                        </a:lnSpc>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2</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Changed: C             </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3</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Changed: A, D</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4</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Changed: E</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Answer the following questions: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 Full backup is implemented on Day 1.</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 </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Cumulative (Differential) Backup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is implemented for Day 2, Day 3 and Day 4.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Steps required to Restore data entirely for the Backup done from Day 1 to Day 4</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Is there any requirement for restoring Day 2 or Day 3 differentials?</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lgn="just">
                        <a:buNone/>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a:t>
                      </a:r>
                    </a:p>
                  </a:txBody>
                  <a:tcPr marL="48077" marR="4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657744"/>
                  </a:ext>
                </a:extLst>
              </a:tr>
            </a:tbl>
          </a:graphicData>
        </a:graphic>
      </p:graphicFrame>
      <p:sp>
        <p:nvSpPr>
          <p:cNvPr id="4" name="Footer Placeholder 3">
            <a:extLst>
              <a:ext uri="{FF2B5EF4-FFF2-40B4-BE49-F238E27FC236}">
                <a16:creationId xmlns:a16="http://schemas.microsoft.com/office/drawing/2014/main" id="{4F542FEB-BAE7-1B5F-F3D4-9168B92F0A52}"/>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AE4CD0BE-1509-2499-CB23-DD19DD15532B}"/>
              </a:ext>
            </a:extLst>
          </p:cNvPr>
          <p:cNvSpPr>
            <a:spLocks noGrp="1"/>
          </p:cNvSpPr>
          <p:nvPr>
            <p:ph type="sldNum" sz="quarter" idx="11"/>
          </p:nvPr>
        </p:nvSpPr>
        <p:spPr/>
        <p:txBody>
          <a:bodyPr/>
          <a:lstStyle/>
          <a:p>
            <a:pPr>
              <a:defRPr/>
            </a:pPr>
            <a:fld id="{5BA1DFFF-3F85-458B-986A-7762775E0CEF}" type="slidenum">
              <a:rPr lang="en-US" smtClean="0"/>
              <a:pPr>
                <a:defRPr/>
              </a:pPr>
              <a:t>18</a:t>
            </a:fld>
            <a:endParaRPr lang="en-US"/>
          </a:p>
        </p:txBody>
      </p:sp>
    </p:spTree>
    <p:extLst>
      <p:ext uri="{BB962C8B-B14F-4D97-AF65-F5344CB8AC3E}">
        <p14:creationId xmlns:p14="http://schemas.microsoft.com/office/powerpoint/2010/main" val="3731155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5709-7CE1-E113-F3EF-752BB3044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557BC-5126-C213-BD19-F8D0F550C8EC}"/>
              </a:ext>
            </a:extLst>
          </p:cNvPr>
          <p:cNvSpPr>
            <a:spLocks noGrp="1"/>
          </p:cNvSpPr>
          <p:nvPr>
            <p:ph type="title"/>
          </p:nvPr>
        </p:nvSpPr>
        <p:spPr/>
        <p:txBody>
          <a:bodyPr/>
          <a:lstStyle/>
          <a:p>
            <a:pPr algn="ctr"/>
            <a:r>
              <a:rPr lang="en-GB" dirty="0">
                <a:solidFill>
                  <a:srgbClr val="C00000"/>
                </a:solidFill>
                <a:latin typeface="Book Antiqua" panose="02040602050305030304" pitchFamily="18" charset="0"/>
              </a:rPr>
              <a:t>Quiz : Answer-2</a:t>
            </a:r>
            <a:endParaRPr lang="en-IN" dirty="0"/>
          </a:p>
        </p:txBody>
      </p:sp>
      <p:graphicFrame>
        <p:nvGraphicFramePr>
          <p:cNvPr id="7" name="Content Placeholder 6">
            <a:extLst>
              <a:ext uri="{FF2B5EF4-FFF2-40B4-BE49-F238E27FC236}">
                <a16:creationId xmlns:a16="http://schemas.microsoft.com/office/drawing/2014/main" id="{64C098B4-97B0-BB50-F059-C9388254CEEC}"/>
              </a:ext>
            </a:extLst>
          </p:cNvPr>
          <p:cNvGraphicFramePr>
            <a:graphicFrameLocks noGrp="1"/>
          </p:cNvGraphicFramePr>
          <p:nvPr>
            <p:ph idx="1"/>
            <p:extLst>
              <p:ext uri="{D42A27DB-BD31-4B8C-83A1-F6EECF244321}">
                <p14:modId xmlns:p14="http://schemas.microsoft.com/office/powerpoint/2010/main" val="3360875333"/>
              </p:ext>
            </p:extLst>
          </p:nvPr>
        </p:nvGraphicFramePr>
        <p:xfrm>
          <a:off x="495300" y="1143000"/>
          <a:ext cx="8001000" cy="4640580"/>
        </p:xfrm>
        <a:graphic>
          <a:graphicData uri="http://schemas.openxmlformats.org/drawingml/2006/table">
            <a:tbl>
              <a:tblPr firstRow="1" firstCol="1" bandRow="1"/>
              <a:tblGrid>
                <a:gridCol w="8001000">
                  <a:extLst>
                    <a:ext uri="{9D8B030D-6E8A-4147-A177-3AD203B41FA5}">
                      <a16:colId xmlns:a16="http://schemas.microsoft.com/office/drawing/2014/main" val="1379437634"/>
                    </a:ext>
                  </a:extLst>
                </a:gridCol>
              </a:tblGrid>
              <a:tr h="2532040">
                <a:tc>
                  <a:txBody>
                    <a:bodyPr/>
                    <a:lstStyle/>
                    <a:p>
                      <a:pPr algn="just">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You have 5 files: A, B, C, D, E. The below given actions are to be performed adopting </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Cumulative (Differential) Backup.</a:t>
                      </a:r>
                    </a:p>
                    <a:p>
                      <a:pPr marL="228600">
                        <a:lnSpc>
                          <a:spcPct val="115000"/>
                        </a:lnSpc>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1</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Full Backup</a:t>
                      </a:r>
                    </a:p>
                    <a:p>
                      <a:pPr marL="228600">
                        <a:lnSpc>
                          <a:spcPct val="115000"/>
                        </a:lnSpc>
                        <a:buNone/>
                      </a:pP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2</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Changed: C             </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3</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Changed: A, D</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Day 4</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 Changed: E</a:t>
                      </a:r>
                      <a:b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b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buNone/>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Answer the following questions: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 Full backup is implemented on Day 1.</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List the Backup files if a </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Cumulative (Differential) Backup </a:t>
                      </a: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is implemented for Day 2, Day 3 and Day 4. </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Steps required to Restore data entirely for the Backup done from Day 1 to Day 4</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romanLcParenBoth"/>
                      </a:pPr>
                      <a:r>
                        <a:rPr lang="en-US" sz="1400" kern="100" dirty="0">
                          <a:effectLst/>
                          <a:latin typeface="Book Antiqua" panose="02040602050305030304" pitchFamily="18" charset="0"/>
                          <a:ea typeface="Times New Roman" panose="02020603050405020304" pitchFamily="18" charset="0"/>
                          <a:cs typeface="Times New Roman" panose="02020603050405020304" pitchFamily="18" charset="0"/>
                        </a:rPr>
                        <a:t>Is there any requirement for restoring Day 2 or Day 3 differentials?</a:t>
                      </a: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buNone/>
                      </a:pP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buNone/>
                      </a:pPr>
                      <a:endPar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endParaRPr>
                    </a:p>
                    <a:p>
                      <a:pPr>
                        <a:buNone/>
                      </a:pPr>
                      <a:r>
                        <a:rPr lang="en-IN" sz="1400" kern="100" dirty="0">
                          <a:solidFill>
                            <a:srgbClr val="0000FF"/>
                          </a:solidFill>
                          <a:effectLst/>
                          <a:latin typeface="Book Antiqua" panose="02040602050305030304" pitchFamily="18" charset="0"/>
                          <a:ea typeface="Times New Roman" panose="02020603050405020304" pitchFamily="18" charset="0"/>
                          <a:cs typeface="Times New Roman" panose="02020603050405020304" pitchFamily="18" charset="0"/>
                        </a:rPr>
                        <a:t>Cumulative (Differential) Backup</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all files changed since last Full Backup.</a:t>
                      </a:r>
                    </a:p>
                    <a:p>
                      <a:pPr marL="342900" lvl="0" indent="-342900">
                        <a:buFont typeface="+mj-lt"/>
                        <a:buAutoNum type="romanLcParenBoth"/>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Day 1 - Backup: A, B, C, D, E</a:t>
                      </a:r>
                    </a:p>
                    <a:p>
                      <a:pPr marL="342900" lvl="0" indent="-342900">
                        <a:buFont typeface="+mj-lt"/>
                        <a:buAutoNum type="romanLcParenBoth"/>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Day 2 - Backup: [C], Day 3 - Backup: [C, A, D], Day 4 - Backup: [C, A, D, E]</a:t>
                      </a:r>
                    </a:p>
                    <a:p>
                      <a:pPr marL="342900" lvl="0" indent="-342900" algn="just">
                        <a:buFont typeface="+mj-lt"/>
                        <a:buAutoNum type="romanLcParenBoth"/>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To Restore Data Entirely - Full Backup (Day 1) and Latest Cumulative Backup (Day 4)</a:t>
                      </a:r>
                    </a:p>
                    <a:p>
                      <a:pPr marL="342900" lvl="0" indent="-342900">
                        <a:buFont typeface="+mj-lt"/>
                        <a:buAutoNum type="romanLcParenBoth"/>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You </a:t>
                      </a:r>
                      <a:r>
                        <a:rPr lang="en-IN" sz="1400" b="1" kern="100" dirty="0">
                          <a:effectLst/>
                          <a:latin typeface="Book Antiqua" panose="02040602050305030304" pitchFamily="18" charset="0"/>
                          <a:ea typeface="Times New Roman" panose="02020603050405020304" pitchFamily="18" charset="0"/>
                          <a:cs typeface="Times New Roman" panose="02020603050405020304" pitchFamily="18" charset="0"/>
                        </a:rPr>
                        <a:t>do not</a:t>
                      </a: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need Day 2 or Day 3 differentials.</a:t>
                      </a:r>
                    </a:p>
                    <a:p>
                      <a:pPr algn="just">
                        <a:buNone/>
                      </a:pPr>
                      <a:r>
                        <a:rPr lang="en-IN" sz="1400" kern="100" dirty="0">
                          <a:effectLst/>
                          <a:latin typeface="Book Antiqua" panose="02040602050305030304" pitchFamily="18" charset="0"/>
                          <a:ea typeface="Times New Roman" panose="02020603050405020304" pitchFamily="18" charset="0"/>
                          <a:cs typeface="Times New Roman" panose="02020603050405020304" pitchFamily="18" charset="0"/>
                        </a:rPr>
                        <a:t> </a:t>
                      </a:r>
                    </a:p>
                  </a:txBody>
                  <a:tcPr marL="48077" marR="480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657744"/>
                  </a:ext>
                </a:extLst>
              </a:tr>
            </a:tbl>
          </a:graphicData>
        </a:graphic>
      </p:graphicFrame>
      <p:sp>
        <p:nvSpPr>
          <p:cNvPr id="4" name="Footer Placeholder 3">
            <a:extLst>
              <a:ext uri="{FF2B5EF4-FFF2-40B4-BE49-F238E27FC236}">
                <a16:creationId xmlns:a16="http://schemas.microsoft.com/office/drawing/2014/main" id="{BF1766D9-2C77-C5A5-810A-9C6C5E33FD19}"/>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7F6EB681-AE13-85D9-918E-EA5B7BFCF593}"/>
              </a:ext>
            </a:extLst>
          </p:cNvPr>
          <p:cNvSpPr>
            <a:spLocks noGrp="1"/>
          </p:cNvSpPr>
          <p:nvPr>
            <p:ph type="sldNum" sz="quarter" idx="11"/>
          </p:nvPr>
        </p:nvSpPr>
        <p:spPr/>
        <p:txBody>
          <a:bodyPr/>
          <a:lstStyle/>
          <a:p>
            <a:pPr>
              <a:defRPr/>
            </a:pPr>
            <a:fld id="{5BA1DFFF-3F85-458B-986A-7762775E0CEF}" type="slidenum">
              <a:rPr lang="en-US" smtClean="0"/>
              <a:pPr>
                <a:defRPr/>
              </a:pPr>
              <a:t>19</a:t>
            </a:fld>
            <a:endParaRPr lang="en-US"/>
          </a:p>
        </p:txBody>
      </p:sp>
    </p:spTree>
    <p:extLst>
      <p:ext uri="{BB962C8B-B14F-4D97-AF65-F5344CB8AC3E}">
        <p14:creationId xmlns:p14="http://schemas.microsoft.com/office/powerpoint/2010/main" val="2946726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07F16-8D22-98FE-4A02-8248D2BC3C14}"/>
              </a:ext>
            </a:extLst>
          </p:cNvPr>
          <p:cNvSpPr>
            <a:spLocks noGrp="1"/>
          </p:cNvSpPr>
          <p:nvPr>
            <p:ph type="title"/>
          </p:nvPr>
        </p:nvSpPr>
        <p:spPr/>
        <p:txBody>
          <a:bodyPr/>
          <a:lstStyle/>
          <a:p>
            <a:r>
              <a:rPr lang="en-US" sz="2100" b="1" dirty="0">
                <a:solidFill>
                  <a:srgbClr val="C00000"/>
                </a:solidFill>
                <a:latin typeface="Book Antiqua" panose="02040602050305030304" pitchFamily="18" charset="0"/>
              </a:rPr>
              <a:t>Recovery Considerations</a:t>
            </a:r>
            <a:endParaRPr lang="en-IN" sz="2100" dirty="0">
              <a:latin typeface="Book Antiqua" panose="02040602050305030304" pitchFamily="18" charset="0"/>
            </a:endParaRPr>
          </a:p>
        </p:txBody>
      </p:sp>
      <p:sp>
        <p:nvSpPr>
          <p:cNvPr id="3" name="Slide Number Placeholder 2">
            <a:extLst>
              <a:ext uri="{FF2B5EF4-FFF2-40B4-BE49-F238E27FC236}">
                <a16:creationId xmlns:a16="http://schemas.microsoft.com/office/drawing/2014/main" id="{B58E84CB-5C83-78E9-9012-0769B4EF4E7B}"/>
              </a:ext>
            </a:extLst>
          </p:cNvPr>
          <p:cNvSpPr>
            <a:spLocks noGrp="1"/>
          </p:cNvSpPr>
          <p:nvPr>
            <p:ph type="sldNum" sz="quarter" idx="10"/>
          </p:nvPr>
        </p:nvSpPr>
        <p:spPr/>
        <p:txBody>
          <a:bodyPr/>
          <a:lstStyle/>
          <a:p>
            <a:pPr>
              <a:defRPr/>
            </a:pPr>
            <a:fld id="{2F0FE6C8-51A2-4AA8-BE8B-722D435E963D}" type="slidenum">
              <a:rPr lang="en-US" smtClean="0"/>
              <a:pPr>
                <a:defRPr/>
              </a:pPr>
              <a:t>20</a:t>
            </a:fld>
            <a:endParaRPr lang="en-US"/>
          </a:p>
        </p:txBody>
      </p:sp>
      <p:sp>
        <p:nvSpPr>
          <p:cNvPr id="4" name="Footer Placeholder 3">
            <a:extLst>
              <a:ext uri="{FF2B5EF4-FFF2-40B4-BE49-F238E27FC236}">
                <a16:creationId xmlns:a16="http://schemas.microsoft.com/office/drawing/2014/main" id="{155E9D0A-AC78-BBF3-3F8B-C4C364857B8F}"/>
              </a:ext>
            </a:extLst>
          </p:cNvPr>
          <p:cNvSpPr>
            <a:spLocks noGrp="1"/>
          </p:cNvSpPr>
          <p:nvPr>
            <p:ph type="ftr" sz="quarter" idx="11"/>
          </p:nvPr>
        </p:nvSpPr>
        <p:spPr/>
        <p:txBody>
          <a:bodyPr/>
          <a:lstStyle/>
          <a:p>
            <a:pPr>
              <a:defRPr/>
            </a:pPr>
            <a:r>
              <a:rPr lang="en-US"/>
              <a:t>Module #: Module Name</a:t>
            </a:r>
            <a:endParaRPr lang="en-US" dirty="0"/>
          </a:p>
        </p:txBody>
      </p:sp>
      <p:sp>
        <p:nvSpPr>
          <p:cNvPr id="6" name="TextBox 5">
            <a:extLst>
              <a:ext uri="{FF2B5EF4-FFF2-40B4-BE49-F238E27FC236}">
                <a16:creationId xmlns:a16="http://schemas.microsoft.com/office/drawing/2014/main" id="{561FDA80-569C-667F-12F6-BE56A2C8B86F}"/>
              </a:ext>
            </a:extLst>
          </p:cNvPr>
          <p:cNvSpPr txBox="1"/>
          <p:nvPr/>
        </p:nvSpPr>
        <p:spPr>
          <a:xfrm>
            <a:off x="533400" y="685800"/>
            <a:ext cx="8153400" cy="516301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300" b="0" i="0" u="none" strike="noStrike" baseline="0" dirty="0">
                <a:latin typeface="Palatino-Roman"/>
              </a:rPr>
              <a:t>The retention period is a key consideration for recovery. </a:t>
            </a:r>
            <a:r>
              <a:rPr lang="en-GB" sz="1300" dirty="0">
                <a:latin typeface="Palatino-Roman"/>
              </a:rPr>
              <a:t> </a:t>
            </a:r>
            <a:r>
              <a:rPr lang="en-GB" sz="1300" b="0" i="0" u="none" strike="noStrike" baseline="0" dirty="0">
                <a:latin typeface="Palatino-Roman"/>
              </a:rPr>
              <a:t>The retention period for a backup is derived from an RPO. </a:t>
            </a:r>
          </a:p>
          <a:p>
            <a:pPr marL="285750" indent="-285750" algn="just">
              <a:lnSpc>
                <a:spcPct val="150000"/>
              </a:lnSpc>
              <a:buFont typeface="Arial" panose="020B0604020202020204" pitchFamily="34" charset="0"/>
              <a:buChar char="•"/>
            </a:pPr>
            <a:r>
              <a:rPr lang="en-GB" sz="1300" b="0" i="0" u="none" strike="noStrike" baseline="0" dirty="0">
                <a:latin typeface="Palatino-Roman"/>
              </a:rPr>
              <a:t>For example, users of an application might request to restore the application data from its backup copy, which was created a month ago. This determines the retention period for the backup. </a:t>
            </a:r>
          </a:p>
          <a:p>
            <a:pPr marL="285750" indent="-285750" algn="just">
              <a:lnSpc>
                <a:spcPct val="150000"/>
              </a:lnSpc>
              <a:buFont typeface="Arial" panose="020B0604020202020204" pitchFamily="34" charset="0"/>
              <a:buChar char="•"/>
            </a:pPr>
            <a:r>
              <a:rPr lang="en-GB" sz="1300" b="0" i="0" u="none" strike="noStrike" baseline="0" dirty="0">
                <a:latin typeface="Palatino-Roman"/>
              </a:rPr>
              <a:t>Therefore, the minimum retention period of this application data is one month. </a:t>
            </a:r>
          </a:p>
          <a:p>
            <a:pPr marL="285750" indent="-285750" algn="just">
              <a:lnSpc>
                <a:spcPct val="150000"/>
              </a:lnSpc>
              <a:buFont typeface="Arial" panose="020B0604020202020204" pitchFamily="34" charset="0"/>
              <a:buChar char="•"/>
            </a:pPr>
            <a:r>
              <a:rPr lang="en-GB" sz="1300" b="0" i="0" u="none" strike="noStrike" baseline="0" dirty="0">
                <a:latin typeface="Palatino-Roman"/>
              </a:rPr>
              <a:t>However, the organization might choose to retain the backup for a longer period of time because of internal policies or external factors, such as regulatory directives.</a:t>
            </a:r>
          </a:p>
          <a:p>
            <a:pPr marL="285750" indent="-285750" algn="just">
              <a:lnSpc>
                <a:spcPct val="150000"/>
              </a:lnSpc>
              <a:buFont typeface="Arial" panose="020B0604020202020204" pitchFamily="34" charset="0"/>
              <a:buChar char="•"/>
            </a:pPr>
            <a:r>
              <a:rPr lang="en-GB" sz="1300" b="0" i="0" u="none" strike="noStrike" baseline="0" dirty="0">
                <a:latin typeface="Palatino-Roman"/>
              </a:rPr>
              <a:t>If the recovery point is older than the retention period, it might not be possible to recover all the data required for the requested recovery point. Long retention periods can be defi ned for all backups, making it possible to meet any RPO within the defined retention periods. </a:t>
            </a:r>
          </a:p>
          <a:p>
            <a:pPr marL="285750" indent="-285750" algn="just">
              <a:lnSpc>
                <a:spcPct val="150000"/>
              </a:lnSpc>
              <a:buFont typeface="Arial" panose="020B0604020202020204" pitchFamily="34" charset="0"/>
              <a:buChar char="•"/>
            </a:pPr>
            <a:r>
              <a:rPr lang="en-GB" sz="1300" b="0" i="0" u="none" strike="noStrike" baseline="0" dirty="0">
                <a:latin typeface="Palatino-Roman"/>
              </a:rPr>
              <a:t>However, this requires a large storage space, which translates into higher cost. Therefore, while defining the retention period, </a:t>
            </a:r>
            <a:r>
              <a:rPr lang="en-GB" sz="1300" b="0" i="0" u="none" strike="noStrike" baseline="0" dirty="0" err="1">
                <a:latin typeface="Palatino-Roman"/>
              </a:rPr>
              <a:t>analyze</a:t>
            </a:r>
            <a:r>
              <a:rPr lang="en-GB" sz="1300" b="0" i="0" u="none" strike="noStrike" baseline="0" dirty="0">
                <a:latin typeface="Palatino-Roman"/>
              </a:rPr>
              <a:t> all the restore requests in the past and the allocated budget.</a:t>
            </a:r>
          </a:p>
          <a:p>
            <a:pPr marL="285750" indent="-285750" algn="just">
              <a:lnSpc>
                <a:spcPct val="150000"/>
              </a:lnSpc>
              <a:buFont typeface="Arial" panose="020B0604020202020204" pitchFamily="34" charset="0"/>
              <a:buChar char="•"/>
            </a:pPr>
            <a:r>
              <a:rPr lang="en-GB" sz="1300" b="0" i="0" u="none" strike="noStrike" baseline="0" dirty="0">
                <a:latin typeface="Palatino-Roman"/>
              </a:rPr>
              <a:t>RTO relates to the time taken by the recovery process. </a:t>
            </a:r>
          </a:p>
          <a:p>
            <a:pPr marL="285750" indent="-285750" algn="just">
              <a:lnSpc>
                <a:spcPct val="150000"/>
              </a:lnSpc>
              <a:buFont typeface="Arial" panose="020B0604020202020204" pitchFamily="34" charset="0"/>
              <a:buChar char="•"/>
            </a:pPr>
            <a:r>
              <a:rPr lang="en-GB" sz="1300" b="0" i="0" u="none" strike="noStrike" baseline="0" dirty="0">
                <a:latin typeface="Palatino-Roman"/>
              </a:rPr>
              <a:t>To meet the defined</a:t>
            </a:r>
            <a:r>
              <a:rPr lang="en-GB" sz="1300" dirty="0">
                <a:latin typeface="Palatino-Roman"/>
              </a:rPr>
              <a:t> </a:t>
            </a:r>
            <a:r>
              <a:rPr lang="en-GB" sz="1300" b="0" i="0" u="none" strike="noStrike" baseline="0" dirty="0">
                <a:latin typeface="Palatino-Roman"/>
              </a:rPr>
              <a:t>RTO, the business may choose the appropriate backup granularity to minimize recovery time. </a:t>
            </a:r>
          </a:p>
          <a:p>
            <a:pPr marL="285750" indent="-285750" algn="just">
              <a:lnSpc>
                <a:spcPct val="150000"/>
              </a:lnSpc>
              <a:buFont typeface="Arial" panose="020B0604020202020204" pitchFamily="34" charset="0"/>
              <a:buChar char="•"/>
            </a:pPr>
            <a:r>
              <a:rPr lang="en-GB" sz="1300" b="0" i="0" u="none" strike="noStrike" baseline="0" dirty="0">
                <a:latin typeface="Palatino-Roman"/>
              </a:rPr>
              <a:t>In a backup environment, RTO influences the type of backup media that should be used. For example, a restore from tapes takes longer to complete than a restore from disks.</a:t>
            </a:r>
            <a:endParaRPr lang="en-IN" sz="1300" dirty="0"/>
          </a:p>
        </p:txBody>
      </p:sp>
    </p:spTree>
    <p:extLst>
      <p:ext uri="{BB962C8B-B14F-4D97-AF65-F5344CB8AC3E}">
        <p14:creationId xmlns:p14="http://schemas.microsoft.com/office/powerpoint/2010/main" val="350049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762FD-93AA-8059-E0B0-51F928335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ECF23-2818-F5CC-9D4D-FA580A056C51}"/>
              </a:ext>
            </a:extLst>
          </p:cNvPr>
          <p:cNvSpPr>
            <a:spLocks noGrp="1"/>
          </p:cNvSpPr>
          <p:nvPr>
            <p:ph type="title"/>
          </p:nvPr>
        </p:nvSpPr>
        <p:spPr/>
        <p:txBody>
          <a:bodyPr/>
          <a:lstStyle/>
          <a:p>
            <a:r>
              <a:rPr lang="en-US" sz="2100" b="1" dirty="0">
                <a:solidFill>
                  <a:srgbClr val="C00000"/>
                </a:solidFill>
                <a:latin typeface="Book Antiqua" panose="02040602050305030304" pitchFamily="18" charset="0"/>
              </a:rPr>
              <a:t>Backup Methods</a:t>
            </a:r>
          </a:p>
        </p:txBody>
      </p:sp>
      <p:sp>
        <p:nvSpPr>
          <p:cNvPr id="5" name="Content Placeholder 4">
            <a:extLst>
              <a:ext uri="{FF2B5EF4-FFF2-40B4-BE49-F238E27FC236}">
                <a16:creationId xmlns:a16="http://schemas.microsoft.com/office/drawing/2014/main" id="{8CB57D2A-C221-10B7-33BD-49CB123BFECE}"/>
              </a:ext>
            </a:extLst>
          </p:cNvPr>
          <p:cNvSpPr>
            <a:spLocks noGrp="1"/>
          </p:cNvSpPr>
          <p:nvPr>
            <p:ph idx="1"/>
          </p:nvPr>
        </p:nvSpPr>
        <p:spPr>
          <a:xfrm>
            <a:off x="304800" y="1143000"/>
            <a:ext cx="8534400" cy="3276600"/>
          </a:xfrm>
        </p:spPr>
        <p:txBody>
          <a:bodyPr/>
          <a:lstStyle/>
          <a:p>
            <a:pPr algn="just"/>
            <a:r>
              <a:rPr lang="en-US" sz="1500" dirty="0">
                <a:solidFill>
                  <a:schemeClr val="tx1"/>
                </a:solidFill>
                <a:latin typeface="Book Antiqua" panose="02040602050305030304" pitchFamily="18" charset="0"/>
              </a:rPr>
              <a:t>Two methods of backup, based on the state of the application when the backup is performed</a:t>
            </a:r>
          </a:p>
          <a:p>
            <a:pPr lvl="1" algn="just"/>
            <a:r>
              <a:rPr lang="en-US" sz="1500" dirty="0">
                <a:solidFill>
                  <a:srgbClr val="0000FF"/>
                </a:solidFill>
                <a:latin typeface="Book Antiqua" panose="02040602050305030304" pitchFamily="18" charset="0"/>
              </a:rPr>
              <a:t>Hot or Online Backup</a:t>
            </a:r>
          </a:p>
          <a:p>
            <a:pPr lvl="2" algn="just"/>
            <a:r>
              <a:rPr lang="en-US" sz="1500" dirty="0">
                <a:solidFill>
                  <a:schemeClr val="tx1"/>
                </a:solidFill>
                <a:latin typeface="Book Antiqua" panose="02040602050305030304" pitchFamily="18" charset="0"/>
              </a:rPr>
              <a:t>Application is up and running, with users accessing their data during backup</a:t>
            </a:r>
          </a:p>
          <a:p>
            <a:pPr lvl="2" algn="just"/>
            <a:r>
              <a:rPr lang="en-US" sz="1500" dirty="0">
                <a:solidFill>
                  <a:schemeClr val="tx1"/>
                </a:solidFill>
                <a:latin typeface="Book Antiqua" panose="02040602050305030304" pitchFamily="18" charset="0"/>
              </a:rPr>
              <a:t>Open file agent can be used to backup open files</a:t>
            </a:r>
          </a:p>
          <a:p>
            <a:pPr lvl="1" algn="just"/>
            <a:r>
              <a:rPr lang="en-US" sz="1500" dirty="0">
                <a:solidFill>
                  <a:srgbClr val="0000FF"/>
                </a:solidFill>
                <a:latin typeface="Book Antiqua" panose="02040602050305030304" pitchFamily="18" charset="0"/>
              </a:rPr>
              <a:t>Cold or Offline Backup</a:t>
            </a:r>
          </a:p>
          <a:p>
            <a:pPr lvl="2" algn="just"/>
            <a:r>
              <a:rPr lang="en-US" sz="1500" dirty="0">
                <a:solidFill>
                  <a:schemeClr val="tx1"/>
                </a:solidFill>
                <a:latin typeface="Book Antiqua" panose="02040602050305030304" pitchFamily="18" charset="0"/>
              </a:rPr>
              <a:t>Requires application to be shutdown during the backup process</a:t>
            </a:r>
          </a:p>
          <a:p>
            <a:pPr algn="just"/>
            <a:endParaRPr lang="en-US" sz="1500" dirty="0">
              <a:solidFill>
                <a:srgbClr val="002060"/>
              </a:solidFill>
              <a:latin typeface="Book Antiqua" panose="02040602050305030304" pitchFamily="18" charset="0"/>
            </a:endParaRPr>
          </a:p>
          <a:p>
            <a:pPr algn="just"/>
            <a:r>
              <a:rPr lang="en-US" sz="1500" dirty="0">
                <a:solidFill>
                  <a:srgbClr val="C00000"/>
                </a:solidFill>
                <a:latin typeface="Book Antiqua" panose="02040602050305030304" pitchFamily="18" charset="0"/>
              </a:rPr>
              <a:t>Bare-metal recovery</a:t>
            </a:r>
          </a:p>
          <a:p>
            <a:pPr lvl="1" algn="just"/>
            <a:r>
              <a:rPr lang="en-US" sz="1500" dirty="0">
                <a:solidFill>
                  <a:schemeClr val="tx1"/>
                </a:solidFill>
                <a:latin typeface="Book Antiqua" panose="02040602050305030304" pitchFamily="18" charset="0"/>
              </a:rPr>
              <a:t>OS, hardware, and application configurations are appropriately backed up for a full system recovery</a:t>
            </a:r>
          </a:p>
          <a:p>
            <a:pPr lvl="1" algn="just"/>
            <a:r>
              <a:rPr lang="en-US" sz="1500" dirty="0">
                <a:solidFill>
                  <a:schemeClr val="tx1"/>
                </a:solidFill>
                <a:latin typeface="Book Antiqua" panose="02040602050305030304" pitchFamily="18" charset="0"/>
              </a:rPr>
              <a:t>Server configuration backup (SCB) can also recover a server onto dissimilar hardware</a:t>
            </a:r>
          </a:p>
        </p:txBody>
      </p:sp>
      <p:sp>
        <p:nvSpPr>
          <p:cNvPr id="3" name="Footer Placeholder 2">
            <a:extLst>
              <a:ext uri="{FF2B5EF4-FFF2-40B4-BE49-F238E27FC236}">
                <a16:creationId xmlns:a16="http://schemas.microsoft.com/office/drawing/2014/main" id="{E5676762-CF5B-119C-A612-1BD1EA368266}"/>
              </a:ext>
            </a:extLst>
          </p:cNvPr>
          <p:cNvSpPr>
            <a:spLocks noGrp="1"/>
          </p:cNvSpPr>
          <p:nvPr>
            <p:ph type="ftr" sz="quarter" idx="10"/>
          </p:nvPr>
        </p:nvSpPr>
        <p:spPr/>
        <p:txBody>
          <a:bodyPr/>
          <a:lstStyle/>
          <a:p>
            <a:pPr>
              <a:defRPr/>
            </a:pPr>
            <a:r>
              <a:rPr lang="en-US"/>
              <a:t>Module 10: Backup and Archive</a:t>
            </a:r>
            <a:endParaRPr lang="en-US" dirty="0"/>
          </a:p>
        </p:txBody>
      </p:sp>
      <p:sp>
        <p:nvSpPr>
          <p:cNvPr id="4" name="Slide Number Placeholder 3">
            <a:extLst>
              <a:ext uri="{FF2B5EF4-FFF2-40B4-BE49-F238E27FC236}">
                <a16:creationId xmlns:a16="http://schemas.microsoft.com/office/drawing/2014/main" id="{B0B65CC7-6014-97A0-B2C0-830D13DA0821}"/>
              </a:ext>
            </a:extLst>
          </p:cNvPr>
          <p:cNvSpPr>
            <a:spLocks noGrp="1"/>
          </p:cNvSpPr>
          <p:nvPr>
            <p:ph type="sldNum" sz="quarter" idx="11"/>
          </p:nvPr>
        </p:nvSpPr>
        <p:spPr/>
        <p:txBody>
          <a:bodyPr/>
          <a:lstStyle/>
          <a:p>
            <a:pPr>
              <a:defRPr/>
            </a:pPr>
            <a:fld id="{6ADD0FD0-5DC7-4614-9D2E-5687F653AACB}" type="slidenum">
              <a:rPr lang="en-US" smtClean="0"/>
              <a:pPr>
                <a:defRPr/>
              </a:pPr>
              <a:t>21</a:t>
            </a:fld>
            <a:endParaRPr lang="en-US"/>
          </a:p>
        </p:txBody>
      </p:sp>
    </p:spTree>
    <p:extLst>
      <p:ext uri="{BB962C8B-B14F-4D97-AF65-F5344CB8AC3E}">
        <p14:creationId xmlns:p14="http://schemas.microsoft.com/office/powerpoint/2010/main" val="1095168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7F734-FE35-3326-5B06-2EBE7C189C20}"/>
              </a:ext>
            </a:extLst>
          </p:cNvPr>
          <p:cNvSpPr>
            <a:spLocks noGrp="1"/>
          </p:cNvSpPr>
          <p:nvPr>
            <p:ph type="title"/>
          </p:nvPr>
        </p:nvSpPr>
        <p:spPr>
          <a:xfrm>
            <a:off x="342900" y="152400"/>
            <a:ext cx="8458200" cy="762000"/>
          </a:xfrm>
        </p:spPr>
        <p:txBody>
          <a:bodyPr/>
          <a:lstStyle/>
          <a:p>
            <a:pPr algn="ctr"/>
            <a:r>
              <a:rPr lang="en-US" sz="2100" b="1" dirty="0">
                <a:solidFill>
                  <a:srgbClr val="C00000"/>
                </a:solidFill>
                <a:latin typeface="Book Antiqua" panose="02040602050305030304" pitchFamily="18" charset="0"/>
              </a:rPr>
              <a:t>Backup Methods - </a:t>
            </a:r>
            <a:r>
              <a:rPr lang="en-US" sz="2100" dirty="0">
                <a:solidFill>
                  <a:srgbClr val="0000FF"/>
                </a:solidFill>
                <a:latin typeface="Book Antiqua" panose="02040602050305030304" pitchFamily="18" charset="0"/>
              </a:rPr>
              <a:t>Hot or Online Backup</a:t>
            </a:r>
            <a:br>
              <a:rPr lang="en-US" sz="2100" dirty="0">
                <a:solidFill>
                  <a:srgbClr val="0000FF"/>
                </a:solidFill>
                <a:latin typeface="Book Antiqua" panose="02040602050305030304" pitchFamily="18" charset="0"/>
              </a:rPr>
            </a:br>
            <a:endParaRPr lang="en-IN" sz="2100" dirty="0"/>
          </a:p>
        </p:txBody>
      </p:sp>
      <p:sp>
        <p:nvSpPr>
          <p:cNvPr id="3" name="Content Placeholder 2">
            <a:extLst>
              <a:ext uri="{FF2B5EF4-FFF2-40B4-BE49-F238E27FC236}">
                <a16:creationId xmlns:a16="http://schemas.microsoft.com/office/drawing/2014/main" id="{AE80F1C1-5CF8-3AAD-0F78-D659C3727A22}"/>
              </a:ext>
            </a:extLst>
          </p:cNvPr>
          <p:cNvSpPr>
            <a:spLocks noGrp="1"/>
          </p:cNvSpPr>
          <p:nvPr>
            <p:ph idx="1"/>
          </p:nvPr>
        </p:nvSpPr>
        <p:spPr/>
        <p:txBody>
          <a:bodyPr/>
          <a:lstStyle/>
          <a:p>
            <a:pPr algn="just">
              <a:lnSpc>
                <a:spcPct val="150000"/>
              </a:lnSpc>
            </a:pPr>
            <a:r>
              <a:rPr lang="en-GB" sz="1400" dirty="0">
                <a:solidFill>
                  <a:schemeClr val="tx1"/>
                </a:solidFill>
                <a:latin typeface="Book Antiqua" panose="02040602050305030304" pitchFamily="18" charset="0"/>
              </a:rPr>
              <a:t>The hot backup of online production data is challenging because data is actively used and changed. </a:t>
            </a:r>
          </a:p>
          <a:p>
            <a:pPr algn="just">
              <a:lnSpc>
                <a:spcPct val="150000"/>
              </a:lnSpc>
            </a:pPr>
            <a:r>
              <a:rPr lang="en-GB" sz="1400" dirty="0">
                <a:solidFill>
                  <a:schemeClr val="tx1"/>
                </a:solidFill>
                <a:latin typeface="Book Antiqua" panose="02040602050305030304" pitchFamily="18" charset="0"/>
              </a:rPr>
              <a:t>If a file is open, it is normally not backed up during the backup process. In such situations, an </a:t>
            </a:r>
            <a:r>
              <a:rPr lang="en-GB" sz="1400" i="1" dirty="0">
                <a:solidFill>
                  <a:schemeClr val="tx1"/>
                </a:solidFill>
                <a:latin typeface="Book Antiqua" panose="02040602050305030304" pitchFamily="18" charset="0"/>
              </a:rPr>
              <a:t>open file agent </a:t>
            </a:r>
            <a:r>
              <a:rPr lang="en-GB" sz="1400" dirty="0">
                <a:solidFill>
                  <a:schemeClr val="tx1"/>
                </a:solidFill>
                <a:latin typeface="Book Antiqua" panose="02040602050305030304" pitchFamily="18" charset="0"/>
              </a:rPr>
              <a:t>is required to back up the open file.  These agents interact directly with the operating system or application and enable the creation of consistent copies of open files. </a:t>
            </a:r>
          </a:p>
          <a:p>
            <a:pPr algn="just">
              <a:lnSpc>
                <a:spcPct val="150000"/>
              </a:lnSpc>
            </a:pPr>
            <a:r>
              <a:rPr lang="en-GB" sz="1400" dirty="0">
                <a:solidFill>
                  <a:schemeClr val="tx1"/>
                </a:solidFill>
                <a:latin typeface="Book Antiqua" panose="02040602050305030304" pitchFamily="18" charset="0"/>
              </a:rPr>
              <a:t>In database environments, the use of open file agents is not enough, because the agent should also support a consistent backup of all the database components. </a:t>
            </a:r>
          </a:p>
          <a:p>
            <a:pPr algn="just">
              <a:lnSpc>
                <a:spcPct val="150000"/>
              </a:lnSpc>
            </a:pPr>
            <a:r>
              <a:rPr lang="en-GB" sz="1400" dirty="0">
                <a:solidFill>
                  <a:schemeClr val="tx1"/>
                </a:solidFill>
                <a:latin typeface="Book Antiqua" panose="02040602050305030304" pitchFamily="18" charset="0"/>
              </a:rPr>
              <a:t>For example, a database is composed of many files of varying sizes occupying several file systems. </a:t>
            </a:r>
          </a:p>
          <a:p>
            <a:pPr algn="just">
              <a:lnSpc>
                <a:spcPct val="150000"/>
              </a:lnSpc>
            </a:pPr>
            <a:r>
              <a:rPr lang="en-GB" sz="1400" dirty="0">
                <a:solidFill>
                  <a:schemeClr val="tx1"/>
                </a:solidFill>
                <a:latin typeface="Book Antiqua" panose="02040602050305030304" pitchFamily="18" charset="0"/>
              </a:rPr>
              <a:t>To ensure a consistent database backup, all files need to be backed up in the same state. </a:t>
            </a:r>
          </a:p>
          <a:p>
            <a:pPr algn="just">
              <a:lnSpc>
                <a:spcPct val="150000"/>
              </a:lnSpc>
            </a:pPr>
            <a:r>
              <a:rPr lang="en-GB" sz="1400" dirty="0">
                <a:solidFill>
                  <a:schemeClr val="tx1"/>
                </a:solidFill>
                <a:latin typeface="Book Antiqua" panose="02040602050305030304" pitchFamily="18" charset="0"/>
              </a:rPr>
              <a:t>That does not necessarily mean that all files need to be backed up at the same time, but they all must be synchronized so that the database can be restored with consistency. </a:t>
            </a:r>
          </a:p>
          <a:p>
            <a:pPr algn="just">
              <a:lnSpc>
                <a:spcPct val="150000"/>
              </a:lnSpc>
            </a:pPr>
            <a:r>
              <a:rPr lang="en-GB" sz="1400" dirty="0">
                <a:solidFill>
                  <a:schemeClr val="tx1"/>
                </a:solidFill>
                <a:latin typeface="Book Antiqua" panose="02040602050305030304" pitchFamily="18" charset="0"/>
              </a:rPr>
              <a:t>The disadvantage associated with a hot backup is that the agents usually affect the overall application performance.</a:t>
            </a:r>
            <a:endParaRPr lang="en-IN" sz="14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DE742418-D119-0034-709F-D52957AD3830}"/>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9B2075CF-D197-B107-5C30-0F22F5039B34}"/>
              </a:ext>
            </a:extLst>
          </p:cNvPr>
          <p:cNvSpPr>
            <a:spLocks noGrp="1"/>
          </p:cNvSpPr>
          <p:nvPr>
            <p:ph type="sldNum" sz="quarter" idx="11"/>
          </p:nvPr>
        </p:nvSpPr>
        <p:spPr/>
        <p:txBody>
          <a:bodyPr/>
          <a:lstStyle/>
          <a:p>
            <a:pPr>
              <a:defRPr/>
            </a:pPr>
            <a:fld id="{5BA1DFFF-3F85-458B-986A-7762775E0CEF}" type="slidenum">
              <a:rPr lang="en-US" smtClean="0"/>
              <a:pPr>
                <a:defRPr/>
              </a:pPr>
              <a:t>22</a:t>
            </a:fld>
            <a:endParaRPr lang="en-US"/>
          </a:p>
        </p:txBody>
      </p:sp>
    </p:spTree>
    <p:extLst>
      <p:ext uri="{BB962C8B-B14F-4D97-AF65-F5344CB8AC3E}">
        <p14:creationId xmlns:p14="http://schemas.microsoft.com/office/powerpoint/2010/main" val="1818581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806C0-598A-0CF8-FE86-D3002519BCD9}"/>
              </a:ext>
            </a:extLst>
          </p:cNvPr>
          <p:cNvSpPr>
            <a:spLocks noGrp="1"/>
          </p:cNvSpPr>
          <p:nvPr>
            <p:ph type="title"/>
          </p:nvPr>
        </p:nvSpPr>
        <p:spPr>
          <a:xfrm>
            <a:off x="266700" y="266700"/>
            <a:ext cx="8458200" cy="762000"/>
          </a:xfrm>
        </p:spPr>
        <p:txBody>
          <a:bodyPr/>
          <a:lstStyle/>
          <a:p>
            <a:pPr algn="ctr"/>
            <a:r>
              <a:rPr lang="en-US" sz="2100" b="1" dirty="0">
                <a:solidFill>
                  <a:srgbClr val="C00000"/>
                </a:solidFill>
                <a:latin typeface="Book Antiqua" panose="02040602050305030304" pitchFamily="18" charset="0"/>
              </a:rPr>
              <a:t>Backup Methods - </a:t>
            </a:r>
            <a:r>
              <a:rPr lang="en-US" sz="2100" dirty="0">
                <a:solidFill>
                  <a:srgbClr val="0000FF"/>
                </a:solidFill>
                <a:latin typeface="Book Antiqua" panose="02040602050305030304" pitchFamily="18" charset="0"/>
              </a:rPr>
              <a:t>Cold or Offline Backup</a:t>
            </a:r>
            <a:br>
              <a:rPr lang="en-US" sz="2100" dirty="0">
                <a:solidFill>
                  <a:srgbClr val="0000FF"/>
                </a:solidFill>
                <a:latin typeface="Book Antiqua" panose="02040602050305030304" pitchFamily="18" charset="0"/>
              </a:rPr>
            </a:br>
            <a:endParaRPr lang="en-IN" sz="2100" dirty="0"/>
          </a:p>
        </p:txBody>
      </p:sp>
      <p:sp>
        <p:nvSpPr>
          <p:cNvPr id="3" name="Content Placeholder 2">
            <a:extLst>
              <a:ext uri="{FF2B5EF4-FFF2-40B4-BE49-F238E27FC236}">
                <a16:creationId xmlns:a16="http://schemas.microsoft.com/office/drawing/2014/main" id="{4E76A398-06C3-F913-957B-B52EED312503}"/>
              </a:ext>
            </a:extLst>
          </p:cNvPr>
          <p:cNvSpPr>
            <a:spLocks noGrp="1"/>
          </p:cNvSpPr>
          <p:nvPr>
            <p:ph idx="1"/>
          </p:nvPr>
        </p:nvSpPr>
        <p:spPr>
          <a:xfrm>
            <a:off x="342900" y="1028700"/>
            <a:ext cx="8458200" cy="4381500"/>
          </a:xfrm>
        </p:spPr>
        <p:txBody>
          <a:bodyPr/>
          <a:lstStyle/>
          <a:p>
            <a:pPr algn="just">
              <a:lnSpc>
                <a:spcPct val="150000"/>
              </a:lnSpc>
            </a:pPr>
            <a:r>
              <a:rPr lang="en-GB" sz="1300" dirty="0">
                <a:solidFill>
                  <a:schemeClr val="tx1"/>
                </a:solidFill>
                <a:latin typeface="Book Antiqua" panose="02040602050305030304" pitchFamily="18" charset="0"/>
              </a:rPr>
              <a:t>Consistent backups of databases can also be done by using a cold backup. This requires the database to remain inactive during the backup.  Of course, the disadvantage of a cold backup is that the database is inaccessible to users </a:t>
            </a:r>
            <a:r>
              <a:rPr lang="en-IN" sz="1300" dirty="0">
                <a:solidFill>
                  <a:schemeClr val="tx1"/>
                </a:solidFill>
                <a:latin typeface="Book Antiqua" panose="02040602050305030304" pitchFamily="18" charset="0"/>
              </a:rPr>
              <a:t>during the backup process.</a:t>
            </a:r>
          </a:p>
          <a:p>
            <a:pPr algn="just">
              <a:lnSpc>
                <a:spcPct val="150000"/>
              </a:lnSpc>
            </a:pPr>
            <a:r>
              <a:rPr lang="en-GB" sz="1300" dirty="0">
                <a:solidFill>
                  <a:schemeClr val="tx1"/>
                </a:solidFill>
                <a:latin typeface="Book Antiqua" panose="02040602050305030304" pitchFamily="18" charset="0"/>
              </a:rPr>
              <a:t>A </a:t>
            </a:r>
            <a:r>
              <a:rPr lang="en-GB" sz="1300" b="1" i="1" dirty="0">
                <a:solidFill>
                  <a:srgbClr val="0000FF"/>
                </a:solidFill>
                <a:latin typeface="Book Antiqua" panose="02040602050305030304" pitchFamily="18" charset="0"/>
              </a:rPr>
              <a:t>point-in-time </a:t>
            </a:r>
            <a:r>
              <a:rPr lang="en-GB" sz="1300" b="1" dirty="0">
                <a:solidFill>
                  <a:srgbClr val="0000FF"/>
                </a:solidFill>
                <a:latin typeface="Book Antiqua" panose="02040602050305030304" pitchFamily="18" charset="0"/>
              </a:rPr>
              <a:t>(PIT) </a:t>
            </a:r>
            <a:r>
              <a:rPr lang="en-GB" sz="1300" dirty="0">
                <a:solidFill>
                  <a:schemeClr val="tx1"/>
                </a:solidFill>
                <a:latin typeface="Book Antiqua" panose="02040602050305030304" pitchFamily="18" charset="0"/>
              </a:rPr>
              <a:t>copy method is deployed in environments in which the impact of downtime from a cold backup or the performance impact resulting from a hot backup is unacceptable. </a:t>
            </a:r>
          </a:p>
          <a:p>
            <a:pPr algn="just">
              <a:lnSpc>
                <a:spcPct val="150000"/>
              </a:lnSpc>
            </a:pPr>
            <a:r>
              <a:rPr lang="en-GB" sz="1300" dirty="0">
                <a:solidFill>
                  <a:schemeClr val="tx1"/>
                </a:solidFill>
                <a:latin typeface="Book Antiqua" panose="02040602050305030304" pitchFamily="18" charset="0"/>
              </a:rPr>
              <a:t>The PIT copy is created from the production volume and used as the source for the backup. This reduces the impact on the production volume. </a:t>
            </a:r>
          </a:p>
          <a:p>
            <a:pPr algn="just">
              <a:lnSpc>
                <a:spcPct val="150000"/>
              </a:lnSpc>
            </a:pPr>
            <a:r>
              <a:rPr lang="en-GB" sz="1300" dirty="0">
                <a:solidFill>
                  <a:schemeClr val="tx1"/>
                </a:solidFill>
                <a:latin typeface="Book Antiqua" panose="02040602050305030304" pitchFamily="18" charset="0"/>
              </a:rPr>
              <a:t>To ensure consistency, it is not enough to back up only the production data for recovery.  Certain attributes and properties attached to a file, such as permissions, owner, and other metadata, also need to be backed up. </a:t>
            </a:r>
          </a:p>
          <a:p>
            <a:pPr algn="just">
              <a:lnSpc>
                <a:spcPct val="150000"/>
              </a:lnSpc>
            </a:pPr>
            <a:r>
              <a:rPr lang="en-GB" sz="1300" dirty="0">
                <a:solidFill>
                  <a:schemeClr val="tx1"/>
                </a:solidFill>
                <a:latin typeface="Book Antiqua" panose="02040602050305030304" pitchFamily="18" charset="0"/>
              </a:rPr>
              <a:t>In a disaster recovery environment, </a:t>
            </a:r>
            <a:r>
              <a:rPr lang="en-GB" sz="1300" b="1" i="1" dirty="0">
                <a:solidFill>
                  <a:srgbClr val="0000FF"/>
                </a:solidFill>
                <a:latin typeface="Book Antiqua" panose="02040602050305030304" pitchFamily="18" charset="0"/>
              </a:rPr>
              <a:t>bare-metal recovery </a:t>
            </a:r>
            <a:r>
              <a:rPr lang="en-GB" sz="1300" b="1" dirty="0">
                <a:solidFill>
                  <a:srgbClr val="0000FF"/>
                </a:solidFill>
                <a:latin typeface="Book Antiqua" panose="02040602050305030304" pitchFamily="18" charset="0"/>
              </a:rPr>
              <a:t>(BMR) </a:t>
            </a:r>
            <a:r>
              <a:rPr lang="en-GB" sz="1300" dirty="0">
                <a:solidFill>
                  <a:schemeClr val="tx1"/>
                </a:solidFill>
                <a:latin typeface="Book Antiqua" panose="02040602050305030304" pitchFamily="18" charset="0"/>
              </a:rPr>
              <a:t>refers to a backup in which all metadata, system information, and application configurations are appropriately backed up for a full system recovery. </a:t>
            </a:r>
          </a:p>
          <a:p>
            <a:pPr algn="just">
              <a:lnSpc>
                <a:spcPct val="150000"/>
              </a:lnSpc>
            </a:pPr>
            <a:r>
              <a:rPr lang="en-GB" sz="1300" dirty="0">
                <a:solidFill>
                  <a:schemeClr val="tx1"/>
                </a:solidFill>
                <a:latin typeface="Book Antiqua" panose="02040602050305030304" pitchFamily="18" charset="0"/>
              </a:rPr>
              <a:t>BMR builds the base system, which includes partitioning, the file system layout, the operating system, the applications, and all the relevant configurations. BMR recovers the base system first before starting the recovery of data files. </a:t>
            </a:r>
          </a:p>
        </p:txBody>
      </p:sp>
      <p:sp>
        <p:nvSpPr>
          <p:cNvPr id="4" name="Footer Placeholder 3">
            <a:extLst>
              <a:ext uri="{FF2B5EF4-FFF2-40B4-BE49-F238E27FC236}">
                <a16:creationId xmlns:a16="http://schemas.microsoft.com/office/drawing/2014/main" id="{59928858-A096-AFB4-6418-6A2FBABEFD8E}"/>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7EB8C1A5-C7A1-9148-A402-F87305402C8D}"/>
              </a:ext>
            </a:extLst>
          </p:cNvPr>
          <p:cNvSpPr>
            <a:spLocks noGrp="1"/>
          </p:cNvSpPr>
          <p:nvPr>
            <p:ph type="sldNum" sz="quarter" idx="11"/>
          </p:nvPr>
        </p:nvSpPr>
        <p:spPr/>
        <p:txBody>
          <a:bodyPr/>
          <a:lstStyle/>
          <a:p>
            <a:pPr>
              <a:defRPr/>
            </a:pPr>
            <a:fld id="{5BA1DFFF-3F85-458B-986A-7762775E0CEF}" type="slidenum">
              <a:rPr lang="en-US" smtClean="0"/>
              <a:pPr>
                <a:defRPr/>
              </a:pPr>
              <a:t>23</a:t>
            </a:fld>
            <a:endParaRPr lang="en-US"/>
          </a:p>
        </p:txBody>
      </p:sp>
    </p:spTree>
    <p:extLst>
      <p:ext uri="{BB962C8B-B14F-4D97-AF65-F5344CB8AC3E}">
        <p14:creationId xmlns:p14="http://schemas.microsoft.com/office/powerpoint/2010/main" val="2200733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3BD5F-4FD0-F22D-8CD7-E0A5B9DE60AD}"/>
            </a:ext>
          </a:extLst>
        </p:cNvPr>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E63ED155-935F-E828-E462-8257A4AA7B86}"/>
              </a:ext>
            </a:extLst>
          </p:cNvPr>
          <p:cNvSpPr>
            <a:spLocks noGrp="1"/>
          </p:cNvSpPr>
          <p:nvPr>
            <p:ph sz="half" idx="1"/>
          </p:nvPr>
        </p:nvSpPr>
        <p:spPr>
          <a:xfrm>
            <a:off x="457203" y="829733"/>
            <a:ext cx="3886940" cy="4649490"/>
          </a:xfrm>
        </p:spPr>
        <p:txBody>
          <a:bodyPr/>
          <a:lstStyle/>
          <a:p>
            <a:pPr marL="0" indent="0" algn="just">
              <a:buNone/>
            </a:pPr>
            <a:r>
              <a:rPr lang="en-GB" sz="1400" dirty="0">
                <a:solidFill>
                  <a:schemeClr val="tx1"/>
                </a:solidFill>
                <a:latin typeface="Book Antiqua" panose="02040602050305030304" pitchFamily="18" charset="0"/>
              </a:rPr>
              <a:t>A backup system commonly uses the client-server architecture with a backup server and multiple backup clients.  </a:t>
            </a:r>
          </a:p>
          <a:p>
            <a:pPr marL="0" indent="0" algn="just">
              <a:buNone/>
            </a:pPr>
            <a:endParaRPr lang="en-US" sz="1400" dirty="0">
              <a:solidFill>
                <a:schemeClr val="tx1"/>
              </a:solidFill>
              <a:latin typeface="Book Antiqua" panose="02040602050305030304" pitchFamily="18" charset="0"/>
            </a:endParaRPr>
          </a:p>
          <a:p>
            <a:r>
              <a:rPr lang="en-US" sz="1400" dirty="0">
                <a:solidFill>
                  <a:schemeClr val="tx1"/>
                </a:solidFill>
                <a:latin typeface="Book Antiqua" panose="02040602050305030304" pitchFamily="18" charset="0"/>
              </a:rPr>
              <a:t>Backup client</a:t>
            </a:r>
          </a:p>
          <a:p>
            <a:pPr lvl="1"/>
            <a:r>
              <a:rPr lang="en-US" sz="1400" dirty="0">
                <a:solidFill>
                  <a:schemeClr val="tx1"/>
                </a:solidFill>
                <a:latin typeface="Book Antiqua" panose="02040602050305030304" pitchFamily="18" charset="0"/>
              </a:rPr>
              <a:t>Gathers the data that is to be backed up and send it to storage node</a:t>
            </a:r>
          </a:p>
          <a:p>
            <a:r>
              <a:rPr lang="en-US" sz="1400" dirty="0">
                <a:solidFill>
                  <a:schemeClr val="tx1"/>
                </a:solidFill>
                <a:latin typeface="Book Antiqua" panose="02040602050305030304" pitchFamily="18" charset="0"/>
              </a:rPr>
              <a:t>Backup server</a:t>
            </a:r>
          </a:p>
          <a:p>
            <a:pPr lvl="1"/>
            <a:r>
              <a:rPr lang="en-US" sz="1400" dirty="0">
                <a:solidFill>
                  <a:schemeClr val="tx1"/>
                </a:solidFill>
                <a:latin typeface="Book Antiqua" panose="02040602050305030304" pitchFamily="18" charset="0"/>
              </a:rPr>
              <a:t>Manages backup operations and maintains backup catalog</a:t>
            </a:r>
          </a:p>
          <a:p>
            <a:r>
              <a:rPr lang="en-US" sz="1400" dirty="0">
                <a:solidFill>
                  <a:schemeClr val="tx1"/>
                </a:solidFill>
                <a:latin typeface="Book Antiqua" panose="02040602050305030304" pitchFamily="18" charset="0"/>
              </a:rPr>
              <a:t>Storage node</a:t>
            </a:r>
          </a:p>
          <a:p>
            <a:pPr lvl="1"/>
            <a:r>
              <a:rPr lang="en-US" sz="1400" dirty="0">
                <a:solidFill>
                  <a:schemeClr val="tx1"/>
                </a:solidFill>
                <a:latin typeface="Book Antiqua" panose="02040602050305030304" pitchFamily="18" charset="0"/>
              </a:rPr>
              <a:t>Responsible for writing data to backup device</a:t>
            </a:r>
          </a:p>
          <a:p>
            <a:pPr lvl="1"/>
            <a:r>
              <a:rPr lang="en-US" sz="1400" dirty="0">
                <a:solidFill>
                  <a:schemeClr val="tx1"/>
                </a:solidFill>
                <a:latin typeface="Book Antiqua" panose="02040602050305030304" pitchFamily="18" charset="0"/>
              </a:rPr>
              <a:t>Manages the backup device </a:t>
            </a:r>
          </a:p>
          <a:p>
            <a:pPr marL="231775" lvl="1" indent="-231775" algn="just">
              <a:buClr>
                <a:srgbClr val="92D050"/>
              </a:buClr>
              <a:buSzPct val="120000"/>
              <a:buFont typeface="Arial" charset="0"/>
              <a:buChar char="•"/>
            </a:pPr>
            <a:r>
              <a:rPr lang="en-GB" sz="1400" dirty="0">
                <a:solidFill>
                  <a:schemeClr val="tx1"/>
                </a:solidFill>
                <a:latin typeface="Book Antiqua" panose="02040602050305030304" pitchFamily="18" charset="0"/>
              </a:rPr>
              <a:t>Backup configuration contains information about when to run backups, which client data to be backed up, and so on. </a:t>
            </a:r>
          </a:p>
          <a:p>
            <a:pPr lvl="1"/>
            <a:endParaRPr lang="en-US" sz="1400" dirty="0">
              <a:solidFill>
                <a:schemeClr val="tx1"/>
              </a:solidFill>
              <a:latin typeface="Book Antiqua" panose="02040602050305030304" pitchFamily="18" charset="0"/>
            </a:endParaRPr>
          </a:p>
        </p:txBody>
      </p:sp>
      <p:sp>
        <p:nvSpPr>
          <p:cNvPr id="2" name="Title 1">
            <a:extLst>
              <a:ext uri="{FF2B5EF4-FFF2-40B4-BE49-F238E27FC236}">
                <a16:creationId xmlns:a16="http://schemas.microsoft.com/office/drawing/2014/main" id="{FC1BE2AC-C59E-D8F0-4074-5B94C390862A}"/>
              </a:ext>
            </a:extLst>
          </p:cNvPr>
          <p:cNvSpPr>
            <a:spLocks noGrp="1"/>
          </p:cNvSpPr>
          <p:nvPr>
            <p:ph type="title"/>
          </p:nvPr>
        </p:nvSpPr>
        <p:spPr/>
        <p:txBody>
          <a:bodyPr/>
          <a:lstStyle/>
          <a:p>
            <a:r>
              <a:rPr lang="en-US" sz="2100" dirty="0">
                <a:solidFill>
                  <a:srgbClr val="C00000"/>
                </a:solidFill>
                <a:latin typeface="Book Antiqua" panose="02040602050305030304" pitchFamily="18" charset="0"/>
              </a:rPr>
              <a:t>Backup Architecture</a:t>
            </a:r>
          </a:p>
        </p:txBody>
      </p:sp>
      <p:sp>
        <p:nvSpPr>
          <p:cNvPr id="31" name="Footer Placeholder 2">
            <a:extLst>
              <a:ext uri="{FF2B5EF4-FFF2-40B4-BE49-F238E27FC236}">
                <a16:creationId xmlns:a16="http://schemas.microsoft.com/office/drawing/2014/main" id="{10DDF76C-FD8A-CF51-A632-8D71B51632E5}"/>
              </a:ext>
            </a:extLst>
          </p:cNvPr>
          <p:cNvSpPr>
            <a:spLocks noGrp="1"/>
          </p:cNvSpPr>
          <p:nvPr>
            <p:ph type="ftr" sz="quarter" idx="13"/>
          </p:nvPr>
        </p:nvSpPr>
        <p:spPr>
          <a:xfrm>
            <a:off x="4495800" y="6629400"/>
            <a:ext cx="4191000" cy="228600"/>
          </a:xfrm>
          <a:prstGeom prst="rect">
            <a:avLst/>
          </a:prstGeom>
        </p:spPr>
        <p:txBody>
          <a:bodyPr vert="horz"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10: Backup and Archive</a:t>
            </a:r>
          </a:p>
        </p:txBody>
      </p:sp>
      <p:sp>
        <p:nvSpPr>
          <p:cNvPr id="16" name="Rectangle 3489">
            <a:extLst>
              <a:ext uri="{FF2B5EF4-FFF2-40B4-BE49-F238E27FC236}">
                <a16:creationId xmlns:a16="http://schemas.microsoft.com/office/drawing/2014/main" id="{CF2D3ED4-8C2D-B46A-9E56-9F78988266A9}"/>
              </a:ext>
            </a:extLst>
          </p:cNvPr>
          <p:cNvSpPr>
            <a:spLocks noChangeArrowheads="1"/>
          </p:cNvSpPr>
          <p:nvPr/>
        </p:nvSpPr>
        <p:spPr bwMode="auto">
          <a:xfrm>
            <a:off x="6431280" y="4366081"/>
            <a:ext cx="1003865"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Storage Node</a:t>
            </a:r>
          </a:p>
        </p:txBody>
      </p:sp>
      <p:sp>
        <p:nvSpPr>
          <p:cNvPr id="17" name="Rectangle 3491">
            <a:extLst>
              <a:ext uri="{FF2B5EF4-FFF2-40B4-BE49-F238E27FC236}">
                <a16:creationId xmlns:a16="http://schemas.microsoft.com/office/drawing/2014/main" id="{5EF9C7E7-4D06-0E02-F536-D7F02AE00120}"/>
              </a:ext>
            </a:extLst>
          </p:cNvPr>
          <p:cNvSpPr>
            <a:spLocks noChangeArrowheads="1"/>
          </p:cNvSpPr>
          <p:nvPr/>
        </p:nvSpPr>
        <p:spPr bwMode="auto">
          <a:xfrm>
            <a:off x="8326422" y="4379238"/>
            <a:ext cx="581313" cy="430887"/>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Device</a:t>
            </a:r>
          </a:p>
        </p:txBody>
      </p:sp>
      <p:sp>
        <p:nvSpPr>
          <p:cNvPr id="19" name="Rectangle 3493">
            <a:extLst>
              <a:ext uri="{FF2B5EF4-FFF2-40B4-BE49-F238E27FC236}">
                <a16:creationId xmlns:a16="http://schemas.microsoft.com/office/drawing/2014/main" id="{5B02E037-CF33-6F02-0B7A-FFB331B7B158}"/>
              </a:ext>
            </a:extLst>
          </p:cNvPr>
          <p:cNvSpPr>
            <a:spLocks noChangeArrowheads="1"/>
          </p:cNvSpPr>
          <p:nvPr/>
        </p:nvSpPr>
        <p:spPr bwMode="auto">
          <a:xfrm>
            <a:off x="4429126" y="4382869"/>
            <a:ext cx="1828799" cy="646331"/>
          </a:xfrm>
          <a:prstGeom prst="rect">
            <a:avLst/>
          </a:prstGeom>
          <a:noFill/>
          <a:ln w="25400" algn="ctr">
            <a:noFill/>
            <a:miter lim="800000"/>
            <a:headEnd/>
            <a:tailEnd/>
          </a:ln>
          <a:effectLst/>
        </p:spPr>
        <p:txBody>
          <a:bodyPr wrap="square" lIns="0" tIns="0" rIns="0" bIns="0" anchor="ctr" anchorCtr="1">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Client</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(Application Server)</a:t>
            </a:r>
          </a:p>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endParaRPr>
          </a:p>
        </p:txBody>
      </p:sp>
      <p:sp>
        <p:nvSpPr>
          <p:cNvPr id="20" name="Rectangle 3512">
            <a:extLst>
              <a:ext uri="{FF2B5EF4-FFF2-40B4-BE49-F238E27FC236}">
                <a16:creationId xmlns:a16="http://schemas.microsoft.com/office/drawing/2014/main" id="{83299AC3-C1C3-CAF4-1760-E2F491AC018F}"/>
              </a:ext>
            </a:extLst>
          </p:cNvPr>
          <p:cNvSpPr>
            <a:spLocks noChangeArrowheads="1"/>
          </p:cNvSpPr>
          <p:nvPr/>
        </p:nvSpPr>
        <p:spPr bwMode="auto">
          <a:xfrm>
            <a:off x="5767387" y="3411310"/>
            <a:ext cx="658835" cy="153888"/>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Data</a:t>
            </a:r>
          </a:p>
        </p:txBody>
      </p:sp>
      <p:sp>
        <p:nvSpPr>
          <p:cNvPr id="22" name="Line 3527">
            <a:extLst>
              <a:ext uri="{FF2B5EF4-FFF2-40B4-BE49-F238E27FC236}">
                <a16:creationId xmlns:a16="http://schemas.microsoft.com/office/drawing/2014/main" id="{79CDA6F1-BB52-BBC1-0E0A-2AC30A382A2A}"/>
              </a:ext>
            </a:extLst>
          </p:cNvPr>
          <p:cNvSpPr>
            <a:spLocks noChangeShapeType="1"/>
          </p:cNvSpPr>
          <p:nvPr/>
        </p:nvSpPr>
        <p:spPr bwMode="auto">
          <a:xfrm>
            <a:off x="5705475" y="3638550"/>
            <a:ext cx="914400" cy="0"/>
          </a:xfrm>
          <a:prstGeom prst="line">
            <a:avLst/>
          </a:prstGeom>
          <a:noFill/>
          <a:ln w="38100">
            <a:solidFill>
              <a:srgbClr val="000000"/>
            </a:solidFill>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Rectangle 3489">
            <a:extLst>
              <a:ext uri="{FF2B5EF4-FFF2-40B4-BE49-F238E27FC236}">
                <a16:creationId xmlns:a16="http://schemas.microsoft.com/office/drawing/2014/main" id="{5B2B386B-AB61-A927-7F8C-4E275B6EAE13}"/>
              </a:ext>
            </a:extLst>
          </p:cNvPr>
          <p:cNvSpPr>
            <a:spLocks noChangeArrowheads="1"/>
          </p:cNvSpPr>
          <p:nvPr/>
        </p:nvSpPr>
        <p:spPr bwMode="auto">
          <a:xfrm>
            <a:off x="6469380" y="838200"/>
            <a:ext cx="1058944"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Server</a:t>
            </a:r>
          </a:p>
        </p:txBody>
      </p:sp>
      <p:sp>
        <p:nvSpPr>
          <p:cNvPr id="32" name="Line 3527">
            <a:extLst>
              <a:ext uri="{FF2B5EF4-FFF2-40B4-BE49-F238E27FC236}">
                <a16:creationId xmlns:a16="http://schemas.microsoft.com/office/drawing/2014/main" id="{5527ED02-728C-92CF-2B40-DE3CDFDF950F}"/>
              </a:ext>
            </a:extLst>
          </p:cNvPr>
          <p:cNvSpPr>
            <a:spLocks noChangeShapeType="1"/>
          </p:cNvSpPr>
          <p:nvPr/>
        </p:nvSpPr>
        <p:spPr bwMode="auto">
          <a:xfrm flipV="1">
            <a:off x="5602605" y="2105025"/>
            <a:ext cx="1005840" cy="914400"/>
          </a:xfrm>
          <a:prstGeom prst="line">
            <a:avLst/>
          </a:prstGeom>
          <a:noFill/>
          <a:ln w="38100">
            <a:solidFill>
              <a:srgbClr val="000000"/>
            </a:solidFill>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Text Box 3535">
            <a:extLst>
              <a:ext uri="{FF2B5EF4-FFF2-40B4-BE49-F238E27FC236}">
                <a16:creationId xmlns:a16="http://schemas.microsoft.com/office/drawing/2014/main" id="{ED850DBC-0E02-A15D-D813-5F4FE78C243B}"/>
              </a:ext>
            </a:extLst>
          </p:cNvPr>
          <p:cNvSpPr txBox="1">
            <a:spLocks noChangeArrowheads="1"/>
          </p:cNvSpPr>
          <p:nvPr/>
        </p:nvSpPr>
        <p:spPr bwMode="auto">
          <a:xfrm rot="19002724">
            <a:off x="5405862" y="2431070"/>
            <a:ext cx="1114088" cy="153888"/>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Tracking Information</a:t>
            </a:r>
          </a:p>
        </p:txBody>
      </p:sp>
      <p:sp>
        <p:nvSpPr>
          <p:cNvPr id="34" name="Line 3527">
            <a:extLst>
              <a:ext uri="{FF2B5EF4-FFF2-40B4-BE49-F238E27FC236}">
                <a16:creationId xmlns:a16="http://schemas.microsoft.com/office/drawing/2014/main" id="{A41F2D01-EB66-F77A-70F2-E904F3808E0C}"/>
              </a:ext>
            </a:extLst>
          </p:cNvPr>
          <p:cNvSpPr>
            <a:spLocks noChangeShapeType="1"/>
          </p:cNvSpPr>
          <p:nvPr/>
        </p:nvSpPr>
        <p:spPr bwMode="auto">
          <a:xfrm flipV="1">
            <a:off x="6964680" y="2362200"/>
            <a:ext cx="0" cy="685800"/>
          </a:xfrm>
          <a:prstGeom prst="line">
            <a:avLst/>
          </a:prstGeom>
          <a:noFill/>
          <a:ln w="38100">
            <a:solidFill>
              <a:srgbClr val="000000"/>
            </a:solidFill>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Text Box 3535">
            <a:extLst>
              <a:ext uri="{FF2B5EF4-FFF2-40B4-BE49-F238E27FC236}">
                <a16:creationId xmlns:a16="http://schemas.microsoft.com/office/drawing/2014/main" id="{4A5CF0FF-84BC-0A90-AB45-5ECD882A225E}"/>
              </a:ext>
            </a:extLst>
          </p:cNvPr>
          <p:cNvSpPr txBox="1">
            <a:spLocks noChangeArrowheads="1"/>
          </p:cNvSpPr>
          <p:nvPr/>
        </p:nvSpPr>
        <p:spPr bwMode="auto">
          <a:xfrm>
            <a:off x="7017393" y="2654498"/>
            <a:ext cx="637995" cy="307777"/>
          </a:xfrm>
          <a:prstGeom prst="rect">
            <a:avLst/>
          </a:prstGeom>
          <a:noFill/>
          <a:ln w="9525" algn="ctr">
            <a:noFill/>
            <a:miter lim="800000"/>
            <a:headEnd/>
            <a:tailEnd/>
          </a:ln>
          <a:effectLst/>
        </p:spPr>
        <p:txBody>
          <a:bodyPr wrap="none"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Tracking </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Information</a:t>
            </a:r>
          </a:p>
        </p:txBody>
      </p:sp>
      <p:sp>
        <p:nvSpPr>
          <p:cNvPr id="37" name="Text Box 3535">
            <a:extLst>
              <a:ext uri="{FF2B5EF4-FFF2-40B4-BE49-F238E27FC236}">
                <a16:creationId xmlns:a16="http://schemas.microsoft.com/office/drawing/2014/main" id="{E12A3A11-6CD6-809B-E5F0-1D7784163D90}"/>
              </a:ext>
            </a:extLst>
          </p:cNvPr>
          <p:cNvSpPr txBox="1">
            <a:spLocks noChangeArrowheads="1"/>
          </p:cNvSpPr>
          <p:nvPr/>
        </p:nvSpPr>
        <p:spPr bwMode="auto">
          <a:xfrm>
            <a:off x="7355205" y="1579662"/>
            <a:ext cx="923553" cy="153888"/>
          </a:xfrm>
          <a:prstGeom prst="rect">
            <a:avLst/>
          </a:prstGeom>
          <a:noFill/>
          <a:ln w="9525" algn="ctr">
            <a:noFill/>
            <a:miter lim="800000"/>
            <a:headEnd/>
            <a:tailEnd/>
          </a:ln>
          <a:effectLst/>
        </p:spPr>
        <p:txBody>
          <a:bodyPr wrap="square"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Catalog</a:t>
            </a:r>
          </a:p>
        </p:txBody>
      </p:sp>
      <p:pic>
        <p:nvPicPr>
          <p:cNvPr id="25" name="Picture 7" descr="C:\Documents and Settings\sridhs\Desktop\ISM Book L3\colored Icons\Host.png">
            <a:extLst>
              <a:ext uri="{FF2B5EF4-FFF2-40B4-BE49-F238E27FC236}">
                <a16:creationId xmlns:a16="http://schemas.microsoft.com/office/drawing/2014/main" id="{4FB7C41F-6836-EA57-9695-C2A904D423FE}"/>
              </a:ext>
            </a:extLst>
          </p:cNvPr>
          <p:cNvPicPr>
            <a:picLocks noChangeAspect="1" noChangeArrowheads="1"/>
          </p:cNvPicPr>
          <p:nvPr/>
        </p:nvPicPr>
        <p:blipFill>
          <a:blip r:embed="rId3" cstate="print"/>
          <a:srcRect/>
          <a:stretch>
            <a:fillRect/>
          </a:stretch>
        </p:blipFill>
        <p:spPr bwMode="auto">
          <a:xfrm>
            <a:off x="5076825" y="3087469"/>
            <a:ext cx="543668" cy="1256676"/>
          </a:xfrm>
          <a:prstGeom prst="rect">
            <a:avLst/>
          </a:prstGeom>
          <a:noFill/>
        </p:spPr>
      </p:pic>
      <p:pic>
        <p:nvPicPr>
          <p:cNvPr id="27" name="Picture 7" descr="C:\Documents and Settings\sridhs\Desktop\ISM Book L3\colored Icons\Host.png">
            <a:extLst>
              <a:ext uri="{FF2B5EF4-FFF2-40B4-BE49-F238E27FC236}">
                <a16:creationId xmlns:a16="http://schemas.microsoft.com/office/drawing/2014/main" id="{47A9D8C6-07B9-3C1C-E66D-6C598AEC9C84}"/>
              </a:ext>
            </a:extLst>
          </p:cNvPr>
          <p:cNvPicPr>
            <a:picLocks noChangeAspect="1" noChangeArrowheads="1"/>
          </p:cNvPicPr>
          <p:nvPr/>
        </p:nvPicPr>
        <p:blipFill>
          <a:blip r:embed="rId3" cstate="print"/>
          <a:srcRect/>
          <a:stretch>
            <a:fillRect/>
          </a:stretch>
        </p:blipFill>
        <p:spPr bwMode="auto">
          <a:xfrm>
            <a:off x="6688455" y="3086724"/>
            <a:ext cx="543668" cy="1256676"/>
          </a:xfrm>
          <a:prstGeom prst="rect">
            <a:avLst/>
          </a:prstGeom>
          <a:noFill/>
        </p:spPr>
      </p:pic>
      <p:grpSp>
        <p:nvGrpSpPr>
          <p:cNvPr id="28" name="Group 27">
            <a:extLst>
              <a:ext uri="{FF2B5EF4-FFF2-40B4-BE49-F238E27FC236}">
                <a16:creationId xmlns:a16="http://schemas.microsoft.com/office/drawing/2014/main" id="{07397DEE-9B78-CB87-E000-0EB05EC64061}"/>
              </a:ext>
            </a:extLst>
          </p:cNvPr>
          <p:cNvGrpSpPr/>
          <p:nvPr/>
        </p:nvGrpSpPr>
        <p:grpSpPr>
          <a:xfrm>
            <a:off x="6688455" y="1066800"/>
            <a:ext cx="543668" cy="1256676"/>
            <a:chOff x="142132" y="3086724"/>
            <a:chExt cx="543668" cy="1256676"/>
          </a:xfrm>
        </p:grpSpPr>
        <p:pic>
          <p:nvPicPr>
            <p:cNvPr id="29" name="Picture 7" descr="C:\Documents and Settings\sridhs\Desktop\ISM Book L3\colored Icons\Host.png">
              <a:extLst>
                <a:ext uri="{FF2B5EF4-FFF2-40B4-BE49-F238E27FC236}">
                  <a16:creationId xmlns:a16="http://schemas.microsoft.com/office/drawing/2014/main" id="{5E2C6365-6A1F-5AB3-6746-6495615D39A8}"/>
                </a:ext>
              </a:extLst>
            </p:cNvPr>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38" name="Picture 10" descr="C:\Documents and Settings\sridhs\Desktop\ISM Book L3\colored Icons\Standard disk.png">
              <a:extLst>
                <a:ext uri="{FF2B5EF4-FFF2-40B4-BE49-F238E27FC236}">
                  <a16:creationId xmlns:a16="http://schemas.microsoft.com/office/drawing/2014/main" id="{0EF0ECF3-EAEE-4964-4005-D82C1E288803}"/>
                </a:ext>
              </a:extLst>
            </p:cNvPr>
            <p:cNvPicPr>
              <a:picLocks noChangeAspect="1" noChangeArrowheads="1"/>
            </p:cNvPicPr>
            <p:nvPr/>
          </p:nvPicPr>
          <p:blipFill>
            <a:blip r:embed="rId4" cstate="print"/>
            <a:srcRect/>
            <a:stretch>
              <a:fillRect/>
            </a:stretch>
          </p:blipFill>
          <p:spPr bwMode="auto">
            <a:xfrm flipH="1">
              <a:off x="228600" y="3785061"/>
              <a:ext cx="152400" cy="152400"/>
            </a:xfrm>
            <a:prstGeom prst="rect">
              <a:avLst/>
            </a:prstGeom>
            <a:noFill/>
          </p:spPr>
        </p:pic>
        <p:pic>
          <p:nvPicPr>
            <p:cNvPr id="39" name="Picture 10" descr="C:\Documents and Settings\sridhs\Desktop\ISM Book L3\colored Icons\Standard disk.png">
              <a:extLst>
                <a:ext uri="{FF2B5EF4-FFF2-40B4-BE49-F238E27FC236}">
                  <a16:creationId xmlns:a16="http://schemas.microsoft.com/office/drawing/2014/main" id="{3C0B0902-7BC0-849F-631B-3F0FCC8C75A7}"/>
                </a:ext>
              </a:extLst>
            </p:cNvPr>
            <p:cNvPicPr>
              <a:picLocks noChangeAspect="1" noChangeArrowheads="1"/>
            </p:cNvPicPr>
            <p:nvPr/>
          </p:nvPicPr>
          <p:blipFill>
            <a:blip r:embed="rId4" cstate="print"/>
            <a:srcRect/>
            <a:stretch>
              <a:fillRect/>
            </a:stretch>
          </p:blipFill>
          <p:spPr bwMode="auto">
            <a:xfrm flipH="1">
              <a:off x="405939" y="3785061"/>
              <a:ext cx="152400" cy="152400"/>
            </a:xfrm>
            <a:prstGeom prst="rect">
              <a:avLst/>
            </a:prstGeom>
            <a:noFill/>
          </p:spPr>
        </p:pic>
      </p:grpSp>
      <p:sp>
        <p:nvSpPr>
          <p:cNvPr id="36" name="Line 3527">
            <a:extLst>
              <a:ext uri="{FF2B5EF4-FFF2-40B4-BE49-F238E27FC236}">
                <a16:creationId xmlns:a16="http://schemas.microsoft.com/office/drawing/2014/main" id="{AD10B80D-AC43-F6D9-8B94-7CB9950F9A3D}"/>
              </a:ext>
            </a:extLst>
          </p:cNvPr>
          <p:cNvSpPr>
            <a:spLocks noChangeShapeType="1"/>
          </p:cNvSpPr>
          <p:nvPr/>
        </p:nvSpPr>
        <p:spPr bwMode="auto">
          <a:xfrm flipH="1">
            <a:off x="7117080" y="1828800"/>
            <a:ext cx="1219200" cy="0"/>
          </a:xfrm>
          <a:prstGeom prst="line">
            <a:avLst/>
          </a:prstGeom>
          <a:noFill/>
          <a:ln w="38100">
            <a:solidFill>
              <a:srgbClr val="000000"/>
            </a:solidFill>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40" name="Picture 6">
            <a:extLst>
              <a:ext uri="{FF2B5EF4-FFF2-40B4-BE49-F238E27FC236}">
                <a16:creationId xmlns:a16="http://schemas.microsoft.com/office/drawing/2014/main" id="{4F8923C1-AC22-0A18-B6F8-947B5CBA9DD2}"/>
              </a:ext>
            </a:extLst>
          </p:cNvPr>
          <p:cNvPicPr>
            <a:picLocks noChangeAspect="1" noChangeArrowheads="1"/>
          </p:cNvPicPr>
          <p:nvPr/>
        </p:nvPicPr>
        <p:blipFill>
          <a:blip r:embed="rId5" cstate="print"/>
          <a:srcRect/>
          <a:stretch>
            <a:fillRect/>
          </a:stretch>
        </p:blipFill>
        <p:spPr bwMode="auto">
          <a:xfrm>
            <a:off x="8202930" y="2909455"/>
            <a:ext cx="788670" cy="1433945"/>
          </a:xfrm>
          <a:prstGeom prst="rect">
            <a:avLst/>
          </a:prstGeom>
          <a:noFill/>
          <a:ln w="9525">
            <a:noFill/>
            <a:miter lim="800000"/>
            <a:headEnd/>
            <a:tailEnd/>
          </a:ln>
          <a:effectLst/>
        </p:spPr>
      </p:pic>
      <p:sp>
        <p:nvSpPr>
          <p:cNvPr id="41" name="Rectangle 3512">
            <a:extLst>
              <a:ext uri="{FF2B5EF4-FFF2-40B4-BE49-F238E27FC236}">
                <a16:creationId xmlns:a16="http://schemas.microsoft.com/office/drawing/2014/main" id="{46BF03A8-1097-4056-357D-C25247B164EB}"/>
              </a:ext>
            </a:extLst>
          </p:cNvPr>
          <p:cNvSpPr>
            <a:spLocks noChangeArrowheads="1"/>
          </p:cNvSpPr>
          <p:nvPr/>
        </p:nvSpPr>
        <p:spPr bwMode="auto">
          <a:xfrm>
            <a:off x="7339012" y="3400425"/>
            <a:ext cx="658835" cy="153888"/>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Data</a:t>
            </a:r>
          </a:p>
        </p:txBody>
      </p:sp>
      <p:sp>
        <p:nvSpPr>
          <p:cNvPr id="42" name="Line 3527">
            <a:extLst>
              <a:ext uri="{FF2B5EF4-FFF2-40B4-BE49-F238E27FC236}">
                <a16:creationId xmlns:a16="http://schemas.microsoft.com/office/drawing/2014/main" id="{4DE01B89-B263-ADBE-0AE5-E14722590380}"/>
              </a:ext>
            </a:extLst>
          </p:cNvPr>
          <p:cNvSpPr>
            <a:spLocks noChangeShapeType="1"/>
          </p:cNvSpPr>
          <p:nvPr/>
        </p:nvSpPr>
        <p:spPr bwMode="auto">
          <a:xfrm>
            <a:off x="7311390" y="3627665"/>
            <a:ext cx="822960" cy="0"/>
          </a:xfrm>
          <a:prstGeom prst="line">
            <a:avLst/>
          </a:prstGeom>
          <a:noFill/>
          <a:ln w="38100">
            <a:solidFill>
              <a:srgbClr val="000000"/>
            </a:solidFill>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Slide Number Placeholder 3">
            <a:extLst>
              <a:ext uri="{FF2B5EF4-FFF2-40B4-BE49-F238E27FC236}">
                <a16:creationId xmlns:a16="http://schemas.microsoft.com/office/drawing/2014/main" id="{8ACDF7C8-12AD-99C9-0559-52E038EFDE87}"/>
              </a:ext>
            </a:extLst>
          </p:cNvPr>
          <p:cNvSpPr txBox="1">
            <a:spLocks/>
          </p:cNvSpPr>
          <p:nvPr/>
        </p:nvSpPr>
        <p:spPr>
          <a:xfrm>
            <a:off x="8686800" y="6629400"/>
            <a:ext cx="457200" cy="228600"/>
          </a:xfrm>
          <a:prstGeom prst="rect">
            <a:avLst/>
          </a:prstGeom>
        </p:spPr>
        <p:txBody>
          <a:bodyPr vert="horz"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TextBox 3">
            <a:extLst>
              <a:ext uri="{FF2B5EF4-FFF2-40B4-BE49-F238E27FC236}">
                <a16:creationId xmlns:a16="http://schemas.microsoft.com/office/drawing/2014/main" id="{4DA57C93-BF67-65B6-EE58-4FBA86A1111E}"/>
              </a:ext>
            </a:extLst>
          </p:cNvPr>
          <p:cNvSpPr txBox="1"/>
          <p:nvPr/>
        </p:nvSpPr>
        <p:spPr>
          <a:xfrm>
            <a:off x="5076824" y="5171446"/>
            <a:ext cx="3797043" cy="307777"/>
          </a:xfrm>
          <a:prstGeom prst="rect">
            <a:avLst/>
          </a:prstGeom>
          <a:noFill/>
        </p:spPr>
        <p:txBody>
          <a:bodyPr wrap="square">
            <a:spAutoFit/>
          </a:bodyPr>
          <a:lstStyle/>
          <a:p>
            <a:pPr algn="ctr"/>
            <a:r>
              <a:rPr lang="en-IN" sz="1400" b="1" i="0" u="none" strike="noStrike" baseline="0" dirty="0">
                <a:latin typeface="Book Antiqua" panose="02040602050305030304" pitchFamily="18" charset="0"/>
              </a:rPr>
              <a:t>Figure 10-4: </a:t>
            </a:r>
            <a:r>
              <a:rPr lang="en-IN" sz="1400" b="0" i="0" u="none" strike="noStrike" baseline="0" dirty="0">
                <a:latin typeface="Book Antiqua" panose="02040602050305030304" pitchFamily="18" charset="0"/>
              </a:rPr>
              <a:t>Backup architecture</a:t>
            </a:r>
            <a:endParaRPr lang="en-IN" sz="1400" dirty="0">
              <a:latin typeface="Book Antiqua" panose="02040602050305030304" pitchFamily="18" charset="0"/>
            </a:endParaRPr>
          </a:p>
        </p:txBody>
      </p:sp>
    </p:spTree>
    <p:extLst>
      <p:ext uri="{BB962C8B-B14F-4D97-AF65-F5344CB8AC3E}">
        <p14:creationId xmlns:p14="http://schemas.microsoft.com/office/powerpoint/2010/main" val="3167266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solidFill>
                  <a:srgbClr val="C00000"/>
                </a:solidFill>
                <a:latin typeface="Book Antiqua" panose="02040602050305030304" pitchFamily="18" charset="0"/>
              </a:rPr>
              <a:t>Backup Operation</a:t>
            </a:r>
          </a:p>
        </p:txBody>
      </p:sp>
      <p:sp>
        <p:nvSpPr>
          <p:cNvPr id="6" name="Slide Number Placeholder 5"/>
          <p:cNvSpPr>
            <a:spLocks noGrp="1"/>
          </p:cNvSpPr>
          <p:nvPr>
            <p:ph type="sldNum" sz="quarter" idx="14"/>
          </p:nvPr>
        </p:nvSpPr>
        <p:spPr/>
        <p:txBody>
          <a:bodyPr/>
          <a:lstStyle/>
          <a:p>
            <a:pPr>
              <a:defRPr/>
            </a:pPr>
            <a:fld id="{895683FA-D0FB-447D-82E1-0D3AF418E355}" type="slidenum">
              <a:rPr lang="en-US" smtClean="0"/>
              <a:pPr>
                <a:defRPr/>
              </a:pPr>
              <a:t>25</a:t>
            </a:fld>
            <a:endParaRPr lang="en-US"/>
          </a:p>
        </p:txBody>
      </p:sp>
      <p:sp>
        <p:nvSpPr>
          <p:cNvPr id="5" name="Footer Placeholder 4"/>
          <p:cNvSpPr>
            <a:spLocks noGrp="1"/>
          </p:cNvSpPr>
          <p:nvPr>
            <p:ph type="ftr" sz="quarter" idx="15"/>
          </p:nvPr>
        </p:nvSpPr>
        <p:spPr/>
        <p:txBody>
          <a:bodyPr/>
          <a:lstStyle/>
          <a:p>
            <a:pPr>
              <a:defRPr/>
            </a:pPr>
            <a:r>
              <a:rPr lang="en-US" dirty="0"/>
              <a:t>Module 10: Backup and Archive</a:t>
            </a:r>
          </a:p>
        </p:txBody>
      </p:sp>
      <p:grpSp>
        <p:nvGrpSpPr>
          <p:cNvPr id="11" name="Group 1966"/>
          <p:cNvGrpSpPr>
            <a:grpSpLocks/>
          </p:cNvGrpSpPr>
          <p:nvPr/>
        </p:nvGrpSpPr>
        <p:grpSpPr bwMode="auto">
          <a:xfrm>
            <a:off x="403034" y="4231362"/>
            <a:ext cx="293687" cy="293688"/>
            <a:chOff x="401" y="2752"/>
            <a:chExt cx="185" cy="185"/>
          </a:xfrm>
        </p:grpSpPr>
        <p:sp>
          <p:nvSpPr>
            <p:cNvPr id="12" name="Freeform 1867"/>
            <p:cNvSpPr>
              <a:spLocks/>
            </p:cNvSpPr>
            <p:nvPr/>
          </p:nvSpPr>
          <p:spPr bwMode="auto">
            <a:xfrm>
              <a:off x="401" y="2752"/>
              <a:ext cx="185" cy="185"/>
            </a:xfrm>
            <a:custGeom>
              <a:avLst/>
              <a:gdLst/>
              <a:ahLst/>
              <a:cxnLst>
                <a:cxn ang="0">
                  <a:pos x="491" y="451"/>
                </a:cxn>
                <a:cxn ang="0">
                  <a:pos x="521" y="405"/>
                </a:cxn>
                <a:cxn ang="0">
                  <a:pos x="534" y="382"/>
                </a:cxn>
                <a:cxn ang="0">
                  <a:pos x="545" y="343"/>
                </a:cxn>
                <a:cxn ang="0">
                  <a:pos x="550" y="316"/>
                </a:cxn>
                <a:cxn ang="0">
                  <a:pos x="555" y="277"/>
                </a:cxn>
                <a:cxn ang="0">
                  <a:pos x="549" y="220"/>
                </a:cxn>
                <a:cxn ang="0">
                  <a:pos x="534" y="170"/>
                </a:cxn>
                <a:cxn ang="0">
                  <a:pos x="508" y="122"/>
                </a:cxn>
                <a:cxn ang="0">
                  <a:pos x="473" y="80"/>
                </a:cxn>
                <a:cxn ang="0">
                  <a:pos x="430" y="44"/>
                </a:cxn>
                <a:cxn ang="0">
                  <a:pos x="383" y="19"/>
                </a:cxn>
                <a:cxn ang="0">
                  <a:pos x="331" y="4"/>
                </a:cxn>
                <a:cxn ang="0">
                  <a:pos x="277" y="0"/>
                </a:cxn>
                <a:cxn ang="0">
                  <a:pos x="221" y="4"/>
                </a:cxn>
                <a:cxn ang="0">
                  <a:pos x="171" y="19"/>
                </a:cxn>
                <a:cxn ang="0">
                  <a:pos x="123" y="44"/>
                </a:cxn>
                <a:cxn ang="0">
                  <a:pos x="81" y="80"/>
                </a:cxn>
                <a:cxn ang="0">
                  <a:pos x="45" y="122"/>
                </a:cxn>
                <a:cxn ang="0">
                  <a:pos x="19" y="170"/>
                </a:cxn>
                <a:cxn ang="0">
                  <a:pos x="5" y="220"/>
                </a:cxn>
                <a:cxn ang="0">
                  <a:pos x="0" y="277"/>
                </a:cxn>
                <a:cxn ang="0">
                  <a:pos x="5" y="331"/>
                </a:cxn>
                <a:cxn ang="0">
                  <a:pos x="19" y="382"/>
                </a:cxn>
                <a:cxn ang="0">
                  <a:pos x="45" y="429"/>
                </a:cxn>
                <a:cxn ang="0">
                  <a:pos x="81" y="472"/>
                </a:cxn>
                <a:cxn ang="0">
                  <a:pos x="123" y="507"/>
                </a:cxn>
                <a:cxn ang="0">
                  <a:pos x="171" y="534"/>
                </a:cxn>
                <a:cxn ang="0">
                  <a:pos x="221" y="548"/>
                </a:cxn>
                <a:cxn ang="0">
                  <a:pos x="277" y="554"/>
                </a:cxn>
                <a:cxn ang="0">
                  <a:pos x="317" y="549"/>
                </a:cxn>
                <a:cxn ang="0">
                  <a:pos x="343" y="544"/>
                </a:cxn>
                <a:cxn ang="0">
                  <a:pos x="383" y="534"/>
                </a:cxn>
                <a:cxn ang="0">
                  <a:pos x="406" y="520"/>
                </a:cxn>
                <a:cxn ang="0">
                  <a:pos x="451" y="490"/>
                </a:cxn>
              </a:cxnLst>
              <a:rect l="0" t="0" r="r" b="b"/>
              <a:pathLst>
                <a:path w="555" h="554">
                  <a:moveTo>
                    <a:pt x="473" y="472"/>
                  </a:move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0"/>
                  </a:lnTo>
                  <a:lnTo>
                    <a:pt x="473" y="80"/>
                  </a:lnTo>
                  <a:lnTo>
                    <a:pt x="451" y="60"/>
                  </a:lnTo>
                  <a:lnTo>
                    <a:pt x="430" y="44"/>
                  </a:lnTo>
                  <a:lnTo>
                    <a:pt x="406" y="30"/>
                  </a:lnTo>
                  <a:lnTo>
                    <a:pt x="383" y="19"/>
                  </a:lnTo>
                  <a:lnTo>
                    <a:pt x="357" y="10"/>
                  </a:lnTo>
                  <a:lnTo>
                    <a:pt x="331" y="4"/>
                  </a:lnTo>
                  <a:lnTo>
                    <a:pt x="304" y="1"/>
                  </a:lnTo>
                  <a:lnTo>
                    <a:pt x="277" y="0"/>
                  </a:lnTo>
                  <a:lnTo>
                    <a:pt x="249" y="1"/>
                  </a:lnTo>
                  <a:lnTo>
                    <a:pt x="221" y="4"/>
                  </a:lnTo>
                  <a:lnTo>
                    <a:pt x="195" y="10"/>
                  </a:lnTo>
                  <a:lnTo>
                    <a:pt x="171" y="19"/>
                  </a:lnTo>
                  <a:lnTo>
                    <a:pt x="145" y="30"/>
                  </a:lnTo>
                  <a:lnTo>
                    <a:pt x="123" y="44"/>
                  </a:lnTo>
                  <a:lnTo>
                    <a:pt x="101" y="60"/>
                  </a:lnTo>
                  <a:lnTo>
                    <a:pt x="81" y="80"/>
                  </a:lnTo>
                  <a:lnTo>
                    <a:pt x="60" y="100"/>
                  </a:lnTo>
                  <a:lnTo>
                    <a:pt x="45"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5" y="429"/>
                  </a:lnTo>
                  <a:lnTo>
                    <a:pt x="60" y="451"/>
                  </a:lnTo>
                  <a:lnTo>
                    <a:pt x="81" y="472"/>
                  </a:lnTo>
                  <a:lnTo>
                    <a:pt x="101" y="490"/>
                  </a:lnTo>
                  <a:lnTo>
                    <a:pt x="123" y="507"/>
                  </a:lnTo>
                  <a:lnTo>
                    <a:pt x="145" y="520"/>
                  </a:lnTo>
                  <a:lnTo>
                    <a:pt x="171" y="534"/>
                  </a:lnTo>
                  <a:lnTo>
                    <a:pt x="195" y="542"/>
                  </a:lnTo>
                  <a:lnTo>
                    <a:pt x="221" y="548"/>
                  </a:lnTo>
                  <a:lnTo>
                    <a:pt x="249" y="552"/>
                  </a:lnTo>
                  <a:lnTo>
                    <a:pt x="277" y="554"/>
                  </a:lnTo>
                  <a:lnTo>
                    <a:pt x="304" y="552"/>
                  </a:lnTo>
                  <a:lnTo>
                    <a:pt x="317" y="549"/>
                  </a:lnTo>
                  <a:lnTo>
                    <a:pt x="331" y="548"/>
                  </a:lnTo>
                  <a:lnTo>
                    <a:pt x="343" y="544"/>
                  </a:lnTo>
                  <a:lnTo>
                    <a:pt x="357" y="542"/>
                  </a:lnTo>
                  <a:lnTo>
                    <a:pt x="383" y="534"/>
                  </a:lnTo>
                  <a:lnTo>
                    <a:pt x="394" y="526"/>
                  </a:lnTo>
                  <a:lnTo>
                    <a:pt x="406" y="520"/>
                  </a:lnTo>
                  <a:lnTo>
                    <a:pt x="430" y="507"/>
                  </a:lnTo>
                  <a:lnTo>
                    <a:pt x="451" y="490"/>
                  </a:lnTo>
                  <a:lnTo>
                    <a:pt x="473" y="472"/>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3" name="Rectangle 1868"/>
            <p:cNvSpPr>
              <a:spLocks noChangeArrowheads="1"/>
            </p:cNvSpPr>
            <p:nvPr/>
          </p:nvSpPr>
          <p:spPr bwMode="auto">
            <a:xfrm>
              <a:off x="464" y="2791"/>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a:solidFill>
                    <a:srgbClr val="000000"/>
                  </a:solidFill>
                  <a:latin typeface="Calibri" pitchFamily="34" charset="0"/>
                  <a:cs typeface="Calibri" pitchFamily="34" charset="0"/>
                </a:rPr>
                <a:t>1</a:t>
              </a:r>
              <a:endParaRPr lang="en-US">
                <a:latin typeface="Calibri" pitchFamily="34" charset="0"/>
                <a:cs typeface="Calibri" pitchFamily="34" charset="0"/>
              </a:endParaRPr>
            </a:p>
          </p:txBody>
        </p:sp>
      </p:grpSp>
      <p:sp>
        <p:nvSpPr>
          <p:cNvPr id="14" name="Rectangle 1869"/>
          <p:cNvSpPr>
            <a:spLocks noChangeArrowheads="1"/>
          </p:cNvSpPr>
          <p:nvPr/>
        </p:nvSpPr>
        <p:spPr bwMode="auto">
          <a:xfrm>
            <a:off x="690920" y="990600"/>
            <a:ext cx="1479444" cy="430887"/>
          </a:xfrm>
          <a:prstGeom prst="rect">
            <a:avLst/>
          </a:prstGeom>
          <a:noFill/>
          <a:ln w="25400" algn="ctr">
            <a:noFill/>
            <a:miter lim="800000"/>
            <a:headEnd/>
            <a:tailEnd/>
          </a:ln>
          <a:effectLst/>
        </p:spPr>
        <p:txBody>
          <a:bodyPr wrap="none" lIns="0" tIns="0" rIns="0" bIns="0" anchor="ctr" anchorCtr="1">
            <a:spAutoFit/>
          </a:bodyPr>
          <a:lstStyle/>
          <a:p>
            <a:pPr marL="354013" indent="-354013" algn="ctr" defTabSz="941388"/>
            <a:r>
              <a:rPr lang="en-US" sz="1400" b="1" dirty="0">
                <a:solidFill>
                  <a:srgbClr val="001636"/>
                </a:solidFill>
                <a:latin typeface="Calibri" pitchFamily="34" charset="0"/>
                <a:cs typeface="Calibri" pitchFamily="34" charset="0"/>
              </a:rPr>
              <a:t>Application Servers </a:t>
            </a:r>
          </a:p>
          <a:p>
            <a:pPr marL="354013" indent="-354013" algn="ctr" defTabSz="941388"/>
            <a:r>
              <a:rPr lang="en-US" sz="1400" b="1" dirty="0">
                <a:solidFill>
                  <a:srgbClr val="001636"/>
                </a:solidFill>
                <a:latin typeface="Calibri" pitchFamily="34" charset="0"/>
                <a:cs typeface="Calibri" pitchFamily="34" charset="0"/>
              </a:rPr>
              <a:t>(Backup Clients)</a:t>
            </a:r>
          </a:p>
        </p:txBody>
      </p:sp>
      <p:sp>
        <p:nvSpPr>
          <p:cNvPr id="15" name="Rectangle 1871"/>
          <p:cNvSpPr>
            <a:spLocks noChangeArrowheads="1"/>
          </p:cNvSpPr>
          <p:nvPr/>
        </p:nvSpPr>
        <p:spPr bwMode="auto">
          <a:xfrm>
            <a:off x="486518" y="5488662"/>
            <a:ext cx="1058944" cy="215444"/>
          </a:xfrm>
          <a:prstGeom prst="rect">
            <a:avLst/>
          </a:prstGeom>
          <a:noFill/>
          <a:ln w="25400" algn="ctr">
            <a:noFill/>
            <a:miter lim="800000"/>
            <a:headEnd/>
            <a:tailEnd/>
          </a:ln>
          <a:effectLst/>
        </p:spPr>
        <p:txBody>
          <a:bodyPr wrap="none" lIns="0" tIns="0" rIns="0" bIns="0" anchor="ctr" anchorCtr="1">
            <a:spAutoFit/>
          </a:bodyPr>
          <a:lstStyle/>
          <a:p>
            <a:pPr marL="354013" indent="-354013" defTabSz="941388"/>
            <a:r>
              <a:rPr lang="en-US" sz="1400" b="1" dirty="0">
                <a:solidFill>
                  <a:srgbClr val="001636"/>
                </a:solidFill>
                <a:latin typeface="Calibri" pitchFamily="34" charset="0"/>
                <a:cs typeface="Calibri" pitchFamily="34" charset="0"/>
              </a:rPr>
              <a:t>Backup Server</a:t>
            </a:r>
          </a:p>
        </p:txBody>
      </p:sp>
      <p:sp>
        <p:nvSpPr>
          <p:cNvPr id="16" name="Rectangle 1872"/>
          <p:cNvSpPr>
            <a:spLocks noChangeArrowheads="1"/>
          </p:cNvSpPr>
          <p:nvPr/>
        </p:nvSpPr>
        <p:spPr bwMode="auto">
          <a:xfrm>
            <a:off x="2033945" y="5488662"/>
            <a:ext cx="1003865" cy="215444"/>
          </a:xfrm>
          <a:prstGeom prst="rect">
            <a:avLst/>
          </a:prstGeom>
          <a:noFill/>
          <a:ln w="25400" algn="ctr">
            <a:noFill/>
            <a:miter lim="800000"/>
            <a:headEnd/>
            <a:tailEnd/>
          </a:ln>
          <a:effectLst/>
        </p:spPr>
        <p:txBody>
          <a:bodyPr wrap="none" lIns="0" tIns="0" rIns="0" bIns="0" anchor="ctr" anchorCtr="1">
            <a:spAutoFit/>
          </a:bodyPr>
          <a:lstStyle/>
          <a:p>
            <a:pPr marL="354013" indent="-354013" defTabSz="941388"/>
            <a:r>
              <a:rPr lang="en-US" sz="1400" b="1" dirty="0">
                <a:solidFill>
                  <a:srgbClr val="001636"/>
                </a:solidFill>
                <a:latin typeface="Calibri" pitchFamily="34" charset="0"/>
                <a:cs typeface="Calibri" pitchFamily="34" charset="0"/>
              </a:rPr>
              <a:t>Storage Node</a:t>
            </a:r>
          </a:p>
        </p:txBody>
      </p:sp>
      <p:sp>
        <p:nvSpPr>
          <p:cNvPr id="17" name="Rectangle 1873"/>
          <p:cNvSpPr>
            <a:spLocks noChangeArrowheads="1"/>
          </p:cNvSpPr>
          <p:nvPr/>
        </p:nvSpPr>
        <p:spPr bwMode="auto">
          <a:xfrm>
            <a:off x="3551981" y="5495925"/>
            <a:ext cx="1078950" cy="215444"/>
          </a:xfrm>
          <a:prstGeom prst="rect">
            <a:avLst/>
          </a:prstGeom>
          <a:noFill/>
          <a:ln w="25400" algn="ctr">
            <a:noFill/>
            <a:miter lim="800000"/>
            <a:headEnd/>
            <a:tailEnd/>
          </a:ln>
          <a:effectLst/>
        </p:spPr>
        <p:txBody>
          <a:bodyPr wrap="none" lIns="0" tIns="0" rIns="0" bIns="0" anchor="ctr" anchorCtr="1">
            <a:spAutoFit/>
          </a:bodyPr>
          <a:lstStyle/>
          <a:p>
            <a:pPr marL="354013" indent="-354013" defTabSz="941388"/>
            <a:r>
              <a:rPr lang="en-US" sz="1400" b="1" dirty="0">
                <a:solidFill>
                  <a:srgbClr val="001636"/>
                </a:solidFill>
                <a:latin typeface="Calibri" pitchFamily="34" charset="0"/>
                <a:cs typeface="Calibri" pitchFamily="34" charset="0"/>
              </a:rPr>
              <a:t>Backup Device</a:t>
            </a:r>
          </a:p>
        </p:txBody>
      </p:sp>
      <p:grpSp>
        <p:nvGrpSpPr>
          <p:cNvPr id="18" name="Group 1967"/>
          <p:cNvGrpSpPr>
            <a:grpSpLocks/>
          </p:cNvGrpSpPr>
          <p:nvPr/>
        </p:nvGrpSpPr>
        <p:grpSpPr bwMode="auto">
          <a:xfrm>
            <a:off x="403578" y="4574262"/>
            <a:ext cx="293687" cy="293688"/>
            <a:chOff x="401" y="2968"/>
            <a:chExt cx="185" cy="185"/>
          </a:xfrm>
        </p:grpSpPr>
        <p:sp>
          <p:nvSpPr>
            <p:cNvPr id="19" name="Freeform 1874"/>
            <p:cNvSpPr>
              <a:spLocks/>
            </p:cNvSpPr>
            <p:nvPr/>
          </p:nvSpPr>
          <p:spPr bwMode="auto">
            <a:xfrm>
              <a:off x="401" y="2968"/>
              <a:ext cx="185" cy="185"/>
            </a:xfrm>
            <a:custGeom>
              <a:avLst/>
              <a:gdLst/>
              <a:ahLst/>
              <a:cxnLst>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5" y="542"/>
                </a:cxn>
                <a:cxn ang="0">
                  <a:pos x="249" y="551"/>
                </a:cxn>
                <a:cxn ang="0">
                  <a:pos x="304" y="551"/>
                </a:cxn>
                <a:cxn ang="0">
                  <a:pos x="331" y="548"/>
                </a:cxn>
                <a:cxn ang="0">
                  <a:pos x="357" y="542"/>
                </a:cxn>
                <a:cxn ang="0">
                  <a:pos x="394" y="526"/>
                </a:cxn>
                <a:cxn ang="0">
                  <a:pos x="430" y="507"/>
                </a:cxn>
                <a:cxn ang="0">
                  <a:pos x="473" y="472"/>
                </a:cxn>
                <a:cxn ang="0">
                  <a:pos x="508" y="429"/>
                </a:cxn>
                <a:cxn ang="0">
                  <a:pos x="527" y="393"/>
                </a:cxn>
                <a:cxn ang="0">
                  <a:pos x="543" y="356"/>
                </a:cxn>
                <a:cxn ang="0">
                  <a:pos x="549" y="331"/>
                </a:cxn>
                <a:cxn ang="0">
                  <a:pos x="552" y="303"/>
                </a:cxn>
                <a:cxn ang="0">
                  <a:pos x="552" y="248"/>
                </a:cxn>
                <a:cxn ang="0">
                  <a:pos x="543" y="194"/>
                </a:cxn>
                <a:cxn ang="0">
                  <a:pos x="521" y="145"/>
                </a:cxn>
                <a:cxn ang="0">
                  <a:pos x="491" y="100"/>
                </a:cxn>
                <a:cxn ang="0">
                  <a:pos x="451" y="60"/>
                </a:cxn>
                <a:cxn ang="0">
                  <a:pos x="406" y="30"/>
                </a:cxn>
                <a:cxn ang="0">
                  <a:pos x="357" y="10"/>
                </a:cxn>
                <a:cxn ang="0">
                  <a:pos x="304" y="1"/>
                </a:cxn>
                <a:cxn ang="0">
                  <a:pos x="249" y="1"/>
                </a:cxn>
                <a:cxn ang="0">
                  <a:pos x="195" y="10"/>
                </a:cxn>
                <a:cxn ang="0">
                  <a:pos x="145" y="30"/>
                </a:cxn>
                <a:cxn ang="0">
                  <a:pos x="101" y="60"/>
                </a:cxn>
              </a:cxnLst>
              <a:rect l="0" t="0" r="r" b="b"/>
              <a:pathLst>
                <a:path w="555" h="554">
                  <a:moveTo>
                    <a:pt x="81" y="80"/>
                  </a:moveTo>
                  <a:lnTo>
                    <a:pt x="60" y="100"/>
                  </a:lnTo>
                  <a:lnTo>
                    <a:pt x="45"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5" y="429"/>
                  </a:lnTo>
                  <a:lnTo>
                    <a:pt x="60" y="451"/>
                  </a:lnTo>
                  <a:lnTo>
                    <a:pt x="81" y="472"/>
                  </a:lnTo>
                  <a:lnTo>
                    <a:pt x="101" y="490"/>
                  </a:lnTo>
                  <a:lnTo>
                    <a:pt x="123" y="507"/>
                  </a:lnTo>
                  <a:lnTo>
                    <a:pt x="145" y="520"/>
                  </a:lnTo>
                  <a:lnTo>
                    <a:pt x="171" y="533"/>
                  </a:lnTo>
                  <a:lnTo>
                    <a:pt x="195" y="542"/>
                  </a:lnTo>
                  <a:lnTo>
                    <a:pt x="221" y="548"/>
                  </a:lnTo>
                  <a:lnTo>
                    <a:pt x="249" y="551"/>
                  </a:lnTo>
                  <a:lnTo>
                    <a:pt x="277" y="554"/>
                  </a:lnTo>
                  <a:lnTo>
                    <a:pt x="304" y="551"/>
                  </a:lnTo>
                  <a:lnTo>
                    <a:pt x="317" y="549"/>
                  </a:lnTo>
                  <a:lnTo>
                    <a:pt x="331" y="548"/>
                  </a:lnTo>
                  <a:lnTo>
                    <a:pt x="343" y="544"/>
                  </a:lnTo>
                  <a:lnTo>
                    <a:pt x="357" y="542"/>
                  </a:lnTo>
                  <a:lnTo>
                    <a:pt x="383" y="533"/>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0"/>
                  </a:lnTo>
                  <a:lnTo>
                    <a:pt x="473" y="80"/>
                  </a:lnTo>
                  <a:lnTo>
                    <a:pt x="451" y="60"/>
                  </a:lnTo>
                  <a:lnTo>
                    <a:pt x="430" y="44"/>
                  </a:lnTo>
                  <a:lnTo>
                    <a:pt x="406" y="30"/>
                  </a:lnTo>
                  <a:lnTo>
                    <a:pt x="383" y="19"/>
                  </a:lnTo>
                  <a:lnTo>
                    <a:pt x="357" y="10"/>
                  </a:lnTo>
                  <a:lnTo>
                    <a:pt x="331" y="4"/>
                  </a:lnTo>
                  <a:lnTo>
                    <a:pt x="304" y="1"/>
                  </a:lnTo>
                  <a:lnTo>
                    <a:pt x="277" y="0"/>
                  </a:lnTo>
                  <a:lnTo>
                    <a:pt x="249" y="1"/>
                  </a:lnTo>
                  <a:lnTo>
                    <a:pt x="221" y="4"/>
                  </a:lnTo>
                  <a:lnTo>
                    <a:pt x="195" y="10"/>
                  </a:lnTo>
                  <a:lnTo>
                    <a:pt x="171" y="19"/>
                  </a:lnTo>
                  <a:lnTo>
                    <a:pt x="145" y="30"/>
                  </a:lnTo>
                  <a:lnTo>
                    <a:pt x="123" y="44"/>
                  </a:lnTo>
                  <a:lnTo>
                    <a:pt x="101" y="60"/>
                  </a:lnTo>
                  <a:lnTo>
                    <a:pt x="81" y="8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0" name="Rectangle 1875"/>
            <p:cNvSpPr>
              <a:spLocks noChangeArrowheads="1"/>
            </p:cNvSpPr>
            <p:nvPr/>
          </p:nvSpPr>
          <p:spPr bwMode="auto">
            <a:xfrm>
              <a:off x="464" y="3007"/>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a:solidFill>
                    <a:srgbClr val="000000"/>
                  </a:solidFill>
                  <a:latin typeface="Calibri" pitchFamily="34" charset="0"/>
                  <a:cs typeface="Calibri" pitchFamily="34" charset="0"/>
                </a:rPr>
                <a:t>2</a:t>
              </a:r>
              <a:endParaRPr lang="en-US">
                <a:latin typeface="Calibri" pitchFamily="34" charset="0"/>
                <a:cs typeface="Calibri" pitchFamily="34" charset="0"/>
              </a:endParaRPr>
            </a:p>
          </p:txBody>
        </p:sp>
      </p:grpSp>
      <p:grpSp>
        <p:nvGrpSpPr>
          <p:cNvPr id="21" name="Group 1973"/>
          <p:cNvGrpSpPr>
            <a:grpSpLocks/>
          </p:cNvGrpSpPr>
          <p:nvPr/>
        </p:nvGrpSpPr>
        <p:grpSpPr bwMode="auto">
          <a:xfrm>
            <a:off x="403578" y="4917162"/>
            <a:ext cx="293687" cy="293688"/>
            <a:chOff x="401" y="3184"/>
            <a:chExt cx="185" cy="185"/>
          </a:xfrm>
        </p:grpSpPr>
        <p:sp>
          <p:nvSpPr>
            <p:cNvPr id="22" name="Freeform 1876"/>
            <p:cNvSpPr>
              <a:spLocks/>
            </p:cNvSpPr>
            <p:nvPr/>
          </p:nvSpPr>
          <p:spPr bwMode="auto">
            <a:xfrm>
              <a:off x="401" y="3184"/>
              <a:ext cx="185" cy="185"/>
            </a:xfrm>
            <a:custGeom>
              <a:avLst/>
              <a:gdLst/>
              <a:ahLst/>
              <a:cxnLst>
                <a:cxn ang="0">
                  <a:pos x="60" y="101"/>
                </a:cxn>
                <a:cxn ang="0">
                  <a:pos x="30" y="146"/>
                </a:cxn>
                <a:cxn ang="0">
                  <a:pos x="11" y="195"/>
                </a:cxn>
                <a:cxn ang="0">
                  <a:pos x="1" y="249"/>
                </a:cxn>
                <a:cxn ang="0">
                  <a:pos x="1" y="304"/>
                </a:cxn>
                <a:cxn ang="0">
                  <a:pos x="11" y="357"/>
                </a:cxn>
                <a:cxn ang="0">
                  <a:pos x="30" y="406"/>
                </a:cxn>
                <a:cxn ang="0">
                  <a:pos x="60" y="452"/>
                </a:cxn>
                <a:cxn ang="0">
                  <a:pos x="101" y="491"/>
                </a:cxn>
                <a:cxn ang="0">
                  <a:pos x="145" y="521"/>
                </a:cxn>
                <a:cxn ang="0">
                  <a:pos x="195" y="543"/>
                </a:cxn>
                <a:cxn ang="0">
                  <a:pos x="249" y="552"/>
                </a:cxn>
                <a:cxn ang="0">
                  <a:pos x="304" y="552"/>
                </a:cxn>
                <a:cxn ang="0">
                  <a:pos x="331" y="549"/>
                </a:cxn>
                <a:cxn ang="0">
                  <a:pos x="357" y="543"/>
                </a:cxn>
                <a:cxn ang="0">
                  <a:pos x="394" y="527"/>
                </a:cxn>
                <a:cxn ang="0">
                  <a:pos x="430" y="508"/>
                </a:cxn>
                <a:cxn ang="0">
                  <a:pos x="473" y="473"/>
                </a:cxn>
                <a:cxn ang="0">
                  <a:pos x="508" y="430"/>
                </a:cxn>
                <a:cxn ang="0">
                  <a:pos x="527" y="394"/>
                </a:cxn>
                <a:cxn ang="0">
                  <a:pos x="543" y="357"/>
                </a:cxn>
                <a:cxn ang="0">
                  <a:pos x="549" y="332"/>
                </a:cxn>
                <a:cxn ang="0">
                  <a:pos x="552" y="304"/>
                </a:cxn>
                <a:cxn ang="0">
                  <a:pos x="552" y="249"/>
                </a:cxn>
                <a:cxn ang="0">
                  <a:pos x="543" y="195"/>
                </a:cxn>
                <a:cxn ang="0">
                  <a:pos x="521" y="146"/>
                </a:cxn>
                <a:cxn ang="0">
                  <a:pos x="491" y="101"/>
                </a:cxn>
                <a:cxn ang="0">
                  <a:pos x="451" y="60"/>
                </a:cxn>
                <a:cxn ang="0">
                  <a:pos x="406" y="30"/>
                </a:cxn>
                <a:cxn ang="0">
                  <a:pos x="357" y="11"/>
                </a:cxn>
                <a:cxn ang="0">
                  <a:pos x="304" y="2"/>
                </a:cxn>
                <a:cxn ang="0">
                  <a:pos x="249" y="2"/>
                </a:cxn>
                <a:cxn ang="0">
                  <a:pos x="195" y="11"/>
                </a:cxn>
                <a:cxn ang="0">
                  <a:pos x="145" y="30"/>
                </a:cxn>
                <a:cxn ang="0">
                  <a:pos x="101" y="60"/>
                </a:cxn>
              </a:cxnLst>
              <a:rect l="0" t="0" r="r" b="b"/>
              <a:pathLst>
                <a:path w="555" h="555">
                  <a:moveTo>
                    <a:pt x="81" y="81"/>
                  </a:moveTo>
                  <a:lnTo>
                    <a:pt x="60" y="101"/>
                  </a:lnTo>
                  <a:lnTo>
                    <a:pt x="45" y="123"/>
                  </a:lnTo>
                  <a:lnTo>
                    <a:pt x="30" y="146"/>
                  </a:lnTo>
                  <a:lnTo>
                    <a:pt x="19" y="171"/>
                  </a:lnTo>
                  <a:lnTo>
                    <a:pt x="11" y="195"/>
                  </a:lnTo>
                  <a:lnTo>
                    <a:pt x="5" y="221"/>
                  </a:lnTo>
                  <a:lnTo>
                    <a:pt x="1" y="249"/>
                  </a:lnTo>
                  <a:lnTo>
                    <a:pt x="0" y="278"/>
                  </a:lnTo>
                  <a:lnTo>
                    <a:pt x="1" y="304"/>
                  </a:lnTo>
                  <a:lnTo>
                    <a:pt x="5" y="332"/>
                  </a:lnTo>
                  <a:lnTo>
                    <a:pt x="11" y="357"/>
                  </a:lnTo>
                  <a:lnTo>
                    <a:pt x="19" y="383"/>
                  </a:lnTo>
                  <a:lnTo>
                    <a:pt x="30" y="406"/>
                  </a:lnTo>
                  <a:lnTo>
                    <a:pt x="45" y="430"/>
                  </a:lnTo>
                  <a:lnTo>
                    <a:pt x="60" y="452"/>
                  </a:lnTo>
                  <a:lnTo>
                    <a:pt x="81" y="473"/>
                  </a:lnTo>
                  <a:lnTo>
                    <a:pt x="101" y="491"/>
                  </a:lnTo>
                  <a:lnTo>
                    <a:pt x="123" y="508"/>
                  </a:lnTo>
                  <a:lnTo>
                    <a:pt x="145" y="521"/>
                  </a:lnTo>
                  <a:lnTo>
                    <a:pt x="171" y="534"/>
                  </a:lnTo>
                  <a:lnTo>
                    <a:pt x="195" y="543"/>
                  </a:lnTo>
                  <a:lnTo>
                    <a:pt x="221" y="549"/>
                  </a:lnTo>
                  <a:lnTo>
                    <a:pt x="249" y="552"/>
                  </a:lnTo>
                  <a:lnTo>
                    <a:pt x="277" y="555"/>
                  </a:lnTo>
                  <a:lnTo>
                    <a:pt x="304" y="552"/>
                  </a:lnTo>
                  <a:lnTo>
                    <a:pt x="317" y="550"/>
                  </a:lnTo>
                  <a:lnTo>
                    <a:pt x="331" y="549"/>
                  </a:lnTo>
                  <a:lnTo>
                    <a:pt x="343" y="545"/>
                  </a:lnTo>
                  <a:lnTo>
                    <a:pt x="357" y="543"/>
                  </a:lnTo>
                  <a:lnTo>
                    <a:pt x="383" y="534"/>
                  </a:lnTo>
                  <a:lnTo>
                    <a:pt x="394" y="527"/>
                  </a:lnTo>
                  <a:lnTo>
                    <a:pt x="406" y="521"/>
                  </a:lnTo>
                  <a:lnTo>
                    <a:pt x="430" y="508"/>
                  </a:lnTo>
                  <a:lnTo>
                    <a:pt x="451" y="491"/>
                  </a:lnTo>
                  <a:lnTo>
                    <a:pt x="473" y="473"/>
                  </a:lnTo>
                  <a:lnTo>
                    <a:pt x="491" y="452"/>
                  </a:lnTo>
                  <a:lnTo>
                    <a:pt x="508" y="430"/>
                  </a:lnTo>
                  <a:lnTo>
                    <a:pt x="521" y="406"/>
                  </a:lnTo>
                  <a:lnTo>
                    <a:pt x="527" y="394"/>
                  </a:lnTo>
                  <a:lnTo>
                    <a:pt x="534" y="383"/>
                  </a:lnTo>
                  <a:lnTo>
                    <a:pt x="543" y="357"/>
                  </a:lnTo>
                  <a:lnTo>
                    <a:pt x="545" y="344"/>
                  </a:lnTo>
                  <a:lnTo>
                    <a:pt x="549" y="332"/>
                  </a:lnTo>
                  <a:lnTo>
                    <a:pt x="550" y="317"/>
                  </a:lnTo>
                  <a:lnTo>
                    <a:pt x="552" y="304"/>
                  </a:lnTo>
                  <a:lnTo>
                    <a:pt x="555" y="278"/>
                  </a:lnTo>
                  <a:lnTo>
                    <a:pt x="552" y="249"/>
                  </a:lnTo>
                  <a:lnTo>
                    <a:pt x="549" y="221"/>
                  </a:lnTo>
                  <a:lnTo>
                    <a:pt x="543" y="195"/>
                  </a:lnTo>
                  <a:lnTo>
                    <a:pt x="534" y="171"/>
                  </a:lnTo>
                  <a:lnTo>
                    <a:pt x="521" y="146"/>
                  </a:lnTo>
                  <a:lnTo>
                    <a:pt x="508" y="123"/>
                  </a:lnTo>
                  <a:lnTo>
                    <a:pt x="491" y="101"/>
                  </a:lnTo>
                  <a:lnTo>
                    <a:pt x="473" y="81"/>
                  </a:lnTo>
                  <a:lnTo>
                    <a:pt x="451" y="60"/>
                  </a:lnTo>
                  <a:lnTo>
                    <a:pt x="430" y="45"/>
                  </a:lnTo>
                  <a:lnTo>
                    <a:pt x="406" y="30"/>
                  </a:lnTo>
                  <a:lnTo>
                    <a:pt x="383" y="20"/>
                  </a:lnTo>
                  <a:lnTo>
                    <a:pt x="357" y="11"/>
                  </a:lnTo>
                  <a:lnTo>
                    <a:pt x="331" y="5"/>
                  </a:lnTo>
                  <a:lnTo>
                    <a:pt x="304" y="2"/>
                  </a:lnTo>
                  <a:lnTo>
                    <a:pt x="277" y="0"/>
                  </a:lnTo>
                  <a:lnTo>
                    <a:pt x="249" y="2"/>
                  </a:lnTo>
                  <a:lnTo>
                    <a:pt x="221" y="5"/>
                  </a:lnTo>
                  <a:lnTo>
                    <a:pt x="195" y="11"/>
                  </a:lnTo>
                  <a:lnTo>
                    <a:pt x="171" y="20"/>
                  </a:lnTo>
                  <a:lnTo>
                    <a:pt x="145" y="30"/>
                  </a:lnTo>
                  <a:lnTo>
                    <a:pt x="123" y="45"/>
                  </a:lnTo>
                  <a:lnTo>
                    <a:pt x="101" y="60"/>
                  </a:lnTo>
                  <a:lnTo>
                    <a:pt x="81" y="81"/>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3" name="Rectangle 1877"/>
            <p:cNvSpPr>
              <a:spLocks noChangeArrowheads="1"/>
            </p:cNvSpPr>
            <p:nvPr/>
          </p:nvSpPr>
          <p:spPr bwMode="auto">
            <a:xfrm>
              <a:off x="464" y="3223"/>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a:solidFill>
                    <a:srgbClr val="000000"/>
                  </a:solidFill>
                  <a:latin typeface="Calibri" pitchFamily="34" charset="0"/>
                  <a:cs typeface="Calibri" pitchFamily="34" charset="0"/>
                </a:rPr>
                <a:t>7</a:t>
              </a:r>
              <a:endParaRPr lang="en-US">
                <a:latin typeface="Calibri" pitchFamily="34" charset="0"/>
                <a:cs typeface="Calibri" pitchFamily="34" charset="0"/>
              </a:endParaRPr>
            </a:p>
          </p:txBody>
        </p:sp>
      </p:grpSp>
      <p:grpSp>
        <p:nvGrpSpPr>
          <p:cNvPr id="26" name="Group 1974"/>
          <p:cNvGrpSpPr>
            <a:grpSpLocks/>
          </p:cNvGrpSpPr>
          <p:nvPr/>
        </p:nvGrpSpPr>
        <p:grpSpPr bwMode="auto">
          <a:xfrm>
            <a:off x="621065" y="2770862"/>
            <a:ext cx="411163" cy="1439863"/>
            <a:chOff x="538" y="1832"/>
            <a:chExt cx="259" cy="907"/>
          </a:xfrm>
        </p:grpSpPr>
        <p:grpSp>
          <p:nvGrpSpPr>
            <p:cNvPr id="27" name="Group 1969"/>
            <p:cNvGrpSpPr>
              <a:grpSpLocks/>
            </p:cNvGrpSpPr>
            <p:nvPr/>
          </p:nvGrpSpPr>
          <p:grpSpPr bwMode="auto">
            <a:xfrm>
              <a:off x="538" y="2120"/>
              <a:ext cx="185" cy="185"/>
              <a:chOff x="538" y="2120"/>
              <a:chExt cx="185" cy="185"/>
            </a:xfrm>
          </p:grpSpPr>
          <p:sp>
            <p:nvSpPr>
              <p:cNvPr id="29" name="Freeform 1884"/>
              <p:cNvSpPr>
                <a:spLocks/>
              </p:cNvSpPr>
              <p:nvPr/>
            </p:nvSpPr>
            <p:spPr bwMode="auto">
              <a:xfrm>
                <a:off x="538" y="2120"/>
                <a:ext cx="185" cy="185"/>
              </a:xfrm>
              <a:custGeom>
                <a:avLst/>
                <a:gdLst/>
                <a:ahLst/>
                <a:cxnLst>
                  <a:cxn ang="0">
                    <a:pos x="60" y="101"/>
                  </a:cxn>
                  <a:cxn ang="0">
                    <a:pos x="30" y="145"/>
                  </a:cxn>
                  <a:cxn ang="0">
                    <a:pos x="11" y="194"/>
                  </a:cxn>
                  <a:cxn ang="0">
                    <a:pos x="2" y="248"/>
                  </a:cxn>
                  <a:cxn ang="0">
                    <a:pos x="2" y="303"/>
                  </a:cxn>
                  <a:cxn ang="0">
                    <a:pos x="11" y="356"/>
                  </a:cxn>
                  <a:cxn ang="0">
                    <a:pos x="30" y="405"/>
                  </a:cxn>
                  <a:cxn ang="0">
                    <a:pos x="60" y="451"/>
                  </a:cxn>
                  <a:cxn ang="0">
                    <a:pos x="101" y="490"/>
                  </a:cxn>
                  <a:cxn ang="0">
                    <a:pos x="146" y="520"/>
                  </a:cxn>
                  <a:cxn ang="0">
                    <a:pos x="195" y="542"/>
                  </a:cxn>
                  <a:cxn ang="0">
                    <a:pos x="249" y="552"/>
                  </a:cxn>
                  <a:cxn ang="0">
                    <a:pos x="304" y="552"/>
                  </a:cxn>
                  <a:cxn ang="0">
                    <a:pos x="332" y="548"/>
                  </a:cxn>
                  <a:cxn ang="0">
                    <a:pos x="357" y="542"/>
                  </a:cxn>
                  <a:cxn ang="0">
                    <a:pos x="394" y="526"/>
                  </a:cxn>
                  <a:cxn ang="0">
                    <a:pos x="430" y="507"/>
                  </a:cxn>
                  <a:cxn ang="0">
                    <a:pos x="473" y="472"/>
                  </a:cxn>
                  <a:cxn ang="0">
                    <a:pos x="508" y="429"/>
                  </a:cxn>
                  <a:cxn ang="0">
                    <a:pos x="527" y="393"/>
                  </a:cxn>
                  <a:cxn ang="0">
                    <a:pos x="543" y="356"/>
                  </a:cxn>
                  <a:cxn ang="0">
                    <a:pos x="549" y="331"/>
                  </a:cxn>
                  <a:cxn ang="0">
                    <a:pos x="552" y="303"/>
                  </a:cxn>
                  <a:cxn ang="0">
                    <a:pos x="552" y="248"/>
                  </a:cxn>
                  <a:cxn ang="0">
                    <a:pos x="543" y="194"/>
                  </a:cxn>
                  <a:cxn ang="0">
                    <a:pos x="521" y="145"/>
                  </a:cxn>
                  <a:cxn ang="0">
                    <a:pos x="491" y="101"/>
                  </a:cxn>
                  <a:cxn ang="0">
                    <a:pos x="452" y="60"/>
                  </a:cxn>
                  <a:cxn ang="0">
                    <a:pos x="406" y="30"/>
                  </a:cxn>
                  <a:cxn ang="0">
                    <a:pos x="357" y="11"/>
                  </a:cxn>
                  <a:cxn ang="0">
                    <a:pos x="304" y="1"/>
                  </a:cxn>
                  <a:cxn ang="0">
                    <a:pos x="249" y="1"/>
                  </a:cxn>
                  <a:cxn ang="0">
                    <a:pos x="195" y="11"/>
                  </a:cxn>
                  <a:cxn ang="0">
                    <a:pos x="146" y="30"/>
                  </a:cxn>
                  <a:cxn ang="0">
                    <a:pos x="101" y="60"/>
                  </a:cxn>
                </a:cxnLst>
                <a:rect l="0" t="0" r="r" b="b"/>
                <a:pathLst>
                  <a:path w="555" h="554">
                    <a:moveTo>
                      <a:pt x="81" y="80"/>
                    </a:moveTo>
                    <a:lnTo>
                      <a:pt x="60" y="101"/>
                    </a:lnTo>
                    <a:lnTo>
                      <a:pt x="45" y="122"/>
                    </a:lnTo>
                    <a:lnTo>
                      <a:pt x="30" y="145"/>
                    </a:lnTo>
                    <a:lnTo>
                      <a:pt x="20" y="170"/>
                    </a:lnTo>
                    <a:lnTo>
                      <a:pt x="11" y="194"/>
                    </a:lnTo>
                    <a:lnTo>
                      <a:pt x="5" y="220"/>
                    </a:lnTo>
                    <a:lnTo>
                      <a:pt x="2" y="248"/>
                    </a:lnTo>
                    <a:lnTo>
                      <a:pt x="0" y="277"/>
                    </a:lnTo>
                    <a:lnTo>
                      <a:pt x="2" y="303"/>
                    </a:lnTo>
                    <a:lnTo>
                      <a:pt x="5" y="331"/>
                    </a:lnTo>
                    <a:lnTo>
                      <a:pt x="11" y="356"/>
                    </a:lnTo>
                    <a:lnTo>
                      <a:pt x="20" y="382"/>
                    </a:lnTo>
                    <a:lnTo>
                      <a:pt x="30" y="405"/>
                    </a:lnTo>
                    <a:lnTo>
                      <a:pt x="45" y="429"/>
                    </a:lnTo>
                    <a:lnTo>
                      <a:pt x="60" y="451"/>
                    </a:lnTo>
                    <a:lnTo>
                      <a:pt x="81" y="472"/>
                    </a:lnTo>
                    <a:lnTo>
                      <a:pt x="101" y="490"/>
                    </a:lnTo>
                    <a:lnTo>
                      <a:pt x="123" y="507"/>
                    </a:lnTo>
                    <a:lnTo>
                      <a:pt x="146" y="520"/>
                    </a:lnTo>
                    <a:lnTo>
                      <a:pt x="171" y="534"/>
                    </a:lnTo>
                    <a:lnTo>
                      <a:pt x="195" y="542"/>
                    </a:lnTo>
                    <a:lnTo>
                      <a:pt x="221" y="548"/>
                    </a:lnTo>
                    <a:lnTo>
                      <a:pt x="249" y="552"/>
                    </a:lnTo>
                    <a:lnTo>
                      <a:pt x="278" y="554"/>
                    </a:lnTo>
                    <a:lnTo>
                      <a:pt x="304" y="552"/>
                    </a:lnTo>
                    <a:lnTo>
                      <a:pt x="317" y="549"/>
                    </a:lnTo>
                    <a:lnTo>
                      <a:pt x="332" y="548"/>
                    </a:lnTo>
                    <a:lnTo>
                      <a:pt x="344" y="544"/>
                    </a:lnTo>
                    <a:lnTo>
                      <a:pt x="357" y="542"/>
                    </a:lnTo>
                    <a:lnTo>
                      <a:pt x="383" y="534"/>
                    </a:lnTo>
                    <a:lnTo>
                      <a:pt x="394" y="526"/>
                    </a:lnTo>
                    <a:lnTo>
                      <a:pt x="406" y="520"/>
                    </a:lnTo>
                    <a:lnTo>
                      <a:pt x="430" y="507"/>
                    </a:lnTo>
                    <a:lnTo>
                      <a:pt x="452" y="490"/>
                    </a:lnTo>
                    <a:lnTo>
                      <a:pt x="473" y="472"/>
                    </a:ln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1"/>
                    </a:lnTo>
                    <a:lnTo>
                      <a:pt x="473" y="80"/>
                    </a:lnTo>
                    <a:lnTo>
                      <a:pt x="452" y="60"/>
                    </a:lnTo>
                    <a:lnTo>
                      <a:pt x="430" y="44"/>
                    </a:lnTo>
                    <a:lnTo>
                      <a:pt x="406" y="30"/>
                    </a:lnTo>
                    <a:lnTo>
                      <a:pt x="383" y="19"/>
                    </a:lnTo>
                    <a:lnTo>
                      <a:pt x="357" y="11"/>
                    </a:lnTo>
                    <a:lnTo>
                      <a:pt x="332" y="5"/>
                    </a:lnTo>
                    <a:lnTo>
                      <a:pt x="304" y="1"/>
                    </a:lnTo>
                    <a:lnTo>
                      <a:pt x="278" y="0"/>
                    </a:lnTo>
                    <a:lnTo>
                      <a:pt x="249" y="1"/>
                    </a:lnTo>
                    <a:lnTo>
                      <a:pt x="221" y="5"/>
                    </a:lnTo>
                    <a:lnTo>
                      <a:pt x="195" y="11"/>
                    </a:lnTo>
                    <a:lnTo>
                      <a:pt x="171" y="19"/>
                    </a:lnTo>
                    <a:lnTo>
                      <a:pt x="146" y="30"/>
                    </a:lnTo>
                    <a:lnTo>
                      <a:pt x="123" y="44"/>
                    </a:lnTo>
                    <a:lnTo>
                      <a:pt x="101" y="60"/>
                    </a:lnTo>
                    <a:lnTo>
                      <a:pt x="81" y="8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0" name="Rectangle 1885"/>
              <p:cNvSpPr>
                <a:spLocks noChangeArrowheads="1"/>
              </p:cNvSpPr>
              <p:nvPr/>
            </p:nvSpPr>
            <p:spPr bwMode="auto">
              <a:xfrm>
                <a:off x="579" y="2159"/>
                <a:ext cx="85" cy="97"/>
              </a:xfrm>
              <a:prstGeom prst="rect">
                <a:avLst/>
              </a:prstGeom>
              <a:noFill/>
              <a:ln w="9525">
                <a:noFill/>
                <a:miter lim="800000"/>
                <a:headEnd/>
                <a:tailEnd/>
              </a:ln>
            </p:spPr>
            <p:txBody>
              <a:bodyPr wrap="none" lIns="0" tIns="0" rIns="0" bIns="0">
                <a:spAutoFit/>
              </a:bodyPr>
              <a:lstStyle/>
              <a:p>
                <a:pPr marL="354013" indent="-354013" defTabSz="941388"/>
                <a:r>
                  <a:rPr lang="en-US" sz="1000" b="1">
                    <a:solidFill>
                      <a:srgbClr val="000000"/>
                    </a:solidFill>
                    <a:latin typeface="Calibri" pitchFamily="34" charset="0"/>
                    <a:cs typeface="Calibri" pitchFamily="34" charset="0"/>
                  </a:rPr>
                  <a:t>3b</a:t>
                </a:r>
                <a:endParaRPr lang="en-US">
                  <a:latin typeface="Calibri" pitchFamily="34" charset="0"/>
                  <a:cs typeface="Calibri" pitchFamily="34" charset="0"/>
                </a:endParaRPr>
              </a:p>
            </p:txBody>
          </p:sp>
        </p:grpSp>
        <p:sp>
          <p:nvSpPr>
            <p:cNvPr id="28" name="Line 1920"/>
            <p:cNvSpPr>
              <a:spLocks noChangeShapeType="1"/>
            </p:cNvSpPr>
            <p:nvPr/>
          </p:nvSpPr>
          <p:spPr bwMode="auto">
            <a:xfrm flipV="1">
              <a:off x="797" y="1832"/>
              <a:ext cx="0" cy="907"/>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grpSp>
      <p:grpSp>
        <p:nvGrpSpPr>
          <p:cNvPr id="31" name="Group 1975"/>
          <p:cNvGrpSpPr>
            <a:grpSpLocks/>
          </p:cNvGrpSpPr>
          <p:nvPr/>
        </p:nvGrpSpPr>
        <p:grpSpPr bwMode="auto">
          <a:xfrm>
            <a:off x="1129065" y="2780387"/>
            <a:ext cx="1293813" cy="1381125"/>
            <a:chOff x="858" y="1838"/>
            <a:chExt cx="815" cy="870"/>
          </a:xfrm>
        </p:grpSpPr>
        <p:grpSp>
          <p:nvGrpSpPr>
            <p:cNvPr id="32" name="Group 1970"/>
            <p:cNvGrpSpPr>
              <a:grpSpLocks/>
            </p:cNvGrpSpPr>
            <p:nvPr/>
          </p:nvGrpSpPr>
          <p:grpSpPr bwMode="auto">
            <a:xfrm>
              <a:off x="1354" y="2120"/>
              <a:ext cx="185" cy="185"/>
              <a:chOff x="1354" y="2120"/>
              <a:chExt cx="185" cy="185"/>
            </a:xfrm>
          </p:grpSpPr>
          <p:sp>
            <p:nvSpPr>
              <p:cNvPr id="34" name="Freeform 1886"/>
              <p:cNvSpPr>
                <a:spLocks/>
              </p:cNvSpPr>
              <p:nvPr/>
            </p:nvSpPr>
            <p:spPr bwMode="auto">
              <a:xfrm>
                <a:off x="1354" y="2120"/>
                <a:ext cx="185" cy="185"/>
              </a:xfrm>
              <a:custGeom>
                <a:avLst/>
                <a:gdLst/>
                <a:ahLst/>
                <a:cxnLst>
                  <a:cxn ang="0">
                    <a:pos x="60" y="101"/>
                  </a:cxn>
                  <a:cxn ang="0">
                    <a:pos x="30" y="145"/>
                  </a:cxn>
                  <a:cxn ang="0">
                    <a:pos x="11" y="194"/>
                  </a:cxn>
                  <a:cxn ang="0">
                    <a:pos x="2" y="248"/>
                  </a:cxn>
                  <a:cxn ang="0">
                    <a:pos x="2" y="303"/>
                  </a:cxn>
                  <a:cxn ang="0">
                    <a:pos x="11" y="356"/>
                  </a:cxn>
                  <a:cxn ang="0">
                    <a:pos x="30" y="405"/>
                  </a:cxn>
                  <a:cxn ang="0">
                    <a:pos x="60" y="451"/>
                  </a:cxn>
                  <a:cxn ang="0">
                    <a:pos x="101" y="490"/>
                  </a:cxn>
                  <a:cxn ang="0">
                    <a:pos x="146" y="520"/>
                  </a:cxn>
                  <a:cxn ang="0">
                    <a:pos x="195" y="542"/>
                  </a:cxn>
                  <a:cxn ang="0">
                    <a:pos x="249" y="552"/>
                  </a:cxn>
                  <a:cxn ang="0">
                    <a:pos x="304" y="552"/>
                  </a:cxn>
                  <a:cxn ang="0">
                    <a:pos x="332" y="548"/>
                  </a:cxn>
                  <a:cxn ang="0">
                    <a:pos x="357" y="542"/>
                  </a:cxn>
                  <a:cxn ang="0">
                    <a:pos x="394" y="526"/>
                  </a:cxn>
                  <a:cxn ang="0">
                    <a:pos x="430" y="507"/>
                  </a:cxn>
                  <a:cxn ang="0">
                    <a:pos x="473" y="472"/>
                  </a:cxn>
                  <a:cxn ang="0">
                    <a:pos x="508" y="429"/>
                  </a:cxn>
                  <a:cxn ang="0">
                    <a:pos x="527" y="393"/>
                  </a:cxn>
                  <a:cxn ang="0">
                    <a:pos x="543" y="356"/>
                  </a:cxn>
                  <a:cxn ang="0">
                    <a:pos x="549" y="331"/>
                  </a:cxn>
                  <a:cxn ang="0">
                    <a:pos x="552" y="303"/>
                  </a:cxn>
                  <a:cxn ang="0">
                    <a:pos x="552" y="248"/>
                  </a:cxn>
                  <a:cxn ang="0">
                    <a:pos x="543" y="194"/>
                  </a:cxn>
                  <a:cxn ang="0">
                    <a:pos x="521" y="145"/>
                  </a:cxn>
                  <a:cxn ang="0">
                    <a:pos x="491" y="101"/>
                  </a:cxn>
                  <a:cxn ang="0">
                    <a:pos x="452" y="60"/>
                  </a:cxn>
                  <a:cxn ang="0">
                    <a:pos x="406" y="30"/>
                  </a:cxn>
                  <a:cxn ang="0">
                    <a:pos x="357" y="11"/>
                  </a:cxn>
                  <a:cxn ang="0">
                    <a:pos x="304" y="1"/>
                  </a:cxn>
                  <a:cxn ang="0">
                    <a:pos x="249" y="1"/>
                  </a:cxn>
                  <a:cxn ang="0">
                    <a:pos x="195" y="11"/>
                  </a:cxn>
                  <a:cxn ang="0">
                    <a:pos x="146" y="30"/>
                  </a:cxn>
                  <a:cxn ang="0">
                    <a:pos x="101" y="60"/>
                  </a:cxn>
                </a:cxnLst>
                <a:rect l="0" t="0" r="r" b="b"/>
                <a:pathLst>
                  <a:path w="555" h="554">
                    <a:moveTo>
                      <a:pt x="81" y="80"/>
                    </a:moveTo>
                    <a:lnTo>
                      <a:pt x="60" y="101"/>
                    </a:lnTo>
                    <a:lnTo>
                      <a:pt x="45" y="122"/>
                    </a:lnTo>
                    <a:lnTo>
                      <a:pt x="30" y="145"/>
                    </a:lnTo>
                    <a:lnTo>
                      <a:pt x="20" y="170"/>
                    </a:lnTo>
                    <a:lnTo>
                      <a:pt x="11" y="194"/>
                    </a:lnTo>
                    <a:lnTo>
                      <a:pt x="5" y="220"/>
                    </a:lnTo>
                    <a:lnTo>
                      <a:pt x="2" y="248"/>
                    </a:lnTo>
                    <a:lnTo>
                      <a:pt x="0" y="277"/>
                    </a:lnTo>
                    <a:lnTo>
                      <a:pt x="2" y="303"/>
                    </a:lnTo>
                    <a:lnTo>
                      <a:pt x="5" y="331"/>
                    </a:lnTo>
                    <a:lnTo>
                      <a:pt x="11" y="356"/>
                    </a:lnTo>
                    <a:lnTo>
                      <a:pt x="20" y="382"/>
                    </a:lnTo>
                    <a:lnTo>
                      <a:pt x="30" y="405"/>
                    </a:lnTo>
                    <a:lnTo>
                      <a:pt x="45" y="429"/>
                    </a:lnTo>
                    <a:lnTo>
                      <a:pt x="60" y="451"/>
                    </a:lnTo>
                    <a:lnTo>
                      <a:pt x="81" y="472"/>
                    </a:lnTo>
                    <a:lnTo>
                      <a:pt x="101" y="490"/>
                    </a:lnTo>
                    <a:lnTo>
                      <a:pt x="123" y="507"/>
                    </a:lnTo>
                    <a:lnTo>
                      <a:pt x="146" y="520"/>
                    </a:lnTo>
                    <a:lnTo>
                      <a:pt x="171" y="534"/>
                    </a:lnTo>
                    <a:lnTo>
                      <a:pt x="195" y="542"/>
                    </a:lnTo>
                    <a:lnTo>
                      <a:pt x="221" y="548"/>
                    </a:lnTo>
                    <a:lnTo>
                      <a:pt x="249" y="552"/>
                    </a:lnTo>
                    <a:lnTo>
                      <a:pt x="278" y="554"/>
                    </a:lnTo>
                    <a:lnTo>
                      <a:pt x="304" y="552"/>
                    </a:lnTo>
                    <a:lnTo>
                      <a:pt x="317" y="549"/>
                    </a:lnTo>
                    <a:lnTo>
                      <a:pt x="332" y="548"/>
                    </a:lnTo>
                    <a:lnTo>
                      <a:pt x="344" y="544"/>
                    </a:lnTo>
                    <a:lnTo>
                      <a:pt x="357" y="542"/>
                    </a:lnTo>
                    <a:lnTo>
                      <a:pt x="383" y="534"/>
                    </a:lnTo>
                    <a:lnTo>
                      <a:pt x="394" y="526"/>
                    </a:lnTo>
                    <a:lnTo>
                      <a:pt x="406" y="520"/>
                    </a:lnTo>
                    <a:lnTo>
                      <a:pt x="430" y="507"/>
                    </a:lnTo>
                    <a:lnTo>
                      <a:pt x="452" y="490"/>
                    </a:lnTo>
                    <a:lnTo>
                      <a:pt x="473" y="472"/>
                    </a:ln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1"/>
                    </a:lnTo>
                    <a:lnTo>
                      <a:pt x="473" y="80"/>
                    </a:lnTo>
                    <a:lnTo>
                      <a:pt x="452" y="60"/>
                    </a:lnTo>
                    <a:lnTo>
                      <a:pt x="430" y="44"/>
                    </a:lnTo>
                    <a:lnTo>
                      <a:pt x="406" y="30"/>
                    </a:lnTo>
                    <a:lnTo>
                      <a:pt x="383" y="19"/>
                    </a:lnTo>
                    <a:lnTo>
                      <a:pt x="357" y="11"/>
                    </a:lnTo>
                    <a:lnTo>
                      <a:pt x="332" y="5"/>
                    </a:lnTo>
                    <a:lnTo>
                      <a:pt x="304" y="1"/>
                    </a:lnTo>
                    <a:lnTo>
                      <a:pt x="278" y="0"/>
                    </a:lnTo>
                    <a:lnTo>
                      <a:pt x="249" y="1"/>
                    </a:lnTo>
                    <a:lnTo>
                      <a:pt x="221" y="5"/>
                    </a:lnTo>
                    <a:lnTo>
                      <a:pt x="195" y="11"/>
                    </a:lnTo>
                    <a:lnTo>
                      <a:pt x="171" y="19"/>
                    </a:lnTo>
                    <a:lnTo>
                      <a:pt x="146" y="30"/>
                    </a:lnTo>
                    <a:lnTo>
                      <a:pt x="123" y="44"/>
                    </a:lnTo>
                    <a:lnTo>
                      <a:pt x="101" y="60"/>
                    </a:lnTo>
                    <a:lnTo>
                      <a:pt x="81" y="8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5" name="Rectangle 1887"/>
              <p:cNvSpPr>
                <a:spLocks noChangeArrowheads="1"/>
              </p:cNvSpPr>
              <p:nvPr/>
            </p:nvSpPr>
            <p:spPr bwMode="auto">
              <a:xfrm>
                <a:off x="1417" y="2159"/>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a:solidFill>
                      <a:srgbClr val="000000"/>
                    </a:solidFill>
                    <a:latin typeface="Calibri" pitchFamily="34" charset="0"/>
                    <a:cs typeface="Calibri" pitchFamily="34" charset="0"/>
                  </a:rPr>
                  <a:t>4</a:t>
                </a:r>
                <a:endParaRPr lang="en-US">
                  <a:latin typeface="Calibri" pitchFamily="34" charset="0"/>
                  <a:cs typeface="Calibri" pitchFamily="34" charset="0"/>
                </a:endParaRPr>
              </a:p>
            </p:txBody>
          </p:sp>
        </p:grpSp>
        <p:sp>
          <p:nvSpPr>
            <p:cNvPr id="33" name="Line 1921"/>
            <p:cNvSpPr>
              <a:spLocks noChangeShapeType="1"/>
            </p:cNvSpPr>
            <p:nvPr/>
          </p:nvSpPr>
          <p:spPr bwMode="auto">
            <a:xfrm>
              <a:off x="858" y="1838"/>
              <a:ext cx="815" cy="870"/>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grpSp>
      <p:grpSp>
        <p:nvGrpSpPr>
          <p:cNvPr id="37" name="Group 1971"/>
          <p:cNvGrpSpPr>
            <a:grpSpLocks/>
          </p:cNvGrpSpPr>
          <p:nvPr/>
        </p:nvGrpSpPr>
        <p:grpSpPr bwMode="auto">
          <a:xfrm>
            <a:off x="2968978" y="4244062"/>
            <a:ext cx="293688" cy="293688"/>
            <a:chOff x="2017" y="2760"/>
            <a:chExt cx="185" cy="185"/>
          </a:xfrm>
        </p:grpSpPr>
        <p:sp>
          <p:nvSpPr>
            <p:cNvPr id="39" name="Freeform 1882"/>
            <p:cNvSpPr>
              <a:spLocks/>
            </p:cNvSpPr>
            <p:nvPr/>
          </p:nvSpPr>
          <p:spPr bwMode="auto">
            <a:xfrm>
              <a:off x="2017" y="2760"/>
              <a:ext cx="185" cy="185"/>
            </a:xfrm>
            <a:custGeom>
              <a:avLst/>
              <a:gdLst/>
              <a:ahLst/>
              <a:cxnLst>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5" y="542"/>
                </a:cxn>
                <a:cxn ang="0">
                  <a:pos x="249" y="552"/>
                </a:cxn>
                <a:cxn ang="0">
                  <a:pos x="304" y="552"/>
                </a:cxn>
                <a:cxn ang="0">
                  <a:pos x="331" y="548"/>
                </a:cxn>
                <a:cxn ang="0">
                  <a:pos x="357" y="542"/>
                </a:cxn>
                <a:cxn ang="0">
                  <a:pos x="394" y="526"/>
                </a:cxn>
                <a:cxn ang="0">
                  <a:pos x="430" y="507"/>
                </a:cxn>
                <a:cxn ang="0">
                  <a:pos x="473" y="472"/>
                </a:cxn>
                <a:cxn ang="0">
                  <a:pos x="508" y="429"/>
                </a:cxn>
                <a:cxn ang="0">
                  <a:pos x="527" y="393"/>
                </a:cxn>
                <a:cxn ang="0">
                  <a:pos x="543" y="356"/>
                </a:cxn>
                <a:cxn ang="0">
                  <a:pos x="549" y="331"/>
                </a:cxn>
                <a:cxn ang="0">
                  <a:pos x="552" y="303"/>
                </a:cxn>
                <a:cxn ang="0">
                  <a:pos x="552" y="248"/>
                </a:cxn>
                <a:cxn ang="0">
                  <a:pos x="543" y="194"/>
                </a:cxn>
                <a:cxn ang="0">
                  <a:pos x="521" y="145"/>
                </a:cxn>
                <a:cxn ang="0">
                  <a:pos x="491" y="100"/>
                </a:cxn>
                <a:cxn ang="0">
                  <a:pos x="451" y="60"/>
                </a:cxn>
                <a:cxn ang="0">
                  <a:pos x="406" y="30"/>
                </a:cxn>
                <a:cxn ang="0">
                  <a:pos x="357" y="10"/>
                </a:cxn>
                <a:cxn ang="0">
                  <a:pos x="304" y="1"/>
                </a:cxn>
                <a:cxn ang="0">
                  <a:pos x="249" y="1"/>
                </a:cxn>
                <a:cxn ang="0">
                  <a:pos x="195" y="10"/>
                </a:cxn>
                <a:cxn ang="0">
                  <a:pos x="145" y="30"/>
                </a:cxn>
                <a:cxn ang="0">
                  <a:pos x="101" y="60"/>
                </a:cxn>
              </a:cxnLst>
              <a:rect l="0" t="0" r="r" b="b"/>
              <a:pathLst>
                <a:path w="555" h="554">
                  <a:moveTo>
                    <a:pt x="81" y="80"/>
                  </a:moveTo>
                  <a:lnTo>
                    <a:pt x="60" y="100"/>
                  </a:lnTo>
                  <a:lnTo>
                    <a:pt x="45"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5" y="429"/>
                  </a:lnTo>
                  <a:lnTo>
                    <a:pt x="60" y="451"/>
                  </a:lnTo>
                  <a:lnTo>
                    <a:pt x="81" y="472"/>
                  </a:lnTo>
                  <a:lnTo>
                    <a:pt x="101" y="490"/>
                  </a:lnTo>
                  <a:lnTo>
                    <a:pt x="123" y="507"/>
                  </a:lnTo>
                  <a:lnTo>
                    <a:pt x="145" y="520"/>
                  </a:lnTo>
                  <a:lnTo>
                    <a:pt x="171" y="534"/>
                  </a:lnTo>
                  <a:lnTo>
                    <a:pt x="195" y="542"/>
                  </a:lnTo>
                  <a:lnTo>
                    <a:pt x="221" y="548"/>
                  </a:lnTo>
                  <a:lnTo>
                    <a:pt x="249" y="552"/>
                  </a:lnTo>
                  <a:lnTo>
                    <a:pt x="277" y="554"/>
                  </a:lnTo>
                  <a:lnTo>
                    <a:pt x="304" y="552"/>
                  </a:lnTo>
                  <a:lnTo>
                    <a:pt x="317" y="549"/>
                  </a:lnTo>
                  <a:lnTo>
                    <a:pt x="331" y="548"/>
                  </a:lnTo>
                  <a:lnTo>
                    <a:pt x="343" y="544"/>
                  </a:lnTo>
                  <a:lnTo>
                    <a:pt x="357"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0"/>
                  </a:lnTo>
                  <a:lnTo>
                    <a:pt x="473" y="80"/>
                  </a:lnTo>
                  <a:lnTo>
                    <a:pt x="451" y="60"/>
                  </a:lnTo>
                  <a:lnTo>
                    <a:pt x="430" y="44"/>
                  </a:lnTo>
                  <a:lnTo>
                    <a:pt x="406" y="30"/>
                  </a:lnTo>
                  <a:lnTo>
                    <a:pt x="383" y="19"/>
                  </a:lnTo>
                  <a:lnTo>
                    <a:pt x="357" y="10"/>
                  </a:lnTo>
                  <a:lnTo>
                    <a:pt x="331" y="4"/>
                  </a:lnTo>
                  <a:lnTo>
                    <a:pt x="304" y="1"/>
                  </a:lnTo>
                  <a:lnTo>
                    <a:pt x="277" y="0"/>
                  </a:lnTo>
                  <a:lnTo>
                    <a:pt x="249" y="1"/>
                  </a:lnTo>
                  <a:lnTo>
                    <a:pt x="221" y="4"/>
                  </a:lnTo>
                  <a:lnTo>
                    <a:pt x="195" y="10"/>
                  </a:lnTo>
                  <a:lnTo>
                    <a:pt x="171" y="19"/>
                  </a:lnTo>
                  <a:lnTo>
                    <a:pt x="145" y="30"/>
                  </a:lnTo>
                  <a:lnTo>
                    <a:pt x="123" y="44"/>
                  </a:lnTo>
                  <a:lnTo>
                    <a:pt x="101" y="60"/>
                  </a:lnTo>
                  <a:lnTo>
                    <a:pt x="81" y="8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40" name="Rectangle 1883"/>
            <p:cNvSpPr>
              <a:spLocks noChangeArrowheads="1"/>
            </p:cNvSpPr>
            <p:nvPr/>
          </p:nvSpPr>
          <p:spPr bwMode="auto">
            <a:xfrm>
              <a:off x="2086" y="2799"/>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a:solidFill>
                    <a:srgbClr val="000000"/>
                  </a:solidFill>
                  <a:latin typeface="Calibri" pitchFamily="34" charset="0"/>
                  <a:cs typeface="Calibri" pitchFamily="34" charset="0"/>
                </a:rPr>
                <a:t>5</a:t>
              </a:r>
              <a:endParaRPr lang="en-US">
                <a:latin typeface="Calibri" pitchFamily="34" charset="0"/>
                <a:cs typeface="Calibri" pitchFamily="34" charset="0"/>
              </a:endParaRPr>
            </a:p>
          </p:txBody>
        </p:sp>
      </p:grpSp>
      <p:grpSp>
        <p:nvGrpSpPr>
          <p:cNvPr id="42" name="Group 1968"/>
          <p:cNvGrpSpPr>
            <a:grpSpLocks/>
          </p:cNvGrpSpPr>
          <p:nvPr/>
        </p:nvGrpSpPr>
        <p:grpSpPr bwMode="auto">
          <a:xfrm>
            <a:off x="1605029" y="4244062"/>
            <a:ext cx="293687" cy="293688"/>
            <a:chOff x="1137" y="2760"/>
            <a:chExt cx="185" cy="185"/>
          </a:xfrm>
        </p:grpSpPr>
        <p:sp>
          <p:nvSpPr>
            <p:cNvPr id="44" name="Freeform 1878"/>
            <p:cNvSpPr>
              <a:spLocks/>
            </p:cNvSpPr>
            <p:nvPr/>
          </p:nvSpPr>
          <p:spPr bwMode="auto">
            <a:xfrm>
              <a:off x="1137" y="2760"/>
              <a:ext cx="185" cy="185"/>
            </a:xfrm>
            <a:custGeom>
              <a:avLst/>
              <a:gdLst/>
              <a:ahLst/>
              <a:cxnLst>
                <a:cxn ang="0">
                  <a:pos x="1" y="303"/>
                </a:cxn>
                <a:cxn ang="0">
                  <a:pos x="11" y="356"/>
                </a:cxn>
                <a:cxn ang="0">
                  <a:pos x="30" y="405"/>
                </a:cxn>
                <a:cxn ang="0">
                  <a:pos x="60" y="451"/>
                </a:cxn>
                <a:cxn ang="0">
                  <a:pos x="101" y="490"/>
                </a:cxn>
                <a:cxn ang="0">
                  <a:pos x="145" y="520"/>
                </a:cxn>
                <a:cxn ang="0">
                  <a:pos x="195" y="542"/>
                </a:cxn>
                <a:cxn ang="0">
                  <a:pos x="249" y="552"/>
                </a:cxn>
                <a:cxn ang="0">
                  <a:pos x="304" y="552"/>
                </a:cxn>
                <a:cxn ang="0">
                  <a:pos x="331" y="548"/>
                </a:cxn>
                <a:cxn ang="0">
                  <a:pos x="357" y="542"/>
                </a:cxn>
                <a:cxn ang="0">
                  <a:pos x="394" y="526"/>
                </a:cxn>
                <a:cxn ang="0">
                  <a:pos x="430" y="507"/>
                </a:cxn>
                <a:cxn ang="0">
                  <a:pos x="473" y="472"/>
                </a:cxn>
                <a:cxn ang="0">
                  <a:pos x="508" y="429"/>
                </a:cxn>
                <a:cxn ang="0">
                  <a:pos x="527" y="393"/>
                </a:cxn>
                <a:cxn ang="0">
                  <a:pos x="543" y="356"/>
                </a:cxn>
                <a:cxn ang="0">
                  <a:pos x="549" y="331"/>
                </a:cxn>
                <a:cxn ang="0">
                  <a:pos x="552" y="303"/>
                </a:cxn>
                <a:cxn ang="0">
                  <a:pos x="552" y="248"/>
                </a:cxn>
                <a:cxn ang="0">
                  <a:pos x="543" y="194"/>
                </a:cxn>
                <a:cxn ang="0">
                  <a:pos x="521" y="145"/>
                </a:cxn>
                <a:cxn ang="0">
                  <a:pos x="491" y="100"/>
                </a:cxn>
                <a:cxn ang="0">
                  <a:pos x="451" y="60"/>
                </a:cxn>
                <a:cxn ang="0">
                  <a:pos x="406" y="30"/>
                </a:cxn>
                <a:cxn ang="0">
                  <a:pos x="357" y="10"/>
                </a:cxn>
                <a:cxn ang="0">
                  <a:pos x="304" y="1"/>
                </a:cxn>
                <a:cxn ang="0">
                  <a:pos x="249" y="1"/>
                </a:cxn>
                <a:cxn ang="0">
                  <a:pos x="195" y="10"/>
                </a:cxn>
                <a:cxn ang="0">
                  <a:pos x="145" y="30"/>
                </a:cxn>
                <a:cxn ang="0">
                  <a:pos x="101" y="60"/>
                </a:cxn>
                <a:cxn ang="0">
                  <a:pos x="60" y="100"/>
                </a:cxn>
                <a:cxn ang="0">
                  <a:pos x="30" y="145"/>
                </a:cxn>
                <a:cxn ang="0">
                  <a:pos x="11" y="194"/>
                </a:cxn>
                <a:cxn ang="0">
                  <a:pos x="1" y="248"/>
                </a:cxn>
              </a:cxnLst>
              <a:rect l="0" t="0" r="r" b="b"/>
              <a:pathLst>
                <a:path w="555" h="554">
                  <a:moveTo>
                    <a:pt x="0" y="277"/>
                  </a:moveTo>
                  <a:lnTo>
                    <a:pt x="1" y="303"/>
                  </a:lnTo>
                  <a:lnTo>
                    <a:pt x="5" y="331"/>
                  </a:lnTo>
                  <a:lnTo>
                    <a:pt x="11" y="356"/>
                  </a:lnTo>
                  <a:lnTo>
                    <a:pt x="19" y="382"/>
                  </a:lnTo>
                  <a:lnTo>
                    <a:pt x="30" y="405"/>
                  </a:lnTo>
                  <a:lnTo>
                    <a:pt x="45" y="429"/>
                  </a:lnTo>
                  <a:lnTo>
                    <a:pt x="60" y="451"/>
                  </a:lnTo>
                  <a:lnTo>
                    <a:pt x="81" y="472"/>
                  </a:lnTo>
                  <a:lnTo>
                    <a:pt x="101" y="490"/>
                  </a:lnTo>
                  <a:lnTo>
                    <a:pt x="123" y="507"/>
                  </a:lnTo>
                  <a:lnTo>
                    <a:pt x="145" y="520"/>
                  </a:lnTo>
                  <a:lnTo>
                    <a:pt x="171" y="534"/>
                  </a:lnTo>
                  <a:lnTo>
                    <a:pt x="195" y="542"/>
                  </a:lnTo>
                  <a:lnTo>
                    <a:pt x="221" y="548"/>
                  </a:lnTo>
                  <a:lnTo>
                    <a:pt x="249" y="552"/>
                  </a:lnTo>
                  <a:lnTo>
                    <a:pt x="277" y="554"/>
                  </a:lnTo>
                  <a:lnTo>
                    <a:pt x="304" y="552"/>
                  </a:lnTo>
                  <a:lnTo>
                    <a:pt x="317" y="549"/>
                  </a:lnTo>
                  <a:lnTo>
                    <a:pt x="331" y="548"/>
                  </a:lnTo>
                  <a:lnTo>
                    <a:pt x="343" y="544"/>
                  </a:lnTo>
                  <a:lnTo>
                    <a:pt x="357"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0"/>
                  </a:lnTo>
                  <a:lnTo>
                    <a:pt x="473" y="80"/>
                  </a:lnTo>
                  <a:lnTo>
                    <a:pt x="451" y="60"/>
                  </a:lnTo>
                  <a:lnTo>
                    <a:pt x="430" y="44"/>
                  </a:lnTo>
                  <a:lnTo>
                    <a:pt x="406" y="30"/>
                  </a:lnTo>
                  <a:lnTo>
                    <a:pt x="383" y="19"/>
                  </a:lnTo>
                  <a:lnTo>
                    <a:pt x="357" y="10"/>
                  </a:lnTo>
                  <a:lnTo>
                    <a:pt x="331" y="4"/>
                  </a:lnTo>
                  <a:lnTo>
                    <a:pt x="304" y="1"/>
                  </a:lnTo>
                  <a:lnTo>
                    <a:pt x="277" y="0"/>
                  </a:lnTo>
                  <a:lnTo>
                    <a:pt x="249" y="1"/>
                  </a:lnTo>
                  <a:lnTo>
                    <a:pt x="221" y="4"/>
                  </a:lnTo>
                  <a:lnTo>
                    <a:pt x="195" y="10"/>
                  </a:lnTo>
                  <a:lnTo>
                    <a:pt x="171" y="19"/>
                  </a:lnTo>
                  <a:lnTo>
                    <a:pt x="145" y="30"/>
                  </a:lnTo>
                  <a:lnTo>
                    <a:pt x="123" y="44"/>
                  </a:lnTo>
                  <a:lnTo>
                    <a:pt x="101" y="60"/>
                  </a:lnTo>
                  <a:lnTo>
                    <a:pt x="81" y="80"/>
                  </a:lnTo>
                  <a:lnTo>
                    <a:pt x="60" y="100"/>
                  </a:lnTo>
                  <a:lnTo>
                    <a:pt x="45" y="122"/>
                  </a:lnTo>
                  <a:lnTo>
                    <a:pt x="30" y="145"/>
                  </a:lnTo>
                  <a:lnTo>
                    <a:pt x="19" y="170"/>
                  </a:lnTo>
                  <a:lnTo>
                    <a:pt x="11" y="194"/>
                  </a:lnTo>
                  <a:lnTo>
                    <a:pt x="5" y="220"/>
                  </a:lnTo>
                  <a:lnTo>
                    <a:pt x="1" y="248"/>
                  </a:lnTo>
                  <a:lnTo>
                    <a:pt x="0" y="277"/>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45" name="Rectangle 1879"/>
            <p:cNvSpPr>
              <a:spLocks noChangeArrowheads="1"/>
            </p:cNvSpPr>
            <p:nvPr/>
          </p:nvSpPr>
          <p:spPr bwMode="auto">
            <a:xfrm>
              <a:off x="1174" y="2799"/>
              <a:ext cx="81" cy="97"/>
            </a:xfrm>
            <a:prstGeom prst="rect">
              <a:avLst/>
            </a:prstGeom>
            <a:noFill/>
            <a:ln w="9525">
              <a:noFill/>
              <a:miter lim="800000"/>
              <a:headEnd/>
              <a:tailEnd/>
            </a:ln>
          </p:spPr>
          <p:txBody>
            <a:bodyPr wrap="none" lIns="0" tIns="0" rIns="0" bIns="0">
              <a:spAutoFit/>
            </a:bodyPr>
            <a:lstStyle/>
            <a:p>
              <a:pPr marL="354013" indent="-354013" defTabSz="941388"/>
              <a:r>
                <a:rPr lang="en-US" sz="1000" b="1">
                  <a:solidFill>
                    <a:srgbClr val="000000"/>
                  </a:solidFill>
                  <a:latin typeface="Calibri" pitchFamily="34" charset="0"/>
                  <a:cs typeface="Calibri" pitchFamily="34" charset="0"/>
                </a:rPr>
                <a:t>3a</a:t>
              </a:r>
              <a:endParaRPr lang="en-US">
                <a:latin typeface="Calibri" pitchFamily="34" charset="0"/>
                <a:cs typeface="Calibri" pitchFamily="34" charset="0"/>
              </a:endParaRPr>
            </a:p>
          </p:txBody>
        </p:sp>
      </p:grpSp>
      <p:sp>
        <p:nvSpPr>
          <p:cNvPr id="43" name="Line 1923"/>
          <p:cNvSpPr>
            <a:spLocks noChangeShapeType="1"/>
          </p:cNvSpPr>
          <p:nvPr/>
        </p:nvSpPr>
        <p:spPr bwMode="auto">
          <a:xfrm>
            <a:off x="1448153" y="4658400"/>
            <a:ext cx="760412" cy="9525"/>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grpSp>
        <p:nvGrpSpPr>
          <p:cNvPr id="47" name="Group 1972"/>
          <p:cNvGrpSpPr>
            <a:grpSpLocks/>
          </p:cNvGrpSpPr>
          <p:nvPr/>
        </p:nvGrpSpPr>
        <p:grpSpPr bwMode="auto">
          <a:xfrm>
            <a:off x="1606902" y="4958437"/>
            <a:ext cx="293688" cy="292100"/>
            <a:chOff x="1137" y="3169"/>
            <a:chExt cx="185" cy="184"/>
          </a:xfrm>
        </p:grpSpPr>
        <p:sp>
          <p:nvSpPr>
            <p:cNvPr id="49" name="Freeform 1915"/>
            <p:cNvSpPr>
              <a:spLocks/>
            </p:cNvSpPr>
            <p:nvPr/>
          </p:nvSpPr>
          <p:spPr bwMode="auto">
            <a:xfrm>
              <a:off x="1137" y="3169"/>
              <a:ext cx="185" cy="184"/>
            </a:xfrm>
            <a:custGeom>
              <a:avLst/>
              <a:gdLst/>
              <a:ahLst/>
              <a:cxnLst>
                <a:cxn ang="0">
                  <a:pos x="60" y="101"/>
                </a:cxn>
                <a:cxn ang="0">
                  <a:pos x="30" y="145"/>
                </a:cxn>
                <a:cxn ang="0">
                  <a:pos x="11" y="194"/>
                </a:cxn>
                <a:cxn ang="0">
                  <a:pos x="1" y="248"/>
                </a:cxn>
                <a:cxn ang="0">
                  <a:pos x="1" y="303"/>
                </a:cxn>
                <a:cxn ang="0">
                  <a:pos x="11" y="356"/>
                </a:cxn>
                <a:cxn ang="0">
                  <a:pos x="30" y="405"/>
                </a:cxn>
                <a:cxn ang="0">
                  <a:pos x="60" y="451"/>
                </a:cxn>
                <a:cxn ang="0">
                  <a:pos x="101" y="491"/>
                </a:cxn>
                <a:cxn ang="0">
                  <a:pos x="145" y="521"/>
                </a:cxn>
                <a:cxn ang="0">
                  <a:pos x="195" y="542"/>
                </a:cxn>
                <a:cxn ang="0">
                  <a:pos x="249" y="552"/>
                </a:cxn>
                <a:cxn ang="0">
                  <a:pos x="304" y="552"/>
                </a:cxn>
                <a:cxn ang="0">
                  <a:pos x="331" y="548"/>
                </a:cxn>
                <a:cxn ang="0">
                  <a:pos x="357" y="542"/>
                </a:cxn>
                <a:cxn ang="0">
                  <a:pos x="394" y="527"/>
                </a:cxn>
                <a:cxn ang="0">
                  <a:pos x="430" y="507"/>
                </a:cxn>
                <a:cxn ang="0">
                  <a:pos x="473" y="473"/>
                </a:cxn>
                <a:cxn ang="0">
                  <a:pos x="508" y="429"/>
                </a:cxn>
                <a:cxn ang="0">
                  <a:pos x="527" y="393"/>
                </a:cxn>
                <a:cxn ang="0">
                  <a:pos x="543" y="356"/>
                </a:cxn>
                <a:cxn ang="0">
                  <a:pos x="549" y="331"/>
                </a:cxn>
                <a:cxn ang="0">
                  <a:pos x="552" y="303"/>
                </a:cxn>
                <a:cxn ang="0">
                  <a:pos x="552" y="248"/>
                </a:cxn>
                <a:cxn ang="0">
                  <a:pos x="543" y="194"/>
                </a:cxn>
                <a:cxn ang="0">
                  <a:pos x="521" y="145"/>
                </a:cxn>
                <a:cxn ang="0">
                  <a:pos x="491" y="101"/>
                </a:cxn>
                <a:cxn ang="0">
                  <a:pos x="451" y="60"/>
                </a:cxn>
                <a:cxn ang="0">
                  <a:pos x="406" y="30"/>
                </a:cxn>
                <a:cxn ang="0">
                  <a:pos x="357" y="11"/>
                </a:cxn>
                <a:cxn ang="0">
                  <a:pos x="304" y="1"/>
                </a:cxn>
                <a:cxn ang="0">
                  <a:pos x="249" y="1"/>
                </a:cxn>
                <a:cxn ang="0">
                  <a:pos x="195" y="11"/>
                </a:cxn>
                <a:cxn ang="0">
                  <a:pos x="145" y="30"/>
                </a:cxn>
                <a:cxn ang="0">
                  <a:pos x="101" y="60"/>
                </a:cxn>
              </a:cxnLst>
              <a:rect l="0" t="0" r="r" b="b"/>
              <a:pathLst>
                <a:path w="555" h="554">
                  <a:moveTo>
                    <a:pt x="81" y="80"/>
                  </a:moveTo>
                  <a:lnTo>
                    <a:pt x="60" y="101"/>
                  </a:lnTo>
                  <a:lnTo>
                    <a:pt x="45" y="122"/>
                  </a:lnTo>
                  <a:lnTo>
                    <a:pt x="30" y="145"/>
                  </a:lnTo>
                  <a:lnTo>
                    <a:pt x="19" y="170"/>
                  </a:lnTo>
                  <a:lnTo>
                    <a:pt x="11" y="194"/>
                  </a:lnTo>
                  <a:lnTo>
                    <a:pt x="5" y="221"/>
                  </a:lnTo>
                  <a:lnTo>
                    <a:pt x="1" y="248"/>
                  </a:lnTo>
                  <a:lnTo>
                    <a:pt x="0" y="277"/>
                  </a:lnTo>
                  <a:lnTo>
                    <a:pt x="1" y="303"/>
                  </a:lnTo>
                  <a:lnTo>
                    <a:pt x="5" y="331"/>
                  </a:lnTo>
                  <a:lnTo>
                    <a:pt x="11" y="356"/>
                  </a:lnTo>
                  <a:lnTo>
                    <a:pt x="19" y="383"/>
                  </a:lnTo>
                  <a:lnTo>
                    <a:pt x="30" y="405"/>
                  </a:lnTo>
                  <a:lnTo>
                    <a:pt x="45" y="429"/>
                  </a:lnTo>
                  <a:lnTo>
                    <a:pt x="60" y="451"/>
                  </a:lnTo>
                  <a:lnTo>
                    <a:pt x="81" y="473"/>
                  </a:lnTo>
                  <a:lnTo>
                    <a:pt x="101" y="491"/>
                  </a:lnTo>
                  <a:lnTo>
                    <a:pt x="123" y="507"/>
                  </a:lnTo>
                  <a:lnTo>
                    <a:pt x="145" y="521"/>
                  </a:lnTo>
                  <a:lnTo>
                    <a:pt x="171" y="534"/>
                  </a:lnTo>
                  <a:lnTo>
                    <a:pt x="195" y="542"/>
                  </a:lnTo>
                  <a:lnTo>
                    <a:pt x="221" y="548"/>
                  </a:lnTo>
                  <a:lnTo>
                    <a:pt x="249" y="552"/>
                  </a:lnTo>
                  <a:lnTo>
                    <a:pt x="277" y="554"/>
                  </a:lnTo>
                  <a:lnTo>
                    <a:pt x="304" y="552"/>
                  </a:lnTo>
                  <a:lnTo>
                    <a:pt x="317" y="549"/>
                  </a:lnTo>
                  <a:lnTo>
                    <a:pt x="331" y="548"/>
                  </a:lnTo>
                  <a:lnTo>
                    <a:pt x="343" y="545"/>
                  </a:lnTo>
                  <a:lnTo>
                    <a:pt x="357" y="542"/>
                  </a:lnTo>
                  <a:lnTo>
                    <a:pt x="383" y="534"/>
                  </a:lnTo>
                  <a:lnTo>
                    <a:pt x="394" y="527"/>
                  </a:lnTo>
                  <a:lnTo>
                    <a:pt x="406" y="521"/>
                  </a:lnTo>
                  <a:lnTo>
                    <a:pt x="430" y="507"/>
                  </a:lnTo>
                  <a:lnTo>
                    <a:pt x="451" y="491"/>
                  </a:lnTo>
                  <a:lnTo>
                    <a:pt x="473" y="473"/>
                  </a:lnTo>
                  <a:lnTo>
                    <a:pt x="491" y="451"/>
                  </a:lnTo>
                  <a:lnTo>
                    <a:pt x="508" y="429"/>
                  </a:lnTo>
                  <a:lnTo>
                    <a:pt x="521" y="405"/>
                  </a:lnTo>
                  <a:lnTo>
                    <a:pt x="527" y="393"/>
                  </a:lnTo>
                  <a:lnTo>
                    <a:pt x="534" y="383"/>
                  </a:lnTo>
                  <a:lnTo>
                    <a:pt x="543" y="356"/>
                  </a:lnTo>
                  <a:lnTo>
                    <a:pt x="545" y="343"/>
                  </a:lnTo>
                  <a:lnTo>
                    <a:pt x="549" y="331"/>
                  </a:lnTo>
                  <a:lnTo>
                    <a:pt x="550" y="317"/>
                  </a:lnTo>
                  <a:lnTo>
                    <a:pt x="552" y="303"/>
                  </a:lnTo>
                  <a:lnTo>
                    <a:pt x="555" y="277"/>
                  </a:lnTo>
                  <a:lnTo>
                    <a:pt x="552" y="248"/>
                  </a:lnTo>
                  <a:lnTo>
                    <a:pt x="549" y="221"/>
                  </a:lnTo>
                  <a:lnTo>
                    <a:pt x="543" y="194"/>
                  </a:lnTo>
                  <a:lnTo>
                    <a:pt x="534" y="170"/>
                  </a:lnTo>
                  <a:lnTo>
                    <a:pt x="521" y="145"/>
                  </a:lnTo>
                  <a:lnTo>
                    <a:pt x="508" y="122"/>
                  </a:lnTo>
                  <a:lnTo>
                    <a:pt x="491" y="101"/>
                  </a:lnTo>
                  <a:lnTo>
                    <a:pt x="473" y="80"/>
                  </a:lnTo>
                  <a:lnTo>
                    <a:pt x="451" y="60"/>
                  </a:lnTo>
                  <a:lnTo>
                    <a:pt x="430" y="44"/>
                  </a:lnTo>
                  <a:lnTo>
                    <a:pt x="406" y="30"/>
                  </a:lnTo>
                  <a:lnTo>
                    <a:pt x="383" y="19"/>
                  </a:lnTo>
                  <a:lnTo>
                    <a:pt x="357" y="11"/>
                  </a:lnTo>
                  <a:lnTo>
                    <a:pt x="331" y="5"/>
                  </a:lnTo>
                  <a:lnTo>
                    <a:pt x="304" y="1"/>
                  </a:lnTo>
                  <a:lnTo>
                    <a:pt x="277" y="0"/>
                  </a:lnTo>
                  <a:lnTo>
                    <a:pt x="249" y="1"/>
                  </a:lnTo>
                  <a:lnTo>
                    <a:pt x="221" y="5"/>
                  </a:lnTo>
                  <a:lnTo>
                    <a:pt x="195" y="11"/>
                  </a:lnTo>
                  <a:lnTo>
                    <a:pt x="171" y="19"/>
                  </a:lnTo>
                  <a:lnTo>
                    <a:pt x="145" y="30"/>
                  </a:lnTo>
                  <a:lnTo>
                    <a:pt x="123" y="44"/>
                  </a:lnTo>
                  <a:lnTo>
                    <a:pt x="101" y="60"/>
                  </a:lnTo>
                  <a:lnTo>
                    <a:pt x="81" y="8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50" name="Rectangle 1916"/>
            <p:cNvSpPr>
              <a:spLocks noChangeArrowheads="1"/>
            </p:cNvSpPr>
            <p:nvPr/>
          </p:nvSpPr>
          <p:spPr bwMode="auto">
            <a:xfrm>
              <a:off x="1200" y="3208"/>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6</a:t>
              </a:r>
              <a:endParaRPr lang="en-US" dirty="0">
                <a:latin typeface="Calibri" pitchFamily="34" charset="0"/>
                <a:cs typeface="Calibri" pitchFamily="34" charset="0"/>
              </a:endParaRPr>
            </a:p>
          </p:txBody>
        </p:sp>
      </p:grpSp>
      <p:sp>
        <p:nvSpPr>
          <p:cNvPr id="48" name="Line 1925"/>
          <p:cNvSpPr>
            <a:spLocks noChangeShapeType="1"/>
          </p:cNvSpPr>
          <p:nvPr/>
        </p:nvSpPr>
        <p:spPr bwMode="auto">
          <a:xfrm flipH="1" flipV="1">
            <a:off x="1421165" y="4869537"/>
            <a:ext cx="749300" cy="9525"/>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grpSp>
        <p:nvGrpSpPr>
          <p:cNvPr id="54" name="Group 1982"/>
          <p:cNvGrpSpPr>
            <a:grpSpLocks/>
          </p:cNvGrpSpPr>
          <p:nvPr/>
        </p:nvGrpSpPr>
        <p:grpSpPr bwMode="auto">
          <a:xfrm>
            <a:off x="5106982" y="2180317"/>
            <a:ext cx="2946399" cy="411164"/>
            <a:chOff x="3169" y="1472"/>
            <a:chExt cx="1856" cy="259"/>
          </a:xfrm>
        </p:grpSpPr>
        <p:sp>
          <p:nvSpPr>
            <p:cNvPr id="55" name="Freeform 1937"/>
            <p:cNvSpPr>
              <a:spLocks/>
            </p:cNvSpPr>
            <p:nvPr/>
          </p:nvSpPr>
          <p:spPr bwMode="auto">
            <a:xfrm>
              <a:off x="3169" y="1472"/>
              <a:ext cx="185" cy="185"/>
            </a:xfrm>
            <a:custGeom>
              <a:avLst/>
              <a:gdLst/>
              <a:ahLst/>
              <a:cxnLst>
                <a:cxn ang="0">
                  <a:pos x="248" y="1"/>
                </a:cxn>
                <a:cxn ang="0">
                  <a:pos x="194" y="11"/>
                </a:cxn>
                <a:cxn ang="0">
                  <a:pos x="145" y="30"/>
                </a:cxn>
                <a:cxn ang="0">
                  <a:pos x="101" y="60"/>
                </a:cxn>
                <a:cxn ang="0">
                  <a:pos x="60" y="101"/>
                </a:cxn>
                <a:cxn ang="0">
                  <a:pos x="30" y="145"/>
                </a:cxn>
                <a:cxn ang="0">
                  <a:pos x="11" y="194"/>
                </a:cxn>
                <a:cxn ang="0">
                  <a:pos x="1" y="248"/>
                </a:cxn>
                <a:cxn ang="0">
                  <a:pos x="1" y="303"/>
                </a:cxn>
                <a:cxn ang="0">
                  <a:pos x="11" y="356"/>
                </a:cxn>
                <a:cxn ang="0">
                  <a:pos x="30" y="405"/>
                </a:cxn>
                <a:cxn ang="0">
                  <a:pos x="60" y="451"/>
                </a:cxn>
                <a:cxn ang="0">
                  <a:pos x="101" y="491"/>
                </a:cxn>
                <a:cxn ang="0">
                  <a:pos x="145" y="521"/>
                </a:cxn>
                <a:cxn ang="0">
                  <a:pos x="194" y="542"/>
                </a:cxn>
                <a:cxn ang="0">
                  <a:pos x="248" y="552"/>
                </a:cxn>
                <a:cxn ang="0">
                  <a:pos x="304" y="552"/>
                </a:cxn>
                <a:cxn ang="0">
                  <a:pos x="331" y="548"/>
                </a:cxn>
                <a:cxn ang="0">
                  <a:pos x="356" y="542"/>
                </a:cxn>
                <a:cxn ang="0">
                  <a:pos x="394" y="527"/>
                </a:cxn>
                <a:cxn ang="0">
                  <a:pos x="430" y="507"/>
                </a:cxn>
                <a:cxn ang="0">
                  <a:pos x="473" y="473"/>
                </a:cxn>
                <a:cxn ang="0">
                  <a:pos x="508" y="429"/>
                </a:cxn>
                <a:cxn ang="0">
                  <a:pos x="527" y="393"/>
                </a:cxn>
                <a:cxn ang="0">
                  <a:pos x="542" y="356"/>
                </a:cxn>
                <a:cxn ang="0">
                  <a:pos x="548" y="331"/>
                </a:cxn>
                <a:cxn ang="0">
                  <a:pos x="552" y="303"/>
                </a:cxn>
                <a:cxn ang="0">
                  <a:pos x="552" y="248"/>
                </a:cxn>
                <a:cxn ang="0">
                  <a:pos x="542" y="194"/>
                </a:cxn>
                <a:cxn ang="0">
                  <a:pos x="521" y="145"/>
                </a:cxn>
                <a:cxn ang="0">
                  <a:pos x="491" y="101"/>
                </a:cxn>
                <a:cxn ang="0">
                  <a:pos x="451" y="60"/>
                </a:cxn>
                <a:cxn ang="0">
                  <a:pos x="406" y="30"/>
                </a:cxn>
                <a:cxn ang="0">
                  <a:pos x="356" y="11"/>
                </a:cxn>
                <a:cxn ang="0">
                  <a:pos x="304" y="1"/>
                </a:cxn>
              </a:cxnLst>
              <a:rect l="0" t="0" r="r" b="b"/>
              <a:pathLst>
                <a:path w="554" h="554">
                  <a:moveTo>
                    <a:pt x="277" y="0"/>
                  </a:moveTo>
                  <a:lnTo>
                    <a:pt x="248" y="1"/>
                  </a:lnTo>
                  <a:lnTo>
                    <a:pt x="221" y="5"/>
                  </a:lnTo>
                  <a:lnTo>
                    <a:pt x="194" y="11"/>
                  </a:lnTo>
                  <a:lnTo>
                    <a:pt x="170" y="19"/>
                  </a:lnTo>
                  <a:lnTo>
                    <a:pt x="145" y="30"/>
                  </a:lnTo>
                  <a:lnTo>
                    <a:pt x="122" y="44"/>
                  </a:lnTo>
                  <a:lnTo>
                    <a:pt x="101" y="60"/>
                  </a:lnTo>
                  <a:lnTo>
                    <a:pt x="80" y="80"/>
                  </a:lnTo>
                  <a:lnTo>
                    <a:pt x="60" y="101"/>
                  </a:lnTo>
                  <a:lnTo>
                    <a:pt x="44" y="122"/>
                  </a:lnTo>
                  <a:lnTo>
                    <a:pt x="30" y="145"/>
                  </a:lnTo>
                  <a:lnTo>
                    <a:pt x="19" y="170"/>
                  </a:lnTo>
                  <a:lnTo>
                    <a:pt x="11" y="194"/>
                  </a:lnTo>
                  <a:lnTo>
                    <a:pt x="5" y="221"/>
                  </a:lnTo>
                  <a:lnTo>
                    <a:pt x="1" y="248"/>
                  </a:lnTo>
                  <a:lnTo>
                    <a:pt x="0" y="277"/>
                  </a:lnTo>
                  <a:lnTo>
                    <a:pt x="1" y="303"/>
                  </a:lnTo>
                  <a:lnTo>
                    <a:pt x="5" y="331"/>
                  </a:lnTo>
                  <a:lnTo>
                    <a:pt x="11" y="356"/>
                  </a:lnTo>
                  <a:lnTo>
                    <a:pt x="19" y="383"/>
                  </a:lnTo>
                  <a:lnTo>
                    <a:pt x="30" y="405"/>
                  </a:lnTo>
                  <a:lnTo>
                    <a:pt x="44" y="429"/>
                  </a:lnTo>
                  <a:lnTo>
                    <a:pt x="60" y="451"/>
                  </a:lnTo>
                  <a:lnTo>
                    <a:pt x="80" y="473"/>
                  </a:lnTo>
                  <a:lnTo>
                    <a:pt x="101" y="491"/>
                  </a:lnTo>
                  <a:lnTo>
                    <a:pt x="122" y="507"/>
                  </a:lnTo>
                  <a:lnTo>
                    <a:pt x="145" y="521"/>
                  </a:lnTo>
                  <a:lnTo>
                    <a:pt x="170" y="534"/>
                  </a:lnTo>
                  <a:lnTo>
                    <a:pt x="194" y="542"/>
                  </a:lnTo>
                  <a:lnTo>
                    <a:pt x="221" y="548"/>
                  </a:lnTo>
                  <a:lnTo>
                    <a:pt x="248" y="552"/>
                  </a:lnTo>
                  <a:lnTo>
                    <a:pt x="277" y="554"/>
                  </a:lnTo>
                  <a:lnTo>
                    <a:pt x="304" y="552"/>
                  </a:lnTo>
                  <a:lnTo>
                    <a:pt x="317" y="549"/>
                  </a:lnTo>
                  <a:lnTo>
                    <a:pt x="331" y="548"/>
                  </a:lnTo>
                  <a:lnTo>
                    <a:pt x="343" y="545"/>
                  </a:lnTo>
                  <a:lnTo>
                    <a:pt x="356" y="542"/>
                  </a:lnTo>
                  <a:lnTo>
                    <a:pt x="383" y="534"/>
                  </a:lnTo>
                  <a:lnTo>
                    <a:pt x="394" y="527"/>
                  </a:lnTo>
                  <a:lnTo>
                    <a:pt x="406" y="521"/>
                  </a:lnTo>
                  <a:lnTo>
                    <a:pt x="430" y="507"/>
                  </a:lnTo>
                  <a:lnTo>
                    <a:pt x="451" y="491"/>
                  </a:lnTo>
                  <a:lnTo>
                    <a:pt x="473" y="473"/>
                  </a:lnTo>
                  <a:lnTo>
                    <a:pt x="491" y="451"/>
                  </a:lnTo>
                  <a:lnTo>
                    <a:pt x="508" y="429"/>
                  </a:lnTo>
                  <a:lnTo>
                    <a:pt x="521" y="405"/>
                  </a:lnTo>
                  <a:lnTo>
                    <a:pt x="527" y="393"/>
                  </a:lnTo>
                  <a:lnTo>
                    <a:pt x="534" y="383"/>
                  </a:lnTo>
                  <a:lnTo>
                    <a:pt x="542" y="356"/>
                  </a:lnTo>
                  <a:lnTo>
                    <a:pt x="545" y="343"/>
                  </a:lnTo>
                  <a:lnTo>
                    <a:pt x="548" y="331"/>
                  </a:lnTo>
                  <a:lnTo>
                    <a:pt x="550" y="317"/>
                  </a:lnTo>
                  <a:lnTo>
                    <a:pt x="552" y="303"/>
                  </a:lnTo>
                  <a:lnTo>
                    <a:pt x="554" y="277"/>
                  </a:lnTo>
                  <a:lnTo>
                    <a:pt x="552" y="248"/>
                  </a:lnTo>
                  <a:lnTo>
                    <a:pt x="548" y="221"/>
                  </a:lnTo>
                  <a:lnTo>
                    <a:pt x="542" y="194"/>
                  </a:lnTo>
                  <a:lnTo>
                    <a:pt x="534" y="170"/>
                  </a:lnTo>
                  <a:lnTo>
                    <a:pt x="521" y="145"/>
                  </a:lnTo>
                  <a:lnTo>
                    <a:pt x="508" y="122"/>
                  </a:lnTo>
                  <a:lnTo>
                    <a:pt x="491" y="101"/>
                  </a:lnTo>
                  <a:lnTo>
                    <a:pt x="473" y="80"/>
                  </a:lnTo>
                  <a:lnTo>
                    <a:pt x="451" y="60"/>
                  </a:lnTo>
                  <a:lnTo>
                    <a:pt x="430" y="44"/>
                  </a:lnTo>
                  <a:lnTo>
                    <a:pt x="406" y="30"/>
                  </a:lnTo>
                  <a:lnTo>
                    <a:pt x="383" y="19"/>
                  </a:lnTo>
                  <a:lnTo>
                    <a:pt x="356" y="11"/>
                  </a:lnTo>
                  <a:lnTo>
                    <a:pt x="331" y="5"/>
                  </a:lnTo>
                  <a:lnTo>
                    <a:pt x="304" y="1"/>
                  </a:lnTo>
                  <a:lnTo>
                    <a:pt x="277" y="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56" name="Rectangle 1938"/>
            <p:cNvSpPr>
              <a:spLocks noChangeArrowheads="1"/>
            </p:cNvSpPr>
            <p:nvPr/>
          </p:nvSpPr>
          <p:spPr bwMode="auto">
            <a:xfrm>
              <a:off x="3207" y="1512"/>
              <a:ext cx="97"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3a</a:t>
              </a:r>
              <a:endParaRPr lang="en-US" sz="1200">
                <a:solidFill>
                  <a:schemeClr val="tx1"/>
                </a:solidFill>
                <a:latin typeface="Calibri" pitchFamily="34" charset="0"/>
                <a:cs typeface="Calibri" pitchFamily="34" charset="0"/>
              </a:endParaRPr>
            </a:p>
          </p:txBody>
        </p:sp>
        <p:sp>
          <p:nvSpPr>
            <p:cNvPr id="57" name="Rectangle 1942"/>
            <p:cNvSpPr>
              <a:spLocks noChangeArrowheads="1"/>
            </p:cNvSpPr>
            <p:nvPr/>
          </p:nvSpPr>
          <p:spPr bwMode="auto">
            <a:xfrm>
              <a:off x="3417" y="1503"/>
              <a:ext cx="1608"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Backup server instructs storage node to </a:t>
              </a:r>
              <a:endParaRPr lang="en-US" sz="1200" dirty="0">
                <a:solidFill>
                  <a:schemeClr val="tx1"/>
                </a:solidFill>
                <a:latin typeface="Calibri" pitchFamily="34" charset="0"/>
                <a:cs typeface="Calibri" pitchFamily="34" charset="0"/>
              </a:endParaRPr>
            </a:p>
          </p:txBody>
        </p:sp>
        <p:sp>
          <p:nvSpPr>
            <p:cNvPr id="58" name="Rectangle 1943"/>
            <p:cNvSpPr>
              <a:spLocks noChangeArrowheads="1"/>
            </p:cNvSpPr>
            <p:nvPr/>
          </p:nvSpPr>
          <p:spPr bwMode="auto">
            <a:xfrm>
              <a:off x="3417" y="1615"/>
              <a:ext cx="1483"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load backup media in backup device.</a:t>
              </a:r>
              <a:endParaRPr lang="en-US" sz="1200" dirty="0">
                <a:solidFill>
                  <a:schemeClr val="tx1"/>
                </a:solidFill>
                <a:latin typeface="Calibri" pitchFamily="34" charset="0"/>
                <a:cs typeface="Calibri" pitchFamily="34" charset="0"/>
              </a:endParaRPr>
            </a:p>
          </p:txBody>
        </p:sp>
      </p:grpSp>
      <p:grpSp>
        <p:nvGrpSpPr>
          <p:cNvPr id="59" name="Group 1980"/>
          <p:cNvGrpSpPr>
            <a:grpSpLocks/>
          </p:cNvGrpSpPr>
          <p:nvPr/>
        </p:nvGrpSpPr>
        <p:grpSpPr bwMode="auto">
          <a:xfrm>
            <a:off x="5106973" y="1151612"/>
            <a:ext cx="3584570" cy="293688"/>
            <a:chOff x="3169" y="824"/>
            <a:chExt cx="2258" cy="185"/>
          </a:xfrm>
        </p:grpSpPr>
        <p:grpSp>
          <p:nvGrpSpPr>
            <p:cNvPr id="60" name="Group 1979"/>
            <p:cNvGrpSpPr>
              <a:grpSpLocks/>
            </p:cNvGrpSpPr>
            <p:nvPr/>
          </p:nvGrpSpPr>
          <p:grpSpPr bwMode="auto">
            <a:xfrm>
              <a:off x="3169" y="824"/>
              <a:ext cx="2258" cy="185"/>
              <a:chOff x="3169" y="824"/>
              <a:chExt cx="2258" cy="185"/>
            </a:xfrm>
          </p:grpSpPr>
          <p:sp>
            <p:nvSpPr>
              <p:cNvPr id="62" name="Rectangle 1939"/>
              <p:cNvSpPr>
                <a:spLocks noChangeArrowheads="1"/>
              </p:cNvSpPr>
              <p:nvPr/>
            </p:nvSpPr>
            <p:spPr bwMode="auto">
              <a:xfrm>
                <a:off x="3419" y="863"/>
                <a:ext cx="2008"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Backup server initiates scheduled backup process.</a:t>
                </a:r>
                <a:endParaRPr lang="en-US" sz="1200" dirty="0">
                  <a:solidFill>
                    <a:schemeClr val="tx1"/>
                  </a:solidFill>
                  <a:latin typeface="Calibri" pitchFamily="34" charset="0"/>
                  <a:cs typeface="Calibri" pitchFamily="34" charset="0"/>
                </a:endParaRPr>
              </a:p>
            </p:txBody>
          </p:sp>
          <p:sp>
            <p:nvSpPr>
              <p:cNvPr id="63" name="Freeform 1952"/>
              <p:cNvSpPr>
                <a:spLocks/>
              </p:cNvSpPr>
              <p:nvPr/>
            </p:nvSpPr>
            <p:spPr bwMode="auto">
              <a:xfrm>
                <a:off x="3169" y="824"/>
                <a:ext cx="185" cy="185"/>
              </a:xfrm>
              <a:custGeom>
                <a:avLst/>
                <a:gdLst/>
                <a:ahLst/>
                <a:cxnLst>
                  <a:cxn ang="0">
                    <a:pos x="491" y="451"/>
                  </a:cxn>
                  <a:cxn ang="0">
                    <a:pos x="521" y="406"/>
                  </a:cxn>
                  <a:cxn ang="0">
                    <a:pos x="534" y="383"/>
                  </a:cxn>
                  <a:cxn ang="0">
                    <a:pos x="545" y="343"/>
                  </a:cxn>
                  <a:cxn ang="0">
                    <a:pos x="550" y="317"/>
                  </a:cxn>
                  <a:cxn ang="0">
                    <a:pos x="554" y="277"/>
                  </a:cxn>
                  <a:cxn ang="0">
                    <a:pos x="548" y="221"/>
                  </a:cxn>
                  <a:cxn ang="0">
                    <a:pos x="534" y="170"/>
                  </a:cxn>
                  <a:cxn ang="0">
                    <a:pos x="508" y="122"/>
                  </a:cxn>
                  <a:cxn ang="0">
                    <a:pos x="473" y="80"/>
                  </a:cxn>
                  <a:cxn ang="0">
                    <a:pos x="430" y="44"/>
                  </a:cxn>
                  <a:cxn ang="0">
                    <a:pos x="383" y="19"/>
                  </a:cxn>
                  <a:cxn ang="0">
                    <a:pos x="331" y="5"/>
                  </a:cxn>
                  <a:cxn ang="0">
                    <a:pos x="277" y="0"/>
                  </a:cxn>
                  <a:cxn ang="0">
                    <a:pos x="221" y="5"/>
                  </a:cxn>
                  <a:cxn ang="0">
                    <a:pos x="170" y="19"/>
                  </a:cxn>
                  <a:cxn ang="0">
                    <a:pos x="122" y="44"/>
                  </a:cxn>
                  <a:cxn ang="0">
                    <a:pos x="80" y="80"/>
                  </a:cxn>
                  <a:cxn ang="0">
                    <a:pos x="44" y="122"/>
                  </a:cxn>
                  <a:cxn ang="0">
                    <a:pos x="19" y="170"/>
                  </a:cxn>
                  <a:cxn ang="0">
                    <a:pos x="5" y="221"/>
                  </a:cxn>
                  <a:cxn ang="0">
                    <a:pos x="0" y="277"/>
                  </a:cxn>
                  <a:cxn ang="0">
                    <a:pos x="5" y="331"/>
                  </a:cxn>
                  <a:cxn ang="0">
                    <a:pos x="19" y="383"/>
                  </a:cxn>
                  <a:cxn ang="0">
                    <a:pos x="44" y="430"/>
                  </a:cxn>
                  <a:cxn ang="0">
                    <a:pos x="80" y="473"/>
                  </a:cxn>
                  <a:cxn ang="0">
                    <a:pos x="122" y="508"/>
                  </a:cxn>
                  <a:cxn ang="0">
                    <a:pos x="170" y="534"/>
                  </a:cxn>
                  <a:cxn ang="0">
                    <a:pos x="221" y="548"/>
                  </a:cxn>
                  <a:cxn ang="0">
                    <a:pos x="277" y="554"/>
                  </a:cxn>
                  <a:cxn ang="0">
                    <a:pos x="317" y="550"/>
                  </a:cxn>
                  <a:cxn ang="0">
                    <a:pos x="343" y="545"/>
                  </a:cxn>
                  <a:cxn ang="0">
                    <a:pos x="383" y="534"/>
                  </a:cxn>
                  <a:cxn ang="0">
                    <a:pos x="406" y="521"/>
                  </a:cxn>
                  <a:cxn ang="0">
                    <a:pos x="451" y="491"/>
                  </a:cxn>
                </a:cxnLst>
                <a:rect l="0" t="0" r="r" b="b"/>
                <a:pathLst>
                  <a:path w="554" h="554">
                    <a:moveTo>
                      <a:pt x="473" y="473"/>
                    </a:moveTo>
                    <a:lnTo>
                      <a:pt x="491" y="451"/>
                    </a:lnTo>
                    <a:lnTo>
                      <a:pt x="508" y="430"/>
                    </a:lnTo>
                    <a:lnTo>
                      <a:pt x="521" y="406"/>
                    </a:lnTo>
                    <a:lnTo>
                      <a:pt x="527" y="394"/>
                    </a:lnTo>
                    <a:lnTo>
                      <a:pt x="534" y="383"/>
                    </a:lnTo>
                    <a:lnTo>
                      <a:pt x="542" y="356"/>
                    </a:lnTo>
                    <a:lnTo>
                      <a:pt x="545" y="343"/>
                    </a:lnTo>
                    <a:lnTo>
                      <a:pt x="548" y="331"/>
                    </a:lnTo>
                    <a:lnTo>
                      <a:pt x="550" y="317"/>
                    </a:lnTo>
                    <a:lnTo>
                      <a:pt x="552" y="304"/>
                    </a:lnTo>
                    <a:lnTo>
                      <a:pt x="554" y="277"/>
                    </a:lnTo>
                    <a:lnTo>
                      <a:pt x="552" y="248"/>
                    </a:lnTo>
                    <a:lnTo>
                      <a:pt x="548" y="221"/>
                    </a:lnTo>
                    <a:lnTo>
                      <a:pt x="542" y="194"/>
                    </a:lnTo>
                    <a:lnTo>
                      <a:pt x="534" y="170"/>
                    </a:lnTo>
                    <a:lnTo>
                      <a:pt x="521" y="145"/>
                    </a:lnTo>
                    <a:lnTo>
                      <a:pt x="508" y="122"/>
                    </a:lnTo>
                    <a:lnTo>
                      <a:pt x="491" y="101"/>
                    </a:lnTo>
                    <a:lnTo>
                      <a:pt x="473" y="80"/>
                    </a:lnTo>
                    <a:lnTo>
                      <a:pt x="451" y="60"/>
                    </a:lnTo>
                    <a:lnTo>
                      <a:pt x="430" y="44"/>
                    </a:lnTo>
                    <a:lnTo>
                      <a:pt x="406" y="30"/>
                    </a:lnTo>
                    <a:lnTo>
                      <a:pt x="383" y="19"/>
                    </a:lnTo>
                    <a:lnTo>
                      <a:pt x="356" y="11"/>
                    </a:lnTo>
                    <a:lnTo>
                      <a:pt x="331" y="5"/>
                    </a:lnTo>
                    <a:lnTo>
                      <a:pt x="304" y="1"/>
                    </a:lnTo>
                    <a:lnTo>
                      <a:pt x="277" y="0"/>
                    </a:lnTo>
                    <a:lnTo>
                      <a:pt x="248" y="1"/>
                    </a:lnTo>
                    <a:lnTo>
                      <a:pt x="221" y="5"/>
                    </a:lnTo>
                    <a:lnTo>
                      <a:pt x="194" y="11"/>
                    </a:lnTo>
                    <a:lnTo>
                      <a:pt x="170" y="19"/>
                    </a:lnTo>
                    <a:lnTo>
                      <a:pt x="145" y="30"/>
                    </a:lnTo>
                    <a:lnTo>
                      <a:pt x="122" y="44"/>
                    </a:lnTo>
                    <a:lnTo>
                      <a:pt x="101" y="60"/>
                    </a:lnTo>
                    <a:lnTo>
                      <a:pt x="80" y="80"/>
                    </a:lnTo>
                    <a:lnTo>
                      <a:pt x="60" y="101"/>
                    </a:lnTo>
                    <a:lnTo>
                      <a:pt x="44" y="122"/>
                    </a:lnTo>
                    <a:lnTo>
                      <a:pt x="30" y="145"/>
                    </a:lnTo>
                    <a:lnTo>
                      <a:pt x="19" y="170"/>
                    </a:lnTo>
                    <a:lnTo>
                      <a:pt x="11" y="194"/>
                    </a:lnTo>
                    <a:lnTo>
                      <a:pt x="5" y="221"/>
                    </a:lnTo>
                    <a:lnTo>
                      <a:pt x="1" y="248"/>
                    </a:lnTo>
                    <a:lnTo>
                      <a:pt x="0" y="277"/>
                    </a:lnTo>
                    <a:lnTo>
                      <a:pt x="1" y="304"/>
                    </a:lnTo>
                    <a:lnTo>
                      <a:pt x="5" y="331"/>
                    </a:lnTo>
                    <a:lnTo>
                      <a:pt x="11" y="356"/>
                    </a:lnTo>
                    <a:lnTo>
                      <a:pt x="19" y="383"/>
                    </a:lnTo>
                    <a:lnTo>
                      <a:pt x="30" y="406"/>
                    </a:lnTo>
                    <a:lnTo>
                      <a:pt x="44" y="430"/>
                    </a:lnTo>
                    <a:lnTo>
                      <a:pt x="60" y="451"/>
                    </a:lnTo>
                    <a:lnTo>
                      <a:pt x="80" y="473"/>
                    </a:lnTo>
                    <a:lnTo>
                      <a:pt x="101" y="491"/>
                    </a:lnTo>
                    <a:lnTo>
                      <a:pt x="122" y="508"/>
                    </a:lnTo>
                    <a:lnTo>
                      <a:pt x="145" y="521"/>
                    </a:lnTo>
                    <a:lnTo>
                      <a:pt x="170" y="534"/>
                    </a:lnTo>
                    <a:lnTo>
                      <a:pt x="194" y="542"/>
                    </a:lnTo>
                    <a:lnTo>
                      <a:pt x="221" y="548"/>
                    </a:lnTo>
                    <a:lnTo>
                      <a:pt x="248" y="552"/>
                    </a:lnTo>
                    <a:lnTo>
                      <a:pt x="277" y="554"/>
                    </a:lnTo>
                    <a:lnTo>
                      <a:pt x="304" y="552"/>
                    </a:lnTo>
                    <a:lnTo>
                      <a:pt x="317" y="550"/>
                    </a:lnTo>
                    <a:lnTo>
                      <a:pt x="331" y="548"/>
                    </a:lnTo>
                    <a:lnTo>
                      <a:pt x="343" y="545"/>
                    </a:lnTo>
                    <a:lnTo>
                      <a:pt x="356" y="542"/>
                    </a:lnTo>
                    <a:lnTo>
                      <a:pt x="383" y="534"/>
                    </a:lnTo>
                    <a:lnTo>
                      <a:pt x="394" y="527"/>
                    </a:lnTo>
                    <a:lnTo>
                      <a:pt x="406" y="521"/>
                    </a:lnTo>
                    <a:lnTo>
                      <a:pt x="430" y="508"/>
                    </a:lnTo>
                    <a:lnTo>
                      <a:pt x="451" y="491"/>
                    </a:lnTo>
                    <a:lnTo>
                      <a:pt x="473" y="473"/>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grpSp>
        <p:sp>
          <p:nvSpPr>
            <p:cNvPr id="61" name="Rectangle 1953"/>
            <p:cNvSpPr>
              <a:spLocks noChangeArrowheads="1"/>
            </p:cNvSpPr>
            <p:nvPr/>
          </p:nvSpPr>
          <p:spPr bwMode="auto">
            <a:xfrm>
              <a:off x="3234" y="864"/>
              <a:ext cx="49"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1</a:t>
              </a:r>
              <a:endParaRPr lang="en-US" sz="1200">
                <a:solidFill>
                  <a:schemeClr val="tx1"/>
                </a:solidFill>
                <a:latin typeface="Calibri" pitchFamily="34" charset="0"/>
                <a:cs typeface="Calibri" pitchFamily="34" charset="0"/>
              </a:endParaRPr>
            </a:p>
          </p:txBody>
        </p:sp>
      </p:grpSp>
      <p:grpSp>
        <p:nvGrpSpPr>
          <p:cNvPr id="64" name="Group 1981"/>
          <p:cNvGrpSpPr>
            <a:grpSpLocks/>
          </p:cNvGrpSpPr>
          <p:nvPr/>
        </p:nvGrpSpPr>
        <p:grpSpPr bwMode="auto">
          <a:xfrm>
            <a:off x="5106984" y="1659616"/>
            <a:ext cx="2916238" cy="411164"/>
            <a:chOff x="3169" y="1144"/>
            <a:chExt cx="1837" cy="259"/>
          </a:xfrm>
        </p:grpSpPr>
        <p:sp>
          <p:nvSpPr>
            <p:cNvPr id="65" name="Rectangle 1940"/>
            <p:cNvSpPr>
              <a:spLocks noChangeArrowheads="1"/>
            </p:cNvSpPr>
            <p:nvPr/>
          </p:nvSpPr>
          <p:spPr bwMode="auto">
            <a:xfrm>
              <a:off x="3417" y="1175"/>
              <a:ext cx="1589"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Backup server retrieves backup-related </a:t>
              </a:r>
              <a:endParaRPr lang="en-US" sz="1200" dirty="0">
                <a:solidFill>
                  <a:schemeClr val="tx1"/>
                </a:solidFill>
                <a:latin typeface="Calibri" pitchFamily="34" charset="0"/>
                <a:cs typeface="Calibri" pitchFamily="34" charset="0"/>
              </a:endParaRPr>
            </a:p>
          </p:txBody>
        </p:sp>
        <p:sp>
          <p:nvSpPr>
            <p:cNvPr id="66" name="Rectangle 1941"/>
            <p:cNvSpPr>
              <a:spLocks noChangeArrowheads="1"/>
            </p:cNvSpPr>
            <p:nvPr/>
          </p:nvSpPr>
          <p:spPr bwMode="auto">
            <a:xfrm>
              <a:off x="3417" y="1287"/>
              <a:ext cx="1504"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information from the backup catalog.</a:t>
              </a:r>
              <a:endParaRPr lang="en-US" sz="1200" dirty="0">
                <a:solidFill>
                  <a:schemeClr val="tx1"/>
                </a:solidFill>
                <a:latin typeface="Calibri" pitchFamily="34" charset="0"/>
                <a:cs typeface="Calibri" pitchFamily="34" charset="0"/>
              </a:endParaRPr>
            </a:p>
          </p:txBody>
        </p:sp>
        <p:sp>
          <p:nvSpPr>
            <p:cNvPr id="67" name="Freeform 1954"/>
            <p:cNvSpPr>
              <a:spLocks/>
            </p:cNvSpPr>
            <p:nvPr/>
          </p:nvSpPr>
          <p:spPr bwMode="auto">
            <a:xfrm>
              <a:off x="3169" y="1144"/>
              <a:ext cx="185" cy="185"/>
            </a:xfrm>
            <a:custGeom>
              <a:avLst/>
              <a:gdLst/>
              <a:ahLst/>
              <a:cxnLst>
                <a:cxn ang="0">
                  <a:pos x="60" y="101"/>
                </a:cxn>
                <a:cxn ang="0">
                  <a:pos x="30" y="145"/>
                </a:cxn>
                <a:cxn ang="0">
                  <a:pos x="11" y="194"/>
                </a:cxn>
                <a:cxn ang="0">
                  <a:pos x="1" y="248"/>
                </a:cxn>
                <a:cxn ang="0">
                  <a:pos x="1" y="304"/>
                </a:cxn>
                <a:cxn ang="0">
                  <a:pos x="11" y="356"/>
                </a:cxn>
                <a:cxn ang="0">
                  <a:pos x="30" y="405"/>
                </a:cxn>
                <a:cxn ang="0">
                  <a:pos x="60" y="451"/>
                </a:cxn>
                <a:cxn ang="0">
                  <a:pos x="101" y="491"/>
                </a:cxn>
                <a:cxn ang="0">
                  <a:pos x="145" y="521"/>
                </a:cxn>
                <a:cxn ang="0">
                  <a:pos x="194" y="542"/>
                </a:cxn>
                <a:cxn ang="0">
                  <a:pos x="248" y="552"/>
                </a:cxn>
                <a:cxn ang="0">
                  <a:pos x="304" y="552"/>
                </a:cxn>
                <a:cxn ang="0">
                  <a:pos x="331" y="548"/>
                </a:cxn>
                <a:cxn ang="0">
                  <a:pos x="356" y="542"/>
                </a:cxn>
                <a:cxn ang="0">
                  <a:pos x="394" y="527"/>
                </a:cxn>
                <a:cxn ang="0">
                  <a:pos x="430" y="507"/>
                </a:cxn>
                <a:cxn ang="0">
                  <a:pos x="473" y="473"/>
                </a:cxn>
                <a:cxn ang="0">
                  <a:pos x="508" y="429"/>
                </a:cxn>
                <a:cxn ang="0">
                  <a:pos x="527" y="393"/>
                </a:cxn>
                <a:cxn ang="0">
                  <a:pos x="542" y="356"/>
                </a:cxn>
                <a:cxn ang="0">
                  <a:pos x="548" y="331"/>
                </a:cxn>
                <a:cxn ang="0">
                  <a:pos x="552" y="304"/>
                </a:cxn>
                <a:cxn ang="0">
                  <a:pos x="552" y="248"/>
                </a:cxn>
                <a:cxn ang="0">
                  <a:pos x="542" y="194"/>
                </a:cxn>
                <a:cxn ang="0">
                  <a:pos x="521" y="145"/>
                </a:cxn>
                <a:cxn ang="0">
                  <a:pos x="491" y="101"/>
                </a:cxn>
                <a:cxn ang="0">
                  <a:pos x="451" y="60"/>
                </a:cxn>
                <a:cxn ang="0">
                  <a:pos x="406" y="30"/>
                </a:cxn>
                <a:cxn ang="0">
                  <a:pos x="356" y="11"/>
                </a:cxn>
                <a:cxn ang="0">
                  <a:pos x="304" y="1"/>
                </a:cxn>
                <a:cxn ang="0">
                  <a:pos x="248" y="1"/>
                </a:cxn>
                <a:cxn ang="0">
                  <a:pos x="194" y="11"/>
                </a:cxn>
                <a:cxn ang="0">
                  <a:pos x="145" y="30"/>
                </a:cxn>
                <a:cxn ang="0">
                  <a:pos x="101" y="60"/>
                </a:cxn>
              </a:cxnLst>
              <a:rect l="0" t="0" r="r" b="b"/>
              <a:pathLst>
                <a:path w="554" h="554">
                  <a:moveTo>
                    <a:pt x="80" y="80"/>
                  </a:moveTo>
                  <a:lnTo>
                    <a:pt x="60" y="101"/>
                  </a:lnTo>
                  <a:lnTo>
                    <a:pt x="44" y="122"/>
                  </a:lnTo>
                  <a:lnTo>
                    <a:pt x="30" y="145"/>
                  </a:lnTo>
                  <a:lnTo>
                    <a:pt x="19" y="170"/>
                  </a:lnTo>
                  <a:lnTo>
                    <a:pt x="11" y="194"/>
                  </a:lnTo>
                  <a:lnTo>
                    <a:pt x="5" y="221"/>
                  </a:lnTo>
                  <a:lnTo>
                    <a:pt x="1" y="248"/>
                  </a:lnTo>
                  <a:lnTo>
                    <a:pt x="0" y="277"/>
                  </a:lnTo>
                  <a:lnTo>
                    <a:pt x="1" y="304"/>
                  </a:lnTo>
                  <a:lnTo>
                    <a:pt x="5" y="331"/>
                  </a:lnTo>
                  <a:lnTo>
                    <a:pt x="11" y="356"/>
                  </a:lnTo>
                  <a:lnTo>
                    <a:pt x="19" y="383"/>
                  </a:lnTo>
                  <a:lnTo>
                    <a:pt x="30" y="405"/>
                  </a:lnTo>
                  <a:lnTo>
                    <a:pt x="44" y="429"/>
                  </a:lnTo>
                  <a:lnTo>
                    <a:pt x="60" y="451"/>
                  </a:lnTo>
                  <a:lnTo>
                    <a:pt x="80" y="473"/>
                  </a:lnTo>
                  <a:lnTo>
                    <a:pt x="101" y="491"/>
                  </a:lnTo>
                  <a:lnTo>
                    <a:pt x="122" y="507"/>
                  </a:lnTo>
                  <a:lnTo>
                    <a:pt x="145" y="521"/>
                  </a:lnTo>
                  <a:lnTo>
                    <a:pt x="170" y="534"/>
                  </a:lnTo>
                  <a:lnTo>
                    <a:pt x="194" y="542"/>
                  </a:lnTo>
                  <a:lnTo>
                    <a:pt x="221" y="548"/>
                  </a:lnTo>
                  <a:lnTo>
                    <a:pt x="248" y="552"/>
                  </a:lnTo>
                  <a:lnTo>
                    <a:pt x="277" y="554"/>
                  </a:lnTo>
                  <a:lnTo>
                    <a:pt x="304" y="552"/>
                  </a:lnTo>
                  <a:lnTo>
                    <a:pt x="317" y="549"/>
                  </a:lnTo>
                  <a:lnTo>
                    <a:pt x="331" y="548"/>
                  </a:lnTo>
                  <a:lnTo>
                    <a:pt x="343" y="545"/>
                  </a:lnTo>
                  <a:lnTo>
                    <a:pt x="356" y="542"/>
                  </a:lnTo>
                  <a:lnTo>
                    <a:pt x="383" y="534"/>
                  </a:lnTo>
                  <a:lnTo>
                    <a:pt x="394" y="527"/>
                  </a:lnTo>
                  <a:lnTo>
                    <a:pt x="406" y="521"/>
                  </a:lnTo>
                  <a:lnTo>
                    <a:pt x="430" y="507"/>
                  </a:lnTo>
                  <a:lnTo>
                    <a:pt x="451" y="491"/>
                  </a:lnTo>
                  <a:lnTo>
                    <a:pt x="473" y="473"/>
                  </a:lnTo>
                  <a:lnTo>
                    <a:pt x="491" y="451"/>
                  </a:lnTo>
                  <a:lnTo>
                    <a:pt x="508" y="429"/>
                  </a:lnTo>
                  <a:lnTo>
                    <a:pt x="521" y="405"/>
                  </a:lnTo>
                  <a:lnTo>
                    <a:pt x="527" y="393"/>
                  </a:lnTo>
                  <a:lnTo>
                    <a:pt x="534" y="383"/>
                  </a:lnTo>
                  <a:lnTo>
                    <a:pt x="542" y="356"/>
                  </a:lnTo>
                  <a:lnTo>
                    <a:pt x="545" y="343"/>
                  </a:lnTo>
                  <a:lnTo>
                    <a:pt x="548" y="331"/>
                  </a:lnTo>
                  <a:lnTo>
                    <a:pt x="550" y="317"/>
                  </a:lnTo>
                  <a:lnTo>
                    <a:pt x="552" y="304"/>
                  </a:lnTo>
                  <a:lnTo>
                    <a:pt x="554" y="277"/>
                  </a:lnTo>
                  <a:lnTo>
                    <a:pt x="552" y="248"/>
                  </a:lnTo>
                  <a:lnTo>
                    <a:pt x="548" y="221"/>
                  </a:lnTo>
                  <a:lnTo>
                    <a:pt x="542" y="194"/>
                  </a:lnTo>
                  <a:lnTo>
                    <a:pt x="534" y="170"/>
                  </a:lnTo>
                  <a:lnTo>
                    <a:pt x="521" y="145"/>
                  </a:lnTo>
                  <a:lnTo>
                    <a:pt x="508" y="122"/>
                  </a:lnTo>
                  <a:lnTo>
                    <a:pt x="491" y="101"/>
                  </a:lnTo>
                  <a:lnTo>
                    <a:pt x="473" y="80"/>
                  </a:lnTo>
                  <a:lnTo>
                    <a:pt x="451" y="60"/>
                  </a:lnTo>
                  <a:lnTo>
                    <a:pt x="430" y="44"/>
                  </a:lnTo>
                  <a:lnTo>
                    <a:pt x="406" y="30"/>
                  </a:lnTo>
                  <a:lnTo>
                    <a:pt x="383" y="19"/>
                  </a:lnTo>
                  <a:lnTo>
                    <a:pt x="356" y="11"/>
                  </a:lnTo>
                  <a:lnTo>
                    <a:pt x="331" y="5"/>
                  </a:lnTo>
                  <a:lnTo>
                    <a:pt x="304" y="1"/>
                  </a:lnTo>
                  <a:lnTo>
                    <a:pt x="277" y="0"/>
                  </a:lnTo>
                  <a:lnTo>
                    <a:pt x="248" y="1"/>
                  </a:lnTo>
                  <a:lnTo>
                    <a:pt x="221" y="5"/>
                  </a:lnTo>
                  <a:lnTo>
                    <a:pt x="194" y="11"/>
                  </a:lnTo>
                  <a:lnTo>
                    <a:pt x="170" y="19"/>
                  </a:lnTo>
                  <a:lnTo>
                    <a:pt x="145" y="30"/>
                  </a:lnTo>
                  <a:lnTo>
                    <a:pt x="122" y="44"/>
                  </a:lnTo>
                  <a:lnTo>
                    <a:pt x="101" y="60"/>
                  </a:lnTo>
                  <a:lnTo>
                    <a:pt x="80"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68" name="Rectangle 1955"/>
            <p:cNvSpPr>
              <a:spLocks noChangeArrowheads="1"/>
            </p:cNvSpPr>
            <p:nvPr/>
          </p:nvSpPr>
          <p:spPr bwMode="auto">
            <a:xfrm>
              <a:off x="3234" y="1184"/>
              <a:ext cx="49"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2</a:t>
              </a:r>
              <a:endParaRPr lang="en-US" sz="1200">
                <a:solidFill>
                  <a:schemeClr val="tx1"/>
                </a:solidFill>
                <a:latin typeface="Calibri" pitchFamily="34" charset="0"/>
                <a:cs typeface="Calibri" pitchFamily="34" charset="0"/>
              </a:endParaRPr>
            </a:p>
          </p:txBody>
        </p:sp>
      </p:grpSp>
      <p:grpSp>
        <p:nvGrpSpPr>
          <p:cNvPr id="69" name="Group 1983"/>
          <p:cNvGrpSpPr>
            <a:grpSpLocks/>
          </p:cNvGrpSpPr>
          <p:nvPr/>
        </p:nvGrpSpPr>
        <p:grpSpPr bwMode="auto">
          <a:xfrm>
            <a:off x="5103809" y="2672438"/>
            <a:ext cx="3154363" cy="411163"/>
            <a:chOff x="3167" y="1824"/>
            <a:chExt cx="1987" cy="259"/>
          </a:xfrm>
        </p:grpSpPr>
        <p:sp>
          <p:nvSpPr>
            <p:cNvPr id="70" name="Rectangle 1944"/>
            <p:cNvSpPr>
              <a:spLocks noChangeArrowheads="1"/>
            </p:cNvSpPr>
            <p:nvPr/>
          </p:nvSpPr>
          <p:spPr bwMode="auto">
            <a:xfrm>
              <a:off x="3417" y="1855"/>
              <a:ext cx="1658"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Backup server instructs backup clients to </a:t>
              </a:r>
              <a:endParaRPr lang="en-US" sz="1200" dirty="0">
                <a:solidFill>
                  <a:schemeClr val="tx1"/>
                </a:solidFill>
                <a:latin typeface="Calibri" pitchFamily="34" charset="0"/>
                <a:cs typeface="Calibri" pitchFamily="34" charset="0"/>
              </a:endParaRPr>
            </a:p>
          </p:txBody>
        </p:sp>
        <p:sp>
          <p:nvSpPr>
            <p:cNvPr id="71" name="Rectangle 1945"/>
            <p:cNvSpPr>
              <a:spLocks noChangeArrowheads="1"/>
            </p:cNvSpPr>
            <p:nvPr/>
          </p:nvSpPr>
          <p:spPr bwMode="auto">
            <a:xfrm>
              <a:off x="3417" y="1967"/>
              <a:ext cx="1737"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send data to be backed up to storage node.</a:t>
              </a:r>
              <a:endParaRPr lang="en-US" sz="1200" dirty="0">
                <a:solidFill>
                  <a:schemeClr val="tx1"/>
                </a:solidFill>
                <a:latin typeface="Calibri" pitchFamily="34" charset="0"/>
                <a:cs typeface="Calibri" pitchFamily="34" charset="0"/>
              </a:endParaRPr>
            </a:p>
          </p:txBody>
        </p:sp>
        <p:sp>
          <p:nvSpPr>
            <p:cNvPr id="72" name="Freeform 1956"/>
            <p:cNvSpPr>
              <a:spLocks/>
            </p:cNvSpPr>
            <p:nvPr/>
          </p:nvSpPr>
          <p:spPr bwMode="auto">
            <a:xfrm>
              <a:off x="3167" y="1824"/>
              <a:ext cx="184" cy="185"/>
            </a:xfrm>
            <a:custGeom>
              <a:avLst/>
              <a:gdLst/>
              <a:ahLst/>
              <a:cxnLst>
                <a:cxn ang="0">
                  <a:pos x="60" y="101"/>
                </a:cxn>
                <a:cxn ang="0">
                  <a:pos x="30" y="145"/>
                </a:cxn>
                <a:cxn ang="0">
                  <a:pos x="11" y="194"/>
                </a:cxn>
                <a:cxn ang="0">
                  <a:pos x="1" y="248"/>
                </a:cxn>
                <a:cxn ang="0">
                  <a:pos x="1" y="303"/>
                </a:cxn>
                <a:cxn ang="0">
                  <a:pos x="11" y="356"/>
                </a:cxn>
                <a:cxn ang="0">
                  <a:pos x="30" y="405"/>
                </a:cxn>
                <a:cxn ang="0">
                  <a:pos x="60" y="451"/>
                </a:cxn>
                <a:cxn ang="0">
                  <a:pos x="101" y="491"/>
                </a:cxn>
                <a:cxn ang="0">
                  <a:pos x="145" y="521"/>
                </a:cxn>
                <a:cxn ang="0">
                  <a:pos x="194" y="542"/>
                </a:cxn>
                <a:cxn ang="0">
                  <a:pos x="248" y="552"/>
                </a:cxn>
                <a:cxn ang="0">
                  <a:pos x="303" y="552"/>
                </a:cxn>
                <a:cxn ang="0">
                  <a:pos x="331" y="548"/>
                </a:cxn>
                <a:cxn ang="0">
                  <a:pos x="356" y="542"/>
                </a:cxn>
                <a:cxn ang="0">
                  <a:pos x="393" y="527"/>
                </a:cxn>
                <a:cxn ang="0">
                  <a:pos x="429" y="507"/>
                </a:cxn>
                <a:cxn ang="0">
                  <a:pos x="473" y="473"/>
                </a:cxn>
                <a:cxn ang="0">
                  <a:pos x="507" y="429"/>
                </a:cxn>
                <a:cxn ang="0">
                  <a:pos x="527" y="393"/>
                </a:cxn>
                <a:cxn ang="0">
                  <a:pos x="542" y="356"/>
                </a:cxn>
                <a:cxn ang="0">
                  <a:pos x="548" y="331"/>
                </a:cxn>
                <a:cxn ang="0">
                  <a:pos x="552" y="303"/>
                </a:cxn>
                <a:cxn ang="0">
                  <a:pos x="552" y="248"/>
                </a:cxn>
                <a:cxn ang="0">
                  <a:pos x="542" y="194"/>
                </a:cxn>
                <a:cxn ang="0">
                  <a:pos x="521" y="145"/>
                </a:cxn>
                <a:cxn ang="0">
                  <a:pos x="491" y="101"/>
                </a:cxn>
                <a:cxn ang="0">
                  <a:pos x="451" y="60"/>
                </a:cxn>
                <a:cxn ang="0">
                  <a:pos x="405" y="30"/>
                </a:cxn>
                <a:cxn ang="0">
                  <a:pos x="356" y="11"/>
                </a:cxn>
                <a:cxn ang="0">
                  <a:pos x="303" y="1"/>
                </a:cxn>
                <a:cxn ang="0">
                  <a:pos x="248" y="1"/>
                </a:cxn>
                <a:cxn ang="0">
                  <a:pos x="194" y="11"/>
                </a:cxn>
                <a:cxn ang="0">
                  <a:pos x="145" y="30"/>
                </a:cxn>
                <a:cxn ang="0">
                  <a:pos x="101" y="60"/>
                </a:cxn>
              </a:cxnLst>
              <a:rect l="0" t="0" r="r" b="b"/>
              <a:pathLst>
                <a:path w="554" h="554">
                  <a:moveTo>
                    <a:pt x="80" y="80"/>
                  </a:moveTo>
                  <a:lnTo>
                    <a:pt x="60" y="101"/>
                  </a:lnTo>
                  <a:lnTo>
                    <a:pt x="44" y="122"/>
                  </a:lnTo>
                  <a:lnTo>
                    <a:pt x="30" y="145"/>
                  </a:lnTo>
                  <a:lnTo>
                    <a:pt x="19" y="170"/>
                  </a:lnTo>
                  <a:lnTo>
                    <a:pt x="11" y="194"/>
                  </a:lnTo>
                  <a:lnTo>
                    <a:pt x="5" y="221"/>
                  </a:lnTo>
                  <a:lnTo>
                    <a:pt x="1" y="248"/>
                  </a:lnTo>
                  <a:lnTo>
                    <a:pt x="0" y="277"/>
                  </a:lnTo>
                  <a:lnTo>
                    <a:pt x="1" y="303"/>
                  </a:lnTo>
                  <a:lnTo>
                    <a:pt x="5" y="331"/>
                  </a:lnTo>
                  <a:lnTo>
                    <a:pt x="11" y="356"/>
                  </a:lnTo>
                  <a:lnTo>
                    <a:pt x="19" y="383"/>
                  </a:lnTo>
                  <a:lnTo>
                    <a:pt x="30" y="405"/>
                  </a:lnTo>
                  <a:lnTo>
                    <a:pt x="44" y="429"/>
                  </a:lnTo>
                  <a:lnTo>
                    <a:pt x="60" y="451"/>
                  </a:lnTo>
                  <a:lnTo>
                    <a:pt x="80" y="473"/>
                  </a:lnTo>
                  <a:lnTo>
                    <a:pt x="101" y="491"/>
                  </a:lnTo>
                  <a:lnTo>
                    <a:pt x="122" y="507"/>
                  </a:lnTo>
                  <a:lnTo>
                    <a:pt x="145" y="521"/>
                  </a:lnTo>
                  <a:lnTo>
                    <a:pt x="170" y="534"/>
                  </a:lnTo>
                  <a:lnTo>
                    <a:pt x="194" y="542"/>
                  </a:lnTo>
                  <a:lnTo>
                    <a:pt x="221" y="548"/>
                  </a:lnTo>
                  <a:lnTo>
                    <a:pt x="248" y="552"/>
                  </a:lnTo>
                  <a:lnTo>
                    <a:pt x="277" y="554"/>
                  </a:lnTo>
                  <a:lnTo>
                    <a:pt x="303" y="552"/>
                  </a:lnTo>
                  <a:lnTo>
                    <a:pt x="317" y="549"/>
                  </a:lnTo>
                  <a:lnTo>
                    <a:pt x="331" y="548"/>
                  </a:lnTo>
                  <a:lnTo>
                    <a:pt x="343" y="545"/>
                  </a:lnTo>
                  <a:lnTo>
                    <a:pt x="356" y="542"/>
                  </a:lnTo>
                  <a:lnTo>
                    <a:pt x="383" y="534"/>
                  </a:lnTo>
                  <a:lnTo>
                    <a:pt x="393" y="527"/>
                  </a:lnTo>
                  <a:lnTo>
                    <a:pt x="405" y="521"/>
                  </a:lnTo>
                  <a:lnTo>
                    <a:pt x="429" y="507"/>
                  </a:lnTo>
                  <a:lnTo>
                    <a:pt x="451" y="491"/>
                  </a:lnTo>
                  <a:lnTo>
                    <a:pt x="473" y="473"/>
                  </a:lnTo>
                  <a:lnTo>
                    <a:pt x="491" y="451"/>
                  </a:lnTo>
                  <a:lnTo>
                    <a:pt x="507" y="429"/>
                  </a:lnTo>
                  <a:lnTo>
                    <a:pt x="521" y="405"/>
                  </a:lnTo>
                  <a:lnTo>
                    <a:pt x="527" y="393"/>
                  </a:lnTo>
                  <a:lnTo>
                    <a:pt x="534" y="383"/>
                  </a:lnTo>
                  <a:lnTo>
                    <a:pt x="542" y="356"/>
                  </a:lnTo>
                  <a:lnTo>
                    <a:pt x="545" y="343"/>
                  </a:lnTo>
                  <a:lnTo>
                    <a:pt x="548" y="331"/>
                  </a:lnTo>
                  <a:lnTo>
                    <a:pt x="549" y="317"/>
                  </a:lnTo>
                  <a:lnTo>
                    <a:pt x="552" y="303"/>
                  </a:lnTo>
                  <a:lnTo>
                    <a:pt x="554" y="277"/>
                  </a:lnTo>
                  <a:lnTo>
                    <a:pt x="552" y="248"/>
                  </a:lnTo>
                  <a:lnTo>
                    <a:pt x="548" y="221"/>
                  </a:lnTo>
                  <a:lnTo>
                    <a:pt x="542" y="194"/>
                  </a:lnTo>
                  <a:lnTo>
                    <a:pt x="534" y="170"/>
                  </a:lnTo>
                  <a:lnTo>
                    <a:pt x="521" y="145"/>
                  </a:lnTo>
                  <a:lnTo>
                    <a:pt x="507" y="122"/>
                  </a:lnTo>
                  <a:lnTo>
                    <a:pt x="491" y="101"/>
                  </a:lnTo>
                  <a:lnTo>
                    <a:pt x="473" y="80"/>
                  </a:lnTo>
                  <a:lnTo>
                    <a:pt x="451" y="60"/>
                  </a:lnTo>
                  <a:lnTo>
                    <a:pt x="429" y="44"/>
                  </a:lnTo>
                  <a:lnTo>
                    <a:pt x="405" y="30"/>
                  </a:lnTo>
                  <a:lnTo>
                    <a:pt x="383" y="19"/>
                  </a:lnTo>
                  <a:lnTo>
                    <a:pt x="356" y="11"/>
                  </a:lnTo>
                  <a:lnTo>
                    <a:pt x="331" y="5"/>
                  </a:lnTo>
                  <a:lnTo>
                    <a:pt x="303" y="1"/>
                  </a:lnTo>
                  <a:lnTo>
                    <a:pt x="277" y="0"/>
                  </a:lnTo>
                  <a:lnTo>
                    <a:pt x="248" y="1"/>
                  </a:lnTo>
                  <a:lnTo>
                    <a:pt x="221" y="5"/>
                  </a:lnTo>
                  <a:lnTo>
                    <a:pt x="194" y="11"/>
                  </a:lnTo>
                  <a:lnTo>
                    <a:pt x="170" y="19"/>
                  </a:lnTo>
                  <a:lnTo>
                    <a:pt x="145" y="30"/>
                  </a:lnTo>
                  <a:lnTo>
                    <a:pt x="122" y="44"/>
                  </a:lnTo>
                  <a:lnTo>
                    <a:pt x="101" y="60"/>
                  </a:lnTo>
                  <a:lnTo>
                    <a:pt x="80"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73" name="Rectangle 1957"/>
            <p:cNvSpPr>
              <a:spLocks noChangeArrowheads="1"/>
            </p:cNvSpPr>
            <p:nvPr/>
          </p:nvSpPr>
          <p:spPr bwMode="auto">
            <a:xfrm>
              <a:off x="3203" y="1864"/>
              <a:ext cx="102"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3b</a:t>
              </a:r>
              <a:endParaRPr lang="en-US" sz="1200">
                <a:solidFill>
                  <a:schemeClr val="tx1"/>
                </a:solidFill>
                <a:latin typeface="Calibri" pitchFamily="34" charset="0"/>
                <a:cs typeface="Calibri" pitchFamily="34" charset="0"/>
              </a:endParaRPr>
            </a:p>
          </p:txBody>
        </p:sp>
      </p:grpSp>
      <p:grpSp>
        <p:nvGrpSpPr>
          <p:cNvPr id="74" name="Group 1984"/>
          <p:cNvGrpSpPr>
            <a:grpSpLocks/>
          </p:cNvGrpSpPr>
          <p:nvPr/>
        </p:nvGrpSpPr>
        <p:grpSpPr bwMode="auto">
          <a:xfrm>
            <a:off x="5094274" y="3297914"/>
            <a:ext cx="3505195" cy="419101"/>
            <a:chOff x="3161" y="2176"/>
            <a:chExt cx="2208" cy="264"/>
          </a:xfrm>
        </p:grpSpPr>
        <p:sp>
          <p:nvSpPr>
            <p:cNvPr id="75" name="Rectangle 1946"/>
            <p:cNvSpPr>
              <a:spLocks noChangeArrowheads="1"/>
            </p:cNvSpPr>
            <p:nvPr/>
          </p:nvSpPr>
          <p:spPr bwMode="auto">
            <a:xfrm>
              <a:off x="3417" y="2207"/>
              <a:ext cx="1952" cy="233"/>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Backup clients send data to storage node and </a:t>
              </a:r>
            </a:p>
            <a:p>
              <a:pPr algn="l">
                <a:spcBef>
                  <a:spcPct val="0"/>
                </a:spcBef>
                <a:buClrTx/>
                <a:buFontTx/>
                <a:buNone/>
              </a:pPr>
              <a:r>
                <a:rPr lang="en-US" sz="1200" b="1" dirty="0">
                  <a:solidFill>
                    <a:schemeClr val="tx1"/>
                  </a:solidFill>
                  <a:latin typeface="Calibri" pitchFamily="34" charset="0"/>
                  <a:cs typeface="Calibri" pitchFamily="34" charset="0"/>
                </a:rPr>
                <a:t>update the backup catalog on the backup server.</a:t>
              </a:r>
              <a:endParaRPr lang="en-US" sz="1200" dirty="0">
                <a:solidFill>
                  <a:schemeClr val="tx1"/>
                </a:solidFill>
                <a:latin typeface="Calibri" pitchFamily="34" charset="0"/>
                <a:cs typeface="Calibri" pitchFamily="34" charset="0"/>
              </a:endParaRPr>
            </a:p>
          </p:txBody>
        </p:sp>
        <p:sp>
          <p:nvSpPr>
            <p:cNvPr id="76" name="Freeform 1958"/>
            <p:cNvSpPr>
              <a:spLocks/>
            </p:cNvSpPr>
            <p:nvPr/>
          </p:nvSpPr>
          <p:spPr bwMode="auto">
            <a:xfrm>
              <a:off x="3161" y="2176"/>
              <a:ext cx="185" cy="185"/>
            </a:xfrm>
            <a:custGeom>
              <a:avLst/>
              <a:gdLst/>
              <a:ahLst/>
              <a:cxnLst>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5" y="542"/>
                </a:cxn>
                <a:cxn ang="0">
                  <a:pos x="249" y="552"/>
                </a:cxn>
                <a:cxn ang="0">
                  <a:pos x="304" y="552"/>
                </a:cxn>
                <a:cxn ang="0">
                  <a:pos x="331" y="548"/>
                </a:cxn>
                <a:cxn ang="0">
                  <a:pos x="357" y="542"/>
                </a:cxn>
                <a:cxn ang="0">
                  <a:pos x="394" y="526"/>
                </a:cxn>
                <a:cxn ang="0">
                  <a:pos x="430" y="507"/>
                </a:cxn>
                <a:cxn ang="0">
                  <a:pos x="473" y="472"/>
                </a:cxn>
                <a:cxn ang="0">
                  <a:pos x="508" y="429"/>
                </a:cxn>
                <a:cxn ang="0">
                  <a:pos x="527" y="393"/>
                </a:cxn>
                <a:cxn ang="0">
                  <a:pos x="543" y="356"/>
                </a:cxn>
                <a:cxn ang="0">
                  <a:pos x="549" y="331"/>
                </a:cxn>
                <a:cxn ang="0">
                  <a:pos x="552" y="303"/>
                </a:cxn>
                <a:cxn ang="0">
                  <a:pos x="552" y="248"/>
                </a:cxn>
                <a:cxn ang="0">
                  <a:pos x="543" y="194"/>
                </a:cxn>
                <a:cxn ang="0">
                  <a:pos x="521" y="145"/>
                </a:cxn>
                <a:cxn ang="0">
                  <a:pos x="491" y="100"/>
                </a:cxn>
                <a:cxn ang="0">
                  <a:pos x="451" y="60"/>
                </a:cxn>
                <a:cxn ang="0">
                  <a:pos x="406" y="30"/>
                </a:cxn>
                <a:cxn ang="0">
                  <a:pos x="357" y="10"/>
                </a:cxn>
                <a:cxn ang="0">
                  <a:pos x="304" y="1"/>
                </a:cxn>
                <a:cxn ang="0">
                  <a:pos x="249" y="1"/>
                </a:cxn>
                <a:cxn ang="0">
                  <a:pos x="195" y="10"/>
                </a:cxn>
                <a:cxn ang="0">
                  <a:pos x="145" y="30"/>
                </a:cxn>
                <a:cxn ang="0">
                  <a:pos x="101" y="60"/>
                </a:cxn>
              </a:cxnLst>
              <a:rect l="0" t="0" r="r" b="b"/>
              <a:pathLst>
                <a:path w="555" h="554">
                  <a:moveTo>
                    <a:pt x="81" y="80"/>
                  </a:moveTo>
                  <a:lnTo>
                    <a:pt x="60" y="100"/>
                  </a:lnTo>
                  <a:lnTo>
                    <a:pt x="45"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5" y="429"/>
                  </a:lnTo>
                  <a:lnTo>
                    <a:pt x="60" y="451"/>
                  </a:lnTo>
                  <a:lnTo>
                    <a:pt x="81" y="472"/>
                  </a:lnTo>
                  <a:lnTo>
                    <a:pt x="101" y="490"/>
                  </a:lnTo>
                  <a:lnTo>
                    <a:pt x="123" y="507"/>
                  </a:lnTo>
                  <a:lnTo>
                    <a:pt x="145" y="520"/>
                  </a:lnTo>
                  <a:lnTo>
                    <a:pt x="171" y="534"/>
                  </a:lnTo>
                  <a:lnTo>
                    <a:pt x="195" y="542"/>
                  </a:lnTo>
                  <a:lnTo>
                    <a:pt x="221" y="548"/>
                  </a:lnTo>
                  <a:lnTo>
                    <a:pt x="249" y="552"/>
                  </a:lnTo>
                  <a:lnTo>
                    <a:pt x="277" y="554"/>
                  </a:lnTo>
                  <a:lnTo>
                    <a:pt x="304" y="552"/>
                  </a:lnTo>
                  <a:lnTo>
                    <a:pt x="317" y="549"/>
                  </a:lnTo>
                  <a:lnTo>
                    <a:pt x="331" y="548"/>
                  </a:lnTo>
                  <a:lnTo>
                    <a:pt x="343" y="544"/>
                  </a:lnTo>
                  <a:lnTo>
                    <a:pt x="357"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0"/>
                  </a:lnTo>
                  <a:lnTo>
                    <a:pt x="473" y="80"/>
                  </a:lnTo>
                  <a:lnTo>
                    <a:pt x="451" y="60"/>
                  </a:lnTo>
                  <a:lnTo>
                    <a:pt x="430" y="44"/>
                  </a:lnTo>
                  <a:lnTo>
                    <a:pt x="406" y="30"/>
                  </a:lnTo>
                  <a:lnTo>
                    <a:pt x="383" y="19"/>
                  </a:lnTo>
                  <a:lnTo>
                    <a:pt x="357" y="10"/>
                  </a:lnTo>
                  <a:lnTo>
                    <a:pt x="331" y="4"/>
                  </a:lnTo>
                  <a:lnTo>
                    <a:pt x="304" y="1"/>
                  </a:lnTo>
                  <a:lnTo>
                    <a:pt x="277" y="0"/>
                  </a:lnTo>
                  <a:lnTo>
                    <a:pt x="249" y="1"/>
                  </a:lnTo>
                  <a:lnTo>
                    <a:pt x="221" y="4"/>
                  </a:lnTo>
                  <a:lnTo>
                    <a:pt x="195" y="10"/>
                  </a:lnTo>
                  <a:lnTo>
                    <a:pt x="171" y="19"/>
                  </a:lnTo>
                  <a:lnTo>
                    <a:pt x="145" y="30"/>
                  </a:lnTo>
                  <a:lnTo>
                    <a:pt x="123" y="44"/>
                  </a:lnTo>
                  <a:lnTo>
                    <a:pt x="101" y="60"/>
                  </a:lnTo>
                  <a:lnTo>
                    <a:pt x="81"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77" name="Rectangle 1959"/>
            <p:cNvSpPr>
              <a:spLocks noChangeArrowheads="1"/>
            </p:cNvSpPr>
            <p:nvPr/>
          </p:nvSpPr>
          <p:spPr bwMode="auto">
            <a:xfrm>
              <a:off x="3226" y="2215"/>
              <a:ext cx="49"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4</a:t>
              </a:r>
              <a:endParaRPr lang="en-US" sz="1200">
                <a:solidFill>
                  <a:schemeClr val="tx1"/>
                </a:solidFill>
                <a:latin typeface="Calibri" pitchFamily="34" charset="0"/>
                <a:cs typeface="Calibri" pitchFamily="34" charset="0"/>
              </a:endParaRPr>
            </a:p>
          </p:txBody>
        </p:sp>
      </p:grpSp>
      <p:grpSp>
        <p:nvGrpSpPr>
          <p:cNvPr id="78" name="Group 1985"/>
          <p:cNvGrpSpPr>
            <a:grpSpLocks/>
          </p:cNvGrpSpPr>
          <p:nvPr/>
        </p:nvGrpSpPr>
        <p:grpSpPr bwMode="auto">
          <a:xfrm>
            <a:off x="5094283" y="3793212"/>
            <a:ext cx="3125787" cy="293688"/>
            <a:chOff x="3161" y="2488"/>
            <a:chExt cx="1969" cy="185"/>
          </a:xfrm>
        </p:grpSpPr>
        <p:sp>
          <p:nvSpPr>
            <p:cNvPr id="79" name="Rectangle 1947"/>
            <p:cNvSpPr>
              <a:spLocks noChangeArrowheads="1"/>
            </p:cNvSpPr>
            <p:nvPr/>
          </p:nvSpPr>
          <p:spPr bwMode="auto">
            <a:xfrm>
              <a:off x="3417" y="2519"/>
              <a:ext cx="1713"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Storage node sends data to backup device.</a:t>
              </a:r>
              <a:endParaRPr lang="en-US" sz="1200" dirty="0">
                <a:solidFill>
                  <a:schemeClr val="tx1"/>
                </a:solidFill>
                <a:latin typeface="Calibri" pitchFamily="34" charset="0"/>
                <a:cs typeface="Calibri" pitchFamily="34" charset="0"/>
              </a:endParaRPr>
            </a:p>
          </p:txBody>
        </p:sp>
        <p:sp>
          <p:nvSpPr>
            <p:cNvPr id="80" name="Freeform 1960"/>
            <p:cNvSpPr>
              <a:spLocks/>
            </p:cNvSpPr>
            <p:nvPr/>
          </p:nvSpPr>
          <p:spPr bwMode="auto">
            <a:xfrm>
              <a:off x="3161" y="2488"/>
              <a:ext cx="185" cy="185"/>
            </a:xfrm>
            <a:custGeom>
              <a:avLst/>
              <a:gdLst/>
              <a:ahLst/>
              <a:cxnLst>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5" y="542"/>
                </a:cxn>
                <a:cxn ang="0">
                  <a:pos x="249" y="552"/>
                </a:cxn>
                <a:cxn ang="0">
                  <a:pos x="304" y="552"/>
                </a:cxn>
                <a:cxn ang="0">
                  <a:pos x="331" y="548"/>
                </a:cxn>
                <a:cxn ang="0">
                  <a:pos x="357" y="542"/>
                </a:cxn>
                <a:cxn ang="0">
                  <a:pos x="394" y="526"/>
                </a:cxn>
                <a:cxn ang="0">
                  <a:pos x="430" y="507"/>
                </a:cxn>
                <a:cxn ang="0">
                  <a:pos x="473" y="472"/>
                </a:cxn>
                <a:cxn ang="0">
                  <a:pos x="508" y="429"/>
                </a:cxn>
                <a:cxn ang="0">
                  <a:pos x="527" y="393"/>
                </a:cxn>
                <a:cxn ang="0">
                  <a:pos x="543" y="356"/>
                </a:cxn>
                <a:cxn ang="0">
                  <a:pos x="549" y="331"/>
                </a:cxn>
                <a:cxn ang="0">
                  <a:pos x="552" y="303"/>
                </a:cxn>
                <a:cxn ang="0">
                  <a:pos x="552" y="248"/>
                </a:cxn>
                <a:cxn ang="0">
                  <a:pos x="543" y="194"/>
                </a:cxn>
                <a:cxn ang="0">
                  <a:pos x="521" y="145"/>
                </a:cxn>
                <a:cxn ang="0">
                  <a:pos x="491" y="100"/>
                </a:cxn>
                <a:cxn ang="0">
                  <a:pos x="451" y="60"/>
                </a:cxn>
                <a:cxn ang="0">
                  <a:pos x="406" y="30"/>
                </a:cxn>
                <a:cxn ang="0">
                  <a:pos x="357" y="10"/>
                </a:cxn>
                <a:cxn ang="0">
                  <a:pos x="304" y="1"/>
                </a:cxn>
                <a:cxn ang="0">
                  <a:pos x="249" y="1"/>
                </a:cxn>
                <a:cxn ang="0">
                  <a:pos x="195" y="10"/>
                </a:cxn>
                <a:cxn ang="0">
                  <a:pos x="145" y="30"/>
                </a:cxn>
                <a:cxn ang="0">
                  <a:pos x="101" y="60"/>
                </a:cxn>
              </a:cxnLst>
              <a:rect l="0" t="0" r="r" b="b"/>
              <a:pathLst>
                <a:path w="555" h="554">
                  <a:moveTo>
                    <a:pt x="81" y="80"/>
                  </a:moveTo>
                  <a:lnTo>
                    <a:pt x="60" y="100"/>
                  </a:lnTo>
                  <a:lnTo>
                    <a:pt x="45"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5" y="429"/>
                  </a:lnTo>
                  <a:lnTo>
                    <a:pt x="60" y="451"/>
                  </a:lnTo>
                  <a:lnTo>
                    <a:pt x="81" y="472"/>
                  </a:lnTo>
                  <a:lnTo>
                    <a:pt x="101" y="490"/>
                  </a:lnTo>
                  <a:lnTo>
                    <a:pt x="123" y="507"/>
                  </a:lnTo>
                  <a:lnTo>
                    <a:pt x="145" y="520"/>
                  </a:lnTo>
                  <a:lnTo>
                    <a:pt x="171" y="534"/>
                  </a:lnTo>
                  <a:lnTo>
                    <a:pt x="195" y="542"/>
                  </a:lnTo>
                  <a:lnTo>
                    <a:pt x="221" y="548"/>
                  </a:lnTo>
                  <a:lnTo>
                    <a:pt x="249" y="552"/>
                  </a:lnTo>
                  <a:lnTo>
                    <a:pt x="277" y="554"/>
                  </a:lnTo>
                  <a:lnTo>
                    <a:pt x="304" y="552"/>
                  </a:lnTo>
                  <a:lnTo>
                    <a:pt x="317" y="549"/>
                  </a:lnTo>
                  <a:lnTo>
                    <a:pt x="331" y="548"/>
                  </a:lnTo>
                  <a:lnTo>
                    <a:pt x="343" y="544"/>
                  </a:lnTo>
                  <a:lnTo>
                    <a:pt x="357"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3" y="356"/>
                  </a:lnTo>
                  <a:lnTo>
                    <a:pt x="545" y="343"/>
                  </a:lnTo>
                  <a:lnTo>
                    <a:pt x="549" y="331"/>
                  </a:lnTo>
                  <a:lnTo>
                    <a:pt x="550" y="316"/>
                  </a:lnTo>
                  <a:lnTo>
                    <a:pt x="552" y="303"/>
                  </a:lnTo>
                  <a:lnTo>
                    <a:pt x="555" y="277"/>
                  </a:lnTo>
                  <a:lnTo>
                    <a:pt x="552" y="248"/>
                  </a:lnTo>
                  <a:lnTo>
                    <a:pt x="549" y="220"/>
                  </a:lnTo>
                  <a:lnTo>
                    <a:pt x="543" y="194"/>
                  </a:lnTo>
                  <a:lnTo>
                    <a:pt x="534" y="170"/>
                  </a:lnTo>
                  <a:lnTo>
                    <a:pt x="521" y="145"/>
                  </a:lnTo>
                  <a:lnTo>
                    <a:pt x="508" y="122"/>
                  </a:lnTo>
                  <a:lnTo>
                    <a:pt x="491" y="100"/>
                  </a:lnTo>
                  <a:lnTo>
                    <a:pt x="473" y="80"/>
                  </a:lnTo>
                  <a:lnTo>
                    <a:pt x="451" y="60"/>
                  </a:lnTo>
                  <a:lnTo>
                    <a:pt x="430" y="44"/>
                  </a:lnTo>
                  <a:lnTo>
                    <a:pt x="406" y="30"/>
                  </a:lnTo>
                  <a:lnTo>
                    <a:pt x="383" y="19"/>
                  </a:lnTo>
                  <a:lnTo>
                    <a:pt x="357" y="10"/>
                  </a:lnTo>
                  <a:lnTo>
                    <a:pt x="331" y="4"/>
                  </a:lnTo>
                  <a:lnTo>
                    <a:pt x="304" y="1"/>
                  </a:lnTo>
                  <a:lnTo>
                    <a:pt x="277" y="0"/>
                  </a:lnTo>
                  <a:lnTo>
                    <a:pt x="249" y="1"/>
                  </a:lnTo>
                  <a:lnTo>
                    <a:pt x="221" y="4"/>
                  </a:lnTo>
                  <a:lnTo>
                    <a:pt x="195" y="10"/>
                  </a:lnTo>
                  <a:lnTo>
                    <a:pt x="171" y="19"/>
                  </a:lnTo>
                  <a:lnTo>
                    <a:pt x="145" y="30"/>
                  </a:lnTo>
                  <a:lnTo>
                    <a:pt x="123" y="44"/>
                  </a:lnTo>
                  <a:lnTo>
                    <a:pt x="101" y="60"/>
                  </a:lnTo>
                  <a:lnTo>
                    <a:pt x="81"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81" name="Rectangle 1961"/>
            <p:cNvSpPr>
              <a:spLocks noChangeArrowheads="1"/>
            </p:cNvSpPr>
            <p:nvPr/>
          </p:nvSpPr>
          <p:spPr bwMode="auto">
            <a:xfrm>
              <a:off x="3226" y="2527"/>
              <a:ext cx="49"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5</a:t>
              </a:r>
              <a:endParaRPr lang="en-US" sz="1200">
                <a:solidFill>
                  <a:schemeClr val="tx1"/>
                </a:solidFill>
                <a:latin typeface="Calibri" pitchFamily="34" charset="0"/>
                <a:cs typeface="Calibri" pitchFamily="34" charset="0"/>
              </a:endParaRPr>
            </a:p>
          </p:txBody>
        </p:sp>
      </p:grpSp>
      <p:grpSp>
        <p:nvGrpSpPr>
          <p:cNvPr id="82" name="Group 1986"/>
          <p:cNvGrpSpPr>
            <a:grpSpLocks/>
          </p:cNvGrpSpPr>
          <p:nvPr/>
        </p:nvGrpSpPr>
        <p:grpSpPr bwMode="auto">
          <a:xfrm>
            <a:off x="5106986" y="4301216"/>
            <a:ext cx="4113214" cy="569913"/>
            <a:chOff x="3169" y="2808"/>
            <a:chExt cx="2591" cy="359"/>
          </a:xfrm>
        </p:grpSpPr>
        <p:sp>
          <p:nvSpPr>
            <p:cNvPr id="83" name="Rectangle 1948"/>
            <p:cNvSpPr>
              <a:spLocks noChangeArrowheads="1"/>
            </p:cNvSpPr>
            <p:nvPr/>
          </p:nvSpPr>
          <p:spPr bwMode="auto">
            <a:xfrm>
              <a:off x="3417" y="2818"/>
              <a:ext cx="2343" cy="349"/>
            </a:xfrm>
            <a:prstGeom prst="rect">
              <a:avLst/>
            </a:prstGeom>
            <a:noFill/>
            <a:ln w="9525">
              <a:noFill/>
              <a:miter lim="800000"/>
              <a:headEnd/>
              <a:tailEnd/>
            </a:ln>
          </p:spPr>
          <p:txBody>
            <a:bodyPr wrap="squar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Storage node sends metadata and media  information to backup server.</a:t>
              </a:r>
            </a:p>
            <a:p>
              <a:pPr algn="l">
                <a:spcBef>
                  <a:spcPct val="0"/>
                </a:spcBef>
                <a:buClrTx/>
                <a:buFontTx/>
                <a:buNone/>
              </a:pPr>
              <a:endParaRPr lang="en-US" sz="1200" b="1" dirty="0">
                <a:solidFill>
                  <a:schemeClr val="tx1"/>
                </a:solidFill>
                <a:latin typeface="Calibri" pitchFamily="34" charset="0"/>
                <a:cs typeface="Calibri" pitchFamily="34" charset="0"/>
              </a:endParaRPr>
            </a:p>
          </p:txBody>
        </p:sp>
        <p:sp>
          <p:nvSpPr>
            <p:cNvPr id="84" name="Rectangle 1949"/>
            <p:cNvSpPr>
              <a:spLocks noChangeArrowheads="1"/>
            </p:cNvSpPr>
            <p:nvPr/>
          </p:nvSpPr>
          <p:spPr bwMode="auto">
            <a:xfrm>
              <a:off x="3417" y="2943"/>
              <a:ext cx="0" cy="116"/>
            </a:xfrm>
            <a:prstGeom prst="rect">
              <a:avLst/>
            </a:prstGeom>
            <a:noFill/>
            <a:ln w="9525">
              <a:noFill/>
              <a:miter lim="800000"/>
              <a:headEnd/>
              <a:tailEnd/>
            </a:ln>
          </p:spPr>
          <p:txBody>
            <a:bodyPr wrap="none" lIns="0" tIns="0" rIns="0" bIns="0">
              <a:spAutoFit/>
            </a:bodyPr>
            <a:lstStyle/>
            <a:p>
              <a:pPr algn="l">
                <a:spcBef>
                  <a:spcPct val="0"/>
                </a:spcBef>
                <a:buClrTx/>
                <a:buFontTx/>
                <a:buNone/>
              </a:pPr>
              <a:endParaRPr lang="en-US" sz="1200">
                <a:solidFill>
                  <a:schemeClr val="tx1"/>
                </a:solidFill>
                <a:latin typeface="Calibri" pitchFamily="34" charset="0"/>
                <a:cs typeface="Calibri" pitchFamily="34" charset="0"/>
              </a:endParaRPr>
            </a:p>
          </p:txBody>
        </p:sp>
        <p:sp>
          <p:nvSpPr>
            <p:cNvPr id="85" name="Freeform 1962"/>
            <p:cNvSpPr>
              <a:spLocks/>
            </p:cNvSpPr>
            <p:nvPr/>
          </p:nvSpPr>
          <p:spPr bwMode="auto">
            <a:xfrm>
              <a:off x="3169" y="2808"/>
              <a:ext cx="185" cy="185"/>
            </a:xfrm>
            <a:custGeom>
              <a:avLst/>
              <a:gdLst/>
              <a:ahLst/>
              <a:cxnLst>
                <a:cxn ang="0">
                  <a:pos x="101" y="490"/>
                </a:cxn>
                <a:cxn ang="0">
                  <a:pos x="145" y="520"/>
                </a:cxn>
                <a:cxn ang="0">
                  <a:pos x="194" y="542"/>
                </a:cxn>
                <a:cxn ang="0">
                  <a:pos x="248" y="552"/>
                </a:cxn>
                <a:cxn ang="0">
                  <a:pos x="304" y="552"/>
                </a:cxn>
                <a:cxn ang="0">
                  <a:pos x="331" y="548"/>
                </a:cxn>
                <a:cxn ang="0">
                  <a:pos x="356" y="542"/>
                </a:cxn>
                <a:cxn ang="0">
                  <a:pos x="394" y="526"/>
                </a:cxn>
                <a:cxn ang="0">
                  <a:pos x="430" y="507"/>
                </a:cxn>
                <a:cxn ang="0">
                  <a:pos x="473" y="472"/>
                </a:cxn>
                <a:cxn ang="0">
                  <a:pos x="508" y="429"/>
                </a:cxn>
                <a:cxn ang="0">
                  <a:pos x="527" y="393"/>
                </a:cxn>
                <a:cxn ang="0">
                  <a:pos x="542" y="356"/>
                </a:cxn>
                <a:cxn ang="0">
                  <a:pos x="548" y="331"/>
                </a:cxn>
                <a:cxn ang="0">
                  <a:pos x="552" y="303"/>
                </a:cxn>
                <a:cxn ang="0">
                  <a:pos x="552" y="248"/>
                </a:cxn>
                <a:cxn ang="0">
                  <a:pos x="542" y="194"/>
                </a:cxn>
                <a:cxn ang="0">
                  <a:pos x="521" y="145"/>
                </a:cxn>
                <a:cxn ang="0">
                  <a:pos x="491" y="100"/>
                </a:cxn>
                <a:cxn ang="0">
                  <a:pos x="451" y="60"/>
                </a:cxn>
                <a:cxn ang="0">
                  <a:pos x="406" y="30"/>
                </a:cxn>
                <a:cxn ang="0">
                  <a:pos x="356" y="10"/>
                </a:cxn>
                <a:cxn ang="0">
                  <a:pos x="304" y="1"/>
                </a:cxn>
                <a:cxn ang="0">
                  <a:pos x="248" y="1"/>
                </a:cxn>
                <a:cxn ang="0">
                  <a:pos x="194" y="10"/>
                </a:cxn>
                <a:cxn ang="0">
                  <a:pos x="145" y="30"/>
                </a:cxn>
                <a:cxn ang="0">
                  <a:pos x="101" y="60"/>
                </a:cxn>
                <a:cxn ang="0">
                  <a:pos x="60" y="100"/>
                </a:cxn>
                <a:cxn ang="0">
                  <a:pos x="30" y="145"/>
                </a:cxn>
                <a:cxn ang="0">
                  <a:pos x="11" y="194"/>
                </a:cxn>
                <a:cxn ang="0">
                  <a:pos x="1" y="248"/>
                </a:cxn>
                <a:cxn ang="0">
                  <a:pos x="1" y="303"/>
                </a:cxn>
                <a:cxn ang="0">
                  <a:pos x="11" y="356"/>
                </a:cxn>
                <a:cxn ang="0">
                  <a:pos x="30" y="405"/>
                </a:cxn>
                <a:cxn ang="0">
                  <a:pos x="60" y="451"/>
                </a:cxn>
              </a:cxnLst>
              <a:rect l="0" t="0" r="r" b="b"/>
              <a:pathLst>
                <a:path w="554" h="554">
                  <a:moveTo>
                    <a:pt x="80" y="472"/>
                  </a:moveTo>
                  <a:lnTo>
                    <a:pt x="101" y="490"/>
                  </a:lnTo>
                  <a:lnTo>
                    <a:pt x="122" y="507"/>
                  </a:lnTo>
                  <a:lnTo>
                    <a:pt x="145" y="520"/>
                  </a:lnTo>
                  <a:lnTo>
                    <a:pt x="170" y="534"/>
                  </a:lnTo>
                  <a:lnTo>
                    <a:pt x="194" y="542"/>
                  </a:lnTo>
                  <a:lnTo>
                    <a:pt x="221" y="548"/>
                  </a:lnTo>
                  <a:lnTo>
                    <a:pt x="248" y="552"/>
                  </a:lnTo>
                  <a:lnTo>
                    <a:pt x="277" y="554"/>
                  </a:lnTo>
                  <a:lnTo>
                    <a:pt x="304" y="552"/>
                  </a:lnTo>
                  <a:lnTo>
                    <a:pt x="317" y="549"/>
                  </a:lnTo>
                  <a:lnTo>
                    <a:pt x="331" y="548"/>
                  </a:lnTo>
                  <a:lnTo>
                    <a:pt x="343" y="544"/>
                  </a:lnTo>
                  <a:lnTo>
                    <a:pt x="356"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2" y="356"/>
                  </a:lnTo>
                  <a:lnTo>
                    <a:pt x="545" y="343"/>
                  </a:lnTo>
                  <a:lnTo>
                    <a:pt x="548" y="331"/>
                  </a:lnTo>
                  <a:lnTo>
                    <a:pt x="550" y="316"/>
                  </a:lnTo>
                  <a:lnTo>
                    <a:pt x="552" y="303"/>
                  </a:lnTo>
                  <a:lnTo>
                    <a:pt x="554" y="277"/>
                  </a:lnTo>
                  <a:lnTo>
                    <a:pt x="552" y="248"/>
                  </a:lnTo>
                  <a:lnTo>
                    <a:pt x="548" y="220"/>
                  </a:lnTo>
                  <a:lnTo>
                    <a:pt x="542" y="194"/>
                  </a:lnTo>
                  <a:lnTo>
                    <a:pt x="534" y="170"/>
                  </a:lnTo>
                  <a:lnTo>
                    <a:pt x="521" y="145"/>
                  </a:lnTo>
                  <a:lnTo>
                    <a:pt x="508" y="122"/>
                  </a:lnTo>
                  <a:lnTo>
                    <a:pt x="491" y="100"/>
                  </a:lnTo>
                  <a:lnTo>
                    <a:pt x="473" y="80"/>
                  </a:lnTo>
                  <a:lnTo>
                    <a:pt x="451" y="60"/>
                  </a:lnTo>
                  <a:lnTo>
                    <a:pt x="430" y="44"/>
                  </a:lnTo>
                  <a:lnTo>
                    <a:pt x="406" y="30"/>
                  </a:lnTo>
                  <a:lnTo>
                    <a:pt x="383" y="19"/>
                  </a:lnTo>
                  <a:lnTo>
                    <a:pt x="356" y="10"/>
                  </a:lnTo>
                  <a:lnTo>
                    <a:pt x="331" y="4"/>
                  </a:lnTo>
                  <a:lnTo>
                    <a:pt x="304" y="1"/>
                  </a:lnTo>
                  <a:lnTo>
                    <a:pt x="277" y="0"/>
                  </a:lnTo>
                  <a:lnTo>
                    <a:pt x="248" y="1"/>
                  </a:lnTo>
                  <a:lnTo>
                    <a:pt x="221" y="4"/>
                  </a:lnTo>
                  <a:lnTo>
                    <a:pt x="194" y="10"/>
                  </a:lnTo>
                  <a:lnTo>
                    <a:pt x="170" y="19"/>
                  </a:lnTo>
                  <a:lnTo>
                    <a:pt x="145" y="30"/>
                  </a:lnTo>
                  <a:lnTo>
                    <a:pt x="122" y="44"/>
                  </a:lnTo>
                  <a:lnTo>
                    <a:pt x="101" y="60"/>
                  </a:lnTo>
                  <a:lnTo>
                    <a:pt x="80" y="80"/>
                  </a:lnTo>
                  <a:lnTo>
                    <a:pt x="60" y="100"/>
                  </a:lnTo>
                  <a:lnTo>
                    <a:pt x="44"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4" y="429"/>
                  </a:lnTo>
                  <a:lnTo>
                    <a:pt x="60" y="451"/>
                  </a:lnTo>
                  <a:lnTo>
                    <a:pt x="80" y="472"/>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86" name="Rectangle 1963"/>
            <p:cNvSpPr>
              <a:spLocks noChangeArrowheads="1"/>
            </p:cNvSpPr>
            <p:nvPr/>
          </p:nvSpPr>
          <p:spPr bwMode="auto">
            <a:xfrm>
              <a:off x="3234" y="2847"/>
              <a:ext cx="49"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6</a:t>
              </a:r>
              <a:endParaRPr lang="en-US" sz="1200">
                <a:solidFill>
                  <a:schemeClr val="tx1"/>
                </a:solidFill>
                <a:latin typeface="Calibri" pitchFamily="34" charset="0"/>
                <a:cs typeface="Calibri" pitchFamily="34" charset="0"/>
              </a:endParaRPr>
            </a:p>
          </p:txBody>
        </p:sp>
      </p:grpSp>
      <p:grpSp>
        <p:nvGrpSpPr>
          <p:cNvPr id="87" name="Group 1987"/>
          <p:cNvGrpSpPr>
            <a:grpSpLocks/>
          </p:cNvGrpSpPr>
          <p:nvPr/>
        </p:nvGrpSpPr>
        <p:grpSpPr bwMode="auto">
          <a:xfrm>
            <a:off x="5106976" y="4821925"/>
            <a:ext cx="3119434" cy="398464"/>
            <a:chOff x="3169" y="3136"/>
            <a:chExt cx="1965" cy="251"/>
          </a:xfrm>
        </p:grpSpPr>
        <p:sp>
          <p:nvSpPr>
            <p:cNvPr id="88" name="Rectangle 1950"/>
            <p:cNvSpPr>
              <a:spLocks noChangeArrowheads="1"/>
            </p:cNvSpPr>
            <p:nvPr/>
          </p:nvSpPr>
          <p:spPr bwMode="auto">
            <a:xfrm>
              <a:off x="3417" y="3159"/>
              <a:ext cx="1717"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dirty="0">
                  <a:solidFill>
                    <a:schemeClr val="tx1"/>
                  </a:solidFill>
                  <a:latin typeface="Calibri" pitchFamily="34" charset="0"/>
                  <a:cs typeface="Calibri" pitchFamily="34" charset="0"/>
                </a:rPr>
                <a:t>Backup server updates the backup catalog.</a:t>
              </a:r>
              <a:endParaRPr lang="en-US" sz="1200" dirty="0">
                <a:solidFill>
                  <a:schemeClr val="tx1"/>
                </a:solidFill>
                <a:latin typeface="Calibri" pitchFamily="34" charset="0"/>
                <a:cs typeface="Calibri" pitchFamily="34" charset="0"/>
              </a:endParaRPr>
            </a:p>
          </p:txBody>
        </p:sp>
        <p:sp>
          <p:nvSpPr>
            <p:cNvPr id="89" name="Rectangle 1951"/>
            <p:cNvSpPr>
              <a:spLocks noChangeArrowheads="1"/>
            </p:cNvSpPr>
            <p:nvPr/>
          </p:nvSpPr>
          <p:spPr bwMode="auto">
            <a:xfrm>
              <a:off x="3417" y="3271"/>
              <a:ext cx="0" cy="116"/>
            </a:xfrm>
            <a:prstGeom prst="rect">
              <a:avLst/>
            </a:prstGeom>
            <a:noFill/>
            <a:ln w="9525">
              <a:noFill/>
              <a:miter lim="800000"/>
              <a:headEnd/>
              <a:tailEnd/>
            </a:ln>
          </p:spPr>
          <p:txBody>
            <a:bodyPr wrap="none" lIns="0" tIns="0" rIns="0" bIns="0">
              <a:spAutoFit/>
            </a:bodyPr>
            <a:lstStyle/>
            <a:p>
              <a:pPr algn="l">
                <a:spcBef>
                  <a:spcPct val="0"/>
                </a:spcBef>
                <a:buClrTx/>
                <a:buFontTx/>
                <a:buNone/>
              </a:pPr>
              <a:endParaRPr lang="en-US" sz="1200" dirty="0">
                <a:solidFill>
                  <a:schemeClr val="tx1"/>
                </a:solidFill>
                <a:latin typeface="Calibri" pitchFamily="34" charset="0"/>
                <a:cs typeface="Calibri" pitchFamily="34" charset="0"/>
              </a:endParaRPr>
            </a:p>
          </p:txBody>
        </p:sp>
        <p:sp>
          <p:nvSpPr>
            <p:cNvPr id="90" name="Freeform 1964"/>
            <p:cNvSpPr>
              <a:spLocks/>
            </p:cNvSpPr>
            <p:nvPr/>
          </p:nvSpPr>
          <p:spPr bwMode="auto">
            <a:xfrm>
              <a:off x="3169" y="3136"/>
              <a:ext cx="185" cy="185"/>
            </a:xfrm>
            <a:custGeom>
              <a:avLst/>
              <a:gdLst/>
              <a:ahLst/>
              <a:cxnLst>
                <a:cxn ang="0">
                  <a:pos x="60" y="101"/>
                </a:cxn>
                <a:cxn ang="0">
                  <a:pos x="30" y="146"/>
                </a:cxn>
                <a:cxn ang="0">
                  <a:pos x="11" y="195"/>
                </a:cxn>
                <a:cxn ang="0">
                  <a:pos x="1" y="249"/>
                </a:cxn>
                <a:cxn ang="0">
                  <a:pos x="1" y="304"/>
                </a:cxn>
                <a:cxn ang="0">
                  <a:pos x="11" y="357"/>
                </a:cxn>
                <a:cxn ang="0">
                  <a:pos x="30" y="406"/>
                </a:cxn>
                <a:cxn ang="0">
                  <a:pos x="60" y="452"/>
                </a:cxn>
                <a:cxn ang="0">
                  <a:pos x="101" y="491"/>
                </a:cxn>
                <a:cxn ang="0">
                  <a:pos x="145" y="521"/>
                </a:cxn>
                <a:cxn ang="0">
                  <a:pos x="194" y="543"/>
                </a:cxn>
                <a:cxn ang="0">
                  <a:pos x="248" y="552"/>
                </a:cxn>
                <a:cxn ang="0">
                  <a:pos x="304" y="552"/>
                </a:cxn>
                <a:cxn ang="0">
                  <a:pos x="331" y="549"/>
                </a:cxn>
                <a:cxn ang="0">
                  <a:pos x="356" y="543"/>
                </a:cxn>
                <a:cxn ang="0">
                  <a:pos x="394" y="527"/>
                </a:cxn>
                <a:cxn ang="0">
                  <a:pos x="430" y="508"/>
                </a:cxn>
                <a:cxn ang="0">
                  <a:pos x="473" y="473"/>
                </a:cxn>
                <a:cxn ang="0">
                  <a:pos x="508" y="430"/>
                </a:cxn>
                <a:cxn ang="0">
                  <a:pos x="527" y="394"/>
                </a:cxn>
                <a:cxn ang="0">
                  <a:pos x="542" y="357"/>
                </a:cxn>
                <a:cxn ang="0">
                  <a:pos x="548" y="332"/>
                </a:cxn>
                <a:cxn ang="0">
                  <a:pos x="552" y="304"/>
                </a:cxn>
                <a:cxn ang="0">
                  <a:pos x="552" y="249"/>
                </a:cxn>
                <a:cxn ang="0">
                  <a:pos x="542" y="195"/>
                </a:cxn>
                <a:cxn ang="0">
                  <a:pos x="521" y="146"/>
                </a:cxn>
                <a:cxn ang="0">
                  <a:pos x="491" y="101"/>
                </a:cxn>
                <a:cxn ang="0">
                  <a:pos x="451" y="60"/>
                </a:cxn>
                <a:cxn ang="0">
                  <a:pos x="406" y="30"/>
                </a:cxn>
                <a:cxn ang="0">
                  <a:pos x="356" y="11"/>
                </a:cxn>
                <a:cxn ang="0">
                  <a:pos x="304" y="2"/>
                </a:cxn>
                <a:cxn ang="0">
                  <a:pos x="248" y="2"/>
                </a:cxn>
                <a:cxn ang="0">
                  <a:pos x="194" y="11"/>
                </a:cxn>
                <a:cxn ang="0">
                  <a:pos x="145" y="30"/>
                </a:cxn>
                <a:cxn ang="0">
                  <a:pos x="101" y="60"/>
                </a:cxn>
              </a:cxnLst>
              <a:rect l="0" t="0" r="r" b="b"/>
              <a:pathLst>
                <a:path w="554" h="555">
                  <a:moveTo>
                    <a:pt x="80" y="81"/>
                  </a:moveTo>
                  <a:lnTo>
                    <a:pt x="60" y="101"/>
                  </a:lnTo>
                  <a:lnTo>
                    <a:pt x="44" y="123"/>
                  </a:lnTo>
                  <a:lnTo>
                    <a:pt x="30" y="146"/>
                  </a:lnTo>
                  <a:lnTo>
                    <a:pt x="19" y="171"/>
                  </a:lnTo>
                  <a:lnTo>
                    <a:pt x="11" y="195"/>
                  </a:lnTo>
                  <a:lnTo>
                    <a:pt x="5" y="221"/>
                  </a:lnTo>
                  <a:lnTo>
                    <a:pt x="1" y="249"/>
                  </a:lnTo>
                  <a:lnTo>
                    <a:pt x="0" y="278"/>
                  </a:lnTo>
                  <a:lnTo>
                    <a:pt x="1" y="304"/>
                  </a:lnTo>
                  <a:lnTo>
                    <a:pt x="5" y="332"/>
                  </a:lnTo>
                  <a:lnTo>
                    <a:pt x="11" y="357"/>
                  </a:lnTo>
                  <a:lnTo>
                    <a:pt x="19" y="383"/>
                  </a:lnTo>
                  <a:lnTo>
                    <a:pt x="30" y="406"/>
                  </a:lnTo>
                  <a:lnTo>
                    <a:pt x="44" y="430"/>
                  </a:lnTo>
                  <a:lnTo>
                    <a:pt x="60" y="452"/>
                  </a:lnTo>
                  <a:lnTo>
                    <a:pt x="80" y="473"/>
                  </a:lnTo>
                  <a:lnTo>
                    <a:pt x="101" y="491"/>
                  </a:lnTo>
                  <a:lnTo>
                    <a:pt x="122" y="508"/>
                  </a:lnTo>
                  <a:lnTo>
                    <a:pt x="145" y="521"/>
                  </a:lnTo>
                  <a:lnTo>
                    <a:pt x="170" y="534"/>
                  </a:lnTo>
                  <a:lnTo>
                    <a:pt x="194" y="543"/>
                  </a:lnTo>
                  <a:lnTo>
                    <a:pt x="221" y="549"/>
                  </a:lnTo>
                  <a:lnTo>
                    <a:pt x="248" y="552"/>
                  </a:lnTo>
                  <a:lnTo>
                    <a:pt x="277" y="555"/>
                  </a:lnTo>
                  <a:lnTo>
                    <a:pt x="304" y="552"/>
                  </a:lnTo>
                  <a:lnTo>
                    <a:pt x="317" y="550"/>
                  </a:lnTo>
                  <a:lnTo>
                    <a:pt x="331" y="549"/>
                  </a:lnTo>
                  <a:lnTo>
                    <a:pt x="343" y="545"/>
                  </a:lnTo>
                  <a:lnTo>
                    <a:pt x="356" y="543"/>
                  </a:lnTo>
                  <a:lnTo>
                    <a:pt x="383" y="534"/>
                  </a:lnTo>
                  <a:lnTo>
                    <a:pt x="394" y="527"/>
                  </a:lnTo>
                  <a:lnTo>
                    <a:pt x="406" y="521"/>
                  </a:lnTo>
                  <a:lnTo>
                    <a:pt x="430" y="508"/>
                  </a:lnTo>
                  <a:lnTo>
                    <a:pt x="451" y="491"/>
                  </a:lnTo>
                  <a:lnTo>
                    <a:pt x="473" y="473"/>
                  </a:lnTo>
                  <a:lnTo>
                    <a:pt x="491" y="452"/>
                  </a:lnTo>
                  <a:lnTo>
                    <a:pt x="508" y="430"/>
                  </a:lnTo>
                  <a:lnTo>
                    <a:pt x="521" y="406"/>
                  </a:lnTo>
                  <a:lnTo>
                    <a:pt x="527" y="394"/>
                  </a:lnTo>
                  <a:lnTo>
                    <a:pt x="534" y="383"/>
                  </a:lnTo>
                  <a:lnTo>
                    <a:pt x="542" y="357"/>
                  </a:lnTo>
                  <a:lnTo>
                    <a:pt x="545" y="344"/>
                  </a:lnTo>
                  <a:lnTo>
                    <a:pt x="548" y="332"/>
                  </a:lnTo>
                  <a:lnTo>
                    <a:pt x="550" y="317"/>
                  </a:lnTo>
                  <a:lnTo>
                    <a:pt x="552" y="304"/>
                  </a:lnTo>
                  <a:lnTo>
                    <a:pt x="554" y="278"/>
                  </a:lnTo>
                  <a:lnTo>
                    <a:pt x="552" y="249"/>
                  </a:lnTo>
                  <a:lnTo>
                    <a:pt x="548" y="221"/>
                  </a:lnTo>
                  <a:lnTo>
                    <a:pt x="542" y="195"/>
                  </a:lnTo>
                  <a:lnTo>
                    <a:pt x="534" y="171"/>
                  </a:lnTo>
                  <a:lnTo>
                    <a:pt x="521" y="146"/>
                  </a:lnTo>
                  <a:lnTo>
                    <a:pt x="508" y="123"/>
                  </a:lnTo>
                  <a:lnTo>
                    <a:pt x="491" y="101"/>
                  </a:lnTo>
                  <a:lnTo>
                    <a:pt x="473" y="81"/>
                  </a:lnTo>
                  <a:lnTo>
                    <a:pt x="451" y="60"/>
                  </a:lnTo>
                  <a:lnTo>
                    <a:pt x="430" y="45"/>
                  </a:lnTo>
                  <a:lnTo>
                    <a:pt x="406" y="30"/>
                  </a:lnTo>
                  <a:lnTo>
                    <a:pt x="383" y="20"/>
                  </a:lnTo>
                  <a:lnTo>
                    <a:pt x="356" y="11"/>
                  </a:lnTo>
                  <a:lnTo>
                    <a:pt x="331" y="5"/>
                  </a:lnTo>
                  <a:lnTo>
                    <a:pt x="304" y="2"/>
                  </a:lnTo>
                  <a:lnTo>
                    <a:pt x="277" y="0"/>
                  </a:lnTo>
                  <a:lnTo>
                    <a:pt x="248" y="2"/>
                  </a:lnTo>
                  <a:lnTo>
                    <a:pt x="221" y="5"/>
                  </a:lnTo>
                  <a:lnTo>
                    <a:pt x="194" y="11"/>
                  </a:lnTo>
                  <a:lnTo>
                    <a:pt x="170" y="20"/>
                  </a:lnTo>
                  <a:lnTo>
                    <a:pt x="145" y="30"/>
                  </a:lnTo>
                  <a:lnTo>
                    <a:pt x="122" y="45"/>
                  </a:lnTo>
                  <a:lnTo>
                    <a:pt x="101" y="60"/>
                  </a:lnTo>
                  <a:lnTo>
                    <a:pt x="80" y="81"/>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91" name="Rectangle 1965"/>
            <p:cNvSpPr>
              <a:spLocks noChangeArrowheads="1"/>
            </p:cNvSpPr>
            <p:nvPr/>
          </p:nvSpPr>
          <p:spPr bwMode="auto">
            <a:xfrm>
              <a:off x="3234" y="3175"/>
              <a:ext cx="49" cy="116"/>
            </a:xfrm>
            <a:prstGeom prst="rect">
              <a:avLst/>
            </a:prstGeom>
            <a:noFill/>
            <a:ln w="9525">
              <a:noFill/>
              <a:miter lim="800000"/>
              <a:headEnd/>
              <a:tailEnd/>
            </a:ln>
          </p:spPr>
          <p:txBody>
            <a:bodyPr wrap="none" lIns="0" tIns="0" rIns="0" bIns="0">
              <a:spAutoFit/>
            </a:bodyPr>
            <a:lstStyle/>
            <a:p>
              <a:pPr algn="l">
                <a:spcBef>
                  <a:spcPct val="0"/>
                </a:spcBef>
                <a:buClrTx/>
                <a:buFontTx/>
                <a:buNone/>
              </a:pPr>
              <a:r>
                <a:rPr lang="en-US" sz="1200" b="1">
                  <a:solidFill>
                    <a:schemeClr val="tx1"/>
                  </a:solidFill>
                  <a:latin typeface="Calibri" pitchFamily="34" charset="0"/>
                  <a:cs typeface="Calibri" pitchFamily="34" charset="0"/>
                </a:rPr>
                <a:t>7</a:t>
              </a:r>
              <a:endParaRPr lang="en-US" sz="1200">
                <a:solidFill>
                  <a:schemeClr val="tx1"/>
                </a:solidFill>
                <a:latin typeface="Calibri" pitchFamily="34" charset="0"/>
                <a:cs typeface="Calibri" pitchFamily="34" charset="0"/>
              </a:endParaRPr>
            </a:p>
          </p:txBody>
        </p:sp>
      </p:grpSp>
      <p:sp>
        <p:nvSpPr>
          <p:cNvPr id="93" name="Line 1923"/>
          <p:cNvSpPr>
            <a:spLocks noChangeShapeType="1"/>
          </p:cNvSpPr>
          <p:nvPr/>
        </p:nvSpPr>
        <p:spPr bwMode="auto">
          <a:xfrm>
            <a:off x="2892783" y="4657725"/>
            <a:ext cx="760412" cy="9525"/>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pic>
        <p:nvPicPr>
          <p:cNvPr id="94"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452795" y="1447800"/>
            <a:ext cx="543668" cy="1256676"/>
          </a:xfrm>
          <a:prstGeom prst="rect">
            <a:avLst/>
          </a:prstGeom>
          <a:noFill/>
        </p:spPr>
      </p:pic>
      <p:pic>
        <p:nvPicPr>
          <p:cNvPr id="95"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062395" y="1457325"/>
            <a:ext cx="543668" cy="1256676"/>
          </a:xfrm>
          <a:prstGeom prst="rect">
            <a:avLst/>
          </a:prstGeom>
          <a:noFill/>
        </p:spPr>
      </p:pic>
      <p:pic>
        <p:nvPicPr>
          <p:cNvPr id="96"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671995" y="1457949"/>
            <a:ext cx="543668" cy="1256676"/>
          </a:xfrm>
          <a:prstGeom prst="rect">
            <a:avLst/>
          </a:prstGeom>
          <a:noFill/>
        </p:spPr>
      </p:pic>
      <p:pic>
        <p:nvPicPr>
          <p:cNvPr id="97"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2271327" y="4210674"/>
            <a:ext cx="543668" cy="1256676"/>
          </a:xfrm>
          <a:prstGeom prst="rect">
            <a:avLst/>
          </a:prstGeom>
          <a:noFill/>
        </p:spPr>
      </p:pic>
      <p:pic>
        <p:nvPicPr>
          <p:cNvPr id="102" name="Picture 6"/>
          <p:cNvPicPr>
            <a:picLocks noChangeAspect="1" noChangeArrowheads="1"/>
          </p:cNvPicPr>
          <p:nvPr/>
        </p:nvPicPr>
        <p:blipFill>
          <a:blip r:embed="rId4" cstate="print"/>
          <a:srcRect/>
          <a:stretch>
            <a:fillRect/>
          </a:stretch>
        </p:blipFill>
        <p:spPr bwMode="auto">
          <a:xfrm>
            <a:off x="3702725" y="4038600"/>
            <a:ext cx="788670" cy="1433945"/>
          </a:xfrm>
          <a:prstGeom prst="rect">
            <a:avLst/>
          </a:prstGeom>
          <a:noFill/>
          <a:ln w="9525">
            <a:noFill/>
            <a:miter lim="800000"/>
            <a:headEnd/>
            <a:tailEnd/>
          </a:ln>
          <a:effectLst/>
        </p:spPr>
      </p:pic>
      <p:grpSp>
        <p:nvGrpSpPr>
          <p:cNvPr id="103" name="Group 102"/>
          <p:cNvGrpSpPr/>
          <p:nvPr/>
        </p:nvGrpSpPr>
        <p:grpSpPr>
          <a:xfrm>
            <a:off x="767120" y="4220199"/>
            <a:ext cx="543668" cy="1256676"/>
            <a:chOff x="142132" y="3086724"/>
            <a:chExt cx="543668" cy="1256676"/>
          </a:xfrm>
        </p:grpSpPr>
        <p:pic>
          <p:nvPicPr>
            <p:cNvPr id="104"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105"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228600" y="3785061"/>
              <a:ext cx="152400" cy="152400"/>
            </a:xfrm>
            <a:prstGeom prst="rect">
              <a:avLst/>
            </a:prstGeom>
            <a:noFill/>
          </p:spPr>
        </p:pic>
        <p:pic>
          <p:nvPicPr>
            <p:cNvPr id="106"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405939" y="3785061"/>
              <a:ext cx="152400" cy="152400"/>
            </a:xfrm>
            <a:prstGeom prst="rect">
              <a:avLst/>
            </a:prstGeom>
            <a:noFill/>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solidFill>
                  <a:srgbClr val="C00000"/>
                </a:solidFill>
                <a:latin typeface="Book Antiqua" panose="02040602050305030304" pitchFamily="18" charset="0"/>
              </a:rPr>
              <a:t>Recovery Operation</a:t>
            </a:r>
          </a:p>
        </p:txBody>
      </p:sp>
      <p:sp>
        <p:nvSpPr>
          <p:cNvPr id="5" name="Slide Number Placeholder 4"/>
          <p:cNvSpPr>
            <a:spLocks noGrp="1"/>
          </p:cNvSpPr>
          <p:nvPr>
            <p:ph type="sldNum" sz="quarter" idx="14"/>
          </p:nvPr>
        </p:nvSpPr>
        <p:spPr/>
        <p:txBody>
          <a:bodyPr/>
          <a:lstStyle/>
          <a:p>
            <a:pPr>
              <a:defRPr/>
            </a:pPr>
            <a:fld id="{D5E37188-7CEB-4CA8-A656-F21412B4458C}" type="slidenum">
              <a:rPr lang="en-US" smtClean="0"/>
              <a:pPr>
                <a:defRPr/>
              </a:pPr>
              <a:t>26</a:t>
            </a:fld>
            <a:endParaRPr lang="en-US"/>
          </a:p>
        </p:txBody>
      </p:sp>
      <p:sp>
        <p:nvSpPr>
          <p:cNvPr id="4" name="Footer Placeholder 3"/>
          <p:cNvSpPr>
            <a:spLocks noGrp="1"/>
          </p:cNvSpPr>
          <p:nvPr>
            <p:ph type="ftr" sz="quarter" idx="15"/>
          </p:nvPr>
        </p:nvSpPr>
        <p:spPr/>
        <p:txBody>
          <a:bodyPr/>
          <a:lstStyle/>
          <a:p>
            <a:pPr>
              <a:defRPr/>
            </a:pPr>
            <a:r>
              <a:rPr lang="en-US"/>
              <a:t>Module 10: Backup and Archive</a:t>
            </a:r>
          </a:p>
        </p:txBody>
      </p:sp>
      <p:sp>
        <p:nvSpPr>
          <p:cNvPr id="6" name="Rectangle 3"/>
          <p:cNvSpPr>
            <a:spLocks noChangeArrowheads="1"/>
          </p:cNvSpPr>
          <p:nvPr/>
        </p:nvSpPr>
        <p:spPr bwMode="auto">
          <a:xfrm>
            <a:off x="688564" y="990600"/>
            <a:ext cx="1479444" cy="430887"/>
          </a:xfrm>
          <a:prstGeom prst="rect">
            <a:avLst/>
          </a:prstGeom>
          <a:noFill/>
          <a:ln w="25400" algn="ctr">
            <a:noFill/>
            <a:miter lim="800000"/>
            <a:headEnd/>
            <a:tailEnd/>
          </a:ln>
          <a:effectLst/>
        </p:spPr>
        <p:txBody>
          <a:bodyPr wrap="none" lIns="0" tIns="0" rIns="0" bIns="0" anchor="ctr" anchorCtr="1">
            <a:spAutoFit/>
          </a:bodyPr>
          <a:lstStyle/>
          <a:p>
            <a:pPr marL="354013" indent="-354013" algn="ctr" defTabSz="941388"/>
            <a:r>
              <a:rPr lang="en-US" sz="1400" b="1" dirty="0">
                <a:solidFill>
                  <a:srgbClr val="001636"/>
                </a:solidFill>
                <a:latin typeface="Calibri" pitchFamily="34" charset="0"/>
                <a:cs typeface="Calibri" pitchFamily="34" charset="0"/>
              </a:rPr>
              <a:t>Application Servers </a:t>
            </a:r>
          </a:p>
          <a:p>
            <a:pPr marL="354013" indent="-354013" algn="ctr" defTabSz="941388"/>
            <a:r>
              <a:rPr lang="en-US" sz="1400" b="1" dirty="0">
                <a:solidFill>
                  <a:srgbClr val="001636"/>
                </a:solidFill>
                <a:latin typeface="Calibri" pitchFamily="34" charset="0"/>
                <a:cs typeface="Calibri" pitchFamily="34" charset="0"/>
              </a:rPr>
              <a:t>(Backup Clients)</a:t>
            </a:r>
          </a:p>
        </p:txBody>
      </p:sp>
      <p:grpSp>
        <p:nvGrpSpPr>
          <p:cNvPr id="7" name="Group 4"/>
          <p:cNvGrpSpPr>
            <a:grpSpLocks/>
          </p:cNvGrpSpPr>
          <p:nvPr/>
        </p:nvGrpSpPr>
        <p:grpSpPr bwMode="auto">
          <a:xfrm>
            <a:off x="534958" y="4559300"/>
            <a:ext cx="293688" cy="293688"/>
            <a:chOff x="430" y="3116"/>
            <a:chExt cx="185" cy="185"/>
          </a:xfrm>
        </p:grpSpPr>
        <p:sp>
          <p:nvSpPr>
            <p:cNvPr id="8" name="Freeform 5"/>
            <p:cNvSpPr>
              <a:spLocks/>
            </p:cNvSpPr>
            <p:nvPr/>
          </p:nvSpPr>
          <p:spPr bwMode="auto">
            <a:xfrm>
              <a:off x="430" y="3116"/>
              <a:ext cx="185" cy="185"/>
            </a:xfrm>
            <a:custGeom>
              <a:avLst/>
              <a:gdLst/>
              <a:ahLst/>
              <a:cxnLst>
                <a:cxn ang="0">
                  <a:pos x="1" y="303"/>
                </a:cxn>
                <a:cxn ang="0">
                  <a:pos x="10" y="356"/>
                </a:cxn>
                <a:cxn ang="0">
                  <a:pos x="30" y="405"/>
                </a:cxn>
                <a:cxn ang="0">
                  <a:pos x="60" y="451"/>
                </a:cxn>
                <a:cxn ang="0">
                  <a:pos x="100" y="490"/>
                </a:cxn>
                <a:cxn ang="0">
                  <a:pos x="145" y="520"/>
                </a:cxn>
                <a:cxn ang="0">
                  <a:pos x="194" y="542"/>
                </a:cxn>
                <a:cxn ang="0">
                  <a:pos x="248" y="552"/>
                </a:cxn>
                <a:cxn ang="0">
                  <a:pos x="303" y="552"/>
                </a:cxn>
                <a:cxn ang="0">
                  <a:pos x="331" y="548"/>
                </a:cxn>
                <a:cxn ang="0">
                  <a:pos x="356" y="542"/>
                </a:cxn>
                <a:cxn ang="0">
                  <a:pos x="393" y="526"/>
                </a:cxn>
                <a:cxn ang="0">
                  <a:pos x="429" y="507"/>
                </a:cxn>
                <a:cxn ang="0">
                  <a:pos x="472" y="472"/>
                </a:cxn>
                <a:cxn ang="0">
                  <a:pos x="507" y="429"/>
                </a:cxn>
                <a:cxn ang="0">
                  <a:pos x="526" y="393"/>
                </a:cxn>
                <a:cxn ang="0">
                  <a:pos x="542" y="356"/>
                </a:cxn>
                <a:cxn ang="0">
                  <a:pos x="548" y="331"/>
                </a:cxn>
                <a:cxn ang="0">
                  <a:pos x="552" y="303"/>
                </a:cxn>
                <a:cxn ang="0">
                  <a:pos x="552" y="248"/>
                </a:cxn>
                <a:cxn ang="0">
                  <a:pos x="542" y="194"/>
                </a:cxn>
                <a:cxn ang="0">
                  <a:pos x="520" y="145"/>
                </a:cxn>
                <a:cxn ang="0">
                  <a:pos x="490" y="100"/>
                </a:cxn>
                <a:cxn ang="0">
                  <a:pos x="451" y="60"/>
                </a:cxn>
                <a:cxn ang="0">
                  <a:pos x="405" y="30"/>
                </a:cxn>
                <a:cxn ang="0">
                  <a:pos x="356" y="10"/>
                </a:cxn>
                <a:cxn ang="0">
                  <a:pos x="303" y="1"/>
                </a:cxn>
                <a:cxn ang="0">
                  <a:pos x="248" y="1"/>
                </a:cxn>
                <a:cxn ang="0">
                  <a:pos x="194" y="10"/>
                </a:cxn>
                <a:cxn ang="0">
                  <a:pos x="145" y="30"/>
                </a:cxn>
                <a:cxn ang="0">
                  <a:pos x="100" y="60"/>
                </a:cxn>
                <a:cxn ang="0">
                  <a:pos x="60" y="100"/>
                </a:cxn>
                <a:cxn ang="0">
                  <a:pos x="30" y="145"/>
                </a:cxn>
                <a:cxn ang="0">
                  <a:pos x="10" y="194"/>
                </a:cxn>
                <a:cxn ang="0">
                  <a:pos x="1" y="248"/>
                </a:cxn>
              </a:cxnLst>
              <a:rect l="0" t="0" r="r" b="b"/>
              <a:pathLst>
                <a:path w="554" h="554">
                  <a:moveTo>
                    <a:pt x="0" y="277"/>
                  </a:moveTo>
                  <a:lnTo>
                    <a:pt x="1" y="303"/>
                  </a:lnTo>
                  <a:lnTo>
                    <a:pt x="4" y="331"/>
                  </a:lnTo>
                  <a:lnTo>
                    <a:pt x="10" y="356"/>
                  </a:lnTo>
                  <a:lnTo>
                    <a:pt x="19" y="382"/>
                  </a:lnTo>
                  <a:lnTo>
                    <a:pt x="30" y="405"/>
                  </a:lnTo>
                  <a:lnTo>
                    <a:pt x="44" y="429"/>
                  </a:lnTo>
                  <a:lnTo>
                    <a:pt x="60" y="451"/>
                  </a:lnTo>
                  <a:lnTo>
                    <a:pt x="80" y="472"/>
                  </a:lnTo>
                  <a:lnTo>
                    <a:pt x="100" y="490"/>
                  </a:lnTo>
                  <a:lnTo>
                    <a:pt x="122" y="507"/>
                  </a:lnTo>
                  <a:lnTo>
                    <a:pt x="145" y="520"/>
                  </a:lnTo>
                  <a:lnTo>
                    <a:pt x="170" y="534"/>
                  </a:lnTo>
                  <a:lnTo>
                    <a:pt x="194" y="542"/>
                  </a:lnTo>
                  <a:lnTo>
                    <a:pt x="220" y="548"/>
                  </a:lnTo>
                  <a:lnTo>
                    <a:pt x="248" y="552"/>
                  </a:lnTo>
                  <a:lnTo>
                    <a:pt x="277" y="554"/>
                  </a:lnTo>
                  <a:lnTo>
                    <a:pt x="303" y="552"/>
                  </a:lnTo>
                  <a:lnTo>
                    <a:pt x="316" y="549"/>
                  </a:lnTo>
                  <a:lnTo>
                    <a:pt x="331" y="548"/>
                  </a:lnTo>
                  <a:lnTo>
                    <a:pt x="343" y="544"/>
                  </a:lnTo>
                  <a:lnTo>
                    <a:pt x="356" y="542"/>
                  </a:lnTo>
                  <a:lnTo>
                    <a:pt x="382" y="534"/>
                  </a:lnTo>
                  <a:lnTo>
                    <a:pt x="393" y="526"/>
                  </a:lnTo>
                  <a:lnTo>
                    <a:pt x="405" y="520"/>
                  </a:lnTo>
                  <a:lnTo>
                    <a:pt x="429" y="507"/>
                  </a:lnTo>
                  <a:lnTo>
                    <a:pt x="451" y="490"/>
                  </a:lnTo>
                  <a:lnTo>
                    <a:pt x="472" y="472"/>
                  </a:lnTo>
                  <a:lnTo>
                    <a:pt x="490" y="451"/>
                  </a:lnTo>
                  <a:lnTo>
                    <a:pt x="507" y="429"/>
                  </a:lnTo>
                  <a:lnTo>
                    <a:pt x="520" y="405"/>
                  </a:lnTo>
                  <a:lnTo>
                    <a:pt x="526" y="393"/>
                  </a:lnTo>
                  <a:lnTo>
                    <a:pt x="534" y="382"/>
                  </a:lnTo>
                  <a:lnTo>
                    <a:pt x="542" y="356"/>
                  </a:lnTo>
                  <a:lnTo>
                    <a:pt x="544" y="343"/>
                  </a:lnTo>
                  <a:lnTo>
                    <a:pt x="548" y="331"/>
                  </a:lnTo>
                  <a:lnTo>
                    <a:pt x="549" y="316"/>
                  </a:lnTo>
                  <a:lnTo>
                    <a:pt x="552" y="303"/>
                  </a:lnTo>
                  <a:lnTo>
                    <a:pt x="554" y="277"/>
                  </a:lnTo>
                  <a:lnTo>
                    <a:pt x="552" y="248"/>
                  </a:lnTo>
                  <a:lnTo>
                    <a:pt x="548" y="220"/>
                  </a:lnTo>
                  <a:lnTo>
                    <a:pt x="542" y="194"/>
                  </a:lnTo>
                  <a:lnTo>
                    <a:pt x="534" y="170"/>
                  </a:lnTo>
                  <a:lnTo>
                    <a:pt x="520" y="145"/>
                  </a:lnTo>
                  <a:lnTo>
                    <a:pt x="507" y="122"/>
                  </a:lnTo>
                  <a:lnTo>
                    <a:pt x="490" y="100"/>
                  </a:lnTo>
                  <a:lnTo>
                    <a:pt x="472" y="80"/>
                  </a:lnTo>
                  <a:lnTo>
                    <a:pt x="451" y="60"/>
                  </a:lnTo>
                  <a:lnTo>
                    <a:pt x="429" y="44"/>
                  </a:lnTo>
                  <a:lnTo>
                    <a:pt x="405" y="30"/>
                  </a:lnTo>
                  <a:lnTo>
                    <a:pt x="382" y="19"/>
                  </a:lnTo>
                  <a:lnTo>
                    <a:pt x="356" y="10"/>
                  </a:lnTo>
                  <a:lnTo>
                    <a:pt x="331" y="4"/>
                  </a:lnTo>
                  <a:lnTo>
                    <a:pt x="303" y="1"/>
                  </a:lnTo>
                  <a:lnTo>
                    <a:pt x="277" y="0"/>
                  </a:lnTo>
                  <a:lnTo>
                    <a:pt x="248" y="1"/>
                  </a:lnTo>
                  <a:lnTo>
                    <a:pt x="220" y="4"/>
                  </a:lnTo>
                  <a:lnTo>
                    <a:pt x="194" y="10"/>
                  </a:lnTo>
                  <a:lnTo>
                    <a:pt x="170" y="19"/>
                  </a:lnTo>
                  <a:lnTo>
                    <a:pt x="145" y="30"/>
                  </a:lnTo>
                  <a:lnTo>
                    <a:pt x="122" y="44"/>
                  </a:lnTo>
                  <a:lnTo>
                    <a:pt x="100" y="60"/>
                  </a:lnTo>
                  <a:lnTo>
                    <a:pt x="80" y="80"/>
                  </a:lnTo>
                  <a:lnTo>
                    <a:pt x="60" y="100"/>
                  </a:lnTo>
                  <a:lnTo>
                    <a:pt x="44" y="122"/>
                  </a:lnTo>
                  <a:lnTo>
                    <a:pt x="30" y="145"/>
                  </a:lnTo>
                  <a:lnTo>
                    <a:pt x="19" y="170"/>
                  </a:lnTo>
                  <a:lnTo>
                    <a:pt x="10" y="194"/>
                  </a:lnTo>
                  <a:lnTo>
                    <a:pt x="4" y="220"/>
                  </a:lnTo>
                  <a:lnTo>
                    <a:pt x="1" y="248"/>
                  </a:lnTo>
                  <a:lnTo>
                    <a:pt x="0" y="277"/>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9" name="Rectangle 6"/>
            <p:cNvSpPr>
              <a:spLocks noChangeArrowheads="1"/>
            </p:cNvSpPr>
            <p:nvPr/>
          </p:nvSpPr>
          <p:spPr bwMode="auto">
            <a:xfrm>
              <a:off x="499" y="3156"/>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2</a:t>
              </a:r>
              <a:endParaRPr lang="en-US" dirty="0">
                <a:latin typeface="Calibri" pitchFamily="34" charset="0"/>
                <a:cs typeface="Calibri" pitchFamily="34" charset="0"/>
              </a:endParaRPr>
            </a:p>
          </p:txBody>
        </p:sp>
      </p:grpSp>
      <p:grpSp>
        <p:nvGrpSpPr>
          <p:cNvPr id="10" name="Group 7"/>
          <p:cNvGrpSpPr>
            <a:grpSpLocks/>
          </p:cNvGrpSpPr>
          <p:nvPr/>
        </p:nvGrpSpPr>
        <p:grpSpPr bwMode="auto">
          <a:xfrm>
            <a:off x="534958" y="5195888"/>
            <a:ext cx="293688" cy="292100"/>
            <a:chOff x="430" y="3517"/>
            <a:chExt cx="185" cy="184"/>
          </a:xfrm>
        </p:grpSpPr>
        <p:sp>
          <p:nvSpPr>
            <p:cNvPr id="11" name="Freeform 8"/>
            <p:cNvSpPr>
              <a:spLocks/>
            </p:cNvSpPr>
            <p:nvPr/>
          </p:nvSpPr>
          <p:spPr bwMode="auto">
            <a:xfrm>
              <a:off x="430" y="3517"/>
              <a:ext cx="185" cy="184"/>
            </a:xfrm>
            <a:custGeom>
              <a:avLst/>
              <a:gdLst/>
              <a:ahLst/>
              <a:cxnLst>
                <a:cxn ang="0">
                  <a:pos x="248" y="1"/>
                </a:cxn>
                <a:cxn ang="0">
                  <a:pos x="194" y="11"/>
                </a:cxn>
                <a:cxn ang="0">
                  <a:pos x="145" y="30"/>
                </a:cxn>
                <a:cxn ang="0">
                  <a:pos x="100" y="60"/>
                </a:cxn>
                <a:cxn ang="0">
                  <a:pos x="60" y="101"/>
                </a:cxn>
                <a:cxn ang="0">
                  <a:pos x="30" y="145"/>
                </a:cxn>
                <a:cxn ang="0">
                  <a:pos x="10" y="194"/>
                </a:cxn>
                <a:cxn ang="0">
                  <a:pos x="1" y="248"/>
                </a:cxn>
                <a:cxn ang="0">
                  <a:pos x="1" y="303"/>
                </a:cxn>
                <a:cxn ang="0">
                  <a:pos x="10" y="356"/>
                </a:cxn>
                <a:cxn ang="0">
                  <a:pos x="30" y="405"/>
                </a:cxn>
                <a:cxn ang="0">
                  <a:pos x="60" y="451"/>
                </a:cxn>
                <a:cxn ang="0">
                  <a:pos x="100" y="491"/>
                </a:cxn>
                <a:cxn ang="0">
                  <a:pos x="145" y="521"/>
                </a:cxn>
                <a:cxn ang="0">
                  <a:pos x="194" y="542"/>
                </a:cxn>
                <a:cxn ang="0">
                  <a:pos x="248" y="552"/>
                </a:cxn>
                <a:cxn ang="0">
                  <a:pos x="303" y="552"/>
                </a:cxn>
                <a:cxn ang="0">
                  <a:pos x="331" y="548"/>
                </a:cxn>
                <a:cxn ang="0">
                  <a:pos x="356" y="542"/>
                </a:cxn>
                <a:cxn ang="0">
                  <a:pos x="393" y="527"/>
                </a:cxn>
                <a:cxn ang="0">
                  <a:pos x="429" y="507"/>
                </a:cxn>
                <a:cxn ang="0">
                  <a:pos x="472" y="473"/>
                </a:cxn>
                <a:cxn ang="0">
                  <a:pos x="507" y="429"/>
                </a:cxn>
                <a:cxn ang="0">
                  <a:pos x="526" y="393"/>
                </a:cxn>
                <a:cxn ang="0">
                  <a:pos x="542" y="356"/>
                </a:cxn>
                <a:cxn ang="0">
                  <a:pos x="548" y="331"/>
                </a:cxn>
                <a:cxn ang="0">
                  <a:pos x="552" y="303"/>
                </a:cxn>
                <a:cxn ang="0">
                  <a:pos x="552" y="248"/>
                </a:cxn>
                <a:cxn ang="0">
                  <a:pos x="542" y="194"/>
                </a:cxn>
                <a:cxn ang="0">
                  <a:pos x="520" y="145"/>
                </a:cxn>
                <a:cxn ang="0">
                  <a:pos x="490" y="101"/>
                </a:cxn>
                <a:cxn ang="0">
                  <a:pos x="451" y="60"/>
                </a:cxn>
                <a:cxn ang="0">
                  <a:pos x="405" y="30"/>
                </a:cxn>
                <a:cxn ang="0">
                  <a:pos x="356" y="11"/>
                </a:cxn>
                <a:cxn ang="0">
                  <a:pos x="303" y="1"/>
                </a:cxn>
              </a:cxnLst>
              <a:rect l="0" t="0" r="r" b="b"/>
              <a:pathLst>
                <a:path w="554" h="554">
                  <a:moveTo>
                    <a:pt x="277" y="0"/>
                  </a:moveTo>
                  <a:lnTo>
                    <a:pt x="248" y="1"/>
                  </a:lnTo>
                  <a:lnTo>
                    <a:pt x="220" y="5"/>
                  </a:lnTo>
                  <a:lnTo>
                    <a:pt x="194" y="11"/>
                  </a:lnTo>
                  <a:lnTo>
                    <a:pt x="170" y="19"/>
                  </a:lnTo>
                  <a:lnTo>
                    <a:pt x="145" y="30"/>
                  </a:lnTo>
                  <a:lnTo>
                    <a:pt x="122" y="44"/>
                  </a:lnTo>
                  <a:lnTo>
                    <a:pt x="100" y="60"/>
                  </a:lnTo>
                  <a:lnTo>
                    <a:pt x="80" y="80"/>
                  </a:lnTo>
                  <a:lnTo>
                    <a:pt x="60" y="101"/>
                  </a:lnTo>
                  <a:lnTo>
                    <a:pt x="44" y="122"/>
                  </a:lnTo>
                  <a:lnTo>
                    <a:pt x="30" y="145"/>
                  </a:lnTo>
                  <a:lnTo>
                    <a:pt x="19" y="170"/>
                  </a:lnTo>
                  <a:lnTo>
                    <a:pt x="10" y="194"/>
                  </a:lnTo>
                  <a:lnTo>
                    <a:pt x="4" y="221"/>
                  </a:lnTo>
                  <a:lnTo>
                    <a:pt x="1" y="248"/>
                  </a:lnTo>
                  <a:lnTo>
                    <a:pt x="0" y="277"/>
                  </a:lnTo>
                  <a:lnTo>
                    <a:pt x="1" y="303"/>
                  </a:lnTo>
                  <a:lnTo>
                    <a:pt x="4" y="331"/>
                  </a:lnTo>
                  <a:lnTo>
                    <a:pt x="10" y="356"/>
                  </a:lnTo>
                  <a:lnTo>
                    <a:pt x="19" y="383"/>
                  </a:lnTo>
                  <a:lnTo>
                    <a:pt x="30" y="405"/>
                  </a:lnTo>
                  <a:lnTo>
                    <a:pt x="44" y="429"/>
                  </a:lnTo>
                  <a:lnTo>
                    <a:pt x="60" y="451"/>
                  </a:lnTo>
                  <a:lnTo>
                    <a:pt x="80" y="473"/>
                  </a:lnTo>
                  <a:lnTo>
                    <a:pt x="100" y="491"/>
                  </a:lnTo>
                  <a:lnTo>
                    <a:pt x="122" y="507"/>
                  </a:lnTo>
                  <a:lnTo>
                    <a:pt x="145" y="521"/>
                  </a:lnTo>
                  <a:lnTo>
                    <a:pt x="170" y="534"/>
                  </a:lnTo>
                  <a:lnTo>
                    <a:pt x="194" y="542"/>
                  </a:lnTo>
                  <a:lnTo>
                    <a:pt x="220" y="548"/>
                  </a:lnTo>
                  <a:lnTo>
                    <a:pt x="248" y="552"/>
                  </a:lnTo>
                  <a:lnTo>
                    <a:pt x="277" y="554"/>
                  </a:lnTo>
                  <a:lnTo>
                    <a:pt x="303" y="552"/>
                  </a:lnTo>
                  <a:lnTo>
                    <a:pt x="316" y="549"/>
                  </a:lnTo>
                  <a:lnTo>
                    <a:pt x="331" y="548"/>
                  </a:lnTo>
                  <a:lnTo>
                    <a:pt x="343" y="545"/>
                  </a:lnTo>
                  <a:lnTo>
                    <a:pt x="356" y="542"/>
                  </a:lnTo>
                  <a:lnTo>
                    <a:pt x="382" y="534"/>
                  </a:lnTo>
                  <a:lnTo>
                    <a:pt x="393" y="527"/>
                  </a:lnTo>
                  <a:lnTo>
                    <a:pt x="405" y="521"/>
                  </a:lnTo>
                  <a:lnTo>
                    <a:pt x="429" y="507"/>
                  </a:lnTo>
                  <a:lnTo>
                    <a:pt x="451" y="491"/>
                  </a:lnTo>
                  <a:lnTo>
                    <a:pt x="472" y="473"/>
                  </a:lnTo>
                  <a:lnTo>
                    <a:pt x="490" y="451"/>
                  </a:lnTo>
                  <a:lnTo>
                    <a:pt x="507" y="429"/>
                  </a:lnTo>
                  <a:lnTo>
                    <a:pt x="520" y="405"/>
                  </a:lnTo>
                  <a:lnTo>
                    <a:pt x="526" y="393"/>
                  </a:lnTo>
                  <a:lnTo>
                    <a:pt x="534" y="383"/>
                  </a:lnTo>
                  <a:lnTo>
                    <a:pt x="542" y="356"/>
                  </a:lnTo>
                  <a:lnTo>
                    <a:pt x="544" y="343"/>
                  </a:lnTo>
                  <a:lnTo>
                    <a:pt x="548" y="331"/>
                  </a:lnTo>
                  <a:lnTo>
                    <a:pt x="549" y="317"/>
                  </a:lnTo>
                  <a:lnTo>
                    <a:pt x="552" y="303"/>
                  </a:lnTo>
                  <a:lnTo>
                    <a:pt x="554" y="277"/>
                  </a:lnTo>
                  <a:lnTo>
                    <a:pt x="552" y="248"/>
                  </a:lnTo>
                  <a:lnTo>
                    <a:pt x="548" y="221"/>
                  </a:lnTo>
                  <a:lnTo>
                    <a:pt x="542" y="194"/>
                  </a:lnTo>
                  <a:lnTo>
                    <a:pt x="534" y="170"/>
                  </a:lnTo>
                  <a:lnTo>
                    <a:pt x="520" y="145"/>
                  </a:lnTo>
                  <a:lnTo>
                    <a:pt x="507" y="122"/>
                  </a:lnTo>
                  <a:lnTo>
                    <a:pt x="490" y="101"/>
                  </a:lnTo>
                  <a:lnTo>
                    <a:pt x="472" y="80"/>
                  </a:lnTo>
                  <a:lnTo>
                    <a:pt x="451" y="60"/>
                  </a:lnTo>
                  <a:lnTo>
                    <a:pt x="429" y="44"/>
                  </a:lnTo>
                  <a:lnTo>
                    <a:pt x="405" y="30"/>
                  </a:lnTo>
                  <a:lnTo>
                    <a:pt x="382" y="19"/>
                  </a:lnTo>
                  <a:lnTo>
                    <a:pt x="356" y="11"/>
                  </a:lnTo>
                  <a:lnTo>
                    <a:pt x="331" y="5"/>
                  </a:lnTo>
                  <a:lnTo>
                    <a:pt x="303" y="1"/>
                  </a:lnTo>
                  <a:lnTo>
                    <a:pt x="277" y="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2" name="Rectangle 9"/>
            <p:cNvSpPr>
              <a:spLocks noChangeArrowheads="1"/>
            </p:cNvSpPr>
            <p:nvPr/>
          </p:nvSpPr>
          <p:spPr bwMode="auto">
            <a:xfrm>
              <a:off x="499" y="3556"/>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6</a:t>
              </a:r>
              <a:endParaRPr lang="en-US" dirty="0">
                <a:latin typeface="Calibri" pitchFamily="34" charset="0"/>
                <a:cs typeface="Calibri" pitchFamily="34" charset="0"/>
              </a:endParaRPr>
            </a:p>
          </p:txBody>
        </p:sp>
      </p:grpSp>
      <p:grpSp>
        <p:nvGrpSpPr>
          <p:cNvPr id="14" name="Group 11"/>
          <p:cNvGrpSpPr>
            <a:grpSpLocks/>
          </p:cNvGrpSpPr>
          <p:nvPr/>
        </p:nvGrpSpPr>
        <p:grpSpPr bwMode="auto">
          <a:xfrm>
            <a:off x="1949421" y="4535488"/>
            <a:ext cx="292100" cy="292100"/>
            <a:chOff x="1345" y="3101"/>
            <a:chExt cx="184" cy="184"/>
          </a:xfrm>
        </p:grpSpPr>
        <p:sp>
          <p:nvSpPr>
            <p:cNvPr id="17" name="Freeform 12"/>
            <p:cNvSpPr>
              <a:spLocks/>
            </p:cNvSpPr>
            <p:nvPr/>
          </p:nvSpPr>
          <p:spPr bwMode="auto">
            <a:xfrm>
              <a:off x="1345" y="3101"/>
              <a:ext cx="184" cy="184"/>
            </a:xfrm>
            <a:custGeom>
              <a:avLst/>
              <a:gdLst/>
              <a:ahLst/>
              <a:cxnLst>
                <a:cxn ang="0">
                  <a:pos x="248" y="1"/>
                </a:cxn>
                <a:cxn ang="0">
                  <a:pos x="194" y="11"/>
                </a:cxn>
                <a:cxn ang="0">
                  <a:pos x="145" y="30"/>
                </a:cxn>
                <a:cxn ang="0">
                  <a:pos x="101" y="60"/>
                </a:cxn>
                <a:cxn ang="0">
                  <a:pos x="60" y="101"/>
                </a:cxn>
                <a:cxn ang="0">
                  <a:pos x="30" y="145"/>
                </a:cxn>
                <a:cxn ang="0">
                  <a:pos x="11" y="194"/>
                </a:cxn>
                <a:cxn ang="0">
                  <a:pos x="1" y="248"/>
                </a:cxn>
                <a:cxn ang="0">
                  <a:pos x="1" y="303"/>
                </a:cxn>
                <a:cxn ang="0">
                  <a:pos x="11" y="356"/>
                </a:cxn>
                <a:cxn ang="0">
                  <a:pos x="30" y="405"/>
                </a:cxn>
                <a:cxn ang="0">
                  <a:pos x="60" y="451"/>
                </a:cxn>
                <a:cxn ang="0">
                  <a:pos x="101" y="491"/>
                </a:cxn>
                <a:cxn ang="0">
                  <a:pos x="145" y="521"/>
                </a:cxn>
                <a:cxn ang="0">
                  <a:pos x="194" y="542"/>
                </a:cxn>
                <a:cxn ang="0">
                  <a:pos x="248" y="552"/>
                </a:cxn>
                <a:cxn ang="0">
                  <a:pos x="304" y="552"/>
                </a:cxn>
                <a:cxn ang="0">
                  <a:pos x="331" y="548"/>
                </a:cxn>
                <a:cxn ang="0">
                  <a:pos x="356" y="542"/>
                </a:cxn>
                <a:cxn ang="0">
                  <a:pos x="394" y="527"/>
                </a:cxn>
                <a:cxn ang="0">
                  <a:pos x="430" y="507"/>
                </a:cxn>
                <a:cxn ang="0">
                  <a:pos x="473" y="473"/>
                </a:cxn>
                <a:cxn ang="0">
                  <a:pos x="508" y="429"/>
                </a:cxn>
                <a:cxn ang="0">
                  <a:pos x="527" y="393"/>
                </a:cxn>
                <a:cxn ang="0">
                  <a:pos x="542" y="356"/>
                </a:cxn>
                <a:cxn ang="0">
                  <a:pos x="548" y="331"/>
                </a:cxn>
                <a:cxn ang="0">
                  <a:pos x="552" y="303"/>
                </a:cxn>
                <a:cxn ang="0">
                  <a:pos x="552" y="248"/>
                </a:cxn>
                <a:cxn ang="0">
                  <a:pos x="542" y="194"/>
                </a:cxn>
                <a:cxn ang="0">
                  <a:pos x="521" y="145"/>
                </a:cxn>
                <a:cxn ang="0">
                  <a:pos x="491" y="101"/>
                </a:cxn>
                <a:cxn ang="0">
                  <a:pos x="451" y="60"/>
                </a:cxn>
                <a:cxn ang="0">
                  <a:pos x="406" y="30"/>
                </a:cxn>
                <a:cxn ang="0">
                  <a:pos x="356" y="11"/>
                </a:cxn>
                <a:cxn ang="0">
                  <a:pos x="304" y="1"/>
                </a:cxn>
              </a:cxnLst>
              <a:rect l="0" t="0" r="r" b="b"/>
              <a:pathLst>
                <a:path w="554" h="554">
                  <a:moveTo>
                    <a:pt x="277" y="0"/>
                  </a:moveTo>
                  <a:lnTo>
                    <a:pt x="248" y="1"/>
                  </a:lnTo>
                  <a:lnTo>
                    <a:pt x="221" y="5"/>
                  </a:lnTo>
                  <a:lnTo>
                    <a:pt x="194" y="11"/>
                  </a:lnTo>
                  <a:lnTo>
                    <a:pt x="170" y="19"/>
                  </a:lnTo>
                  <a:lnTo>
                    <a:pt x="145" y="30"/>
                  </a:lnTo>
                  <a:lnTo>
                    <a:pt x="122" y="44"/>
                  </a:lnTo>
                  <a:lnTo>
                    <a:pt x="101" y="60"/>
                  </a:lnTo>
                  <a:lnTo>
                    <a:pt x="80" y="80"/>
                  </a:lnTo>
                  <a:lnTo>
                    <a:pt x="60" y="101"/>
                  </a:lnTo>
                  <a:lnTo>
                    <a:pt x="44" y="122"/>
                  </a:lnTo>
                  <a:lnTo>
                    <a:pt x="30" y="145"/>
                  </a:lnTo>
                  <a:lnTo>
                    <a:pt x="19" y="170"/>
                  </a:lnTo>
                  <a:lnTo>
                    <a:pt x="11" y="194"/>
                  </a:lnTo>
                  <a:lnTo>
                    <a:pt x="5" y="221"/>
                  </a:lnTo>
                  <a:lnTo>
                    <a:pt x="1" y="248"/>
                  </a:lnTo>
                  <a:lnTo>
                    <a:pt x="0" y="277"/>
                  </a:lnTo>
                  <a:lnTo>
                    <a:pt x="1" y="303"/>
                  </a:lnTo>
                  <a:lnTo>
                    <a:pt x="5" y="331"/>
                  </a:lnTo>
                  <a:lnTo>
                    <a:pt x="11" y="356"/>
                  </a:lnTo>
                  <a:lnTo>
                    <a:pt x="19" y="383"/>
                  </a:lnTo>
                  <a:lnTo>
                    <a:pt x="30" y="405"/>
                  </a:lnTo>
                  <a:lnTo>
                    <a:pt x="44" y="429"/>
                  </a:lnTo>
                  <a:lnTo>
                    <a:pt x="60" y="451"/>
                  </a:lnTo>
                  <a:lnTo>
                    <a:pt x="80" y="473"/>
                  </a:lnTo>
                  <a:lnTo>
                    <a:pt x="101" y="491"/>
                  </a:lnTo>
                  <a:lnTo>
                    <a:pt x="122" y="507"/>
                  </a:lnTo>
                  <a:lnTo>
                    <a:pt x="145" y="521"/>
                  </a:lnTo>
                  <a:lnTo>
                    <a:pt x="170" y="534"/>
                  </a:lnTo>
                  <a:lnTo>
                    <a:pt x="194" y="542"/>
                  </a:lnTo>
                  <a:lnTo>
                    <a:pt x="221" y="548"/>
                  </a:lnTo>
                  <a:lnTo>
                    <a:pt x="248" y="552"/>
                  </a:lnTo>
                  <a:lnTo>
                    <a:pt x="277" y="554"/>
                  </a:lnTo>
                  <a:lnTo>
                    <a:pt x="304" y="552"/>
                  </a:lnTo>
                  <a:lnTo>
                    <a:pt x="317" y="549"/>
                  </a:lnTo>
                  <a:lnTo>
                    <a:pt x="331" y="548"/>
                  </a:lnTo>
                  <a:lnTo>
                    <a:pt x="343" y="545"/>
                  </a:lnTo>
                  <a:lnTo>
                    <a:pt x="356" y="542"/>
                  </a:lnTo>
                  <a:lnTo>
                    <a:pt x="383" y="534"/>
                  </a:lnTo>
                  <a:lnTo>
                    <a:pt x="394" y="527"/>
                  </a:lnTo>
                  <a:lnTo>
                    <a:pt x="406" y="521"/>
                  </a:lnTo>
                  <a:lnTo>
                    <a:pt x="430" y="507"/>
                  </a:lnTo>
                  <a:lnTo>
                    <a:pt x="451" y="491"/>
                  </a:lnTo>
                  <a:lnTo>
                    <a:pt x="473" y="473"/>
                  </a:lnTo>
                  <a:lnTo>
                    <a:pt x="491" y="451"/>
                  </a:lnTo>
                  <a:lnTo>
                    <a:pt x="508" y="429"/>
                  </a:lnTo>
                  <a:lnTo>
                    <a:pt x="521" y="405"/>
                  </a:lnTo>
                  <a:lnTo>
                    <a:pt x="527" y="393"/>
                  </a:lnTo>
                  <a:lnTo>
                    <a:pt x="534" y="383"/>
                  </a:lnTo>
                  <a:lnTo>
                    <a:pt x="542" y="356"/>
                  </a:lnTo>
                  <a:lnTo>
                    <a:pt x="545" y="343"/>
                  </a:lnTo>
                  <a:lnTo>
                    <a:pt x="548" y="331"/>
                  </a:lnTo>
                  <a:lnTo>
                    <a:pt x="550" y="317"/>
                  </a:lnTo>
                  <a:lnTo>
                    <a:pt x="552" y="303"/>
                  </a:lnTo>
                  <a:lnTo>
                    <a:pt x="554" y="277"/>
                  </a:lnTo>
                  <a:lnTo>
                    <a:pt x="552" y="248"/>
                  </a:lnTo>
                  <a:lnTo>
                    <a:pt x="548" y="221"/>
                  </a:lnTo>
                  <a:lnTo>
                    <a:pt x="542" y="194"/>
                  </a:lnTo>
                  <a:lnTo>
                    <a:pt x="534" y="170"/>
                  </a:lnTo>
                  <a:lnTo>
                    <a:pt x="521" y="145"/>
                  </a:lnTo>
                  <a:lnTo>
                    <a:pt x="508" y="122"/>
                  </a:lnTo>
                  <a:lnTo>
                    <a:pt x="491" y="101"/>
                  </a:lnTo>
                  <a:lnTo>
                    <a:pt x="473" y="80"/>
                  </a:lnTo>
                  <a:lnTo>
                    <a:pt x="451" y="60"/>
                  </a:lnTo>
                  <a:lnTo>
                    <a:pt x="430" y="44"/>
                  </a:lnTo>
                  <a:lnTo>
                    <a:pt x="406" y="30"/>
                  </a:lnTo>
                  <a:lnTo>
                    <a:pt x="383" y="19"/>
                  </a:lnTo>
                  <a:lnTo>
                    <a:pt x="356" y="11"/>
                  </a:lnTo>
                  <a:lnTo>
                    <a:pt x="331" y="5"/>
                  </a:lnTo>
                  <a:lnTo>
                    <a:pt x="304" y="1"/>
                  </a:lnTo>
                  <a:lnTo>
                    <a:pt x="277" y="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8" name="Rectangle 13"/>
            <p:cNvSpPr>
              <a:spLocks noChangeArrowheads="1"/>
            </p:cNvSpPr>
            <p:nvPr/>
          </p:nvSpPr>
          <p:spPr bwMode="auto">
            <a:xfrm>
              <a:off x="1413" y="3140"/>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3</a:t>
              </a:r>
              <a:endParaRPr lang="en-US" dirty="0">
                <a:latin typeface="Calibri" pitchFamily="34" charset="0"/>
                <a:cs typeface="Calibri" pitchFamily="34" charset="0"/>
              </a:endParaRPr>
            </a:p>
          </p:txBody>
        </p:sp>
      </p:grpSp>
      <p:grpSp>
        <p:nvGrpSpPr>
          <p:cNvPr id="22" name="Group 19"/>
          <p:cNvGrpSpPr>
            <a:grpSpLocks/>
          </p:cNvGrpSpPr>
          <p:nvPr/>
        </p:nvGrpSpPr>
        <p:grpSpPr bwMode="auto">
          <a:xfrm>
            <a:off x="1949421" y="5208588"/>
            <a:ext cx="292100" cy="292100"/>
            <a:chOff x="1345" y="3525"/>
            <a:chExt cx="184" cy="184"/>
          </a:xfrm>
        </p:grpSpPr>
        <p:sp>
          <p:nvSpPr>
            <p:cNvPr id="23" name="Freeform 20"/>
            <p:cNvSpPr>
              <a:spLocks/>
            </p:cNvSpPr>
            <p:nvPr/>
          </p:nvSpPr>
          <p:spPr bwMode="auto">
            <a:xfrm>
              <a:off x="1345" y="3525"/>
              <a:ext cx="184" cy="184"/>
            </a:xfrm>
            <a:custGeom>
              <a:avLst/>
              <a:gdLst/>
              <a:ahLst/>
              <a:cxnLst>
                <a:cxn ang="0">
                  <a:pos x="1" y="303"/>
                </a:cxn>
                <a:cxn ang="0">
                  <a:pos x="11" y="356"/>
                </a:cxn>
                <a:cxn ang="0">
                  <a:pos x="30" y="405"/>
                </a:cxn>
                <a:cxn ang="0">
                  <a:pos x="60" y="451"/>
                </a:cxn>
                <a:cxn ang="0">
                  <a:pos x="101" y="491"/>
                </a:cxn>
                <a:cxn ang="0">
                  <a:pos x="145" y="521"/>
                </a:cxn>
                <a:cxn ang="0">
                  <a:pos x="194" y="542"/>
                </a:cxn>
                <a:cxn ang="0">
                  <a:pos x="248" y="552"/>
                </a:cxn>
                <a:cxn ang="0">
                  <a:pos x="304" y="552"/>
                </a:cxn>
                <a:cxn ang="0">
                  <a:pos x="331" y="548"/>
                </a:cxn>
                <a:cxn ang="0">
                  <a:pos x="356" y="542"/>
                </a:cxn>
                <a:cxn ang="0">
                  <a:pos x="394" y="527"/>
                </a:cxn>
                <a:cxn ang="0">
                  <a:pos x="430" y="507"/>
                </a:cxn>
                <a:cxn ang="0">
                  <a:pos x="473" y="473"/>
                </a:cxn>
                <a:cxn ang="0">
                  <a:pos x="508" y="429"/>
                </a:cxn>
                <a:cxn ang="0">
                  <a:pos x="527" y="393"/>
                </a:cxn>
                <a:cxn ang="0">
                  <a:pos x="542" y="356"/>
                </a:cxn>
                <a:cxn ang="0">
                  <a:pos x="548" y="331"/>
                </a:cxn>
                <a:cxn ang="0">
                  <a:pos x="552" y="303"/>
                </a:cxn>
                <a:cxn ang="0">
                  <a:pos x="552" y="248"/>
                </a:cxn>
                <a:cxn ang="0">
                  <a:pos x="542" y="194"/>
                </a:cxn>
                <a:cxn ang="0">
                  <a:pos x="521" y="145"/>
                </a:cxn>
                <a:cxn ang="0">
                  <a:pos x="491" y="101"/>
                </a:cxn>
                <a:cxn ang="0">
                  <a:pos x="451" y="60"/>
                </a:cxn>
                <a:cxn ang="0">
                  <a:pos x="406" y="30"/>
                </a:cxn>
                <a:cxn ang="0">
                  <a:pos x="356" y="11"/>
                </a:cxn>
                <a:cxn ang="0">
                  <a:pos x="304" y="1"/>
                </a:cxn>
                <a:cxn ang="0">
                  <a:pos x="248" y="1"/>
                </a:cxn>
                <a:cxn ang="0">
                  <a:pos x="194" y="11"/>
                </a:cxn>
                <a:cxn ang="0">
                  <a:pos x="145" y="30"/>
                </a:cxn>
                <a:cxn ang="0">
                  <a:pos x="101" y="60"/>
                </a:cxn>
                <a:cxn ang="0">
                  <a:pos x="60" y="101"/>
                </a:cxn>
                <a:cxn ang="0">
                  <a:pos x="30" y="145"/>
                </a:cxn>
                <a:cxn ang="0">
                  <a:pos x="11" y="194"/>
                </a:cxn>
                <a:cxn ang="0">
                  <a:pos x="1" y="248"/>
                </a:cxn>
              </a:cxnLst>
              <a:rect l="0" t="0" r="r" b="b"/>
              <a:pathLst>
                <a:path w="554" h="554">
                  <a:moveTo>
                    <a:pt x="0" y="277"/>
                  </a:moveTo>
                  <a:lnTo>
                    <a:pt x="1" y="303"/>
                  </a:lnTo>
                  <a:lnTo>
                    <a:pt x="5" y="331"/>
                  </a:lnTo>
                  <a:lnTo>
                    <a:pt x="11" y="356"/>
                  </a:lnTo>
                  <a:lnTo>
                    <a:pt x="19" y="383"/>
                  </a:lnTo>
                  <a:lnTo>
                    <a:pt x="30" y="405"/>
                  </a:lnTo>
                  <a:lnTo>
                    <a:pt x="44" y="429"/>
                  </a:lnTo>
                  <a:lnTo>
                    <a:pt x="60" y="451"/>
                  </a:lnTo>
                  <a:lnTo>
                    <a:pt x="80" y="473"/>
                  </a:lnTo>
                  <a:lnTo>
                    <a:pt x="101" y="491"/>
                  </a:lnTo>
                  <a:lnTo>
                    <a:pt x="122" y="507"/>
                  </a:lnTo>
                  <a:lnTo>
                    <a:pt x="145" y="521"/>
                  </a:lnTo>
                  <a:lnTo>
                    <a:pt x="170" y="534"/>
                  </a:lnTo>
                  <a:lnTo>
                    <a:pt x="194" y="542"/>
                  </a:lnTo>
                  <a:lnTo>
                    <a:pt x="221" y="548"/>
                  </a:lnTo>
                  <a:lnTo>
                    <a:pt x="248" y="552"/>
                  </a:lnTo>
                  <a:lnTo>
                    <a:pt x="277" y="554"/>
                  </a:lnTo>
                  <a:lnTo>
                    <a:pt x="304" y="552"/>
                  </a:lnTo>
                  <a:lnTo>
                    <a:pt x="317" y="549"/>
                  </a:lnTo>
                  <a:lnTo>
                    <a:pt x="331" y="548"/>
                  </a:lnTo>
                  <a:lnTo>
                    <a:pt x="343" y="545"/>
                  </a:lnTo>
                  <a:lnTo>
                    <a:pt x="356" y="542"/>
                  </a:lnTo>
                  <a:lnTo>
                    <a:pt x="383" y="534"/>
                  </a:lnTo>
                  <a:lnTo>
                    <a:pt x="394" y="527"/>
                  </a:lnTo>
                  <a:lnTo>
                    <a:pt x="406" y="521"/>
                  </a:lnTo>
                  <a:lnTo>
                    <a:pt x="430" y="507"/>
                  </a:lnTo>
                  <a:lnTo>
                    <a:pt x="451" y="491"/>
                  </a:lnTo>
                  <a:lnTo>
                    <a:pt x="473" y="473"/>
                  </a:lnTo>
                  <a:lnTo>
                    <a:pt x="491" y="451"/>
                  </a:lnTo>
                  <a:lnTo>
                    <a:pt x="508" y="429"/>
                  </a:lnTo>
                  <a:lnTo>
                    <a:pt x="521" y="405"/>
                  </a:lnTo>
                  <a:lnTo>
                    <a:pt x="527" y="393"/>
                  </a:lnTo>
                  <a:lnTo>
                    <a:pt x="534" y="383"/>
                  </a:lnTo>
                  <a:lnTo>
                    <a:pt x="542" y="356"/>
                  </a:lnTo>
                  <a:lnTo>
                    <a:pt x="545" y="343"/>
                  </a:lnTo>
                  <a:lnTo>
                    <a:pt x="548" y="331"/>
                  </a:lnTo>
                  <a:lnTo>
                    <a:pt x="550" y="317"/>
                  </a:lnTo>
                  <a:lnTo>
                    <a:pt x="552" y="303"/>
                  </a:lnTo>
                  <a:lnTo>
                    <a:pt x="554" y="277"/>
                  </a:lnTo>
                  <a:lnTo>
                    <a:pt x="552" y="248"/>
                  </a:lnTo>
                  <a:lnTo>
                    <a:pt x="548" y="221"/>
                  </a:lnTo>
                  <a:lnTo>
                    <a:pt x="542" y="194"/>
                  </a:lnTo>
                  <a:lnTo>
                    <a:pt x="534" y="170"/>
                  </a:lnTo>
                  <a:lnTo>
                    <a:pt x="521" y="145"/>
                  </a:lnTo>
                  <a:lnTo>
                    <a:pt x="508" y="122"/>
                  </a:lnTo>
                  <a:lnTo>
                    <a:pt x="491" y="101"/>
                  </a:lnTo>
                  <a:lnTo>
                    <a:pt x="473" y="80"/>
                  </a:lnTo>
                  <a:lnTo>
                    <a:pt x="451" y="60"/>
                  </a:lnTo>
                  <a:lnTo>
                    <a:pt x="430" y="44"/>
                  </a:lnTo>
                  <a:lnTo>
                    <a:pt x="406" y="30"/>
                  </a:lnTo>
                  <a:lnTo>
                    <a:pt x="383" y="19"/>
                  </a:lnTo>
                  <a:lnTo>
                    <a:pt x="356" y="11"/>
                  </a:lnTo>
                  <a:lnTo>
                    <a:pt x="331" y="5"/>
                  </a:lnTo>
                  <a:lnTo>
                    <a:pt x="304" y="1"/>
                  </a:lnTo>
                  <a:lnTo>
                    <a:pt x="277" y="0"/>
                  </a:lnTo>
                  <a:lnTo>
                    <a:pt x="248" y="1"/>
                  </a:lnTo>
                  <a:lnTo>
                    <a:pt x="221" y="5"/>
                  </a:lnTo>
                  <a:lnTo>
                    <a:pt x="194" y="11"/>
                  </a:lnTo>
                  <a:lnTo>
                    <a:pt x="170" y="19"/>
                  </a:lnTo>
                  <a:lnTo>
                    <a:pt x="145" y="30"/>
                  </a:lnTo>
                  <a:lnTo>
                    <a:pt x="122" y="44"/>
                  </a:lnTo>
                  <a:lnTo>
                    <a:pt x="101" y="60"/>
                  </a:lnTo>
                  <a:lnTo>
                    <a:pt x="80" y="80"/>
                  </a:lnTo>
                  <a:lnTo>
                    <a:pt x="60" y="101"/>
                  </a:lnTo>
                  <a:lnTo>
                    <a:pt x="44" y="122"/>
                  </a:lnTo>
                  <a:lnTo>
                    <a:pt x="30" y="145"/>
                  </a:lnTo>
                  <a:lnTo>
                    <a:pt x="19" y="170"/>
                  </a:lnTo>
                  <a:lnTo>
                    <a:pt x="11" y="194"/>
                  </a:lnTo>
                  <a:lnTo>
                    <a:pt x="5" y="221"/>
                  </a:lnTo>
                  <a:lnTo>
                    <a:pt x="1" y="248"/>
                  </a:lnTo>
                  <a:lnTo>
                    <a:pt x="0" y="277"/>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4" name="Rectangle 21"/>
            <p:cNvSpPr>
              <a:spLocks noChangeArrowheads="1"/>
            </p:cNvSpPr>
            <p:nvPr/>
          </p:nvSpPr>
          <p:spPr bwMode="auto">
            <a:xfrm>
              <a:off x="1413" y="3564"/>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5</a:t>
              </a:r>
              <a:endParaRPr lang="en-US" dirty="0">
                <a:latin typeface="Calibri" pitchFamily="34" charset="0"/>
                <a:cs typeface="Calibri" pitchFamily="34" charset="0"/>
              </a:endParaRPr>
            </a:p>
          </p:txBody>
        </p:sp>
      </p:grpSp>
      <p:grpSp>
        <p:nvGrpSpPr>
          <p:cNvPr id="28" name="Group 25"/>
          <p:cNvGrpSpPr>
            <a:grpSpLocks/>
          </p:cNvGrpSpPr>
          <p:nvPr/>
        </p:nvGrpSpPr>
        <p:grpSpPr bwMode="auto">
          <a:xfrm>
            <a:off x="3613121" y="4586288"/>
            <a:ext cx="293688" cy="292100"/>
            <a:chOff x="2369" y="3133"/>
            <a:chExt cx="185" cy="184"/>
          </a:xfrm>
        </p:grpSpPr>
        <p:sp>
          <p:nvSpPr>
            <p:cNvPr id="29" name="Freeform 26"/>
            <p:cNvSpPr>
              <a:spLocks/>
            </p:cNvSpPr>
            <p:nvPr/>
          </p:nvSpPr>
          <p:spPr bwMode="auto">
            <a:xfrm>
              <a:off x="2369" y="3133"/>
              <a:ext cx="185" cy="184"/>
            </a:xfrm>
            <a:custGeom>
              <a:avLst/>
              <a:gdLst/>
              <a:ahLst/>
              <a:cxnLst>
                <a:cxn ang="0">
                  <a:pos x="249" y="1"/>
                </a:cxn>
                <a:cxn ang="0">
                  <a:pos x="195" y="11"/>
                </a:cxn>
                <a:cxn ang="0">
                  <a:pos x="145" y="30"/>
                </a:cxn>
                <a:cxn ang="0">
                  <a:pos x="101" y="60"/>
                </a:cxn>
                <a:cxn ang="0">
                  <a:pos x="60" y="101"/>
                </a:cxn>
                <a:cxn ang="0">
                  <a:pos x="30" y="145"/>
                </a:cxn>
                <a:cxn ang="0">
                  <a:pos x="11" y="194"/>
                </a:cxn>
                <a:cxn ang="0">
                  <a:pos x="1" y="248"/>
                </a:cxn>
                <a:cxn ang="0">
                  <a:pos x="1" y="303"/>
                </a:cxn>
                <a:cxn ang="0">
                  <a:pos x="11" y="356"/>
                </a:cxn>
                <a:cxn ang="0">
                  <a:pos x="30" y="405"/>
                </a:cxn>
                <a:cxn ang="0">
                  <a:pos x="60" y="451"/>
                </a:cxn>
                <a:cxn ang="0">
                  <a:pos x="101" y="491"/>
                </a:cxn>
                <a:cxn ang="0">
                  <a:pos x="145" y="521"/>
                </a:cxn>
                <a:cxn ang="0">
                  <a:pos x="195" y="542"/>
                </a:cxn>
                <a:cxn ang="0">
                  <a:pos x="249" y="552"/>
                </a:cxn>
                <a:cxn ang="0">
                  <a:pos x="304" y="552"/>
                </a:cxn>
                <a:cxn ang="0">
                  <a:pos x="331" y="548"/>
                </a:cxn>
                <a:cxn ang="0">
                  <a:pos x="357" y="542"/>
                </a:cxn>
                <a:cxn ang="0">
                  <a:pos x="394" y="527"/>
                </a:cxn>
                <a:cxn ang="0">
                  <a:pos x="430" y="507"/>
                </a:cxn>
                <a:cxn ang="0">
                  <a:pos x="473" y="473"/>
                </a:cxn>
                <a:cxn ang="0">
                  <a:pos x="508" y="429"/>
                </a:cxn>
                <a:cxn ang="0">
                  <a:pos x="527" y="393"/>
                </a:cxn>
                <a:cxn ang="0">
                  <a:pos x="543" y="356"/>
                </a:cxn>
                <a:cxn ang="0">
                  <a:pos x="549" y="331"/>
                </a:cxn>
                <a:cxn ang="0">
                  <a:pos x="552" y="303"/>
                </a:cxn>
                <a:cxn ang="0">
                  <a:pos x="552" y="248"/>
                </a:cxn>
                <a:cxn ang="0">
                  <a:pos x="543" y="194"/>
                </a:cxn>
                <a:cxn ang="0">
                  <a:pos x="521" y="145"/>
                </a:cxn>
                <a:cxn ang="0">
                  <a:pos x="491" y="101"/>
                </a:cxn>
                <a:cxn ang="0">
                  <a:pos x="451" y="60"/>
                </a:cxn>
                <a:cxn ang="0">
                  <a:pos x="406" y="30"/>
                </a:cxn>
                <a:cxn ang="0">
                  <a:pos x="357" y="11"/>
                </a:cxn>
                <a:cxn ang="0">
                  <a:pos x="304" y="1"/>
                </a:cxn>
              </a:cxnLst>
              <a:rect l="0" t="0" r="r" b="b"/>
              <a:pathLst>
                <a:path w="555" h="554">
                  <a:moveTo>
                    <a:pt x="277" y="0"/>
                  </a:moveTo>
                  <a:lnTo>
                    <a:pt x="249" y="1"/>
                  </a:lnTo>
                  <a:lnTo>
                    <a:pt x="221" y="5"/>
                  </a:lnTo>
                  <a:lnTo>
                    <a:pt x="195" y="11"/>
                  </a:lnTo>
                  <a:lnTo>
                    <a:pt x="171" y="19"/>
                  </a:lnTo>
                  <a:lnTo>
                    <a:pt x="145" y="30"/>
                  </a:lnTo>
                  <a:lnTo>
                    <a:pt x="123" y="44"/>
                  </a:lnTo>
                  <a:lnTo>
                    <a:pt x="101" y="60"/>
                  </a:lnTo>
                  <a:lnTo>
                    <a:pt x="81" y="80"/>
                  </a:lnTo>
                  <a:lnTo>
                    <a:pt x="60" y="101"/>
                  </a:lnTo>
                  <a:lnTo>
                    <a:pt x="45" y="122"/>
                  </a:lnTo>
                  <a:lnTo>
                    <a:pt x="30" y="145"/>
                  </a:lnTo>
                  <a:lnTo>
                    <a:pt x="19" y="170"/>
                  </a:lnTo>
                  <a:lnTo>
                    <a:pt x="11" y="194"/>
                  </a:lnTo>
                  <a:lnTo>
                    <a:pt x="5" y="221"/>
                  </a:lnTo>
                  <a:lnTo>
                    <a:pt x="1" y="248"/>
                  </a:lnTo>
                  <a:lnTo>
                    <a:pt x="0" y="277"/>
                  </a:lnTo>
                  <a:lnTo>
                    <a:pt x="1" y="303"/>
                  </a:lnTo>
                  <a:lnTo>
                    <a:pt x="5" y="331"/>
                  </a:lnTo>
                  <a:lnTo>
                    <a:pt x="11" y="356"/>
                  </a:lnTo>
                  <a:lnTo>
                    <a:pt x="19" y="383"/>
                  </a:lnTo>
                  <a:lnTo>
                    <a:pt x="30" y="405"/>
                  </a:lnTo>
                  <a:lnTo>
                    <a:pt x="45" y="429"/>
                  </a:lnTo>
                  <a:lnTo>
                    <a:pt x="60" y="451"/>
                  </a:lnTo>
                  <a:lnTo>
                    <a:pt x="81" y="473"/>
                  </a:lnTo>
                  <a:lnTo>
                    <a:pt x="101" y="491"/>
                  </a:lnTo>
                  <a:lnTo>
                    <a:pt x="123" y="507"/>
                  </a:lnTo>
                  <a:lnTo>
                    <a:pt x="145" y="521"/>
                  </a:lnTo>
                  <a:lnTo>
                    <a:pt x="171" y="534"/>
                  </a:lnTo>
                  <a:lnTo>
                    <a:pt x="195" y="542"/>
                  </a:lnTo>
                  <a:lnTo>
                    <a:pt x="221" y="548"/>
                  </a:lnTo>
                  <a:lnTo>
                    <a:pt x="249" y="552"/>
                  </a:lnTo>
                  <a:lnTo>
                    <a:pt x="277" y="554"/>
                  </a:lnTo>
                  <a:lnTo>
                    <a:pt x="304" y="552"/>
                  </a:lnTo>
                  <a:lnTo>
                    <a:pt x="317" y="549"/>
                  </a:lnTo>
                  <a:lnTo>
                    <a:pt x="331" y="548"/>
                  </a:lnTo>
                  <a:lnTo>
                    <a:pt x="343" y="545"/>
                  </a:lnTo>
                  <a:lnTo>
                    <a:pt x="357" y="542"/>
                  </a:lnTo>
                  <a:lnTo>
                    <a:pt x="383" y="534"/>
                  </a:lnTo>
                  <a:lnTo>
                    <a:pt x="394" y="527"/>
                  </a:lnTo>
                  <a:lnTo>
                    <a:pt x="406" y="521"/>
                  </a:lnTo>
                  <a:lnTo>
                    <a:pt x="430" y="507"/>
                  </a:lnTo>
                  <a:lnTo>
                    <a:pt x="451" y="491"/>
                  </a:lnTo>
                  <a:lnTo>
                    <a:pt x="473" y="473"/>
                  </a:lnTo>
                  <a:lnTo>
                    <a:pt x="491" y="451"/>
                  </a:lnTo>
                  <a:lnTo>
                    <a:pt x="508" y="429"/>
                  </a:lnTo>
                  <a:lnTo>
                    <a:pt x="521" y="405"/>
                  </a:lnTo>
                  <a:lnTo>
                    <a:pt x="527" y="393"/>
                  </a:lnTo>
                  <a:lnTo>
                    <a:pt x="534" y="383"/>
                  </a:lnTo>
                  <a:lnTo>
                    <a:pt x="543" y="356"/>
                  </a:lnTo>
                  <a:lnTo>
                    <a:pt x="545" y="343"/>
                  </a:lnTo>
                  <a:lnTo>
                    <a:pt x="549" y="331"/>
                  </a:lnTo>
                  <a:lnTo>
                    <a:pt x="550" y="317"/>
                  </a:lnTo>
                  <a:lnTo>
                    <a:pt x="552" y="303"/>
                  </a:lnTo>
                  <a:lnTo>
                    <a:pt x="555" y="277"/>
                  </a:lnTo>
                  <a:lnTo>
                    <a:pt x="552" y="248"/>
                  </a:lnTo>
                  <a:lnTo>
                    <a:pt x="549" y="221"/>
                  </a:lnTo>
                  <a:lnTo>
                    <a:pt x="543" y="194"/>
                  </a:lnTo>
                  <a:lnTo>
                    <a:pt x="534" y="170"/>
                  </a:lnTo>
                  <a:lnTo>
                    <a:pt x="521" y="145"/>
                  </a:lnTo>
                  <a:lnTo>
                    <a:pt x="508" y="122"/>
                  </a:lnTo>
                  <a:lnTo>
                    <a:pt x="491" y="101"/>
                  </a:lnTo>
                  <a:lnTo>
                    <a:pt x="473" y="80"/>
                  </a:lnTo>
                  <a:lnTo>
                    <a:pt x="451" y="60"/>
                  </a:lnTo>
                  <a:lnTo>
                    <a:pt x="430" y="44"/>
                  </a:lnTo>
                  <a:lnTo>
                    <a:pt x="406" y="30"/>
                  </a:lnTo>
                  <a:lnTo>
                    <a:pt x="383" y="19"/>
                  </a:lnTo>
                  <a:lnTo>
                    <a:pt x="357" y="11"/>
                  </a:lnTo>
                  <a:lnTo>
                    <a:pt x="331" y="5"/>
                  </a:lnTo>
                  <a:lnTo>
                    <a:pt x="304" y="1"/>
                  </a:lnTo>
                  <a:lnTo>
                    <a:pt x="277" y="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0" name="Rectangle 27"/>
            <p:cNvSpPr>
              <a:spLocks noChangeArrowheads="1"/>
            </p:cNvSpPr>
            <p:nvPr/>
          </p:nvSpPr>
          <p:spPr bwMode="auto">
            <a:xfrm>
              <a:off x="2438" y="3172"/>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4</a:t>
              </a:r>
              <a:endParaRPr lang="en-US" dirty="0">
                <a:latin typeface="Calibri" pitchFamily="34" charset="0"/>
                <a:cs typeface="Calibri" pitchFamily="34" charset="0"/>
              </a:endParaRPr>
            </a:p>
          </p:txBody>
        </p:sp>
      </p:grpSp>
      <p:grpSp>
        <p:nvGrpSpPr>
          <p:cNvPr id="34" name="Group 31"/>
          <p:cNvGrpSpPr>
            <a:grpSpLocks/>
          </p:cNvGrpSpPr>
          <p:nvPr/>
        </p:nvGrpSpPr>
        <p:grpSpPr bwMode="auto">
          <a:xfrm>
            <a:off x="2339946" y="3519488"/>
            <a:ext cx="293688" cy="292100"/>
            <a:chOff x="1567" y="2461"/>
            <a:chExt cx="185" cy="184"/>
          </a:xfrm>
        </p:grpSpPr>
        <p:sp>
          <p:nvSpPr>
            <p:cNvPr id="35" name="Freeform 32"/>
            <p:cNvSpPr>
              <a:spLocks/>
            </p:cNvSpPr>
            <p:nvPr/>
          </p:nvSpPr>
          <p:spPr bwMode="auto">
            <a:xfrm>
              <a:off x="1567" y="2461"/>
              <a:ext cx="185" cy="184"/>
            </a:xfrm>
            <a:custGeom>
              <a:avLst/>
              <a:gdLst/>
              <a:ahLst/>
              <a:cxnLst>
                <a:cxn ang="0">
                  <a:pos x="249" y="1"/>
                </a:cxn>
                <a:cxn ang="0">
                  <a:pos x="195" y="11"/>
                </a:cxn>
                <a:cxn ang="0">
                  <a:pos x="146" y="30"/>
                </a:cxn>
                <a:cxn ang="0">
                  <a:pos x="101" y="60"/>
                </a:cxn>
                <a:cxn ang="0">
                  <a:pos x="60" y="101"/>
                </a:cxn>
                <a:cxn ang="0">
                  <a:pos x="30" y="145"/>
                </a:cxn>
                <a:cxn ang="0">
                  <a:pos x="11" y="194"/>
                </a:cxn>
                <a:cxn ang="0">
                  <a:pos x="2" y="248"/>
                </a:cxn>
                <a:cxn ang="0">
                  <a:pos x="2" y="303"/>
                </a:cxn>
                <a:cxn ang="0">
                  <a:pos x="11" y="356"/>
                </a:cxn>
                <a:cxn ang="0">
                  <a:pos x="30" y="405"/>
                </a:cxn>
                <a:cxn ang="0">
                  <a:pos x="60" y="451"/>
                </a:cxn>
                <a:cxn ang="0">
                  <a:pos x="101" y="491"/>
                </a:cxn>
                <a:cxn ang="0">
                  <a:pos x="146" y="521"/>
                </a:cxn>
                <a:cxn ang="0">
                  <a:pos x="195" y="542"/>
                </a:cxn>
                <a:cxn ang="0">
                  <a:pos x="249" y="552"/>
                </a:cxn>
                <a:cxn ang="0">
                  <a:pos x="304" y="552"/>
                </a:cxn>
                <a:cxn ang="0">
                  <a:pos x="332" y="548"/>
                </a:cxn>
                <a:cxn ang="0">
                  <a:pos x="357" y="542"/>
                </a:cxn>
                <a:cxn ang="0">
                  <a:pos x="394" y="527"/>
                </a:cxn>
                <a:cxn ang="0">
                  <a:pos x="430" y="507"/>
                </a:cxn>
                <a:cxn ang="0">
                  <a:pos x="473" y="473"/>
                </a:cxn>
                <a:cxn ang="0">
                  <a:pos x="508" y="429"/>
                </a:cxn>
                <a:cxn ang="0">
                  <a:pos x="527" y="393"/>
                </a:cxn>
                <a:cxn ang="0">
                  <a:pos x="543" y="356"/>
                </a:cxn>
                <a:cxn ang="0">
                  <a:pos x="549" y="331"/>
                </a:cxn>
                <a:cxn ang="0">
                  <a:pos x="552" y="303"/>
                </a:cxn>
                <a:cxn ang="0">
                  <a:pos x="552" y="248"/>
                </a:cxn>
                <a:cxn ang="0">
                  <a:pos x="543" y="194"/>
                </a:cxn>
                <a:cxn ang="0">
                  <a:pos x="521" y="145"/>
                </a:cxn>
                <a:cxn ang="0">
                  <a:pos x="491" y="101"/>
                </a:cxn>
                <a:cxn ang="0">
                  <a:pos x="452" y="60"/>
                </a:cxn>
                <a:cxn ang="0">
                  <a:pos x="406" y="30"/>
                </a:cxn>
                <a:cxn ang="0">
                  <a:pos x="357" y="11"/>
                </a:cxn>
                <a:cxn ang="0">
                  <a:pos x="304" y="1"/>
                </a:cxn>
              </a:cxnLst>
              <a:rect l="0" t="0" r="r" b="b"/>
              <a:pathLst>
                <a:path w="555" h="554">
                  <a:moveTo>
                    <a:pt x="278" y="0"/>
                  </a:moveTo>
                  <a:lnTo>
                    <a:pt x="249" y="1"/>
                  </a:lnTo>
                  <a:lnTo>
                    <a:pt x="221" y="5"/>
                  </a:lnTo>
                  <a:lnTo>
                    <a:pt x="195" y="11"/>
                  </a:lnTo>
                  <a:lnTo>
                    <a:pt x="171" y="19"/>
                  </a:lnTo>
                  <a:lnTo>
                    <a:pt x="146" y="30"/>
                  </a:lnTo>
                  <a:lnTo>
                    <a:pt x="123" y="44"/>
                  </a:lnTo>
                  <a:lnTo>
                    <a:pt x="101" y="60"/>
                  </a:lnTo>
                  <a:lnTo>
                    <a:pt x="81" y="80"/>
                  </a:lnTo>
                  <a:lnTo>
                    <a:pt x="60" y="101"/>
                  </a:lnTo>
                  <a:lnTo>
                    <a:pt x="45" y="122"/>
                  </a:lnTo>
                  <a:lnTo>
                    <a:pt x="30" y="145"/>
                  </a:lnTo>
                  <a:lnTo>
                    <a:pt x="20" y="170"/>
                  </a:lnTo>
                  <a:lnTo>
                    <a:pt x="11" y="194"/>
                  </a:lnTo>
                  <a:lnTo>
                    <a:pt x="5" y="221"/>
                  </a:lnTo>
                  <a:lnTo>
                    <a:pt x="2" y="248"/>
                  </a:lnTo>
                  <a:lnTo>
                    <a:pt x="0" y="277"/>
                  </a:lnTo>
                  <a:lnTo>
                    <a:pt x="2" y="303"/>
                  </a:lnTo>
                  <a:lnTo>
                    <a:pt x="5" y="331"/>
                  </a:lnTo>
                  <a:lnTo>
                    <a:pt x="11" y="356"/>
                  </a:lnTo>
                  <a:lnTo>
                    <a:pt x="20" y="383"/>
                  </a:lnTo>
                  <a:lnTo>
                    <a:pt x="30" y="405"/>
                  </a:lnTo>
                  <a:lnTo>
                    <a:pt x="45" y="429"/>
                  </a:lnTo>
                  <a:lnTo>
                    <a:pt x="60" y="451"/>
                  </a:lnTo>
                  <a:lnTo>
                    <a:pt x="81" y="473"/>
                  </a:lnTo>
                  <a:lnTo>
                    <a:pt x="101" y="491"/>
                  </a:lnTo>
                  <a:lnTo>
                    <a:pt x="123" y="507"/>
                  </a:lnTo>
                  <a:lnTo>
                    <a:pt x="146" y="521"/>
                  </a:lnTo>
                  <a:lnTo>
                    <a:pt x="171" y="534"/>
                  </a:lnTo>
                  <a:lnTo>
                    <a:pt x="195" y="542"/>
                  </a:lnTo>
                  <a:lnTo>
                    <a:pt x="221" y="548"/>
                  </a:lnTo>
                  <a:lnTo>
                    <a:pt x="249" y="552"/>
                  </a:lnTo>
                  <a:lnTo>
                    <a:pt x="278" y="554"/>
                  </a:lnTo>
                  <a:lnTo>
                    <a:pt x="304" y="552"/>
                  </a:lnTo>
                  <a:lnTo>
                    <a:pt x="317" y="549"/>
                  </a:lnTo>
                  <a:lnTo>
                    <a:pt x="332" y="548"/>
                  </a:lnTo>
                  <a:lnTo>
                    <a:pt x="344" y="545"/>
                  </a:lnTo>
                  <a:lnTo>
                    <a:pt x="357" y="542"/>
                  </a:lnTo>
                  <a:lnTo>
                    <a:pt x="383" y="534"/>
                  </a:lnTo>
                  <a:lnTo>
                    <a:pt x="394" y="527"/>
                  </a:lnTo>
                  <a:lnTo>
                    <a:pt x="406" y="521"/>
                  </a:lnTo>
                  <a:lnTo>
                    <a:pt x="430" y="507"/>
                  </a:lnTo>
                  <a:lnTo>
                    <a:pt x="452" y="491"/>
                  </a:lnTo>
                  <a:lnTo>
                    <a:pt x="473" y="473"/>
                  </a:lnTo>
                  <a:lnTo>
                    <a:pt x="491" y="451"/>
                  </a:lnTo>
                  <a:lnTo>
                    <a:pt x="508" y="429"/>
                  </a:lnTo>
                  <a:lnTo>
                    <a:pt x="521" y="405"/>
                  </a:lnTo>
                  <a:lnTo>
                    <a:pt x="527" y="393"/>
                  </a:lnTo>
                  <a:lnTo>
                    <a:pt x="534" y="383"/>
                  </a:lnTo>
                  <a:lnTo>
                    <a:pt x="543" y="356"/>
                  </a:lnTo>
                  <a:lnTo>
                    <a:pt x="545" y="343"/>
                  </a:lnTo>
                  <a:lnTo>
                    <a:pt x="549" y="331"/>
                  </a:lnTo>
                  <a:lnTo>
                    <a:pt x="550" y="317"/>
                  </a:lnTo>
                  <a:lnTo>
                    <a:pt x="552" y="303"/>
                  </a:lnTo>
                  <a:lnTo>
                    <a:pt x="555" y="277"/>
                  </a:lnTo>
                  <a:lnTo>
                    <a:pt x="552" y="248"/>
                  </a:lnTo>
                  <a:lnTo>
                    <a:pt x="549" y="221"/>
                  </a:lnTo>
                  <a:lnTo>
                    <a:pt x="543" y="194"/>
                  </a:lnTo>
                  <a:lnTo>
                    <a:pt x="534" y="170"/>
                  </a:lnTo>
                  <a:lnTo>
                    <a:pt x="521" y="145"/>
                  </a:lnTo>
                  <a:lnTo>
                    <a:pt x="508" y="122"/>
                  </a:lnTo>
                  <a:lnTo>
                    <a:pt x="491" y="101"/>
                  </a:lnTo>
                  <a:lnTo>
                    <a:pt x="473" y="80"/>
                  </a:lnTo>
                  <a:lnTo>
                    <a:pt x="452" y="60"/>
                  </a:lnTo>
                  <a:lnTo>
                    <a:pt x="430" y="44"/>
                  </a:lnTo>
                  <a:lnTo>
                    <a:pt x="406" y="30"/>
                  </a:lnTo>
                  <a:lnTo>
                    <a:pt x="383" y="19"/>
                  </a:lnTo>
                  <a:lnTo>
                    <a:pt x="357" y="11"/>
                  </a:lnTo>
                  <a:lnTo>
                    <a:pt x="332" y="5"/>
                  </a:lnTo>
                  <a:lnTo>
                    <a:pt x="304" y="1"/>
                  </a:lnTo>
                  <a:lnTo>
                    <a:pt x="278" y="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6" name="Rectangle 33"/>
            <p:cNvSpPr>
              <a:spLocks noChangeArrowheads="1"/>
            </p:cNvSpPr>
            <p:nvPr/>
          </p:nvSpPr>
          <p:spPr bwMode="auto">
            <a:xfrm>
              <a:off x="1636" y="2500"/>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4</a:t>
              </a:r>
              <a:endParaRPr lang="en-US" dirty="0">
                <a:latin typeface="Calibri" pitchFamily="34" charset="0"/>
                <a:cs typeface="Calibri" pitchFamily="34" charset="0"/>
              </a:endParaRPr>
            </a:p>
          </p:txBody>
        </p:sp>
      </p:grpSp>
      <p:sp>
        <p:nvSpPr>
          <p:cNvPr id="37" name="Rectangle 34"/>
          <p:cNvSpPr>
            <a:spLocks noChangeArrowheads="1"/>
          </p:cNvSpPr>
          <p:nvPr/>
        </p:nvSpPr>
        <p:spPr bwMode="auto">
          <a:xfrm>
            <a:off x="676275" y="5777141"/>
            <a:ext cx="1058944" cy="215444"/>
          </a:xfrm>
          <a:prstGeom prst="rect">
            <a:avLst/>
          </a:prstGeom>
          <a:noFill/>
          <a:ln w="25400" algn="ctr">
            <a:noFill/>
            <a:miter lim="800000"/>
            <a:headEnd/>
            <a:tailEnd/>
          </a:ln>
          <a:effectLst/>
        </p:spPr>
        <p:txBody>
          <a:bodyPr wrap="none" lIns="0" tIns="0" rIns="0" bIns="0" anchor="ctr" anchorCtr="1">
            <a:spAutoFit/>
          </a:bodyPr>
          <a:lstStyle/>
          <a:p>
            <a:pPr marL="354013" indent="-354013" defTabSz="941388"/>
            <a:r>
              <a:rPr lang="en-US" sz="1400" b="1" dirty="0">
                <a:solidFill>
                  <a:srgbClr val="001636"/>
                </a:solidFill>
                <a:latin typeface="Calibri" pitchFamily="34" charset="0"/>
                <a:cs typeface="Calibri" pitchFamily="34" charset="0"/>
              </a:rPr>
              <a:t>Backup Server</a:t>
            </a:r>
          </a:p>
        </p:txBody>
      </p:sp>
      <p:sp>
        <p:nvSpPr>
          <p:cNvPr id="38" name="Rectangle 35"/>
          <p:cNvSpPr>
            <a:spLocks noChangeArrowheads="1"/>
          </p:cNvSpPr>
          <p:nvPr/>
        </p:nvSpPr>
        <p:spPr bwMode="auto">
          <a:xfrm>
            <a:off x="2501335" y="5781675"/>
            <a:ext cx="1003865" cy="215444"/>
          </a:xfrm>
          <a:prstGeom prst="rect">
            <a:avLst/>
          </a:prstGeom>
          <a:noFill/>
          <a:ln w="25400" algn="ctr">
            <a:noFill/>
            <a:miter lim="800000"/>
            <a:headEnd/>
            <a:tailEnd/>
          </a:ln>
          <a:effectLst/>
        </p:spPr>
        <p:txBody>
          <a:bodyPr wrap="none" lIns="0" tIns="0" rIns="0" bIns="0" anchor="ctr" anchorCtr="1">
            <a:spAutoFit/>
          </a:bodyPr>
          <a:lstStyle/>
          <a:p>
            <a:pPr marL="354013" indent="-354013" defTabSz="941388"/>
            <a:r>
              <a:rPr lang="en-US" sz="1400" b="1" dirty="0">
                <a:solidFill>
                  <a:srgbClr val="001636"/>
                </a:solidFill>
                <a:latin typeface="Calibri" pitchFamily="34" charset="0"/>
                <a:cs typeface="Calibri" pitchFamily="34" charset="0"/>
              </a:rPr>
              <a:t>Storage Node</a:t>
            </a:r>
          </a:p>
        </p:txBody>
      </p:sp>
      <p:sp>
        <p:nvSpPr>
          <p:cNvPr id="39" name="Rectangle 36"/>
          <p:cNvSpPr>
            <a:spLocks noChangeArrowheads="1"/>
          </p:cNvSpPr>
          <p:nvPr/>
        </p:nvSpPr>
        <p:spPr bwMode="auto">
          <a:xfrm>
            <a:off x="4083600" y="5791200"/>
            <a:ext cx="1078950" cy="215444"/>
          </a:xfrm>
          <a:prstGeom prst="rect">
            <a:avLst/>
          </a:prstGeom>
          <a:noFill/>
          <a:ln w="25400" algn="ctr">
            <a:noFill/>
            <a:miter lim="800000"/>
            <a:headEnd/>
            <a:tailEnd/>
          </a:ln>
          <a:effectLst/>
        </p:spPr>
        <p:txBody>
          <a:bodyPr wrap="none" lIns="0" tIns="0" rIns="0" bIns="0" anchor="ctr" anchorCtr="1">
            <a:spAutoFit/>
          </a:bodyPr>
          <a:lstStyle/>
          <a:p>
            <a:pPr marL="354013" indent="-354013" defTabSz="941388"/>
            <a:r>
              <a:rPr lang="en-US" sz="1400" b="1" dirty="0">
                <a:solidFill>
                  <a:srgbClr val="001636"/>
                </a:solidFill>
                <a:latin typeface="Calibri" pitchFamily="34" charset="0"/>
                <a:cs typeface="Calibri" pitchFamily="34" charset="0"/>
              </a:rPr>
              <a:t>Backup Device</a:t>
            </a:r>
          </a:p>
        </p:txBody>
      </p:sp>
      <p:grpSp>
        <p:nvGrpSpPr>
          <p:cNvPr id="40" name="Group 37"/>
          <p:cNvGrpSpPr>
            <a:grpSpLocks/>
          </p:cNvGrpSpPr>
          <p:nvPr/>
        </p:nvGrpSpPr>
        <p:grpSpPr bwMode="auto">
          <a:xfrm>
            <a:off x="5105400" y="1617666"/>
            <a:ext cx="2962276" cy="560389"/>
            <a:chOff x="3400" y="1028"/>
            <a:chExt cx="1866" cy="353"/>
          </a:xfrm>
        </p:grpSpPr>
        <p:sp>
          <p:nvSpPr>
            <p:cNvPr id="41" name="Freeform 38"/>
            <p:cNvSpPr>
              <a:spLocks/>
            </p:cNvSpPr>
            <p:nvPr/>
          </p:nvSpPr>
          <p:spPr bwMode="auto">
            <a:xfrm>
              <a:off x="3400" y="1028"/>
              <a:ext cx="185" cy="185"/>
            </a:xfrm>
            <a:custGeom>
              <a:avLst/>
              <a:gdLst/>
              <a:ahLst/>
              <a:cxnLst>
                <a:cxn ang="0">
                  <a:pos x="451" y="60"/>
                </a:cxn>
                <a:cxn ang="0">
                  <a:pos x="406" y="30"/>
                </a:cxn>
                <a:cxn ang="0">
                  <a:pos x="356" y="10"/>
                </a:cxn>
                <a:cxn ang="0">
                  <a:pos x="304" y="1"/>
                </a:cxn>
                <a:cxn ang="0">
                  <a:pos x="248" y="1"/>
                </a:cxn>
                <a:cxn ang="0">
                  <a:pos x="194" y="10"/>
                </a:cxn>
                <a:cxn ang="0">
                  <a:pos x="145" y="30"/>
                </a:cxn>
                <a:cxn ang="0">
                  <a:pos x="101" y="60"/>
                </a:cxn>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4" y="542"/>
                </a:cxn>
                <a:cxn ang="0">
                  <a:pos x="248" y="552"/>
                </a:cxn>
                <a:cxn ang="0">
                  <a:pos x="304" y="552"/>
                </a:cxn>
                <a:cxn ang="0">
                  <a:pos x="331" y="548"/>
                </a:cxn>
                <a:cxn ang="0">
                  <a:pos x="356" y="542"/>
                </a:cxn>
                <a:cxn ang="0">
                  <a:pos x="394" y="526"/>
                </a:cxn>
                <a:cxn ang="0">
                  <a:pos x="430" y="507"/>
                </a:cxn>
                <a:cxn ang="0">
                  <a:pos x="473" y="472"/>
                </a:cxn>
                <a:cxn ang="0">
                  <a:pos x="508" y="429"/>
                </a:cxn>
                <a:cxn ang="0">
                  <a:pos x="527" y="393"/>
                </a:cxn>
                <a:cxn ang="0">
                  <a:pos x="542" y="356"/>
                </a:cxn>
                <a:cxn ang="0">
                  <a:pos x="548" y="331"/>
                </a:cxn>
                <a:cxn ang="0">
                  <a:pos x="552" y="303"/>
                </a:cxn>
                <a:cxn ang="0">
                  <a:pos x="552" y="248"/>
                </a:cxn>
                <a:cxn ang="0">
                  <a:pos x="542" y="194"/>
                </a:cxn>
                <a:cxn ang="0">
                  <a:pos x="521" y="145"/>
                </a:cxn>
                <a:cxn ang="0">
                  <a:pos x="491" y="100"/>
                </a:cxn>
              </a:cxnLst>
              <a:rect l="0" t="0" r="r" b="b"/>
              <a:pathLst>
                <a:path w="554" h="554">
                  <a:moveTo>
                    <a:pt x="473" y="80"/>
                  </a:moveTo>
                  <a:lnTo>
                    <a:pt x="451" y="60"/>
                  </a:lnTo>
                  <a:lnTo>
                    <a:pt x="430" y="44"/>
                  </a:lnTo>
                  <a:lnTo>
                    <a:pt x="406" y="30"/>
                  </a:lnTo>
                  <a:lnTo>
                    <a:pt x="383" y="19"/>
                  </a:lnTo>
                  <a:lnTo>
                    <a:pt x="356" y="10"/>
                  </a:lnTo>
                  <a:lnTo>
                    <a:pt x="331" y="4"/>
                  </a:lnTo>
                  <a:lnTo>
                    <a:pt x="304" y="1"/>
                  </a:lnTo>
                  <a:lnTo>
                    <a:pt x="277" y="0"/>
                  </a:lnTo>
                  <a:lnTo>
                    <a:pt x="248" y="1"/>
                  </a:lnTo>
                  <a:lnTo>
                    <a:pt x="221" y="4"/>
                  </a:lnTo>
                  <a:lnTo>
                    <a:pt x="194" y="10"/>
                  </a:lnTo>
                  <a:lnTo>
                    <a:pt x="170" y="19"/>
                  </a:lnTo>
                  <a:lnTo>
                    <a:pt x="145" y="30"/>
                  </a:lnTo>
                  <a:lnTo>
                    <a:pt x="122" y="44"/>
                  </a:lnTo>
                  <a:lnTo>
                    <a:pt x="101" y="60"/>
                  </a:lnTo>
                  <a:lnTo>
                    <a:pt x="80" y="80"/>
                  </a:lnTo>
                  <a:lnTo>
                    <a:pt x="60" y="100"/>
                  </a:lnTo>
                  <a:lnTo>
                    <a:pt x="44"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4" y="429"/>
                  </a:lnTo>
                  <a:lnTo>
                    <a:pt x="60" y="451"/>
                  </a:lnTo>
                  <a:lnTo>
                    <a:pt x="80" y="472"/>
                  </a:lnTo>
                  <a:lnTo>
                    <a:pt x="101" y="490"/>
                  </a:lnTo>
                  <a:lnTo>
                    <a:pt x="122" y="507"/>
                  </a:lnTo>
                  <a:lnTo>
                    <a:pt x="145" y="520"/>
                  </a:lnTo>
                  <a:lnTo>
                    <a:pt x="170" y="534"/>
                  </a:lnTo>
                  <a:lnTo>
                    <a:pt x="194" y="542"/>
                  </a:lnTo>
                  <a:lnTo>
                    <a:pt x="221" y="548"/>
                  </a:lnTo>
                  <a:lnTo>
                    <a:pt x="248" y="552"/>
                  </a:lnTo>
                  <a:lnTo>
                    <a:pt x="277" y="554"/>
                  </a:lnTo>
                  <a:lnTo>
                    <a:pt x="304" y="552"/>
                  </a:lnTo>
                  <a:lnTo>
                    <a:pt x="317" y="549"/>
                  </a:lnTo>
                  <a:lnTo>
                    <a:pt x="331" y="548"/>
                  </a:lnTo>
                  <a:lnTo>
                    <a:pt x="343" y="544"/>
                  </a:lnTo>
                  <a:lnTo>
                    <a:pt x="356"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2" y="356"/>
                  </a:lnTo>
                  <a:lnTo>
                    <a:pt x="545" y="343"/>
                  </a:lnTo>
                  <a:lnTo>
                    <a:pt x="548" y="331"/>
                  </a:lnTo>
                  <a:lnTo>
                    <a:pt x="550" y="316"/>
                  </a:lnTo>
                  <a:lnTo>
                    <a:pt x="552" y="303"/>
                  </a:lnTo>
                  <a:lnTo>
                    <a:pt x="554" y="277"/>
                  </a:lnTo>
                  <a:lnTo>
                    <a:pt x="552" y="248"/>
                  </a:lnTo>
                  <a:lnTo>
                    <a:pt x="548" y="220"/>
                  </a:lnTo>
                  <a:lnTo>
                    <a:pt x="542" y="194"/>
                  </a:lnTo>
                  <a:lnTo>
                    <a:pt x="534" y="170"/>
                  </a:lnTo>
                  <a:lnTo>
                    <a:pt x="521" y="145"/>
                  </a:lnTo>
                  <a:lnTo>
                    <a:pt x="508" y="122"/>
                  </a:lnTo>
                  <a:lnTo>
                    <a:pt x="491" y="100"/>
                  </a:lnTo>
                  <a:lnTo>
                    <a:pt x="473"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42" name="Rectangle 39"/>
            <p:cNvSpPr>
              <a:spLocks noChangeArrowheads="1"/>
            </p:cNvSpPr>
            <p:nvPr/>
          </p:nvSpPr>
          <p:spPr bwMode="auto">
            <a:xfrm>
              <a:off x="3463" y="1068"/>
              <a:ext cx="49"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2</a:t>
              </a:r>
              <a:endParaRPr lang="en-US" sz="1200" dirty="0">
                <a:solidFill>
                  <a:schemeClr val="tx1"/>
                </a:solidFill>
                <a:latin typeface="Calibri" pitchFamily="34" charset="0"/>
                <a:cs typeface="Calibri" pitchFamily="34" charset="0"/>
              </a:endParaRPr>
            </a:p>
          </p:txBody>
        </p:sp>
        <p:sp>
          <p:nvSpPr>
            <p:cNvPr id="43" name="Rectangle 40"/>
            <p:cNvSpPr>
              <a:spLocks noChangeArrowheads="1"/>
            </p:cNvSpPr>
            <p:nvPr/>
          </p:nvSpPr>
          <p:spPr bwMode="auto">
            <a:xfrm>
              <a:off x="3681" y="1041"/>
              <a:ext cx="1450"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Backup server scans backup catalog </a:t>
              </a:r>
              <a:endParaRPr lang="en-US" sz="1200" dirty="0">
                <a:solidFill>
                  <a:schemeClr val="tx1"/>
                </a:solidFill>
                <a:latin typeface="Calibri" pitchFamily="34" charset="0"/>
                <a:cs typeface="Calibri" pitchFamily="34" charset="0"/>
              </a:endParaRPr>
            </a:p>
          </p:txBody>
        </p:sp>
        <p:sp>
          <p:nvSpPr>
            <p:cNvPr id="44" name="Rectangle 41"/>
            <p:cNvSpPr>
              <a:spLocks noChangeArrowheads="1"/>
            </p:cNvSpPr>
            <p:nvPr/>
          </p:nvSpPr>
          <p:spPr bwMode="auto">
            <a:xfrm>
              <a:off x="3614" y="1153"/>
              <a:ext cx="1652"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   to identify data to be restored and the </a:t>
              </a:r>
              <a:endParaRPr lang="en-US" sz="1200" dirty="0">
                <a:solidFill>
                  <a:schemeClr val="tx1"/>
                </a:solidFill>
                <a:latin typeface="Calibri" pitchFamily="34" charset="0"/>
                <a:cs typeface="Calibri" pitchFamily="34" charset="0"/>
              </a:endParaRPr>
            </a:p>
          </p:txBody>
        </p:sp>
        <p:sp>
          <p:nvSpPr>
            <p:cNvPr id="45" name="Rectangle 42"/>
            <p:cNvSpPr>
              <a:spLocks noChangeArrowheads="1"/>
            </p:cNvSpPr>
            <p:nvPr/>
          </p:nvSpPr>
          <p:spPr bwMode="auto">
            <a:xfrm>
              <a:off x="3653" y="1265"/>
              <a:ext cx="1137"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 client that will receive data.</a:t>
              </a:r>
              <a:endParaRPr lang="en-US" sz="1200" dirty="0">
                <a:solidFill>
                  <a:schemeClr val="tx1"/>
                </a:solidFill>
                <a:latin typeface="Calibri" pitchFamily="34" charset="0"/>
                <a:cs typeface="Calibri" pitchFamily="34" charset="0"/>
              </a:endParaRPr>
            </a:p>
          </p:txBody>
        </p:sp>
      </p:grpSp>
      <p:grpSp>
        <p:nvGrpSpPr>
          <p:cNvPr id="46" name="Group 43"/>
          <p:cNvGrpSpPr>
            <a:grpSpLocks/>
          </p:cNvGrpSpPr>
          <p:nvPr/>
        </p:nvGrpSpPr>
        <p:grpSpPr bwMode="auto">
          <a:xfrm>
            <a:off x="5105400" y="2354269"/>
            <a:ext cx="2970213" cy="382589"/>
            <a:chOff x="3400" y="1508"/>
            <a:chExt cx="1871" cy="241"/>
          </a:xfrm>
        </p:grpSpPr>
        <p:sp>
          <p:nvSpPr>
            <p:cNvPr id="47" name="Freeform 44"/>
            <p:cNvSpPr>
              <a:spLocks/>
            </p:cNvSpPr>
            <p:nvPr/>
          </p:nvSpPr>
          <p:spPr bwMode="auto">
            <a:xfrm>
              <a:off x="3400" y="1508"/>
              <a:ext cx="185" cy="185"/>
            </a:xfrm>
            <a:custGeom>
              <a:avLst/>
              <a:gdLst/>
              <a:ahLst/>
              <a:cxnLst>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4" y="542"/>
                </a:cxn>
                <a:cxn ang="0">
                  <a:pos x="248" y="552"/>
                </a:cxn>
                <a:cxn ang="0">
                  <a:pos x="304" y="552"/>
                </a:cxn>
                <a:cxn ang="0">
                  <a:pos x="331" y="548"/>
                </a:cxn>
                <a:cxn ang="0">
                  <a:pos x="356" y="542"/>
                </a:cxn>
                <a:cxn ang="0">
                  <a:pos x="394" y="526"/>
                </a:cxn>
                <a:cxn ang="0">
                  <a:pos x="430" y="507"/>
                </a:cxn>
                <a:cxn ang="0">
                  <a:pos x="473" y="472"/>
                </a:cxn>
                <a:cxn ang="0">
                  <a:pos x="508" y="429"/>
                </a:cxn>
                <a:cxn ang="0">
                  <a:pos x="527" y="393"/>
                </a:cxn>
                <a:cxn ang="0">
                  <a:pos x="542" y="356"/>
                </a:cxn>
                <a:cxn ang="0">
                  <a:pos x="548" y="331"/>
                </a:cxn>
                <a:cxn ang="0">
                  <a:pos x="552" y="303"/>
                </a:cxn>
                <a:cxn ang="0">
                  <a:pos x="552" y="248"/>
                </a:cxn>
                <a:cxn ang="0">
                  <a:pos x="542" y="194"/>
                </a:cxn>
                <a:cxn ang="0">
                  <a:pos x="521" y="145"/>
                </a:cxn>
                <a:cxn ang="0">
                  <a:pos x="491" y="100"/>
                </a:cxn>
                <a:cxn ang="0">
                  <a:pos x="451" y="60"/>
                </a:cxn>
                <a:cxn ang="0">
                  <a:pos x="406" y="30"/>
                </a:cxn>
                <a:cxn ang="0">
                  <a:pos x="356" y="10"/>
                </a:cxn>
                <a:cxn ang="0">
                  <a:pos x="304" y="1"/>
                </a:cxn>
                <a:cxn ang="0">
                  <a:pos x="248" y="1"/>
                </a:cxn>
                <a:cxn ang="0">
                  <a:pos x="194" y="10"/>
                </a:cxn>
                <a:cxn ang="0">
                  <a:pos x="145" y="30"/>
                </a:cxn>
                <a:cxn ang="0">
                  <a:pos x="101" y="60"/>
                </a:cxn>
              </a:cxnLst>
              <a:rect l="0" t="0" r="r" b="b"/>
              <a:pathLst>
                <a:path w="554" h="554">
                  <a:moveTo>
                    <a:pt x="80" y="80"/>
                  </a:moveTo>
                  <a:lnTo>
                    <a:pt x="60" y="100"/>
                  </a:lnTo>
                  <a:lnTo>
                    <a:pt x="44"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4" y="429"/>
                  </a:lnTo>
                  <a:lnTo>
                    <a:pt x="60" y="451"/>
                  </a:lnTo>
                  <a:lnTo>
                    <a:pt x="80" y="472"/>
                  </a:lnTo>
                  <a:lnTo>
                    <a:pt x="101" y="490"/>
                  </a:lnTo>
                  <a:lnTo>
                    <a:pt x="122" y="507"/>
                  </a:lnTo>
                  <a:lnTo>
                    <a:pt x="145" y="520"/>
                  </a:lnTo>
                  <a:lnTo>
                    <a:pt x="170" y="534"/>
                  </a:lnTo>
                  <a:lnTo>
                    <a:pt x="194" y="542"/>
                  </a:lnTo>
                  <a:lnTo>
                    <a:pt x="221" y="548"/>
                  </a:lnTo>
                  <a:lnTo>
                    <a:pt x="248" y="552"/>
                  </a:lnTo>
                  <a:lnTo>
                    <a:pt x="277" y="554"/>
                  </a:lnTo>
                  <a:lnTo>
                    <a:pt x="304" y="552"/>
                  </a:lnTo>
                  <a:lnTo>
                    <a:pt x="317" y="549"/>
                  </a:lnTo>
                  <a:lnTo>
                    <a:pt x="331" y="548"/>
                  </a:lnTo>
                  <a:lnTo>
                    <a:pt x="343" y="544"/>
                  </a:lnTo>
                  <a:lnTo>
                    <a:pt x="356"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2" y="356"/>
                  </a:lnTo>
                  <a:lnTo>
                    <a:pt x="545" y="343"/>
                  </a:lnTo>
                  <a:lnTo>
                    <a:pt x="548" y="331"/>
                  </a:lnTo>
                  <a:lnTo>
                    <a:pt x="550" y="316"/>
                  </a:lnTo>
                  <a:lnTo>
                    <a:pt x="552" y="303"/>
                  </a:lnTo>
                  <a:lnTo>
                    <a:pt x="554" y="277"/>
                  </a:lnTo>
                  <a:lnTo>
                    <a:pt x="552" y="248"/>
                  </a:lnTo>
                  <a:lnTo>
                    <a:pt x="548" y="220"/>
                  </a:lnTo>
                  <a:lnTo>
                    <a:pt x="542" y="194"/>
                  </a:lnTo>
                  <a:lnTo>
                    <a:pt x="534" y="170"/>
                  </a:lnTo>
                  <a:lnTo>
                    <a:pt x="521" y="145"/>
                  </a:lnTo>
                  <a:lnTo>
                    <a:pt x="508" y="122"/>
                  </a:lnTo>
                  <a:lnTo>
                    <a:pt x="491" y="100"/>
                  </a:lnTo>
                  <a:lnTo>
                    <a:pt x="473" y="80"/>
                  </a:lnTo>
                  <a:lnTo>
                    <a:pt x="451" y="60"/>
                  </a:lnTo>
                  <a:lnTo>
                    <a:pt x="430" y="44"/>
                  </a:lnTo>
                  <a:lnTo>
                    <a:pt x="406" y="30"/>
                  </a:lnTo>
                  <a:lnTo>
                    <a:pt x="383" y="19"/>
                  </a:lnTo>
                  <a:lnTo>
                    <a:pt x="356" y="10"/>
                  </a:lnTo>
                  <a:lnTo>
                    <a:pt x="331" y="4"/>
                  </a:lnTo>
                  <a:lnTo>
                    <a:pt x="304" y="1"/>
                  </a:lnTo>
                  <a:lnTo>
                    <a:pt x="277" y="0"/>
                  </a:lnTo>
                  <a:lnTo>
                    <a:pt x="248" y="1"/>
                  </a:lnTo>
                  <a:lnTo>
                    <a:pt x="221" y="4"/>
                  </a:lnTo>
                  <a:lnTo>
                    <a:pt x="194" y="10"/>
                  </a:lnTo>
                  <a:lnTo>
                    <a:pt x="170" y="19"/>
                  </a:lnTo>
                  <a:lnTo>
                    <a:pt x="145" y="30"/>
                  </a:lnTo>
                  <a:lnTo>
                    <a:pt x="122" y="44"/>
                  </a:lnTo>
                  <a:lnTo>
                    <a:pt x="101" y="60"/>
                  </a:lnTo>
                  <a:lnTo>
                    <a:pt x="80"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48" name="Rectangle 45"/>
            <p:cNvSpPr>
              <a:spLocks noChangeArrowheads="1"/>
            </p:cNvSpPr>
            <p:nvPr/>
          </p:nvSpPr>
          <p:spPr bwMode="auto">
            <a:xfrm>
              <a:off x="3463" y="1548"/>
              <a:ext cx="49"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3</a:t>
              </a:r>
              <a:endParaRPr lang="en-US" sz="1200" dirty="0">
                <a:solidFill>
                  <a:schemeClr val="tx1"/>
                </a:solidFill>
                <a:latin typeface="Calibri" pitchFamily="34" charset="0"/>
                <a:cs typeface="Calibri" pitchFamily="34" charset="0"/>
              </a:endParaRPr>
            </a:p>
          </p:txBody>
        </p:sp>
        <p:sp>
          <p:nvSpPr>
            <p:cNvPr id="49" name="Rectangle 46"/>
            <p:cNvSpPr>
              <a:spLocks noChangeArrowheads="1"/>
            </p:cNvSpPr>
            <p:nvPr/>
          </p:nvSpPr>
          <p:spPr bwMode="auto">
            <a:xfrm>
              <a:off x="3680" y="1521"/>
              <a:ext cx="1501"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Backup server instructs storage node </a:t>
              </a:r>
              <a:endParaRPr lang="en-US" sz="1200" dirty="0">
                <a:solidFill>
                  <a:schemeClr val="tx1"/>
                </a:solidFill>
                <a:latin typeface="Calibri" pitchFamily="34" charset="0"/>
                <a:cs typeface="Calibri" pitchFamily="34" charset="0"/>
              </a:endParaRPr>
            </a:p>
          </p:txBody>
        </p:sp>
        <p:sp>
          <p:nvSpPr>
            <p:cNvPr id="50" name="Rectangle 47"/>
            <p:cNvSpPr>
              <a:spLocks noChangeArrowheads="1"/>
            </p:cNvSpPr>
            <p:nvPr/>
          </p:nvSpPr>
          <p:spPr bwMode="auto">
            <a:xfrm>
              <a:off x="3681" y="1633"/>
              <a:ext cx="1590"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to load backup media in backup device.</a:t>
              </a:r>
              <a:endParaRPr lang="en-US" sz="1200" dirty="0">
                <a:solidFill>
                  <a:schemeClr val="tx1"/>
                </a:solidFill>
                <a:latin typeface="Calibri" pitchFamily="34" charset="0"/>
                <a:cs typeface="Calibri" pitchFamily="34" charset="0"/>
              </a:endParaRPr>
            </a:p>
          </p:txBody>
        </p:sp>
      </p:grpSp>
      <p:grpSp>
        <p:nvGrpSpPr>
          <p:cNvPr id="51" name="Group 48"/>
          <p:cNvGrpSpPr>
            <a:grpSpLocks/>
          </p:cNvGrpSpPr>
          <p:nvPr/>
        </p:nvGrpSpPr>
        <p:grpSpPr bwMode="auto">
          <a:xfrm>
            <a:off x="5105399" y="2963863"/>
            <a:ext cx="3221047" cy="293688"/>
            <a:chOff x="3400" y="1908"/>
            <a:chExt cx="2029" cy="185"/>
          </a:xfrm>
        </p:grpSpPr>
        <p:sp>
          <p:nvSpPr>
            <p:cNvPr id="52" name="Freeform 49"/>
            <p:cNvSpPr>
              <a:spLocks/>
            </p:cNvSpPr>
            <p:nvPr/>
          </p:nvSpPr>
          <p:spPr bwMode="auto">
            <a:xfrm>
              <a:off x="3400" y="1908"/>
              <a:ext cx="185" cy="185"/>
            </a:xfrm>
            <a:custGeom>
              <a:avLst/>
              <a:gdLst/>
              <a:ahLst/>
              <a:cxnLst>
                <a:cxn ang="0">
                  <a:pos x="451" y="60"/>
                </a:cxn>
                <a:cxn ang="0">
                  <a:pos x="406" y="30"/>
                </a:cxn>
                <a:cxn ang="0">
                  <a:pos x="356" y="10"/>
                </a:cxn>
                <a:cxn ang="0">
                  <a:pos x="304" y="1"/>
                </a:cxn>
                <a:cxn ang="0">
                  <a:pos x="248" y="1"/>
                </a:cxn>
                <a:cxn ang="0">
                  <a:pos x="194" y="10"/>
                </a:cxn>
                <a:cxn ang="0">
                  <a:pos x="145" y="30"/>
                </a:cxn>
                <a:cxn ang="0">
                  <a:pos x="101" y="60"/>
                </a:cxn>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4" y="542"/>
                </a:cxn>
                <a:cxn ang="0">
                  <a:pos x="248" y="552"/>
                </a:cxn>
                <a:cxn ang="0">
                  <a:pos x="304" y="552"/>
                </a:cxn>
                <a:cxn ang="0">
                  <a:pos x="331" y="548"/>
                </a:cxn>
                <a:cxn ang="0">
                  <a:pos x="356" y="542"/>
                </a:cxn>
                <a:cxn ang="0">
                  <a:pos x="394" y="526"/>
                </a:cxn>
                <a:cxn ang="0">
                  <a:pos x="430" y="507"/>
                </a:cxn>
                <a:cxn ang="0">
                  <a:pos x="473" y="472"/>
                </a:cxn>
                <a:cxn ang="0">
                  <a:pos x="508" y="429"/>
                </a:cxn>
                <a:cxn ang="0">
                  <a:pos x="527" y="393"/>
                </a:cxn>
                <a:cxn ang="0">
                  <a:pos x="542" y="356"/>
                </a:cxn>
                <a:cxn ang="0">
                  <a:pos x="548" y="331"/>
                </a:cxn>
                <a:cxn ang="0">
                  <a:pos x="552" y="303"/>
                </a:cxn>
                <a:cxn ang="0">
                  <a:pos x="552" y="248"/>
                </a:cxn>
                <a:cxn ang="0">
                  <a:pos x="542" y="194"/>
                </a:cxn>
                <a:cxn ang="0">
                  <a:pos x="521" y="145"/>
                </a:cxn>
                <a:cxn ang="0">
                  <a:pos x="491" y="100"/>
                </a:cxn>
              </a:cxnLst>
              <a:rect l="0" t="0" r="r" b="b"/>
              <a:pathLst>
                <a:path w="554" h="554">
                  <a:moveTo>
                    <a:pt x="473" y="80"/>
                  </a:moveTo>
                  <a:lnTo>
                    <a:pt x="451" y="60"/>
                  </a:lnTo>
                  <a:lnTo>
                    <a:pt x="430" y="44"/>
                  </a:lnTo>
                  <a:lnTo>
                    <a:pt x="406" y="30"/>
                  </a:lnTo>
                  <a:lnTo>
                    <a:pt x="383" y="19"/>
                  </a:lnTo>
                  <a:lnTo>
                    <a:pt x="356" y="10"/>
                  </a:lnTo>
                  <a:lnTo>
                    <a:pt x="331" y="4"/>
                  </a:lnTo>
                  <a:lnTo>
                    <a:pt x="304" y="1"/>
                  </a:lnTo>
                  <a:lnTo>
                    <a:pt x="277" y="0"/>
                  </a:lnTo>
                  <a:lnTo>
                    <a:pt x="248" y="1"/>
                  </a:lnTo>
                  <a:lnTo>
                    <a:pt x="221" y="4"/>
                  </a:lnTo>
                  <a:lnTo>
                    <a:pt x="194" y="10"/>
                  </a:lnTo>
                  <a:lnTo>
                    <a:pt x="170" y="19"/>
                  </a:lnTo>
                  <a:lnTo>
                    <a:pt x="145" y="30"/>
                  </a:lnTo>
                  <a:lnTo>
                    <a:pt x="122" y="44"/>
                  </a:lnTo>
                  <a:lnTo>
                    <a:pt x="101" y="60"/>
                  </a:lnTo>
                  <a:lnTo>
                    <a:pt x="80" y="80"/>
                  </a:lnTo>
                  <a:lnTo>
                    <a:pt x="60" y="100"/>
                  </a:lnTo>
                  <a:lnTo>
                    <a:pt x="44"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4" y="429"/>
                  </a:lnTo>
                  <a:lnTo>
                    <a:pt x="60" y="451"/>
                  </a:lnTo>
                  <a:lnTo>
                    <a:pt x="80" y="472"/>
                  </a:lnTo>
                  <a:lnTo>
                    <a:pt x="101" y="490"/>
                  </a:lnTo>
                  <a:lnTo>
                    <a:pt x="122" y="507"/>
                  </a:lnTo>
                  <a:lnTo>
                    <a:pt x="145" y="520"/>
                  </a:lnTo>
                  <a:lnTo>
                    <a:pt x="170" y="534"/>
                  </a:lnTo>
                  <a:lnTo>
                    <a:pt x="194" y="542"/>
                  </a:lnTo>
                  <a:lnTo>
                    <a:pt x="221" y="548"/>
                  </a:lnTo>
                  <a:lnTo>
                    <a:pt x="248" y="552"/>
                  </a:lnTo>
                  <a:lnTo>
                    <a:pt x="277" y="554"/>
                  </a:lnTo>
                  <a:lnTo>
                    <a:pt x="304" y="552"/>
                  </a:lnTo>
                  <a:lnTo>
                    <a:pt x="317" y="549"/>
                  </a:lnTo>
                  <a:lnTo>
                    <a:pt x="331" y="548"/>
                  </a:lnTo>
                  <a:lnTo>
                    <a:pt x="343" y="544"/>
                  </a:lnTo>
                  <a:lnTo>
                    <a:pt x="356"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2" y="356"/>
                  </a:lnTo>
                  <a:lnTo>
                    <a:pt x="545" y="343"/>
                  </a:lnTo>
                  <a:lnTo>
                    <a:pt x="548" y="331"/>
                  </a:lnTo>
                  <a:lnTo>
                    <a:pt x="550" y="316"/>
                  </a:lnTo>
                  <a:lnTo>
                    <a:pt x="552" y="303"/>
                  </a:lnTo>
                  <a:lnTo>
                    <a:pt x="554" y="277"/>
                  </a:lnTo>
                  <a:lnTo>
                    <a:pt x="552" y="248"/>
                  </a:lnTo>
                  <a:lnTo>
                    <a:pt x="548" y="220"/>
                  </a:lnTo>
                  <a:lnTo>
                    <a:pt x="542" y="194"/>
                  </a:lnTo>
                  <a:lnTo>
                    <a:pt x="534" y="170"/>
                  </a:lnTo>
                  <a:lnTo>
                    <a:pt x="521" y="145"/>
                  </a:lnTo>
                  <a:lnTo>
                    <a:pt x="508" y="122"/>
                  </a:lnTo>
                  <a:lnTo>
                    <a:pt x="491" y="100"/>
                  </a:lnTo>
                  <a:lnTo>
                    <a:pt x="473"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53" name="Rectangle 50"/>
            <p:cNvSpPr>
              <a:spLocks noChangeArrowheads="1"/>
            </p:cNvSpPr>
            <p:nvPr/>
          </p:nvSpPr>
          <p:spPr bwMode="auto">
            <a:xfrm>
              <a:off x="3463" y="1948"/>
              <a:ext cx="49"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4</a:t>
              </a:r>
              <a:endParaRPr lang="en-US" sz="1200" dirty="0">
                <a:solidFill>
                  <a:schemeClr val="tx1"/>
                </a:solidFill>
                <a:latin typeface="Calibri" pitchFamily="34" charset="0"/>
                <a:cs typeface="Calibri" pitchFamily="34" charset="0"/>
              </a:endParaRPr>
            </a:p>
          </p:txBody>
        </p:sp>
        <p:sp>
          <p:nvSpPr>
            <p:cNvPr id="54" name="Rectangle 51"/>
            <p:cNvSpPr>
              <a:spLocks noChangeArrowheads="1"/>
            </p:cNvSpPr>
            <p:nvPr/>
          </p:nvSpPr>
          <p:spPr bwMode="auto">
            <a:xfrm>
              <a:off x="3664" y="1921"/>
              <a:ext cx="1765" cy="116"/>
            </a:xfrm>
            <a:prstGeom prst="rect">
              <a:avLst/>
            </a:prstGeom>
            <a:noFill/>
            <a:ln w="9525">
              <a:noFill/>
              <a:miter lim="800000"/>
              <a:headEnd/>
              <a:tailEnd/>
            </a:ln>
          </p:spPr>
          <p:txBody>
            <a:bodyPr wrap="none" lIns="0" tIns="0" rIns="0" bIns="0">
              <a:spAutoFit/>
            </a:bodyPr>
            <a:lstStyle/>
            <a:p>
              <a:pPr marL="354013" indent="-354013" algn="l" defTabSz="941388"/>
              <a:r>
                <a:rPr lang="en-US" sz="1200" b="1" dirty="0">
                  <a:solidFill>
                    <a:schemeClr val="tx1"/>
                  </a:solidFill>
                  <a:latin typeface="Calibri" pitchFamily="34" charset="0"/>
                  <a:cs typeface="Calibri" pitchFamily="34" charset="0"/>
                </a:rPr>
                <a:t>Data is then read and send to backup client.</a:t>
              </a:r>
              <a:endParaRPr lang="en-US" sz="1200" dirty="0">
                <a:solidFill>
                  <a:schemeClr val="tx1"/>
                </a:solidFill>
                <a:latin typeface="Calibri" pitchFamily="34" charset="0"/>
                <a:cs typeface="Calibri" pitchFamily="34" charset="0"/>
              </a:endParaRPr>
            </a:p>
          </p:txBody>
        </p:sp>
      </p:grpSp>
      <p:grpSp>
        <p:nvGrpSpPr>
          <p:cNvPr id="55" name="Group 52"/>
          <p:cNvGrpSpPr>
            <a:grpSpLocks/>
          </p:cNvGrpSpPr>
          <p:nvPr/>
        </p:nvGrpSpPr>
        <p:grpSpPr bwMode="auto">
          <a:xfrm>
            <a:off x="5105400" y="3451234"/>
            <a:ext cx="2849563" cy="382589"/>
            <a:chOff x="3400" y="2308"/>
            <a:chExt cx="1795" cy="241"/>
          </a:xfrm>
        </p:grpSpPr>
        <p:sp>
          <p:nvSpPr>
            <p:cNvPr id="56" name="Freeform 53"/>
            <p:cNvSpPr>
              <a:spLocks/>
            </p:cNvSpPr>
            <p:nvPr/>
          </p:nvSpPr>
          <p:spPr bwMode="auto">
            <a:xfrm>
              <a:off x="3400" y="2308"/>
              <a:ext cx="185" cy="185"/>
            </a:xfrm>
            <a:custGeom>
              <a:avLst/>
              <a:gdLst/>
              <a:ahLst/>
              <a:cxnLst>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4" y="542"/>
                </a:cxn>
                <a:cxn ang="0">
                  <a:pos x="248" y="552"/>
                </a:cxn>
                <a:cxn ang="0">
                  <a:pos x="304" y="552"/>
                </a:cxn>
                <a:cxn ang="0">
                  <a:pos x="331" y="548"/>
                </a:cxn>
                <a:cxn ang="0">
                  <a:pos x="356" y="542"/>
                </a:cxn>
                <a:cxn ang="0">
                  <a:pos x="394" y="526"/>
                </a:cxn>
                <a:cxn ang="0">
                  <a:pos x="430" y="507"/>
                </a:cxn>
                <a:cxn ang="0">
                  <a:pos x="473" y="472"/>
                </a:cxn>
                <a:cxn ang="0">
                  <a:pos x="508" y="429"/>
                </a:cxn>
                <a:cxn ang="0">
                  <a:pos x="527" y="393"/>
                </a:cxn>
                <a:cxn ang="0">
                  <a:pos x="542" y="356"/>
                </a:cxn>
                <a:cxn ang="0">
                  <a:pos x="548" y="331"/>
                </a:cxn>
                <a:cxn ang="0">
                  <a:pos x="552" y="303"/>
                </a:cxn>
                <a:cxn ang="0">
                  <a:pos x="552" y="248"/>
                </a:cxn>
                <a:cxn ang="0">
                  <a:pos x="542" y="194"/>
                </a:cxn>
                <a:cxn ang="0">
                  <a:pos x="521" y="145"/>
                </a:cxn>
                <a:cxn ang="0">
                  <a:pos x="491" y="100"/>
                </a:cxn>
                <a:cxn ang="0">
                  <a:pos x="451" y="60"/>
                </a:cxn>
                <a:cxn ang="0">
                  <a:pos x="406" y="30"/>
                </a:cxn>
                <a:cxn ang="0">
                  <a:pos x="356" y="10"/>
                </a:cxn>
                <a:cxn ang="0">
                  <a:pos x="304" y="1"/>
                </a:cxn>
                <a:cxn ang="0">
                  <a:pos x="248" y="1"/>
                </a:cxn>
                <a:cxn ang="0">
                  <a:pos x="194" y="10"/>
                </a:cxn>
                <a:cxn ang="0">
                  <a:pos x="145" y="30"/>
                </a:cxn>
                <a:cxn ang="0">
                  <a:pos x="101" y="60"/>
                </a:cxn>
              </a:cxnLst>
              <a:rect l="0" t="0" r="r" b="b"/>
              <a:pathLst>
                <a:path w="554" h="554">
                  <a:moveTo>
                    <a:pt x="80" y="80"/>
                  </a:moveTo>
                  <a:lnTo>
                    <a:pt x="60" y="100"/>
                  </a:lnTo>
                  <a:lnTo>
                    <a:pt x="44"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4" y="429"/>
                  </a:lnTo>
                  <a:lnTo>
                    <a:pt x="60" y="451"/>
                  </a:lnTo>
                  <a:lnTo>
                    <a:pt x="80" y="472"/>
                  </a:lnTo>
                  <a:lnTo>
                    <a:pt x="101" y="490"/>
                  </a:lnTo>
                  <a:lnTo>
                    <a:pt x="122" y="507"/>
                  </a:lnTo>
                  <a:lnTo>
                    <a:pt x="145" y="520"/>
                  </a:lnTo>
                  <a:lnTo>
                    <a:pt x="170" y="534"/>
                  </a:lnTo>
                  <a:lnTo>
                    <a:pt x="194" y="542"/>
                  </a:lnTo>
                  <a:lnTo>
                    <a:pt x="221" y="548"/>
                  </a:lnTo>
                  <a:lnTo>
                    <a:pt x="248" y="552"/>
                  </a:lnTo>
                  <a:lnTo>
                    <a:pt x="277" y="554"/>
                  </a:lnTo>
                  <a:lnTo>
                    <a:pt x="304" y="552"/>
                  </a:lnTo>
                  <a:lnTo>
                    <a:pt x="317" y="549"/>
                  </a:lnTo>
                  <a:lnTo>
                    <a:pt x="331" y="548"/>
                  </a:lnTo>
                  <a:lnTo>
                    <a:pt x="343" y="544"/>
                  </a:lnTo>
                  <a:lnTo>
                    <a:pt x="356"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2" y="356"/>
                  </a:lnTo>
                  <a:lnTo>
                    <a:pt x="545" y="343"/>
                  </a:lnTo>
                  <a:lnTo>
                    <a:pt x="548" y="331"/>
                  </a:lnTo>
                  <a:lnTo>
                    <a:pt x="550" y="316"/>
                  </a:lnTo>
                  <a:lnTo>
                    <a:pt x="552" y="303"/>
                  </a:lnTo>
                  <a:lnTo>
                    <a:pt x="554" y="277"/>
                  </a:lnTo>
                  <a:lnTo>
                    <a:pt x="552" y="248"/>
                  </a:lnTo>
                  <a:lnTo>
                    <a:pt x="548" y="220"/>
                  </a:lnTo>
                  <a:lnTo>
                    <a:pt x="542" y="194"/>
                  </a:lnTo>
                  <a:lnTo>
                    <a:pt x="534" y="170"/>
                  </a:lnTo>
                  <a:lnTo>
                    <a:pt x="521" y="145"/>
                  </a:lnTo>
                  <a:lnTo>
                    <a:pt x="508" y="122"/>
                  </a:lnTo>
                  <a:lnTo>
                    <a:pt x="491" y="100"/>
                  </a:lnTo>
                  <a:lnTo>
                    <a:pt x="473" y="80"/>
                  </a:lnTo>
                  <a:lnTo>
                    <a:pt x="451" y="60"/>
                  </a:lnTo>
                  <a:lnTo>
                    <a:pt x="430" y="44"/>
                  </a:lnTo>
                  <a:lnTo>
                    <a:pt x="406" y="30"/>
                  </a:lnTo>
                  <a:lnTo>
                    <a:pt x="383" y="19"/>
                  </a:lnTo>
                  <a:lnTo>
                    <a:pt x="356" y="10"/>
                  </a:lnTo>
                  <a:lnTo>
                    <a:pt x="331" y="4"/>
                  </a:lnTo>
                  <a:lnTo>
                    <a:pt x="304" y="1"/>
                  </a:lnTo>
                  <a:lnTo>
                    <a:pt x="277" y="0"/>
                  </a:lnTo>
                  <a:lnTo>
                    <a:pt x="248" y="1"/>
                  </a:lnTo>
                  <a:lnTo>
                    <a:pt x="221" y="4"/>
                  </a:lnTo>
                  <a:lnTo>
                    <a:pt x="194" y="10"/>
                  </a:lnTo>
                  <a:lnTo>
                    <a:pt x="170" y="19"/>
                  </a:lnTo>
                  <a:lnTo>
                    <a:pt x="145" y="30"/>
                  </a:lnTo>
                  <a:lnTo>
                    <a:pt x="122" y="44"/>
                  </a:lnTo>
                  <a:lnTo>
                    <a:pt x="101" y="60"/>
                  </a:lnTo>
                  <a:lnTo>
                    <a:pt x="80"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57" name="Rectangle 54"/>
            <p:cNvSpPr>
              <a:spLocks noChangeArrowheads="1"/>
            </p:cNvSpPr>
            <p:nvPr/>
          </p:nvSpPr>
          <p:spPr bwMode="auto">
            <a:xfrm>
              <a:off x="3463" y="2348"/>
              <a:ext cx="49"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5</a:t>
              </a:r>
              <a:endParaRPr lang="en-US" sz="1200" dirty="0">
                <a:solidFill>
                  <a:schemeClr val="tx1"/>
                </a:solidFill>
                <a:latin typeface="Calibri" pitchFamily="34" charset="0"/>
                <a:cs typeface="Calibri" pitchFamily="34" charset="0"/>
              </a:endParaRPr>
            </a:p>
          </p:txBody>
        </p:sp>
        <p:sp>
          <p:nvSpPr>
            <p:cNvPr id="58" name="Rectangle 55"/>
            <p:cNvSpPr>
              <a:spLocks noChangeArrowheads="1"/>
            </p:cNvSpPr>
            <p:nvPr/>
          </p:nvSpPr>
          <p:spPr bwMode="auto">
            <a:xfrm>
              <a:off x="3673" y="2321"/>
              <a:ext cx="1522"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Storage node sends restore metadata </a:t>
              </a:r>
              <a:endParaRPr lang="en-US" sz="1200" dirty="0">
                <a:solidFill>
                  <a:schemeClr val="tx1"/>
                </a:solidFill>
                <a:latin typeface="Calibri" pitchFamily="34" charset="0"/>
                <a:cs typeface="Calibri" pitchFamily="34" charset="0"/>
              </a:endParaRPr>
            </a:p>
          </p:txBody>
        </p:sp>
        <p:sp>
          <p:nvSpPr>
            <p:cNvPr id="59" name="Rectangle 56"/>
            <p:cNvSpPr>
              <a:spLocks noChangeArrowheads="1"/>
            </p:cNvSpPr>
            <p:nvPr/>
          </p:nvSpPr>
          <p:spPr bwMode="auto">
            <a:xfrm>
              <a:off x="3673" y="2433"/>
              <a:ext cx="687"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to backup server.</a:t>
              </a:r>
              <a:endParaRPr lang="en-US" sz="1200" dirty="0">
                <a:solidFill>
                  <a:schemeClr val="tx1"/>
                </a:solidFill>
                <a:latin typeface="Calibri" pitchFamily="34" charset="0"/>
                <a:cs typeface="Calibri" pitchFamily="34" charset="0"/>
              </a:endParaRPr>
            </a:p>
          </p:txBody>
        </p:sp>
      </p:grpSp>
      <p:grpSp>
        <p:nvGrpSpPr>
          <p:cNvPr id="60" name="Group 57"/>
          <p:cNvGrpSpPr>
            <a:grpSpLocks/>
          </p:cNvGrpSpPr>
          <p:nvPr/>
        </p:nvGrpSpPr>
        <p:grpSpPr bwMode="auto">
          <a:xfrm>
            <a:off x="5105400" y="3954463"/>
            <a:ext cx="3159127" cy="293688"/>
            <a:chOff x="3400" y="2708"/>
            <a:chExt cx="1990" cy="185"/>
          </a:xfrm>
        </p:grpSpPr>
        <p:sp>
          <p:nvSpPr>
            <p:cNvPr id="61" name="Freeform 58"/>
            <p:cNvSpPr>
              <a:spLocks/>
            </p:cNvSpPr>
            <p:nvPr/>
          </p:nvSpPr>
          <p:spPr bwMode="auto">
            <a:xfrm>
              <a:off x="3400" y="2708"/>
              <a:ext cx="185" cy="185"/>
            </a:xfrm>
            <a:custGeom>
              <a:avLst/>
              <a:gdLst/>
              <a:ahLst/>
              <a:cxnLst>
                <a:cxn ang="0">
                  <a:pos x="451" y="60"/>
                </a:cxn>
                <a:cxn ang="0">
                  <a:pos x="406" y="30"/>
                </a:cxn>
                <a:cxn ang="0">
                  <a:pos x="356" y="10"/>
                </a:cxn>
                <a:cxn ang="0">
                  <a:pos x="304" y="1"/>
                </a:cxn>
                <a:cxn ang="0">
                  <a:pos x="248" y="1"/>
                </a:cxn>
                <a:cxn ang="0">
                  <a:pos x="194" y="10"/>
                </a:cxn>
                <a:cxn ang="0">
                  <a:pos x="145" y="30"/>
                </a:cxn>
                <a:cxn ang="0">
                  <a:pos x="101" y="60"/>
                </a:cxn>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4" y="542"/>
                </a:cxn>
                <a:cxn ang="0">
                  <a:pos x="248" y="552"/>
                </a:cxn>
                <a:cxn ang="0">
                  <a:pos x="304" y="552"/>
                </a:cxn>
                <a:cxn ang="0">
                  <a:pos x="331" y="548"/>
                </a:cxn>
                <a:cxn ang="0">
                  <a:pos x="356" y="542"/>
                </a:cxn>
                <a:cxn ang="0">
                  <a:pos x="394" y="526"/>
                </a:cxn>
                <a:cxn ang="0">
                  <a:pos x="430" y="507"/>
                </a:cxn>
                <a:cxn ang="0">
                  <a:pos x="473" y="472"/>
                </a:cxn>
                <a:cxn ang="0">
                  <a:pos x="508" y="429"/>
                </a:cxn>
                <a:cxn ang="0">
                  <a:pos x="527" y="393"/>
                </a:cxn>
                <a:cxn ang="0">
                  <a:pos x="542" y="356"/>
                </a:cxn>
                <a:cxn ang="0">
                  <a:pos x="548" y="331"/>
                </a:cxn>
                <a:cxn ang="0">
                  <a:pos x="552" y="303"/>
                </a:cxn>
                <a:cxn ang="0">
                  <a:pos x="552" y="248"/>
                </a:cxn>
                <a:cxn ang="0">
                  <a:pos x="542" y="194"/>
                </a:cxn>
                <a:cxn ang="0">
                  <a:pos x="521" y="145"/>
                </a:cxn>
                <a:cxn ang="0">
                  <a:pos x="491" y="100"/>
                </a:cxn>
              </a:cxnLst>
              <a:rect l="0" t="0" r="r" b="b"/>
              <a:pathLst>
                <a:path w="554" h="554">
                  <a:moveTo>
                    <a:pt x="473" y="80"/>
                  </a:moveTo>
                  <a:lnTo>
                    <a:pt x="451" y="60"/>
                  </a:lnTo>
                  <a:lnTo>
                    <a:pt x="430" y="44"/>
                  </a:lnTo>
                  <a:lnTo>
                    <a:pt x="406" y="30"/>
                  </a:lnTo>
                  <a:lnTo>
                    <a:pt x="383" y="19"/>
                  </a:lnTo>
                  <a:lnTo>
                    <a:pt x="356" y="10"/>
                  </a:lnTo>
                  <a:lnTo>
                    <a:pt x="331" y="4"/>
                  </a:lnTo>
                  <a:lnTo>
                    <a:pt x="304" y="1"/>
                  </a:lnTo>
                  <a:lnTo>
                    <a:pt x="277" y="0"/>
                  </a:lnTo>
                  <a:lnTo>
                    <a:pt x="248" y="1"/>
                  </a:lnTo>
                  <a:lnTo>
                    <a:pt x="221" y="4"/>
                  </a:lnTo>
                  <a:lnTo>
                    <a:pt x="194" y="10"/>
                  </a:lnTo>
                  <a:lnTo>
                    <a:pt x="170" y="19"/>
                  </a:lnTo>
                  <a:lnTo>
                    <a:pt x="145" y="30"/>
                  </a:lnTo>
                  <a:lnTo>
                    <a:pt x="122" y="44"/>
                  </a:lnTo>
                  <a:lnTo>
                    <a:pt x="101" y="60"/>
                  </a:lnTo>
                  <a:lnTo>
                    <a:pt x="80" y="80"/>
                  </a:lnTo>
                  <a:lnTo>
                    <a:pt x="60" y="100"/>
                  </a:lnTo>
                  <a:lnTo>
                    <a:pt x="44"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4" y="429"/>
                  </a:lnTo>
                  <a:lnTo>
                    <a:pt x="60" y="451"/>
                  </a:lnTo>
                  <a:lnTo>
                    <a:pt x="80" y="472"/>
                  </a:lnTo>
                  <a:lnTo>
                    <a:pt x="101" y="490"/>
                  </a:lnTo>
                  <a:lnTo>
                    <a:pt x="122" y="507"/>
                  </a:lnTo>
                  <a:lnTo>
                    <a:pt x="145" y="520"/>
                  </a:lnTo>
                  <a:lnTo>
                    <a:pt x="170" y="534"/>
                  </a:lnTo>
                  <a:lnTo>
                    <a:pt x="194" y="542"/>
                  </a:lnTo>
                  <a:lnTo>
                    <a:pt x="221" y="548"/>
                  </a:lnTo>
                  <a:lnTo>
                    <a:pt x="248" y="552"/>
                  </a:lnTo>
                  <a:lnTo>
                    <a:pt x="277" y="554"/>
                  </a:lnTo>
                  <a:lnTo>
                    <a:pt x="304" y="552"/>
                  </a:lnTo>
                  <a:lnTo>
                    <a:pt x="317" y="549"/>
                  </a:lnTo>
                  <a:lnTo>
                    <a:pt x="331" y="548"/>
                  </a:lnTo>
                  <a:lnTo>
                    <a:pt x="343" y="544"/>
                  </a:lnTo>
                  <a:lnTo>
                    <a:pt x="356"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2" y="356"/>
                  </a:lnTo>
                  <a:lnTo>
                    <a:pt x="545" y="343"/>
                  </a:lnTo>
                  <a:lnTo>
                    <a:pt x="548" y="331"/>
                  </a:lnTo>
                  <a:lnTo>
                    <a:pt x="550" y="316"/>
                  </a:lnTo>
                  <a:lnTo>
                    <a:pt x="552" y="303"/>
                  </a:lnTo>
                  <a:lnTo>
                    <a:pt x="554" y="277"/>
                  </a:lnTo>
                  <a:lnTo>
                    <a:pt x="552" y="248"/>
                  </a:lnTo>
                  <a:lnTo>
                    <a:pt x="548" y="220"/>
                  </a:lnTo>
                  <a:lnTo>
                    <a:pt x="542" y="194"/>
                  </a:lnTo>
                  <a:lnTo>
                    <a:pt x="534" y="170"/>
                  </a:lnTo>
                  <a:lnTo>
                    <a:pt x="521" y="145"/>
                  </a:lnTo>
                  <a:lnTo>
                    <a:pt x="508" y="122"/>
                  </a:lnTo>
                  <a:lnTo>
                    <a:pt x="491" y="100"/>
                  </a:lnTo>
                  <a:lnTo>
                    <a:pt x="473"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62" name="Rectangle 59"/>
            <p:cNvSpPr>
              <a:spLocks noChangeArrowheads="1"/>
            </p:cNvSpPr>
            <p:nvPr/>
          </p:nvSpPr>
          <p:spPr bwMode="auto">
            <a:xfrm>
              <a:off x="3463" y="2748"/>
              <a:ext cx="49"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6</a:t>
              </a:r>
              <a:endParaRPr lang="en-US" sz="1200" dirty="0">
                <a:solidFill>
                  <a:schemeClr val="tx1"/>
                </a:solidFill>
                <a:latin typeface="Calibri" pitchFamily="34" charset="0"/>
                <a:cs typeface="Calibri" pitchFamily="34" charset="0"/>
              </a:endParaRPr>
            </a:p>
          </p:txBody>
        </p:sp>
        <p:sp>
          <p:nvSpPr>
            <p:cNvPr id="63" name="Rectangle 60"/>
            <p:cNvSpPr>
              <a:spLocks noChangeArrowheads="1"/>
            </p:cNvSpPr>
            <p:nvPr/>
          </p:nvSpPr>
          <p:spPr bwMode="auto">
            <a:xfrm>
              <a:off x="3673" y="2745"/>
              <a:ext cx="1717"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Backup server updates the backup catalog.</a:t>
              </a:r>
              <a:endParaRPr lang="en-US" sz="1200" dirty="0">
                <a:solidFill>
                  <a:schemeClr val="tx1"/>
                </a:solidFill>
                <a:latin typeface="Calibri" pitchFamily="34" charset="0"/>
                <a:cs typeface="Calibri" pitchFamily="34" charset="0"/>
              </a:endParaRPr>
            </a:p>
          </p:txBody>
        </p:sp>
      </p:grpSp>
      <p:grpSp>
        <p:nvGrpSpPr>
          <p:cNvPr id="72" name="Group 11"/>
          <p:cNvGrpSpPr>
            <a:grpSpLocks/>
          </p:cNvGrpSpPr>
          <p:nvPr/>
        </p:nvGrpSpPr>
        <p:grpSpPr bwMode="auto">
          <a:xfrm>
            <a:off x="762000" y="3517900"/>
            <a:ext cx="292100" cy="292100"/>
            <a:chOff x="1345" y="3101"/>
            <a:chExt cx="184" cy="184"/>
          </a:xfrm>
        </p:grpSpPr>
        <p:sp>
          <p:nvSpPr>
            <p:cNvPr id="75" name="Freeform 12"/>
            <p:cNvSpPr>
              <a:spLocks/>
            </p:cNvSpPr>
            <p:nvPr/>
          </p:nvSpPr>
          <p:spPr bwMode="auto">
            <a:xfrm>
              <a:off x="1345" y="3101"/>
              <a:ext cx="184" cy="184"/>
            </a:xfrm>
            <a:custGeom>
              <a:avLst/>
              <a:gdLst/>
              <a:ahLst/>
              <a:cxnLst>
                <a:cxn ang="0">
                  <a:pos x="248" y="1"/>
                </a:cxn>
                <a:cxn ang="0">
                  <a:pos x="194" y="11"/>
                </a:cxn>
                <a:cxn ang="0">
                  <a:pos x="145" y="30"/>
                </a:cxn>
                <a:cxn ang="0">
                  <a:pos x="101" y="60"/>
                </a:cxn>
                <a:cxn ang="0">
                  <a:pos x="60" y="101"/>
                </a:cxn>
                <a:cxn ang="0">
                  <a:pos x="30" y="145"/>
                </a:cxn>
                <a:cxn ang="0">
                  <a:pos x="11" y="194"/>
                </a:cxn>
                <a:cxn ang="0">
                  <a:pos x="1" y="248"/>
                </a:cxn>
                <a:cxn ang="0">
                  <a:pos x="1" y="303"/>
                </a:cxn>
                <a:cxn ang="0">
                  <a:pos x="11" y="356"/>
                </a:cxn>
                <a:cxn ang="0">
                  <a:pos x="30" y="405"/>
                </a:cxn>
                <a:cxn ang="0">
                  <a:pos x="60" y="451"/>
                </a:cxn>
                <a:cxn ang="0">
                  <a:pos x="101" y="491"/>
                </a:cxn>
                <a:cxn ang="0">
                  <a:pos x="145" y="521"/>
                </a:cxn>
                <a:cxn ang="0">
                  <a:pos x="194" y="542"/>
                </a:cxn>
                <a:cxn ang="0">
                  <a:pos x="248" y="552"/>
                </a:cxn>
                <a:cxn ang="0">
                  <a:pos x="304" y="552"/>
                </a:cxn>
                <a:cxn ang="0">
                  <a:pos x="331" y="548"/>
                </a:cxn>
                <a:cxn ang="0">
                  <a:pos x="356" y="542"/>
                </a:cxn>
                <a:cxn ang="0">
                  <a:pos x="394" y="527"/>
                </a:cxn>
                <a:cxn ang="0">
                  <a:pos x="430" y="507"/>
                </a:cxn>
                <a:cxn ang="0">
                  <a:pos x="473" y="473"/>
                </a:cxn>
                <a:cxn ang="0">
                  <a:pos x="508" y="429"/>
                </a:cxn>
                <a:cxn ang="0">
                  <a:pos x="527" y="393"/>
                </a:cxn>
                <a:cxn ang="0">
                  <a:pos x="542" y="356"/>
                </a:cxn>
                <a:cxn ang="0">
                  <a:pos x="548" y="331"/>
                </a:cxn>
                <a:cxn ang="0">
                  <a:pos x="552" y="303"/>
                </a:cxn>
                <a:cxn ang="0">
                  <a:pos x="552" y="248"/>
                </a:cxn>
                <a:cxn ang="0">
                  <a:pos x="542" y="194"/>
                </a:cxn>
                <a:cxn ang="0">
                  <a:pos x="521" y="145"/>
                </a:cxn>
                <a:cxn ang="0">
                  <a:pos x="491" y="101"/>
                </a:cxn>
                <a:cxn ang="0">
                  <a:pos x="451" y="60"/>
                </a:cxn>
                <a:cxn ang="0">
                  <a:pos x="406" y="30"/>
                </a:cxn>
                <a:cxn ang="0">
                  <a:pos x="356" y="11"/>
                </a:cxn>
                <a:cxn ang="0">
                  <a:pos x="304" y="1"/>
                </a:cxn>
              </a:cxnLst>
              <a:rect l="0" t="0" r="r" b="b"/>
              <a:pathLst>
                <a:path w="554" h="554">
                  <a:moveTo>
                    <a:pt x="277" y="0"/>
                  </a:moveTo>
                  <a:lnTo>
                    <a:pt x="248" y="1"/>
                  </a:lnTo>
                  <a:lnTo>
                    <a:pt x="221" y="5"/>
                  </a:lnTo>
                  <a:lnTo>
                    <a:pt x="194" y="11"/>
                  </a:lnTo>
                  <a:lnTo>
                    <a:pt x="170" y="19"/>
                  </a:lnTo>
                  <a:lnTo>
                    <a:pt x="145" y="30"/>
                  </a:lnTo>
                  <a:lnTo>
                    <a:pt x="122" y="44"/>
                  </a:lnTo>
                  <a:lnTo>
                    <a:pt x="101" y="60"/>
                  </a:lnTo>
                  <a:lnTo>
                    <a:pt x="80" y="80"/>
                  </a:lnTo>
                  <a:lnTo>
                    <a:pt x="60" y="101"/>
                  </a:lnTo>
                  <a:lnTo>
                    <a:pt x="44" y="122"/>
                  </a:lnTo>
                  <a:lnTo>
                    <a:pt x="30" y="145"/>
                  </a:lnTo>
                  <a:lnTo>
                    <a:pt x="19" y="170"/>
                  </a:lnTo>
                  <a:lnTo>
                    <a:pt x="11" y="194"/>
                  </a:lnTo>
                  <a:lnTo>
                    <a:pt x="5" y="221"/>
                  </a:lnTo>
                  <a:lnTo>
                    <a:pt x="1" y="248"/>
                  </a:lnTo>
                  <a:lnTo>
                    <a:pt x="0" y="277"/>
                  </a:lnTo>
                  <a:lnTo>
                    <a:pt x="1" y="303"/>
                  </a:lnTo>
                  <a:lnTo>
                    <a:pt x="5" y="331"/>
                  </a:lnTo>
                  <a:lnTo>
                    <a:pt x="11" y="356"/>
                  </a:lnTo>
                  <a:lnTo>
                    <a:pt x="19" y="383"/>
                  </a:lnTo>
                  <a:lnTo>
                    <a:pt x="30" y="405"/>
                  </a:lnTo>
                  <a:lnTo>
                    <a:pt x="44" y="429"/>
                  </a:lnTo>
                  <a:lnTo>
                    <a:pt x="60" y="451"/>
                  </a:lnTo>
                  <a:lnTo>
                    <a:pt x="80" y="473"/>
                  </a:lnTo>
                  <a:lnTo>
                    <a:pt x="101" y="491"/>
                  </a:lnTo>
                  <a:lnTo>
                    <a:pt x="122" y="507"/>
                  </a:lnTo>
                  <a:lnTo>
                    <a:pt x="145" y="521"/>
                  </a:lnTo>
                  <a:lnTo>
                    <a:pt x="170" y="534"/>
                  </a:lnTo>
                  <a:lnTo>
                    <a:pt x="194" y="542"/>
                  </a:lnTo>
                  <a:lnTo>
                    <a:pt x="221" y="548"/>
                  </a:lnTo>
                  <a:lnTo>
                    <a:pt x="248" y="552"/>
                  </a:lnTo>
                  <a:lnTo>
                    <a:pt x="277" y="554"/>
                  </a:lnTo>
                  <a:lnTo>
                    <a:pt x="304" y="552"/>
                  </a:lnTo>
                  <a:lnTo>
                    <a:pt x="317" y="549"/>
                  </a:lnTo>
                  <a:lnTo>
                    <a:pt x="331" y="548"/>
                  </a:lnTo>
                  <a:lnTo>
                    <a:pt x="343" y="545"/>
                  </a:lnTo>
                  <a:lnTo>
                    <a:pt x="356" y="542"/>
                  </a:lnTo>
                  <a:lnTo>
                    <a:pt x="383" y="534"/>
                  </a:lnTo>
                  <a:lnTo>
                    <a:pt x="394" y="527"/>
                  </a:lnTo>
                  <a:lnTo>
                    <a:pt x="406" y="521"/>
                  </a:lnTo>
                  <a:lnTo>
                    <a:pt x="430" y="507"/>
                  </a:lnTo>
                  <a:lnTo>
                    <a:pt x="451" y="491"/>
                  </a:lnTo>
                  <a:lnTo>
                    <a:pt x="473" y="473"/>
                  </a:lnTo>
                  <a:lnTo>
                    <a:pt x="491" y="451"/>
                  </a:lnTo>
                  <a:lnTo>
                    <a:pt x="508" y="429"/>
                  </a:lnTo>
                  <a:lnTo>
                    <a:pt x="521" y="405"/>
                  </a:lnTo>
                  <a:lnTo>
                    <a:pt x="527" y="393"/>
                  </a:lnTo>
                  <a:lnTo>
                    <a:pt x="534" y="383"/>
                  </a:lnTo>
                  <a:lnTo>
                    <a:pt x="542" y="356"/>
                  </a:lnTo>
                  <a:lnTo>
                    <a:pt x="545" y="343"/>
                  </a:lnTo>
                  <a:lnTo>
                    <a:pt x="548" y="331"/>
                  </a:lnTo>
                  <a:lnTo>
                    <a:pt x="550" y="317"/>
                  </a:lnTo>
                  <a:lnTo>
                    <a:pt x="552" y="303"/>
                  </a:lnTo>
                  <a:lnTo>
                    <a:pt x="554" y="277"/>
                  </a:lnTo>
                  <a:lnTo>
                    <a:pt x="552" y="248"/>
                  </a:lnTo>
                  <a:lnTo>
                    <a:pt x="548" y="221"/>
                  </a:lnTo>
                  <a:lnTo>
                    <a:pt x="542" y="194"/>
                  </a:lnTo>
                  <a:lnTo>
                    <a:pt x="534" y="170"/>
                  </a:lnTo>
                  <a:lnTo>
                    <a:pt x="521" y="145"/>
                  </a:lnTo>
                  <a:lnTo>
                    <a:pt x="508" y="122"/>
                  </a:lnTo>
                  <a:lnTo>
                    <a:pt x="491" y="101"/>
                  </a:lnTo>
                  <a:lnTo>
                    <a:pt x="473" y="80"/>
                  </a:lnTo>
                  <a:lnTo>
                    <a:pt x="451" y="60"/>
                  </a:lnTo>
                  <a:lnTo>
                    <a:pt x="430" y="44"/>
                  </a:lnTo>
                  <a:lnTo>
                    <a:pt x="406" y="30"/>
                  </a:lnTo>
                  <a:lnTo>
                    <a:pt x="383" y="19"/>
                  </a:lnTo>
                  <a:lnTo>
                    <a:pt x="356" y="11"/>
                  </a:lnTo>
                  <a:lnTo>
                    <a:pt x="331" y="5"/>
                  </a:lnTo>
                  <a:lnTo>
                    <a:pt x="304" y="1"/>
                  </a:lnTo>
                  <a:lnTo>
                    <a:pt x="277" y="0"/>
                  </a:lnTo>
                </a:path>
              </a:pathLst>
            </a:custGeom>
            <a:noFill/>
            <a:ln w="25400">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76" name="Rectangle 13"/>
            <p:cNvSpPr>
              <a:spLocks noChangeArrowheads="1"/>
            </p:cNvSpPr>
            <p:nvPr/>
          </p:nvSpPr>
          <p:spPr bwMode="auto">
            <a:xfrm>
              <a:off x="1413" y="3140"/>
              <a:ext cx="41" cy="97"/>
            </a:xfrm>
            <a:prstGeom prst="rect">
              <a:avLst/>
            </a:prstGeom>
            <a:noFill/>
            <a:ln w="9525">
              <a:noFill/>
              <a:miter lim="800000"/>
              <a:headEnd/>
              <a:tailEnd/>
            </a:ln>
          </p:spPr>
          <p:txBody>
            <a:bodyPr wrap="none" lIns="0" tIns="0" rIns="0" bIns="0">
              <a:spAutoFit/>
            </a:bodyPr>
            <a:lstStyle/>
            <a:p>
              <a:pPr marL="354013" indent="-354013" defTabSz="941388"/>
              <a:r>
                <a:rPr lang="en-US" sz="1000" b="1" dirty="0">
                  <a:solidFill>
                    <a:srgbClr val="000000"/>
                  </a:solidFill>
                  <a:latin typeface="Calibri" pitchFamily="34" charset="0"/>
                  <a:cs typeface="Calibri" pitchFamily="34" charset="0"/>
                </a:rPr>
                <a:t>1</a:t>
              </a:r>
              <a:endParaRPr lang="en-US" dirty="0">
                <a:latin typeface="Calibri" pitchFamily="34" charset="0"/>
                <a:cs typeface="Calibri" pitchFamily="34" charset="0"/>
              </a:endParaRPr>
            </a:p>
          </p:txBody>
        </p:sp>
      </p:grpSp>
      <p:grpSp>
        <p:nvGrpSpPr>
          <p:cNvPr id="82" name="Group 57"/>
          <p:cNvGrpSpPr>
            <a:grpSpLocks/>
          </p:cNvGrpSpPr>
          <p:nvPr/>
        </p:nvGrpSpPr>
        <p:grpSpPr bwMode="auto">
          <a:xfrm>
            <a:off x="5105400" y="1123954"/>
            <a:ext cx="3062293" cy="428626"/>
            <a:chOff x="3400" y="2708"/>
            <a:chExt cx="1929" cy="270"/>
          </a:xfrm>
        </p:grpSpPr>
        <p:sp>
          <p:nvSpPr>
            <p:cNvPr id="83" name="Freeform 58"/>
            <p:cNvSpPr>
              <a:spLocks/>
            </p:cNvSpPr>
            <p:nvPr/>
          </p:nvSpPr>
          <p:spPr bwMode="auto">
            <a:xfrm>
              <a:off x="3400" y="2708"/>
              <a:ext cx="185" cy="185"/>
            </a:xfrm>
            <a:custGeom>
              <a:avLst/>
              <a:gdLst/>
              <a:ahLst/>
              <a:cxnLst>
                <a:cxn ang="0">
                  <a:pos x="451" y="60"/>
                </a:cxn>
                <a:cxn ang="0">
                  <a:pos x="406" y="30"/>
                </a:cxn>
                <a:cxn ang="0">
                  <a:pos x="356" y="10"/>
                </a:cxn>
                <a:cxn ang="0">
                  <a:pos x="304" y="1"/>
                </a:cxn>
                <a:cxn ang="0">
                  <a:pos x="248" y="1"/>
                </a:cxn>
                <a:cxn ang="0">
                  <a:pos x="194" y="10"/>
                </a:cxn>
                <a:cxn ang="0">
                  <a:pos x="145" y="30"/>
                </a:cxn>
                <a:cxn ang="0">
                  <a:pos x="101" y="60"/>
                </a:cxn>
                <a:cxn ang="0">
                  <a:pos x="60" y="100"/>
                </a:cxn>
                <a:cxn ang="0">
                  <a:pos x="30" y="145"/>
                </a:cxn>
                <a:cxn ang="0">
                  <a:pos x="11" y="194"/>
                </a:cxn>
                <a:cxn ang="0">
                  <a:pos x="1" y="248"/>
                </a:cxn>
                <a:cxn ang="0">
                  <a:pos x="1" y="303"/>
                </a:cxn>
                <a:cxn ang="0">
                  <a:pos x="11" y="356"/>
                </a:cxn>
                <a:cxn ang="0">
                  <a:pos x="30" y="405"/>
                </a:cxn>
                <a:cxn ang="0">
                  <a:pos x="60" y="451"/>
                </a:cxn>
                <a:cxn ang="0">
                  <a:pos x="101" y="490"/>
                </a:cxn>
                <a:cxn ang="0">
                  <a:pos x="145" y="520"/>
                </a:cxn>
                <a:cxn ang="0">
                  <a:pos x="194" y="542"/>
                </a:cxn>
                <a:cxn ang="0">
                  <a:pos x="248" y="552"/>
                </a:cxn>
                <a:cxn ang="0">
                  <a:pos x="304" y="552"/>
                </a:cxn>
                <a:cxn ang="0">
                  <a:pos x="331" y="548"/>
                </a:cxn>
                <a:cxn ang="0">
                  <a:pos x="356" y="542"/>
                </a:cxn>
                <a:cxn ang="0">
                  <a:pos x="394" y="526"/>
                </a:cxn>
                <a:cxn ang="0">
                  <a:pos x="430" y="507"/>
                </a:cxn>
                <a:cxn ang="0">
                  <a:pos x="473" y="472"/>
                </a:cxn>
                <a:cxn ang="0">
                  <a:pos x="508" y="429"/>
                </a:cxn>
                <a:cxn ang="0">
                  <a:pos x="527" y="393"/>
                </a:cxn>
                <a:cxn ang="0">
                  <a:pos x="542" y="356"/>
                </a:cxn>
                <a:cxn ang="0">
                  <a:pos x="548" y="331"/>
                </a:cxn>
                <a:cxn ang="0">
                  <a:pos x="552" y="303"/>
                </a:cxn>
                <a:cxn ang="0">
                  <a:pos x="552" y="248"/>
                </a:cxn>
                <a:cxn ang="0">
                  <a:pos x="542" y="194"/>
                </a:cxn>
                <a:cxn ang="0">
                  <a:pos x="521" y="145"/>
                </a:cxn>
                <a:cxn ang="0">
                  <a:pos x="491" y="100"/>
                </a:cxn>
              </a:cxnLst>
              <a:rect l="0" t="0" r="r" b="b"/>
              <a:pathLst>
                <a:path w="554" h="554">
                  <a:moveTo>
                    <a:pt x="473" y="80"/>
                  </a:moveTo>
                  <a:lnTo>
                    <a:pt x="451" y="60"/>
                  </a:lnTo>
                  <a:lnTo>
                    <a:pt x="430" y="44"/>
                  </a:lnTo>
                  <a:lnTo>
                    <a:pt x="406" y="30"/>
                  </a:lnTo>
                  <a:lnTo>
                    <a:pt x="383" y="19"/>
                  </a:lnTo>
                  <a:lnTo>
                    <a:pt x="356" y="10"/>
                  </a:lnTo>
                  <a:lnTo>
                    <a:pt x="331" y="4"/>
                  </a:lnTo>
                  <a:lnTo>
                    <a:pt x="304" y="1"/>
                  </a:lnTo>
                  <a:lnTo>
                    <a:pt x="277" y="0"/>
                  </a:lnTo>
                  <a:lnTo>
                    <a:pt x="248" y="1"/>
                  </a:lnTo>
                  <a:lnTo>
                    <a:pt x="221" y="4"/>
                  </a:lnTo>
                  <a:lnTo>
                    <a:pt x="194" y="10"/>
                  </a:lnTo>
                  <a:lnTo>
                    <a:pt x="170" y="19"/>
                  </a:lnTo>
                  <a:lnTo>
                    <a:pt x="145" y="30"/>
                  </a:lnTo>
                  <a:lnTo>
                    <a:pt x="122" y="44"/>
                  </a:lnTo>
                  <a:lnTo>
                    <a:pt x="101" y="60"/>
                  </a:lnTo>
                  <a:lnTo>
                    <a:pt x="80" y="80"/>
                  </a:lnTo>
                  <a:lnTo>
                    <a:pt x="60" y="100"/>
                  </a:lnTo>
                  <a:lnTo>
                    <a:pt x="44" y="122"/>
                  </a:lnTo>
                  <a:lnTo>
                    <a:pt x="30" y="145"/>
                  </a:lnTo>
                  <a:lnTo>
                    <a:pt x="19" y="170"/>
                  </a:lnTo>
                  <a:lnTo>
                    <a:pt x="11" y="194"/>
                  </a:lnTo>
                  <a:lnTo>
                    <a:pt x="5" y="220"/>
                  </a:lnTo>
                  <a:lnTo>
                    <a:pt x="1" y="248"/>
                  </a:lnTo>
                  <a:lnTo>
                    <a:pt x="0" y="277"/>
                  </a:lnTo>
                  <a:lnTo>
                    <a:pt x="1" y="303"/>
                  </a:lnTo>
                  <a:lnTo>
                    <a:pt x="5" y="331"/>
                  </a:lnTo>
                  <a:lnTo>
                    <a:pt x="11" y="356"/>
                  </a:lnTo>
                  <a:lnTo>
                    <a:pt x="19" y="382"/>
                  </a:lnTo>
                  <a:lnTo>
                    <a:pt x="30" y="405"/>
                  </a:lnTo>
                  <a:lnTo>
                    <a:pt x="44" y="429"/>
                  </a:lnTo>
                  <a:lnTo>
                    <a:pt x="60" y="451"/>
                  </a:lnTo>
                  <a:lnTo>
                    <a:pt x="80" y="472"/>
                  </a:lnTo>
                  <a:lnTo>
                    <a:pt x="101" y="490"/>
                  </a:lnTo>
                  <a:lnTo>
                    <a:pt x="122" y="507"/>
                  </a:lnTo>
                  <a:lnTo>
                    <a:pt x="145" y="520"/>
                  </a:lnTo>
                  <a:lnTo>
                    <a:pt x="170" y="534"/>
                  </a:lnTo>
                  <a:lnTo>
                    <a:pt x="194" y="542"/>
                  </a:lnTo>
                  <a:lnTo>
                    <a:pt x="221" y="548"/>
                  </a:lnTo>
                  <a:lnTo>
                    <a:pt x="248" y="552"/>
                  </a:lnTo>
                  <a:lnTo>
                    <a:pt x="277" y="554"/>
                  </a:lnTo>
                  <a:lnTo>
                    <a:pt x="304" y="552"/>
                  </a:lnTo>
                  <a:lnTo>
                    <a:pt x="317" y="549"/>
                  </a:lnTo>
                  <a:lnTo>
                    <a:pt x="331" y="548"/>
                  </a:lnTo>
                  <a:lnTo>
                    <a:pt x="343" y="544"/>
                  </a:lnTo>
                  <a:lnTo>
                    <a:pt x="356" y="542"/>
                  </a:lnTo>
                  <a:lnTo>
                    <a:pt x="383" y="534"/>
                  </a:lnTo>
                  <a:lnTo>
                    <a:pt x="394" y="526"/>
                  </a:lnTo>
                  <a:lnTo>
                    <a:pt x="406" y="520"/>
                  </a:lnTo>
                  <a:lnTo>
                    <a:pt x="430" y="507"/>
                  </a:lnTo>
                  <a:lnTo>
                    <a:pt x="451" y="490"/>
                  </a:lnTo>
                  <a:lnTo>
                    <a:pt x="473" y="472"/>
                  </a:lnTo>
                  <a:lnTo>
                    <a:pt x="491" y="451"/>
                  </a:lnTo>
                  <a:lnTo>
                    <a:pt x="508" y="429"/>
                  </a:lnTo>
                  <a:lnTo>
                    <a:pt x="521" y="405"/>
                  </a:lnTo>
                  <a:lnTo>
                    <a:pt x="527" y="393"/>
                  </a:lnTo>
                  <a:lnTo>
                    <a:pt x="534" y="382"/>
                  </a:lnTo>
                  <a:lnTo>
                    <a:pt x="542" y="356"/>
                  </a:lnTo>
                  <a:lnTo>
                    <a:pt x="545" y="343"/>
                  </a:lnTo>
                  <a:lnTo>
                    <a:pt x="548" y="331"/>
                  </a:lnTo>
                  <a:lnTo>
                    <a:pt x="550" y="316"/>
                  </a:lnTo>
                  <a:lnTo>
                    <a:pt x="552" y="303"/>
                  </a:lnTo>
                  <a:lnTo>
                    <a:pt x="554" y="277"/>
                  </a:lnTo>
                  <a:lnTo>
                    <a:pt x="552" y="248"/>
                  </a:lnTo>
                  <a:lnTo>
                    <a:pt x="548" y="220"/>
                  </a:lnTo>
                  <a:lnTo>
                    <a:pt x="542" y="194"/>
                  </a:lnTo>
                  <a:lnTo>
                    <a:pt x="534" y="170"/>
                  </a:lnTo>
                  <a:lnTo>
                    <a:pt x="521" y="145"/>
                  </a:lnTo>
                  <a:lnTo>
                    <a:pt x="508" y="122"/>
                  </a:lnTo>
                  <a:lnTo>
                    <a:pt x="491" y="100"/>
                  </a:lnTo>
                  <a:lnTo>
                    <a:pt x="473" y="80"/>
                  </a:lnTo>
                </a:path>
              </a:pathLst>
            </a:custGeom>
            <a:noFill/>
            <a:ln w="25400">
              <a:solidFill>
                <a:srgbClr val="000000"/>
              </a:solidFill>
              <a:prstDash val="solid"/>
              <a:round/>
              <a:headEnd/>
              <a:tailEnd/>
            </a:ln>
          </p:spPr>
          <p:txBody>
            <a:bodyPr/>
            <a:lstStyle/>
            <a:p>
              <a:endParaRPr lang="en-US" sz="1200">
                <a:latin typeface="Calibri" pitchFamily="34" charset="0"/>
                <a:cs typeface="Calibri" pitchFamily="34" charset="0"/>
              </a:endParaRPr>
            </a:p>
          </p:txBody>
        </p:sp>
        <p:sp>
          <p:nvSpPr>
            <p:cNvPr id="84" name="Rectangle 59"/>
            <p:cNvSpPr>
              <a:spLocks noChangeArrowheads="1"/>
            </p:cNvSpPr>
            <p:nvPr/>
          </p:nvSpPr>
          <p:spPr bwMode="auto">
            <a:xfrm>
              <a:off x="3463" y="2748"/>
              <a:ext cx="49" cy="116"/>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1</a:t>
              </a:r>
              <a:endParaRPr lang="en-US" sz="1200" dirty="0">
                <a:solidFill>
                  <a:schemeClr val="tx1"/>
                </a:solidFill>
                <a:latin typeface="Calibri" pitchFamily="34" charset="0"/>
                <a:cs typeface="Calibri" pitchFamily="34" charset="0"/>
              </a:endParaRPr>
            </a:p>
          </p:txBody>
        </p:sp>
        <p:sp>
          <p:nvSpPr>
            <p:cNvPr id="85" name="Rectangle 60"/>
            <p:cNvSpPr>
              <a:spLocks noChangeArrowheads="1"/>
            </p:cNvSpPr>
            <p:nvPr/>
          </p:nvSpPr>
          <p:spPr bwMode="auto">
            <a:xfrm>
              <a:off x="3681" y="2745"/>
              <a:ext cx="1648" cy="233"/>
            </a:xfrm>
            <a:prstGeom prst="rect">
              <a:avLst/>
            </a:prstGeom>
            <a:noFill/>
            <a:ln w="9525">
              <a:noFill/>
              <a:miter lim="800000"/>
              <a:headEnd/>
              <a:tailEnd/>
            </a:ln>
          </p:spPr>
          <p:txBody>
            <a:bodyPr wrap="none" lIns="0" tIns="0" rIns="0" bIns="0">
              <a:spAutoFit/>
            </a:bodyPr>
            <a:lstStyle/>
            <a:p>
              <a:pPr marL="354013" indent="-354013" defTabSz="941388"/>
              <a:r>
                <a:rPr lang="en-US" sz="1200" b="1" dirty="0">
                  <a:solidFill>
                    <a:schemeClr val="tx1"/>
                  </a:solidFill>
                  <a:latin typeface="Calibri" pitchFamily="34" charset="0"/>
                  <a:cs typeface="Calibri" pitchFamily="34" charset="0"/>
                </a:rPr>
                <a:t>Backup client requests backup server for </a:t>
              </a:r>
            </a:p>
            <a:p>
              <a:pPr marL="354013" indent="-354013" defTabSz="941388"/>
              <a:r>
                <a:rPr lang="en-US" sz="1200" b="1" dirty="0">
                  <a:solidFill>
                    <a:schemeClr val="tx1"/>
                  </a:solidFill>
                  <a:latin typeface="Calibri" pitchFamily="34" charset="0"/>
                  <a:cs typeface="Calibri" pitchFamily="34" charset="0"/>
                </a:rPr>
                <a:t>data restore.</a:t>
              </a:r>
              <a:endParaRPr lang="en-US" sz="1200" dirty="0">
                <a:solidFill>
                  <a:schemeClr val="tx1"/>
                </a:solidFill>
                <a:latin typeface="Calibri" pitchFamily="34" charset="0"/>
                <a:cs typeface="Calibri" pitchFamily="34" charset="0"/>
              </a:endParaRPr>
            </a:p>
          </p:txBody>
        </p:sp>
      </p:grpSp>
      <p:pic>
        <p:nvPicPr>
          <p:cNvPr id="80"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485775" y="1457325"/>
            <a:ext cx="543668" cy="1256676"/>
          </a:xfrm>
          <a:prstGeom prst="rect">
            <a:avLst/>
          </a:prstGeom>
          <a:noFill/>
        </p:spPr>
      </p:pic>
      <p:pic>
        <p:nvPicPr>
          <p:cNvPr id="81"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095375" y="1466850"/>
            <a:ext cx="543668" cy="1256676"/>
          </a:xfrm>
          <a:prstGeom prst="rect">
            <a:avLst/>
          </a:prstGeom>
          <a:noFill/>
        </p:spPr>
      </p:pic>
      <p:pic>
        <p:nvPicPr>
          <p:cNvPr id="86"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704975" y="1467474"/>
            <a:ext cx="543668" cy="1256676"/>
          </a:xfrm>
          <a:prstGeom prst="rect">
            <a:avLst/>
          </a:prstGeom>
          <a:noFill/>
        </p:spPr>
      </p:pic>
      <p:pic>
        <p:nvPicPr>
          <p:cNvPr id="87"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2724150" y="4515474"/>
            <a:ext cx="543668" cy="1256676"/>
          </a:xfrm>
          <a:prstGeom prst="rect">
            <a:avLst/>
          </a:prstGeom>
          <a:noFill/>
        </p:spPr>
      </p:pic>
      <p:grpSp>
        <p:nvGrpSpPr>
          <p:cNvPr id="88" name="Group 87"/>
          <p:cNvGrpSpPr/>
          <p:nvPr/>
        </p:nvGrpSpPr>
        <p:grpSpPr>
          <a:xfrm>
            <a:off x="904875" y="4496424"/>
            <a:ext cx="543668" cy="1256676"/>
            <a:chOff x="142132" y="3086724"/>
            <a:chExt cx="543668" cy="1256676"/>
          </a:xfrm>
        </p:grpSpPr>
        <p:pic>
          <p:nvPicPr>
            <p:cNvPr id="89"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90"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228600" y="3785061"/>
              <a:ext cx="152400" cy="152400"/>
            </a:xfrm>
            <a:prstGeom prst="rect">
              <a:avLst/>
            </a:prstGeom>
            <a:noFill/>
          </p:spPr>
        </p:pic>
        <p:pic>
          <p:nvPicPr>
            <p:cNvPr id="91"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405939" y="3785061"/>
              <a:ext cx="152400" cy="152400"/>
            </a:xfrm>
            <a:prstGeom prst="rect">
              <a:avLst/>
            </a:prstGeom>
            <a:noFill/>
          </p:spPr>
        </p:pic>
      </p:grpSp>
      <p:pic>
        <p:nvPicPr>
          <p:cNvPr id="92" name="Picture 6"/>
          <p:cNvPicPr>
            <a:picLocks noChangeAspect="1" noChangeArrowheads="1"/>
          </p:cNvPicPr>
          <p:nvPr/>
        </p:nvPicPr>
        <p:blipFill>
          <a:blip r:embed="rId5" cstate="print"/>
          <a:srcRect/>
          <a:stretch>
            <a:fillRect/>
          </a:stretch>
        </p:blipFill>
        <p:spPr bwMode="auto">
          <a:xfrm>
            <a:off x="4276725" y="4338205"/>
            <a:ext cx="788670" cy="1433945"/>
          </a:xfrm>
          <a:prstGeom prst="rect">
            <a:avLst/>
          </a:prstGeom>
          <a:noFill/>
          <a:ln w="9525">
            <a:noFill/>
            <a:miter lim="800000"/>
            <a:headEnd/>
            <a:tailEnd/>
          </a:ln>
          <a:effectLst/>
        </p:spPr>
      </p:pic>
      <p:sp>
        <p:nvSpPr>
          <p:cNvPr id="95" name="Line 1920"/>
          <p:cNvSpPr>
            <a:spLocks noChangeShapeType="1"/>
          </p:cNvSpPr>
          <p:nvPr/>
        </p:nvSpPr>
        <p:spPr bwMode="auto">
          <a:xfrm rot="10800000" flipV="1">
            <a:off x="1176050" y="2990754"/>
            <a:ext cx="0" cy="1439863"/>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sp>
        <p:nvSpPr>
          <p:cNvPr id="98" name="Line 1920"/>
          <p:cNvSpPr>
            <a:spLocks noChangeShapeType="1"/>
          </p:cNvSpPr>
          <p:nvPr/>
        </p:nvSpPr>
        <p:spPr bwMode="auto">
          <a:xfrm rot="10800000">
            <a:off x="1524000" y="2971800"/>
            <a:ext cx="1371600" cy="1447800"/>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sp>
        <p:nvSpPr>
          <p:cNvPr id="100" name="Line 1920"/>
          <p:cNvSpPr>
            <a:spLocks noChangeShapeType="1"/>
          </p:cNvSpPr>
          <p:nvPr/>
        </p:nvSpPr>
        <p:spPr bwMode="auto">
          <a:xfrm rot="5400000" flipV="1">
            <a:off x="2144617" y="4473766"/>
            <a:ext cx="0" cy="914400"/>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sp>
        <p:nvSpPr>
          <p:cNvPr id="102" name="Line 1920"/>
          <p:cNvSpPr>
            <a:spLocks noChangeShapeType="1"/>
          </p:cNvSpPr>
          <p:nvPr/>
        </p:nvSpPr>
        <p:spPr bwMode="auto">
          <a:xfrm rot="16200000" flipV="1">
            <a:off x="2089532" y="4626166"/>
            <a:ext cx="0" cy="914400"/>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sp>
        <p:nvSpPr>
          <p:cNvPr id="103" name="Line 1920"/>
          <p:cNvSpPr>
            <a:spLocks noChangeShapeType="1"/>
          </p:cNvSpPr>
          <p:nvPr/>
        </p:nvSpPr>
        <p:spPr bwMode="auto">
          <a:xfrm rot="16200000" flipV="1">
            <a:off x="3776949" y="4593115"/>
            <a:ext cx="0" cy="914400"/>
          </a:xfrm>
          <a:prstGeom prst="line">
            <a:avLst/>
          </a:prstGeom>
          <a:noFill/>
          <a:ln w="38100">
            <a:solidFill>
              <a:srgbClr val="000000"/>
            </a:solidFill>
            <a:round/>
            <a:headEnd/>
            <a:tailEnd type="stealth" w="lg" len="lg"/>
          </a:ln>
          <a:effectLst/>
        </p:spPr>
        <p:txBody>
          <a:bodyPr wrap="none" lIns="0" tIns="0" rIns="0" bIns="0" anchor="ctr"/>
          <a:lstStyle/>
          <a:p>
            <a:endParaRPr lang="en-US">
              <a:latin typeface="Calibri" pitchFamily="34" charset="0"/>
              <a:cs typeface="Calibri"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solidFill>
                  <a:srgbClr val="C00000"/>
                </a:solidFill>
                <a:latin typeface="Book Antiqua" panose="02040602050305030304" pitchFamily="18" charset="0"/>
              </a:rPr>
              <a:t>Server Configuration Backup</a:t>
            </a:r>
          </a:p>
        </p:txBody>
      </p:sp>
      <p:sp>
        <p:nvSpPr>
          <p:cNvPr id="3" name="Content Placeholder 2"/>
          <p:cNvSpPr>
            <a:spLocks noGrp="1"/>
          </p:cNvSpPr>
          <p:nvPr>
            <p:ph idx="1"/>
          </p:nvPr>
        </p:nvSpPr>
        <p:spPr>
          <a:xfrm>
            <a:off x="342900" y="1219200"/>
            <a:ext cx="8458200" cy="4038600"/>
          </a:xfrm>
        </p:spPr>
        <p:txBody>
          <a:bodyPr/>
          <a:lstStyle/>
          <a:p>
            <a:pPr algn="just"/>
            <a:r>
              <a:rPr lang="en-US" sz="1700" dirty="0">
                <a:solidFill>
                  <a:schemeClr val="tx1"/>
                </a:solidFill>
                <a:latin typeface="Book Antiqua" panose="02040602050305030304" pitchFamily="18" charset="0"/>
              </a:rPr>
              <a:t>Creates and backs up server configuration profiles, based on user-defined schedules</a:t>
            </a:r>
          </a:p>
          <a:p>
            <a:pPr lvl="1" algn="just"/>
            <a:r>
              <a:rPr lang="en-US" sz="1700" dirty="0">
                <a:solidFill>
                  <a:schemeClr val="tx1"/>
                </a:solidFill>
                <a:latin typeface="Book Antiqua" panose="02040602050305030304" pitchFamily="18" charset="0"/>
              </a:rPr>
              <a:t>Profiles are used to configure the recovery server in case of production server failure</a:t>
            </a:r>
          </a:p>
          <a:p>
            <a:pPr lvl="1" algn="just"/>
            <a:r>
              <a:rPr lang="en-US" sz="1700" dirty="0">
                <a:solidFill>
                  <a:schemeClr val="tx1"/>
                </a:solidFill>
                <a:latin typeface="Book Antiqua" panose="02040602050305030304" pitchFamily="18" charset="0"/>
              </a:rPr>
              <a:t>Profiles include OS configurations, network configurations, security configurations, registry settings, application configurations </a:t>
            </a:r>
          </a:p>
          <a:p>
            <a:pPr algn="just"/>
            <a:endParaRPr lang="en-US" sz="1700" dirty="0">
              <a:solidFill>
                <a:schemeClr val="tx1"/>
              </a:solidFill>
              <a:latin typeface="Book Antiqua" panose="02040602050305030304" pitchFamily="18" charset="0"/>
            </a:endParaRPr>
          </a:p>
          <a:p>
            <a:pPr algn="just"/>
            <a:r>
              <a:rPr lang="en-US" sz="1700" dirty="0">
                <a:solidFill>
                  <a:schemeClr val="tx1"/>
                </a:solidFill>
                <a:latin typeface="Book Antiqua" panose="02040602050305030304" pitchFamily="18" charset="0"/>
              </a:rPr>
              <a:t>Two types of profiles used</a:t>
            </a:r>
          </a:p>
          <a:p>
            <a:pPr lvl="1" algn="just"/>
            <a:r>
              <a:rPr lang="en-US" sz="1700" dirty="0">
                <a:solidFill>
                  <a:srgbClr val="0000FF"/>
                </a:solidFill>
                <a:latin typeface="Book Antiqua" panose="02040602050305030304" pitchFamily="18" charset="0"/>
              </a:rPr>
              <a:t>Base profile</a:t>
            </a:r>
          </a:p>
          <a:p>
            <a:pPr lvl="2" algn="just"/>
            <a:r>
              <a:rPr lang="en-US" sz="1700" dirty="0">
                <a:solidFill>
                  <a:schemeClr val="tx1"/>
                </a:solidFill>
                <a:latin typeface="Book Antiqua" panose="02040602050305030304" pitchFamily="18" charset="0"/>
              </a:rPr>
              <a:t>Contains the key elements of the OS required to recover the server</a:t>
            </a:r>
          </a:p>
          <a:p>
            <a:pPr lvl="1" algn="just"/>
            <a:r>
              <a:rPr lang="en-US" sz="1700" dirty="0">
                <a:solidFill>
                  <a:srgbClr val="0000FF"/>
                </a:solidFill>
                <a:latin typeface="Book Antiqua" panose="02040602050305030304" pitchFamily="18" charset="0"/>
              </a:rPr>
              <a:t>Extended profile</a:t>
            </a:r>
          </a:p>
          <a:p>
            <a:pPr lvl="2" algn="just"/>
            <a:r>
              <a:rPr lang="en-US" sz="1700" dirty="0">
                <a:solidFill>
                  <a:schemeClr val="tx1"/>
                </a:solidFill>
                <a:latin typeface="Book Antiqua" panose="02040602050305030304" pitchFamily="18" charset="0"/>
              </a:rPr>
              <a:t>Typically, larger than base profile and contains all necessary information to rebuild application environment</a:t>
            </a:r>
          </a:p>
        </p:txBody>
      </p:sp>
      <p:sp>
        <p:nvSpPr>
          <p:cNvPr id="4" name="Footer Placeholder 3"/>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57200" y="1600200"/>
            <a:ext cx="8305800" cy="2667000"/>
          </a:xfrm>
        </p:spPr>
        <p:txBody>
          <a:bodyPr>
            <a:normAutofit/>
          </a:bodyPr>
          <a:lstStyle/>
          <a:p>
            <a:pPr lvl="1" indent="-223838" algn="l">
              <a:buClr>
                <a:srgbClr val="92D050"/>
              </a:buClr>
              <a:buSzPct val="110000"/>
              <a:defRPr/>
            </a:pPr>
            <a:endParaRPr lang="en-US" sz="1700" dirty="0">
              <a:solidFill>
                <a:schemeClr val="tx1"/>
              </a:solidFill>
              <a:latin typeface="Book Antiqua" panose="02040602050305030304" pitchFamily="18" charset="0"/>
            </a:endParaRPr>
          </a:p>
          <a:p>
            <a:r>
              <a:rPr lang="en-GB" sz="1700" dirty="0">
                <a:latin typeface="Book Antiqua" panose="02040602050305030304" pitchFamily="18" charset="0"/>
              </a:rPr>
              <a:t>Three basic topologies are used in a backup environment: </a:t>
            </a:r>
          </a:p>
          <a:p>
            <a:pPr marL="742950" lvl="1" indent="-285750" algn="l">
              <a:buFont typeface="Arial" panose="020B0604020202020204" pitchFamily="34" charset="0"/>
              <a:buChar char="•"/>
            </a:pPr>
            <a:r>
              <a:rPr lang="en-GB" sz="1900" dirty="0">
                <a:solidFill>
                  <a:schemeClr val="tx1"/>
                </a:solidFill>
                <a:latin typeface="Book Antiqua" panose="02040602050305030304" pitchFamily="18" charset="0"/>
              </a:rPr>
              <a:t>Direct-Attached backup</a:t>
            </a:r>
          </a:p>
          <a:p>
            <a:pPr marL="742950" lvl="1" indent="-285750" algn="l">
              <a:buFont typeface="Arial" panose="020B0604020202020204" pitchFamily="34" charset="0"/>
              <a:buChar char="•"/>
            </a:pPr>
            <a:r>
              <a:rPr lang="en-GB" sz="1900" dirty="0">
                <a:solidFill>
                  <a:schemeClr val="tx1"/>
                </a:solidFill>
                <a:latin typeface="Book Antiqua" panose="02040602050305030304" pitchFamily="18" charset="0"/>
              </a:rPr>
              <a:t>LAN-based backup and </a:t>
            </a:r>
          </a:p>
          <a:p>
            <a:pPr marL="742950" lvl="1" indent="-285750" algn="l">
              <a:buFont typeface="Arial" panose="020B0604020202020204" pitchFamily="34" charset="0"/>
              <a:buChar char="•"/>
            </a:pPr>
            <a:r>
              <a:rPr lang="en-GB" sz="1900" dirty="0">
                <a:solidFill>
                  <a:schemeClr val="tx1"/>
                </a:solidFill>
                <a:latin typeface="Book Antiqua" panose="02040602050305030304" pitchFamily="18" charset="0"/>
              </a:rPr>
              <a:t>SAN-based backup </a:t>
            </a:r>
          </a:p>
          <a:p>
            <a:endParaRPr lang="en-GB" sz="1700" dirty="0">
              <a:latin typeface="Book Antiqua" panose="02040602050305030304" pitchFamily="18" charset="0"/>
            </a:endParaRPr>
          </a:p>
          <a:p>
            <a:r>
              <a:rPr lang="en-GB" sz="1700" dirty="0">
                <a:latin typeface="Book Antiqua" panose="02040602050305030304" pitchFamily="18" charset="0"/>
              </a:rPr>
              <a:t>A </a:t>
            </a:r>
            <a:r>
              <a:rPr lang="en-GB" sz="1700" dirty="0">
                <a:solidFill>
                  <a:srgbClr val="0000FF"/>
                </a:solidFill>
                <a:latin typeface="Book Antiqua" panose="02040602050305030304" pitchFamily="18" charset="0"/>
              </a:rPr>
              <a:t>mixed topology </a:t>
            </a:r>
            <a:r>
              <a:rPr lang="en-GB" sz="1700" dirty="0">
                <a:latin typeface="Book Antiqua" panose="02040602050305030304" pitchFamily="18" charset="0"/>
              </a:rPr>
              <a:t>is also used by combining </a:t>
            </a:r>
            <a:r>
              <a:rPr lang="en-GB" sz="1700" dirty="0">
                <a:solidFill>
                  <a:srgbClr val="0000FF"/>
                </a:solidFill>
                <a:latin typeface="Book Antiqua" panose="02040602050305030304" pitchFamily="18" charset="0"/>
              </a:rPr>
              <a:t>LAN-based </a:t>
            </a:r>
            <a:r>
              <a:rPr lang="en-GB" sz="1700" dirty="0">
                <a:latin typeface="Book Antiqua" panose="02040602050305030304" pitchFamily="18" charset="0"/>
              </a:rPr>
              <a:t>and </a:t>
            </a:r>
            <a:r>
              <a:rPr lang="en-GB" sz="1700" dirty="0">
                <a:solidFill>
                  <a:srgbClr val="0000FF"/>
                </a:solidFill>
                <a:latin typeface="Book Antiqua" panose="02040602050305030304" pitchFamily="18" charset="0"/>
              </a:rPr>
              <a:t>SAN-based</a:t>
            </a:r>
            <a:r>
              <a:rPr lang="en-GB" sz="1700" dirty="0">
                <a:latin typeface="Book Antiqua" panose="02040602050305030304" pitchFamily="18" charset="0"/>
              </a:rPr>
              <a:t> topologies.</a:t>
            </a:r>
            <a:endParaRPr lang="en-US" sz="1700" dirty="0">
              <a:solidFill>
                <a:schemeClr val="tx1"/>
              </a:solidFill>
              <a:latin typeface="Book Antiqua" panose="02040602050305030304" pitchFamily="18" charset="0"/>
            </a:endParaRPr>
          </a:p>
          <a:p>
            <a:pPr lvl="1" indent="-223838" algn="l">
              <a:buClr>
                <a:srgbClr val="92D050"/>
              </a:buClr>
              <a:buSzPct val="110000"/>
              <a:defRPr/>
            </a:pPr>
            <a:endParaRPr lang="en-US" sz="1700" dirty="0">
              <a:solidFill>
                <a:schemeClr val="tx1"/>
              </a:solidFill>
              <a:latin typeface="Book Antiqua" panose="02040602050305030304" pitchFamily="18" charset="0"/>
            </a:endParaRPr>
          </a:p>
          <a:p>
            <a:pPr lvl="1" indent="-223838" algn="l">
              <a:buClr>
                <a:srgbClr val="92D050"/>
              </a:buClr>
              <a:buSzPct val="110000"/>
              <a:buFont typeface="Arial" pitchFamily="34" charset="0"/>
              <a:buChar char="•"/>
              <a:defRPr/>
            </a:pPr>
            <a:endParaRPr lang="en-US" sz="1700" dirty="0">
              <a:solidFill>
                <a:schemeClr val="tx1"/>
              </a:solidFill>
              <a:latin typeface="Book Antiqua" panose="02040602050305030304" pitchFamily="18" charset="0"/>
            </a:endParaRPr>
          </a:p>
        </p:txBody>
      </p:sp>
      <p:sp>
        <p:nvSpPr>
          <p:cNvPr id="23556" name="Content Placeholder 7"/>
          <p:cNvSpPr>
            <a:spLocks noGrp="1"/>
          </p:cNvSpPr>
          <p:nvPr>
            <p:ph sz="quarter" idx="13"/>
          </p:nvPr>
        </p:nvSpPr>
        <p:spPr>
          <a:xfrm>
            <a:off x="381000" y="609600"/>
            <a:ext cx="7772400" cy="457200"/>
          </a:xfrm>
        </p:spPr>
        <p:txBody>
          <a:bodyPr/>
          <a:lstStyle/>
          <a:p>
            <a:pPr algn="ctr"/>
            <a:r>
              <a:rPr lang="en-US" sz="2100" dirty="0">
                <a:solidFill>
                  <a:srgbClr val="C00000"/>
                </a:solidFill>
                <a:latin typeface="Book Antiqua" panose="02040602050305030304" pitchFamily="18" charset="0"/>
              </a:rPr>
              <a:t>Backup Topologies and Backup in NAS Environment</a:t>
            </a:r>
          </a:p>
        </p:txBody>
      </p:sp>
      <p:sp>
        <p:nvSpPr>
          <p:cNvPr id="9" name="Footer Placeholder 8"/>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1" name="Slide Number Placeholder 10"/>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16"/>
          <p:cNvPicPr>
            <a:picLocks noChangeAspect="1" noChangeArrowheads="1"/>
          </p:cNvPicPr>
          <p:nvPr/>
        </p:nvPicPr>
        <p:blipFill>
          <a:blip r:embed="rId3" cstate="print"/>
          <a:srcRect/>
          <a:stretch>
            <a:fillRect/>
          </a:stretch>
        </p:blipFill>
        <p:spPr bwMode="auto">
          <a:xfrm>
            <a:off x="2828925" y="2784715"/>
            <a:ext cx="1066800" cy="691910"/>
          </a:xfrm>
          <a:prstGeom prst="rect">
            <a:avLst/>
          </a:prstGeom>
          <a:noFill/>
          <a:ln w="9525">
            <a:noFill/>
            <a:miter lim="800000"/>
            <a:headEnd/>
            <a:tailEnd/>
          </a:ln>
          <a:effectLst/>
        </p:spPr>
      </p:pic>
      <p:sp>
        <p:nvSpPr>
          <p:cNvPr id="7" name="Title 6"/>
          <p:cNvSpPr>
            <a:spLocks noGrp="1"/>
          </p:cNvSpPr>
          <p:nvPr>
            <p:ph type="title"/>
          </p:nvPr>
        </p:nvSpPr>
        <p:spPr>
          <a:xfrm>
            <a:off x="304800" y="269264"/>
            <a:ext cx="8458200" cy="445777"/>
          </a:xfrm>
        </p:spPr>
        <p:txBody>
          <a:bodyPr/>
          <a:lstStyle/>
          <a:p>
            <a:r>
              <a:rPr lang="en-US" sz="2100" dirty="0">
                <a:solidFill>
                  <a:srgbClr val="C00000"/>
                </a:solidFill>
                <a:latin typeface="Book Antiqua" panose="02040602050305030304" pitchFamily="18" charset="0"/>
              </a:rPr>
              <a:t>Direct-Attached Backup</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10: Backup and Archive</a:t>
            </a:r>
          </a:p>
        </p:txBody>
      </p:sp>
      <p:sp>
        <p:nvSpPr>
          <p:cNvPr id="8" name="Freeform 36"/>
          <p:cNvSpPr>
            <a:spLocks/>
          </p:cNvSpPr>
          <p:nvPr/>
        </p:nvSpPr>
        <p:spPr bwMode="auto">
          <a:xfrm>
            <a:off x="1524878" y="3117673"/>
            <a:ext cx="1306513" cy="0"/>
          </a:xfrm>
          <a:custGeom>
            <a:avLst/>
            <a:gdLst/>
            <a:ahLst/>
            <a:cxnLst>
              <a:cxn ang="0">
                <a:pos x="2469" y="0"/>
              </a:cxn>
              <a:cxn ang="0">
                <a:pos x="2414" y="0"/>
              </a:cxn>
              <a:cxn ang="0">
                <a:pos x="2367" y="0"/>
              </a:cxn>
              <a:cxn ang="0">
                <a:pos x="0" y="0"/>
              </a:cxn>
            </a:cxnLst>
            <a:rect l="0" t="0" r="r" b="b"/>
            <a:pathLst>
              <a:path w="2469">
                <a:moveTo>
                  <a:pt x="2469" y="0"/>
                </a:moveTo>
                <a:lnTo>
                  <a:pt x="2414" y="0"/>
                </a:lnTo>
                <a:lnTo>
                  <a:pt x="2367" y="0"/>
                </a:lnTo>
                <a:lnTo>
                  <a:pt x="0" y="0"/>
                </a:lnTo>
              </a:path>
            </a:pathLst>
          </a:custGeom>
          <a:noFill/>
          <a:ln w="12700" cap="flat" cmpd="sng">
            <a:solidFill>
              <a:srgbClr val="0000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Freeform 37"/>
          <p:cNvSpPr>
            <a:spLocks/>
          </p:cNvSpPr>
          <p:nvPr/>
        </p:nvSpPr>
        <p:spPr bwMode="auto">
          <a:xfrm>
            <a:off x="3890082" y="3138487"/>
            <a:ext cx="1420812" cy="0"/>
          </a:xfrm>
          <a:custGeom>
            <a:avLst/>
            <a:gdLst/>
            <a:ahLst/>
            <a:cxnLst>
              <a:cxn ang="0">
                <a:pos x="2686" y="0"/>
              </a:cxn>
              <a:cxn ang="0">
                <a:pos x="2560" y="0"/>
              </a:cxn>
              <a:cxn ang="0">
                <a:pos x="126" y="1"/>
              </a:cxn>
              <a:cxn ang="0">
                <a:pos x="0" y="1"/>
              </a:cxn>
            </a:cxnLst>
            <a:rect l="0" t="0" r="r" b="b"/>
            <a:pathLst>
              <a:path w="2686" h="1">
                <a:moveTo>
                  <a:pt x="2686" y="0"/>
                </a:moveTo>
                <a:lnTo>
                  <a:pt x="2560" y="0"/>
                </a:lnTo>
                <a:lnTo>
                  <a:pt x="126" y="1"/>
                </a:lnTo>
                <a:lnTo>
                  <a:pt x="0" y="1"/>
                </a:lnTo>
              </a:path>
            </a:pathLst>
          </a:custGeom>
          <a:noFill/>
          <a:ln w="12700" cap="flat" cmpd="sng">
            <a:solidFill>
              <a:srgbClr val="0000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Line 199"/>
          <p:cNvSpPr>
            <a:spLocks noChangeShapeType="1"/>
          </p:cNvSpPr>
          <p:nvPr/>
        </p:nvSpPr>
        <p:spPr bwMode="auto">
          <a:xfrm flipH="1">
            <a:off x="5707062" y="3135312"/>
            <a:ext cx="1598613"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Rectangle 200"/>
          <p:cNvSpPr>
            <a:spLocks noChangeArrowheads="1"/>
          </p:cNvSpPr>
          <p:nvPr/>
        </p:nvSpPr>
        <p:spPr bwMode="auto">
          <a:xfrm>
            <a:off x="6969675" y="3657600"/>
            <a:ext cx="1078950"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Device</a:t>
            </a:r>
          </a:p>
        </p:txBody>
      </p:sp>
      <p:sp>
        <p:nvSpPr>
          <p:cNvPr id="12" name="Rectangle 201"/>
          <p:cNvSpPr>
            <a:spLocks noChangeArrowheads="1"/>
          </p:cNvSpPr>
          <p:nvPr/>
        </p:nvSpPr>
        <p:spPr bwMode="auto">
          <a:xfrm>
            <a:off x="4854630" y="3649444"/>
            <a:ext cx="1446357" cy="646331"/>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Application Server/</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Client/</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Storage Node</a:t>
            </a:r>
          </a:p>
        </p:txBody>
      </p:sp>
      <p:sp>
        <p:nvSpPr>
          <p:cNvPr id="13" name="Rectangle 787"/>
          <p:cNvSpPr>
            <a:spLocks noChangeArrowheads="1"/>
          </p:cNvSpPr>
          <p:nvPr/>
        </p:nvSpPr>
        <p:spPr bwMode="auto">
          <a:xfrm>
            <a:off x="1076325" y="3670756"/>
            <a:ext cx="1058944"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Server</a:t>
            </a:r>
          </a:p>
        </p:txBody>
      </p:sp>
      <p:sp>
        <p:nvSpPr>
          <p:cNvPr id="19" name="Rectangle 1110"/>
          <p:cNvSpPr>
            <a:spLocks noChangeArrowheads="1"/>
          </p:cNvSpPr>
          <p:nvPr/>
        </p:nvSpPr>
        <p:spPr bwMode="auto">
          <a:xfrm>
            <a:off x="4221618" y="2700337"/>
            <a:ext cx="621389" cy="184666"/>
          </a:xfrm>
          <a:prstGeom prst="rect">
            <a:avLst/>
          </a:prstGeom>
          <a:noFill/>
          <a:ln w="9525" algn="ctr">
            <a:noFill/>
            <a:miter lim="800000"/>
            <a:headEnd/>
            <a:tailEnd/>
          </a:ln>
          <a:effectLst/>
        </p:spPr>
        <p:txBody>
          <a:bodyPr wrap="none"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sp>
        <p:nvSpPr>
          <p:cNvPr id="20" name="Line 1120"/>
          <p:cNvSpPr>
            <a:spLocks noChangeShapeType="1"/>
          </p:cNvSpPr>
          <p:nvPr/>
        </p:nvSpPr>
        <p:spPr bwMode="auto">
          <a:xfrm flipH="1">
            <a:off x="1908175" y="2943225"/>
            <a:ext cx="3368675" cy="9525"/>
          </a:xfrm>
          <a:prstGeom prst="line">
            <a:avLst/>
          </a:prstGeom>
          <a:noFill/>
          <a:ln w="38100" cap="rnd">
            <a:solidFill>
              <a:srgbClr val="000000"/>
            </a:solidFill>
            <a:prstDash val="sysDot"/>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4" name="Rectangle 1107"/>
          <p:cNvSpPr>
            <a:spLocks noChangeArrowheads="1"/>
          </p:cNvSpPr>
          <p:nvPr/>
        </p:nvSpPr>
        <p:spPr bwMode="auto">
          <a:xfrm>
            <a:off x="6147062" y="2503487"/>
            <a:ext cx="464614" cy="369332"/>
          </a:xfrm>
          <a:prstGeom prst="rect">
            <a:avLst/>
          </a:prstGeom>
          <a:noFill/>
          <a:ln w="9525" algn="ctr">
            <a:noFill/>
            <a:miter lim="800000"/>
            <a:headEnd/>
            <a:tailEnd/>
          </a:ln>
          <a:effectLst/>
        </p:spPr>
        <p:txBody>
          <a:bodyPr wrap="none" lIns="0" tIns="0" rIns="0" bIns="0">
            <a:spAutoFit/>
          </a:bodyPr>
          <a:lstStyle/>
          <a:p>
            <a:pPr marL="354013" marR="0" lvl="0" indent="-354013" algn="ctr" defTabSz="941388" rtl="0" eaLnBrk="1" fontAlgn="base" latinLnBrk="0" hangingPunct="1">
              <a:lnSpc>
                <a:spcPct val="100000"/>
              </a:lnSpc>
              <a:spcBef>
                <a:spcPts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a:t>
            </a:r>
          </a:p>
          <a:p>
            <a:pPr marL="354013" marR="0" lvl="0" indent="-354013" algn="ctr" defTabSz="941388" rtl="0" eaLnBrk="1" fontAlgn="base" latinLnBrk="0" hangingPunct="1">
              <a:lnSpc>
                <a:spcPct val="100000"/>
              </a:lnSpc>
              <a:spcBef>
                <a:spcPts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a:t>
            </a:r>
          </a:p>
        </p:txBody>
      </p:sp>
      <p:sp>
        <p:nvSpPr>
          <p:cNvPr id="25" name="Line 1123"/>
          <p:cNvSpPr>
            <a:spLocks noChangeShapeType="1"/>
          </p:cNvSpPr>
          <p:nvPr/>
        </p:nvSpPr>
        <p:spPr bwMode="auto">
          <a:xfrm flipV="1">
            <a:off x="5859462" y="2911475"/>
            <a:ext cx="1185863" cy="1588"/>
          </a:xfrm>
          <a:prstGeom prst="line">
            <a:avLst/>
          </a:prstGeom>
          <a:ln>
            <a:prstDash val="sysDash"/>
            <a:tailEnd type="triangle" w="lg" len="med"/>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Rectangle 1738"/>
          <p:cNvSpPr>
            <a:spLocks noChangeArrowheads="1"/>
          </p:cNvSpPr>
          <p:nvPr/>
        </p:nvSpPr>
        <p:spPr bwMode="auto">
          <a:xfrm>
            <a:off x="3166966" y="2987405"/>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pic>
        <p:nvPicPr>
          <p:cNvPr id="26"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5304682" y="2362824"/>
            <a:ext cx="543668" cy="1256676"/>
          </a:xfrm>
          <a:prstGeom prst="rect">
            <a:avLst/>
          </a:prstGeom>
          <a:noFill/>
        </p:spPr>
      </p:pic>
      <p:grpSp>
        <p:nvGrpSpPr>
          <p:cNvPr id="27" name="Group 26"/>
          <p:cNvGrpSpPr/>
          <p:nvPr/>
        </p:nvGrpSpPr>
        <p:grpSpPr>
          <a:xfrm>
            <a:off x="1333500" y="2362200"/>
            <a:ext cx="543668" cy="1256676"/>
            <a:chOff x="142132" y="3086724"/>
            <a:chExt cx="543668" cy="1256676"/>
          </a:xfrm>
        </p:grpSpPr>
        <p:pic>
          <p:nvPicPr>
            <p:cNvPr id="30"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142132" y="3086724"/>
              <a:ext cx="543668" cy="1256676"/>
            </a:xfrm>
            <a:prstGeom prst="rect">
              <a:avLst/>
            </a:prstGeom>
            <a:noFill/>
          </p:spPr>
        </p:pic>
        <p:pic>
          <p:nvPicPr>
            <p:cNvPr id="31"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228600" y="3785061"/>
              <a:ext cx="152400" cy="152400"/>
            </a:xfrm>
            <a:prstGeom prst="rect">
              <a:avLst/>
            </a:prstGeom>
            <a:noFill/>
          </p:spPr>
        </p:pic>
        <p:pic>
          <p:nvPicPr>
            <p:cNvPr id="32"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405939" y="3785061"/>
              <a:ext cx="152400" cy="152400"/>
            </a:xfrm>
            <a:prstGeom prst="rect">
              <a:avLst/>
            </a:prstGeom>
            <a:noFill/>
          </p:spPr>
        </p:pic>
      </p:grpSp>
      <p:pic>
        <p:nvPicPr>
          <p:cNvPr id="33" name="Picture 6"/>
          <p:cNvPicPr>
            <a:picLocks noChangeAspect="1" noChangeArrowheads="1"/>
          </p:cNvPicPr>
          <p:nvPr/>
        </p:nvPicPr>
        <p:blipFill>
          <a:blip r:embed="rId6" cstate="print"/>
          <a:srcRect/>
          <a:stretch>
            <a:fillRect/>
          </a:stretch>
        </p:blipFill>
        <p:spPr bwMode="auto">
          <a:xfrm>
            <a:off x="7134225" y="2185555"/>
            <a:ext cx="788670" cy="1433945"/>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318608E4-77CE-82CD-2F72-F5B8C96B9EF5}"/>
              </a:ext>
            </a:extLst>
          </p:cNvPr>
          <p:cNvSpPr txBox="1"/>
          <p:nvPr/>
        </p:nvSpPr>
        <p:spPr>
          <a:xfrm>
            <a:off x="399496" y="4369084"/>
            <a:ext cx="8287304" cy="1600438"/>
          </a:xfrm>
          <a:prstGeom prst="rect">
            <a:avLst/>
          </a:prstGeom>
          <a:noFill/>
        </p:spPr>
        <p:txBody>
          <a:bodyPr wrap="square">
            <a:spAutoFit/>
          </a:bodyPr>
          <a:lstStyle/>
          <a:p>
            <a:pPr marL="171450" indent="-171450" algn="just">
              <a:buFont typeface="Arial" panose="020B0604020202020204" pitchFamily="34" charset="0"/>
              <a:buChar char="•"/>
            </a:pPr>
            <a:r>
              <a:rPr lang="en-GB" sz="1400" dirty="0">
                <a:latin typeface="Book Antiqua" panose="02040602050305030304" pitchFamily="18" charset="0"/>
              </a:rPr>
              <a:t>The example in Figure 10-7 shows that the backup device is directly attached and dedicated to the backup client. </a:t>
            </a:r>
          </a:p>
          <a:p>
            <a:pPr marL="171450" indent="-171450" algn="just">
              <a:buFont typeface="Arial" panose="020B0604020202020204" pitchFamily="34" charset="0"/>
              <a:buChar char="•"/>
            </a:pPr>
            <a:r>
              <a:rPr lang="en-GB" sz="1400" dirty="0">
                <a:latin typeface="Book Antiqua" panose="02040602050305030304" pitchFamily="18" charset="0"/>
              </a:rPr>
              <a:t>As the environment grows, there will be a need for centralized management and sharing of backup devices to optimize costs. </a:t>
            </a:r>
          </a:p>
          <a:p>
            <a:pPr marL="171450" indent="-171450" algn="just">
              <a:buFont typeface="Arial" panose="020B0604020202020204" pitchFamily="34" charset="0"/>
              <a:buChar char="•"/>
            </a:pPr>
            <a:r>
              <a:rPr lang="en-GB" sz="1400" dirty="0">
                <a:latin typeface="Book Antiqua" panose="02040602050305030304" pitchFamily="18" charset="0"/>
              </a:rPr>
              <a:t>An appropriate solution is required to share the backup devices among multiple servers. </a:t>
            </a:r>
          </a:p>
          <a:p>
            <a:pPr marL="171450" indent="-171450" algn="just">
              <a:buFont typeface="Arial" panose="020B0604020202020204" pitchFamily="34" charset="0"/>
              <a:buChar char="•"/>
            </a:pPr>
            <a:r>
              <a:rPr lang="en-GB" sz="1400" dirty="0">
                <a:latin typeface="Book Antiqua" panose="02040602050305030304" pitchFamily="18" charset="0"/>
              </a:rPr>
              <a:t>Network-based topologies (LAN-based and SAN-based) provide the solution to optimize the utilization </a:t>
            </a:r>
            <a:r>
              <a:rPr lang="en-IN" sz="1400" dirty="0">
                <a:latin typeface="Book Antiqua" panose="02040602050305030304" pitchFamily="18" charset="0"/>
              </a:rPr>
              <a:t>of backup devices.</a:t>
            </a:r>
          </a:p>
        </p:txBody>
      </p:sp>
      <p:sp>
        <p:nvSpPr>
          <p:cNvPr id="14" name="TextBox 13">
            <a:extLst>
              <a:ext uri="{FF2B5EF4-FFF2-40B4-BE49-F238E27FC236}">
                <a16:creationId xmlns:a16="http://schemas.microsoft.com/office/drawing/2014/main" id="{DB3C52DD-CB47-B5C4-A9A5-5C687087C3A2}"/>
              </a:ext>
            </a:extLst>
          </p:cNvPr>
          <p:cNvSpPr txBox="1"/>
          <p:nvPr/>
        </p:nvSpPr>
        <p:spPr>
          <a:xfrm>
            <a:off x="388090" y="747232"/>
            <a:ext cx="8118475" cy="954107"/>
          </a:xfrm>
          <a:prstGeom prst="rect">
            <a:avLst/>
          </a:prstGeom>
          <a:noFill/>
        </p:spPr>
        <p:txBody>
          <a:bodyPr wrap="square">
            <a:spAutoFit/>
          </a:bodyPr>
          <a:lstStyle/>
          <a:p>
            <a:pPr marL="171450" indent="-171450" algn="l">
              <a:buFont typeface="Arial" panose="020B0604020202020204" pitchFamily="34" charset="0"/>
              <a:buChar char="•"/>
            </a:pPr>
            <a:r>
              <a:rPr lang="en-GB" sz="1400" b="0" i="0" u="none" strike="noStrike" baseline="0" dirty="0">
                <a:latin typeface="Book Antiqua" panose="02040602050305030304" pitchFamily="18" charset="0"/>
              </a:rPr>
              <a:t>In a </a:t>
            </a:r>
            <a:r>
              <a:rPr lang="en-GB" sz="1400" b="0" i="1" u="none" strike="noStrike" baseline="0" dirty="0">
                <a:latin typeface="Book Antiqua" panose="02040602050305030304" pitchFamily="18" charset="0"/>
              </a:rPr>
              <a:t>direct-attached backup</a:t>
            </a:r>
            <a:r>
              <a:rPr lang="en-GB" sz="1400" b="0" i="0" u="none" strike="noStrike" baseline="0" dirty="0">
                <a:latin typeface="Book Antiqua" panose="02040602050305030304" pitchFamily="18" charset="0"/>
              </a:rPr>
              <a:t>, the storage node is configured on a backup client, and the backup device is attached directly to the client. </a:t>
            </a:r>
          </a:p>
          <a:p>
            <a:pPr marL="171450" indent="-171450" algn="l">
              <a:buFont typeface="Arial" panose="020B0604020202020204" pitchFamily="34" charset="0"/>
              <a:buChar char="•"/>
            </a:pPr>
            <a:r>
              <a:rPr lang="en-GB" sz="1400" b="0" i="0" u="none" strike="noStrike" baseline="0" dirty="0">
                <a:latin typeface="Book Antiqua" panose="02040602050305030304" pitchFamily="18" charset="0"/>
              </a:rPr>
              <a:t>Only the metadata is sent to the backup server through the LAN. This configuration frees the LAN from backup traffic. </a:t>
            </a:r>
          </a:p>
        </p:txBody>
      </p:sp>
      <p:sp>
        <p:nvSpPr>
          <p:cNvPr id="16" name="TextBox 15">
            <a:extLst>
              <a:ext uri="{FF2B5EF4-FFF2-40B4-BE49-F238E27FC236}">
                <a16:creationId xmlns:a16="http://schemas.microsoft.com/office/drawing/2014/main" id="{4BF2DE57-261C-38B5-CBFB-920B997A7694}"/>
              </a:ext>
            </a:extLst>
          </p:cNvPr>
          <p:cNvSpPr txBox="1"/>
          <p:nvPr/>
        </p:nvSpPr>
        <p:spPr>
          <a:xfrm>
            <a:off x="2300951" y="1978520"/>
            <a:ext cx="4572000" cy="276999"/>
          </a:xfrm>
          <a:prstGeom prst="rect">
            <a:avLst/>
          </a:prstGeom>
          <a:noFill/>
        </p:spPr>
        <p:txBody>
          <a:bodyPr wrap="square">
            <a:spAutoFit/>
          </a:bodyPr>
          <a:lstStyle/>
          <a:p>
            <a:pPr algn="ctr"/>
            <a:r>
              <a:rPr lang="en-GB" sz="1200" i="0" u="none" strike="noStrike" baseline="0" dirty="0">
                <a:solidFill>
                  <a:srgbClr val="C00000"/>
                </a:solidFill>
                <a:latin typeface="Book Antiqua" panose="02040602050305030304" pitchFamily="18" charset="0"/>
              </a:rPr>
              <a:t>Figure 10-7: Direct-attached backup topology</a:t>
            </a:r>
            <a:endParaRPr lang="en-IN" sz="1200" dirty="0">
              <a:solidFill>
                <a:srgbClr val="C00000"/>
              </a:solidFill>
              <a:latin typeface="Book Antiqua" panose="0204060205030503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16"/>
          <p:cNvPicPr>
            <a:picLocks noChangeAspect="1" noChangeArrowheads="1"/>
          </p:cNvPicPr>
          <p:nvPr/>
        </p:nvPicPr>
        <p:blipFill>
          <a:blip r:embed="rId3" cstate="print"/>
          <a:srcRect/>
          <a:stretch>
            <a:fillRect/>
          </a:stretch>
        </p:blipFill>
        <p:spPr bwMode="auto">
          <a:xfrm>
            <a:off x="3905250" y="2889490"/>
            <a:ext cx="1066800" cy="691910"/>
          </a:xfrm>
          <a:prstGeom prst="rect">
            <a:avLst/>
          </a:prstGeom>
          <a:noFill/>
          <a:ln w="9525">
            <a:noFill/>
            <a:miter lim="800000"/>
            <a:headEnd/>
            <a:tailEnd/>
          </a:ln>
          <a:effectLst/>
        </p:spPr>
      </p:pic>
      <p:pic>
        <p:nvPicPr>
          <p:cNvPr id="44"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4133107" y="4171950"/>
            <a:ext cx="543668" cy="1256676"/>
          </a:xfrm>
          <a:prstGeom prst="rect">
            <a:avLst/>
          </a:prstGeom>
          <a:noFill/>
        </p:spPr>
      </p:pic>
      <p:sp>
        <p:nvSpPr>
          <p:cNvPr id="2" name="Title 1"/>
          <p:cNvSpPr>
            <a:spLocks noGrp="1"/>
          </p:cNvSpPr>
          <p:nvPr>
            <p:ph type="title"/>
          </p:nvPr>
        </p:nvSpPr>
        <p:spPr/>
        <p:txBody>
          <a:bodyPr/>
          <a:lstStyle/>
          <a:p>
            <a:r>
              <a:rPr lang="en-US" sz="2100" dirty="0">
                <a:solidFill>
                  <a:srgbClr val="C00000"/>
                </a:solidFill>
                <a:latin typeface="Book Antiqua" panose="02040602050305030304" pitchFamily="18" charset="0"/>
              </a:rPr>
              <a:t>LAN-based Backup</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9" name="Rectangle 1738"/>
          <p:cNvSpPr>
            <a:spLocks noChangeArrowheads="1"/>
          </p:cNvSpPr>
          <p:nvPr/>
        </p:nvSpPr>
        <p:spPr bwMode="auto">
          <a:xfrm>
            <a:off x="4268900" y="3116007"/>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sp>
        <p:nvSpPr>
          <p:cNvPr id="10" name="Freeform 7"/>
          <p:cNvSpPr>
            <a:spLocks/>
          </p:cNvSpPr>
          <p:nvPr/>
        </p:nvSpPr>
        <p:spPr bwMode="auto">
          <a:xfrm>
            <a:off x="4958334" y="2617964"/>
            <a:ext cx="1371600" cy="622300"/>
          </a:xfrm>
          <a:custGeom>
            <a:avLst/>
            <a:gdLst/>
            <a:ahLst/>
            <a:cxnLst>
              <a:cxn ang="0">
                <a:pos x="0" y="1156"/>
              </a:cxn>
              <a:cxn ang="0">
                <a:pos x="1389" y="1156"/>
              </a:cxn>
              <a:cxn ang="0">
                <a:pos x="2780" y="1156"/>
              </a:cxn>
              <a:cxn ang="0">
                <a:pos x="2780" y="1148"/>
              </a:cxn>
              <a:cxn ang="0">
                <a:pos x="2780" y="1144"/>
              </a:cxn>
              <a:cxn ang="0">
                <a:pos x="2780" y="0"/>
              </a:cxn>
            </a:cxnLst>
            <a:rect l="0" t="0" r="r" b="b"/>
            <a:pathLst>
              <a:path w="2780" h="1156">
                <a:moveTo>
                  <a:pt x="0" y="1156"/>
                </a:moveTo>
                <a:lnTo>
                  <a:pt x="1389" y="1156"/>
                </a:lnTo>
                <a:lnTo>
                  <a:pt x="2780" y="1156"/>
                </a:lnTo>
                <a:lnTo>
                  <a:pt x="2780" y="1148"/>
                </a:lnTo>
                <a:lnTo>
                  <a:pt x="2780" y="1144"/>
                </a:lnTo>
                <a:lnTo>
                  <a:pt x="2780" y="0"/>
                </a:lnTo>
              </a:path>
            </a:pathLst>
          </a:custGeom>
          <a:noFill/>
          <a:ln w="12700" cap="flat" cmpd="sng">
            <a:solidFill>
              <a:srgbClr val="0000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Freeform 8"/>
          <p:cNvSpPr>
            <a:spLocks/>
          </p:cNvSpPr>
          <p:nvPr/>
        </p:nvSpPr>
        <p:spPr bwMode="auto">
          <a:xfrm>
            <a:off x="2492280" y="2624137"/>
            <a:ext cx="1426464" cy="623888"/>
          </a:xfrm>
          <a:custGeom>
            <a:avLst/>
            <a:gdLst/>
            <a:ahLst/>
            <a:cxnLst>
              <a:cxn ang="0">
                <a:pos x="2666" y="1157"/>
              </a:cxn>
              <a:cxn ang="0">
                <a:pos x="0" y="1157"/>
              </a:cxn>
              <a:cxn ang="0">
                <a:pos x="0" y="1149"/>
              </a:cxn>
              <a:cxn ang="0">
                <a:pos x="0" y="1145"/>
              </a:cxn>
              <a:cxn ang="0">
                <a:pos x="0" y="0"/>
              </a:cxn>
            </a:cxnLst>
            <a:rect l="0" t="0" r="r" b="b"/>
            <a:pathLst>
              <a:path w="2666" h="1157">
                <a:moveTo>
                  <a:pt x="2666" y="1157"/>
                </a:moveTo>
                <a:lnTo>
                  <a:pt x="0" y="1157"/>
                </a:lnTo>
                <a:lnTo>
                  <a:pt x="0" y="1149"/>
                </a:lnTo>
                <a:lnTo>
                  <a:pt x="0" y="1145"/>
                </a:lnTo>
                <a:lnTo>
                  <a:pt x="0" y="0"/>
                </a:lnTo>
              </a:path>
            </a:pathLst>
          </a:custGeom>
          <a:noFill/>
          <a:ln w="12700" cap="flat" cmpd="sng">
            <a:solidFill>
              <a:srgbClr val="0000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Freeform 10"/>
          <p:cNvSpPr>
            <a:spLocks/>
          </p:cNvSpPr>
          <p:nvPr/>
        </p:nvSpPr>
        <p:spPr bwMode="auto">
          <a:xfrm>
            <a:off x="4931659" y="3306761"/>
            <a:ext cx="1389888" cy="741363"/>
          </a:xfrm>
          <a:custGeom>
            <a:avLst/>
            <a:gdLst/>
            <a:ahLst/>
            <a:cxnLst>
              <a:cxn ang="0">
                <a:pos x="2780" y="1169"/>
              </a:cxn>
              <a:cxn ang="0">
                <a:pos x="2780" y="7"/>
              </a:cxn>
              <a:cxn ang="0">
                <a:pos x="2780" y="0"/>
              </a:cxn>
              <a:cxn ang="0">
                <a:pos x="1389" y="0"/>
              </a:cxn>
              <a:cxn ang="0">
                <a:pos x="0" y="0"/>
              </a:cxn>
            </a:cxnLst>
            <a:rect l="0" t="0" r="r" b="b"/>
            <a:pathLst>
              <a:path w="2780" h="1169">
                <a:moveTo>
                  <a:pt x="2780" y="1169"/>
                </a:moveTo>
                <a:lnTo>
                  <a:pt x="2780" y="7"/>
                </a:lnTo>
                <a:lnTo>
                  <a:pt x="2780" y="0"/>
                </a:lnTo>
                <a:lnTo>
                  <a:pt x="1389" y="0"/>
                </a:lnTo>
                <a:lnTo>
                  <a:pt x="0" y="0"/>
                </a:lnTo>
              </a:path>
            </a:pathLst>
          </a:custGeom>
          <a:noFill/>
          <a:ln w="12700" cap="flat" cmpd="sng">
            <a:solidFill>
              <a:srgbClr val="0000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Freeform 69"/>
          <p:cNvSpPr>
            <a:spLocks/>
          </p:cNvSpPr>
          <p:nvPr/>
        </p:nvSpPr>
        <p:spPr bwMode="auto">
          <a:xfrm>
            <a:off x="4165600" y="3259137"/>
            <a:ext cx="0" cy="6350"/>
          </a:xfrm>
          <a:custGeom>
            <a:avLst/>
            <a:gdLst/>
            <a:ahLst/>
            <a:cxnLst>
              <a:cxn ang="0">
                <a:pos x="0" y="3"/>
              </a:cxn>
              <a:cxn ang="0">
                <a:pos x="1" y="10"/>
              </a:cxn>
              <a:cxn ang="0">
                <a:pos x="1" y="0"/>
              </a:cxn>
              <a:cxn ang="0">
                <a:pos x="0" y="0"/>
              </a:cxn>
              <a:cxn ang="0">
                <a:pos x="0" y="3"/>
              </a:cxn>
            </a:cxnLst>
            <a:rect l="0" t="0" r="r" b="b"/>
            <a:pathLst>
              <a:path w="1" h="10">
                <a:moveTo>
                  <a:pt x="0" y="3"/>
                </a:moveTo>
                <a:lnTo>
                  <a:pt x="1" y="10"/>
                </a:lnTo>
                <a:lnTo>
                  <a:pt x="1" y="0"/>
                </a:lnTo>
                <a:lnTo>
                  <a:pt x="0" y="0"/>
                </a:lnTo>
                <a:lnTo>
                  <a:pt x="0" y="3"/>
                </a:lnTo>
                <a:close/>
              </a:path>
            </a:pathLst>
          </a:custGeom>
          <a:solidFill>
            <a:srgbClr val="000000"/>
          </a:solid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 name="Freeform 121"/>
          <p:cNvSpPr>
            <a:spLocks/>
          </p:cNvSpPr>
          <p:nvPr/>
        </p:nvSpPr>
        <p:spPr bwMode="auto">
          <a:xfrm>
            <a:off x="2640013" y="3260725"/>
            <a:ext cx="1587" cy="4762"/>
          </a:xfrm>
          <a:custGeom>
            <a:avLst/>
            <a:gdLst/>
            <a:ahLst/>
            <a:cxnLst>
              <a:cxn ang="0">
                <a:pos x="1" y="0"/>
              </a:cxn>
              <a:cxn ang="0">
                <a:pos x="0" y="0"/>
              </a:cxn>
              <a:cxn ang="0">
                <a:pos x="0" y="3"/>
              </a:cxn>
              <a:cxn ang="0">
                <a:pos x="1" y="10"/>
              </a:cxn>
              <a:cxn ang="0">
                <a:pos x="1" y="0"/>
              </a:cxn>
            </a:cxnLst>
            <a:rect l="0" t="0" r="r" b="b"/>
            <a:pathLst>
              <a:path w="1" h="10">
                <a:moveTo>
                  <a:pt x="1" y="0"/>
                </a:moveTo>
                <a:lnTo>
                  <a:pt x="0" y="0"/>
                </a:lnTo>
                <a:lnTo>
                  <a:pt x="0" y="3"/>
                </a:lnTo>
                <a:lnTo>
                  <a:pt x="1" y="10"/>
                </a:lnTo>
                <a:lnTo>
                  <a:pt x="1" y="0"/>
                </a:lnTo>
                <a:close/>
              </a:path>
            </a:pathLst>
          </a:custGeom>
          <a:solidFill>
            <a:srgbClr val="000000"/>
          </a:solid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Freeform 136"/>
          <p:cNvSpPr>
            <a:spLocks/>
          </p:cNvSpPr>
          <p:nvPr/>
        </p:nvSpPr>
        <p:spPr bwMode="auto">
          <a:xfrm>
            <a:off x="4213225" y="4048125"/>
            <a:ext cx="436563" cy="4762"/>
          </a:xfrm>
          <a:custGeom>
            <a:avLst/>
            <a:gdLst/>
            <a:ahLst/>
            <a:cxnLst>
              <a:cxn ang="0">
                <a:pos x="824" y="9"/>
              </a:cxn>
              <a:cxn ang="0">
                <a:pos x="824" y="8"/>
              </a:cxn>
              <a:cxn ang="0">
                <a:pos x="824" y="7"/>
              </a:cxn>
              <a:cxn ang="0">
                <a:pos x="825" y="7"/>
              </a:cxn>
              <a:cxn ang="0">
                <a:pos x="826" y="4"/>
              </a:cxn>
              <a:cxn ang="0">
                <a:pos x="825" y="2"/>
              </a:cxn>
              <a:cxn ang="0">
                <a:pos x="824" y="0"/>
              </a:cxn>
              <a:cxn ang="0">
                <a:pos x="5" y="0"/>
              </a:cxn>
              <a:cxn ang="0">
                <a:pos x="3" y="2"/>
              </a:cxn>
              <a:cxn ang="0">
                <a:pos x="0" y="2"/>
              </a:cxn>
              <a:cxn ang="0">
                <a:pos x="0" y="4"/>
              </a:cxn>
              <a:cxn ang="0">
                <a:pos x="3" y="7"/>
              </a:cxn>
              <a:cxn ang="0">
                <a:pos x="5" y="9"/>
              </a:cxn>
              <a:cxn ang="0">
                <a:pos x="824" y="9"/>
              </a:cxn>
            </a:cxnLst>
            <a:rect l="0" t="0" r="r" b="b"/>
            <a:pathLst>
              <a:path w="826" h="9">
                <a:moveTo>
                  <a:pt x="824" y="9"/>
                </a:moveTo>
                <a:lnTo>
                  <a:pt x="824" y="8"/>
                </a:lnTo>
                <a:lnTo>
                  <a:pt x="824" y="7"/>
                </a:lnTo>
                <a:lnTo>
                  <a:pt x="825" y="7"/>
                </a:lnTo>
                <a:lnTo>
                  <a:pt x="826" y="4"/>
                </a:lnTo>
                <a:lnTo>
                  <a:pt x="825" y="2"/>
                </a:lnTo>
                <a:lnTo>
                  <a:pt x="824" y="0"/>
                </a:lnTo>
                <a:lnTo>
                  <a:pt x="5" y="0"/>
                </a:lnTo>
                <a:lnTo>
                  <a:pt x="3" y="2"/>
                </a:lnTo>
                <a:lnTo>
                  <a:pt x="0" y="2"/>
                </a:lnTo>
                <a:lnTo>
                  <a:pt x="0" y="4"/>
                </a:lnTo>
                <a:lnTo>
                  <a:pt x="3" y="7"/>
                </a:lnTo>
                <a:lnTo>
                  <a:pt x="5" y="9"/>
                </a:lnTo>
                <a:lnTo>
                  <a:pt x="824" y="9"/>
                </a:lnTo>
                <a:close/>
              </a:path>
            </a:pathLst>
          </a:custGeom>
          <a:solidFill>
            <a:srgbClr val="FFFFFF"/>
          </a:solid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 name="Freeform 140"/>
          <p:cNvSpPr>
            <a:spLocks/>
          </p:cNvSpPr>
          <p:nvPr/>
        </p:nvSpPr>
        <p:spPr bwMode="auto">
          <a:xfrm>
            <a:off x="4213225" y="4159250"/>
            <a:ext cx="436563" cy="4762"/>
          </a:xfrm>
          <a:custGeom>
            <a:avLst/>
            <a:gdLst/>
            <a:ahLst/>
            <a:cxnLst>
              <a:cxn ang="0">
                <a:pos x="3" y="8"/>
              </a:cxn>
              <a:cxn ang="0">
                <a:pos x="5" y="10"/>
              </a:cxn>
              <a:cxn ang="0">
                <a:pos x="824" y="10"/>
              </a:cxn>
              <a:cxn ang="0">
                <a:pos x="824" y="9"/>
              </a:cxn>
              <a:cxn ang="0">
                <a:pos x="824" y="8"/>
              </a:cxn>
              <a:cxn ang="0">
                <a:pos x="825" y="8"/>
              </a:cxn>
              <a:cxn ang="0">
                <a:pos x="826" y="5"/>
              </a:cxn>
              <a:cxn ang="0">
                <a:pos x="825" y="3"/>
              </a:cxn>
              <a:cxn ang="0">
                <a:pos x="824" y="0"/>
              </a:cxn>
              <a:cxn ang="0">
                <a:pos x="5" y="0"/>
              </a:cxn>
              <a:cxn ang="0">
                <a:pos x="3" y="3"/>
              </a:cxn>
              <a:cxn ang="0">
                <a:pos x="0" y="5"/>
              </a:cxn>
              <a:cxn ang="0">
                <a:pos x="3" y="8"/>
              </a:cxn>
            </a:cxnLst>
            <a:rect l="0" t="0" r="r" b="b"/>
            <a:pathLst>
              <a:path w="826" h="10">
                <a:moveTo>
                  <a:pt x="3" y="8"/>
                </a:moveTo>
                <a:lnTo>
                  <a:pt x="5" y="10"/>
                </a:lnTo>
                <a:lnTo>
                  <a:pt x="824" y="10"/>
                </a:lnTo>
                <a:lnTo>
                  <a:pt x="824" y="9"/>
                </a:lnTo>
                <a:lnTo>
                  <a:pt x="824" y="8"/>
                </a:lnTo>
                <a:lnTo>
                  <a:pt x="825" y="8"/>
                </a:lnTo>
                <a:lnTo>
                  <a:pt x="826" y="5"/>
                </a:lnTo>
                <a:lnTo>
                  <a:pt x="825" y="3"/>
                </a:lnTo>
                <a:lnTo>
                  <a:pt x="824" y="0"/>
                </a:lnTo>
                <a:lnTo>
                  <a:pt x="5" y="0"/>
                </a:lnTo>
                <a:lnTo>
                  <a:pt x="3" y="3"/>
                </a:lnTo>
                <a:lnTo>
                  <a:pt x="0" y="5"/>
                </a:lnTo>
                <a:lnTo>
                  <a:pt x="3" y="8"/>
                </a:lnTo>
                <a:close/>
              </a:path>
            </a:pathLst>
          </a:custGeom>
          <a:solidFill>
            <a:srgbClr val="FFFFFF"/>
          </a:solidFill>
          <a:ln w="9525">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Rectangle 768"/>
          <p:cNvSpPr>
            <a:spLocks noChangeArrowheads="1"/>
          </p:cNvSpPr>
          <p:nvPr/>
        </p:nvSpPr>
        <p:spPr bwMode="auto">
          <a:xfrm>
            <a:off x="3897313" y="5438775"/>
            <a:ext cx="1003865"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Storage Node</a:t>
            </a:r>
          </a:p>
        </p:txBody>
      </p:sp>
      <p:sp>
        <p:nvSpPr>
          <p:cNvPr id="18" name="Rectangle 769"/>
          <p:cNvSpPr>
            <a:spLocks noChangeArrowheads="1"/>
          </p:cNvSpPr>
          <p:nvPr/>
        </p:nvSpPr>
        <p:spPr bwMode="auto">
          <a:xfrm>
            <a:off x="5762625" y="5413831"/>
            <a:ext cx="1078950"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Device</a:t>
            </a:r>
          </a:p>
        </p:txBody>
      </p:sp>
      <p:sp>
        <p:nvSpPr>
          <p:cNvPr id="19" name="Rectangle 771"/>
          <p:cNvSpPr>
            <a:spLocks noChangeArrowheads="1"/>
          </p:cNvSpPr>
          <p:nvPr/>
        </p:nvSpPr>
        <p:spPr bwMode="auto">
          <a:xfrm>
            <a:off x="5071533" y="3558822"/>
            <a:ext cx="798360" cy="184666"/>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Data</a:t>
            </a:r>
          </a:p>
        </p:txBody>
      </p:sp>
      <p:sp>
        <p:nvSpPr>
          <p:cNvPr id="20" name="Rectangle 772"/>
          <p:cNvSpPr>
            <a:spLocks noChangeArrowheads="1"/>
          </p:cNvSpPr>
          <p:nvPr/>
        </p:nvSpPr>
        <p:spPr bwMode="auto">
          <a:xfrm>
            <a:off x="1850159" y="1076325"/>
            <a:ext cx="1486433" cy="430887"/>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Application Server/</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Client</a:t>
            </a:r>
          </a:p>
        </p:txBody>
      </p:sp>
      <p:sp>
        <p:nvSpPr>
          <p:cNvPr id="21" name="Rectangle 1356"/>
          <p:cNvSpPr>
            <a:spLocks noChangeArrowheads="1"/>
          </p:cNvSpPr>
          <p:nvPr/>
        </p:nvSpPr>
        <p:spPr bwMode="auto">
          <a:xfrm>
            <a:off x="5638800" y="1213306"/>
            <a:ext cx="1058944"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Server</a:t>
            </a:r>
          </a:p>
        </p:txBody>
      </p:sp>
      <p:sp>
        <p:nvSpPr>
          <p:cNvPr id="22" name="Rectangle 1734"/>
          <p:cNvSpPr>
            <a:spLocks noChangeArrowheads="1"/>
          </p:cNvSpPr>
          <p:nvPr/>
        </p:nvSpPr>
        <p:spPr bwMode="auto">
          <a:xfrm>
            <a:off x="5137150" y="2768600"/>
            <a:ext cx="621389" cy="184666"/>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sp>
        <p:nvSpPr>
          <p:cNvPr id="26" name="Line 1745"/>
          <p:cNvSpPr>
            <a:spLocks noChangeShapeType="1"/>
          </p:cNvSpPr>
          <p:nvPr/>
        </p:nvSpPr>
        <p:spPr bwMode="auto">
          <a:xfrm>
            <a:off x="2376488" y="2697162"/>
            <a:ext cx="0" cy="758825"/>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Freeform 1746"/>
          <p:cNvSpPr>
            <a:spLocks/>
          </p:cNvSpPr>
          <p:nvPr/>
        </p:nvSpPr>
        <p:spPr bwMode="auto">
          <a:xfrm>
            <a:off x="2363788" y="3452812"/>
            <a:ext cx="1906587" cy="1588"/>
          </a:xfrm>
          <a:custGeom>
            <a:avLst/>
            <a:gdLst/>
            <a:ahLst/>
            <a:cxnLst>
              <a:cxn ang="0">
                <a:pos x="0" y="0"/>
              </a:cxn>
              <a:cxn ang="0">
                <a:pos x="1201" y="1"/>
              </a:cxn>
            </a:cxnLst>
            <a:rect l="0" t="0" r="r" b="b"/>
            <a:pathLst>
              <a:path w="1201" h="1">
                <a:moveTo>
                  <a:pt x="0" y="0"/>
                </a:moveTo>
                <a:lnTo>
                  <a:pt x="1201" y="1"/>
                </a:lnTo>
              </a:path>
            </a:pathLst>
          </a:cu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Line 1747"/>
          <p:cNvSpPr>
            <a:spLocks noChangeShapeType="1"/>
          </p:cNvSpPr>
          <p:nvPr/>
        </p:nvSpPr>
        <p:spPr bwMode="auto">
          <a:xfrm>
            <a:off x="4257675" y="3446462"/>
            <a:ext cx="22225" cy="1089025"/>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9" name="Line 1748"/>
          <p:cNvSpPr>
            <a:spLocks noChangeShapeType="1"/>
          </p:cNvSpPr>
          <p:nvPr/>
        </p:nvSpPr>
        <p:spPr bwMode="auto">
          <a:xfrm flipV="1">
            <a:off x="4273550" y="4545012"/>
            <a:ext cx="292100" cy="6350"/>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Line 1749"/>
          <p:cNvSpPr>
            <a:spLocks noChangeShapeType="1"/>
          </p:cNvSpPr>
          <p:nvPr/>
        </p:nvSpPr>
        <p:spPr bwMode="auto">
          <a:xfrm flipH="1" flipV="1">
            <a:off x="4537075" y="3459162"/>
            <a:ext cx="28575" cy="1098550"/>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Line 1750"/>
          <p:cNvSpPr>
            <a:spLocks noChangeShapeType="1"/>
          </p:cNvSpPr>
          <p:nvPr/>
        </p:nvSpPr>
        <p:spPr bwMode="auto">
          <a:xfrm>
            <a:off x="4524375" y="3468687"/>
            <a:ext cx="1625600" cy="0"/>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2" name="Line 1751"/>
          <p:cNvSpPr>
            <a:spLocks noChangeShapeType="1"/>
          </p:cNvSpPr>
          <p:nvPr/>
        </p:nvSpPr>
        <p:spPr bwMode="auto">
          <a:xfrm>
            <a:off x="6146800" y="3462337"/>
            <a:ext cx="0" cy="447675"/>
          </a:xfrm>
          <a:prstGeom prst="line">
            <a:avLst/>
          </a:prstGeom>
          <a:ln>
            <a:prstDash val="sysDash"/>
            <a:tailEnd type="triangle" w="lg" len="med"/>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Line 1752"/>
          <p:cNvSpPr>
            <a:spLocks noChangeShapeType="1"/>
          </p:cNvSpPr>
          <p:nvPr/>
        </p:nvSpPr>
        <p:spPr bwMode="auto">
          <a:xfrm>
            <a:off x="2673350" y="2651793"/>
            <a:ext cx="0" cy="342900"/>
          </a:xfrm>
          <a:prstGeom prst="line">
            <a:avLst/>
          </a:prstGeom>
          <a:noFill/>
          <a:ln w="38100" cap="rnd">
            <a:solidFill>
              <a:srgbClr val="000000"/>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Line 1753"/>
          <p:cNvSpPr>
            <a:spLocks noChangeShapeType="1"/>
          </p:cNvSpPr>
          <p:nvPr/>
        </p:nvSpPr>
        <p:spPr bwMode="auto">
          <a:xfrm>
            <a:off x="2673350" y="3032125"/>
            <a:ext cx="3490913" cy="0"/>
          </a:xfrm>
          <a:prstGeom prst="line">
            <a:avLst/>
          </a:prstGeom>
          <a:noFill/>
          <a:ln w="38100" cap="rnd">
            <a:solidFill>
              <a:srgbClr val="000000"/>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Line 1754"/>
          <p:cNvSpPr>
            <a:spLocks noChangeShapeType="1"/>
          </p:cNvSpPr>
          <p:nvPr/>
        </p:nvSpPr>
        <p:spPr bwMode="auto">
          <a:xfrm flipV="1">
            <a:off x="6165850" y="2730500"/>
            <a:ext cx="0" cy="300037"/>
          </a:xfrm>
          <a:prstGeom prst="line">
            <a:avLst/>
          </a:prstGeom>
          <a:noFill/>
          <a:ln w="38100" cap="rnd">
            <a:solidFill>
              <a:srgbClr val="000000"/>
            </a:solidFill>
            <a:prstDash val="sysDot"/>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38"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2228850" y="1543050"/>
            <a:ext cx="543668" cy="1256676"/>
          </a:xfrm>
          <a:prstGeom prst="rect">
            <a:avLst/>
          </a:prstGeom>
          <a:noFill/>
        </p:spPr>
      </p:pic>
      <p:grpSp>
        <p:nvGrpSpPr>
          <p:cNvPr id="39" name="Group 38"/>
          <p:cNvGrpSpPr/>
          <p:nvPr/>
        </p:nvGrpSpPr>
        <p:grpSpPr>
          <a:xfrm>
            <a:off x="5914282" y="1466850"/>
            <a:ext cx="543668" cy="1256676"/>
            <a:chOff x="142132" y="3086724"/>
            <a:chExt cx="543668" cy="1256676"/>
          </a:xfrm>
        </p:grpSpPr>
        <p:pic>
          <p:nvPicPr>
            <p:cNvPr id="40"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142132" y="3086724"/>
              <a:ext cx="543668" cy="1256676"/>
            </a:xfrm>
            <a:prstGeom prst="rect">
              <a:avLst/>
            </a:prstGeom>
            <a:noFill/>
          </p:spPr>
        </p:pic>
        <p:pic>
          <p:nvPicPr>
            <p:cNvPr id="41"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228600" y="3785061"/>
              <a:ext cx="152400" cy="152400"/>
            </a:xfrm>
            <a:prstGeom prst="rect">
              <a:avLst/>
            </a:prstGeom>
            <a:noFill/>
          </p:spPr>
        </p:pic>
        <p:pic>
          <p:nvPicPr>
            <p:cNvPr id="42"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405939" y="3785061"/>
              <a:ext cx="152400" cy="152400"/>
            </a:xfrm>
            <a:prstGeom prst="rect">
              <a:avLst/>
            </a:prstGeom>
            <a:noFill/>
          </p:spPr>
        </p:pic>
      </p:grpSp>
      <p:pic>
        <p:nvPicPr>
          <p:cNvPr id="43" name="Picture 6"/>
          <p:cNvPicPr>
            <a:picLocks noChangeAspect="1" noChangeArrowheads="1"/>
          </p:cNvPicPr>
          <p:nvPr/>
        </p:nvPicPr>
        <p:blipFill>
          <a:blip r:embed="rId6" cstate="print"/>
          <a:srcRect/>
          <a:stretch>
            <a:fillRect/>
          </a:stretch>
        </p:blipFill>
        <p:spPr bwMode="auto">
          <a:xfrm>
            <a:off x="5926455" y="3976255"/>
            <a:ext cx="788670" cy="1433945"/>
          </a:xfrm>
          <a:prstGeom prst="rect">
            <a:avLst/>
          </a:prstGeom>
          <a:noFill/>
          <a:ln w="9525">
            <a:noFill/>
            <a:miter lim="800000"/>
            <a:headEnd/>
            <a:tailEnd/>
          </a:ln>
          <a:effectLst/>
        </p:spPr>
      </p:pic>
      <p:cxnSp>
        <p:nvCxnSpPr>
          <p:cNvPr id="46" name="Straight Connector 45"/>
          <p:cNvCxnSpPr/>
          <p:nvPr/>
        </p:nvCxnSpPr>
        <p:spPr>
          <a:xfrm rot="5400000">
            <a:off x="4088543" y="3879406"/>
            <a:ext cx="64008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B71E532-F5F4-6947-C2DB-913852476670}"/>
              </a:ext>
            </a:extLst>
          </p:cNvPr>
          <p:cNvSpPr txBox="1"/>
          <p:nvPr/>
        </p:nvSpPr>
        <p:spPr>
          <a:xfrm>
            <a:off x="6857589" y="76200"/>
            <a:ext cx="2237059" cy="588199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GB" sz="1200" dirty="0">
                <a:latin typeface="Book Antiqua" panose="02040602050305030304" pitchFamily="18" charset="0"/>
              </a:rPr>
              <a:t>In a LAN-based backup, the clients, backup server, storage node, and backup device are connected to the LAN. (see Figure 10-8). </a:t>
            </a:r>
          </a:p>
          <a:p>
            <a:pPr marL="171450" indent="-171450">
              <a:lnSpc>
                <a:spcPct val="150000"/>
              </a:lnSpc>
              <a:buFont typeface="Arial" panose="020B0604020202020204" pitchFamily="34" charset="0"/>
              <a:buChar char="•"/>
            </a:pPr>
            <a:r>
              <a:rPr lang="en-GB" sz="1200" dirty="0">
                <a:latin typeface="Book Antiqua" panose="02040602050305030304" pitchFamily="18" charset="0"/>
              </a:rPr>
              <a:t>The data to be backed up is transferred from the backup client (source) to the backup device (destination) over the LAN, which might affect network performance. </a:t>
            </a:r>
          </a:p>
          <a:p>
            <a:pPr marL="171450" indent="-171450">
              <a:lnSpc>
                <a:spcPct val="150000"/>
              </a:lnSpc>
              <a:buFont typeface="Arial" panose="020B0604020202020204" pitchFamily="34" charset="0"/>
              <a:buChar char="•"/>
            </a:pPr>
            <a:r>
              <a:rPr lang="en-GB" sz="1200" dirty="0">
                <a:latin typeface="Book Antiqua" panose="02040602050305030304" pitchFamily="18" charset="0"/>
              </a:rPr>
              <a:t>This impact can be minimized by adopting a number of measures, such as configuring separate networks for backup and installing dedicated storage </a:t>
            </a:r>
            <a:r>
              <a:rPr lang="en-IN" sz="1200" dirty="0">
                <a:latin typeface="Book Antiqua" panose="02040602050305030304" pitchFamily="18" charset="0"/>
              </a:rPr>
              <a:t>nodes for some application servers.</a:t>
            </a:r>
          </a:p>
          <a:p>
            <a:pPr>
              <a:lnSpc>
                <a:spcPct val="150000"/>
              </a:lnSpc>
            </a:pPr>
            <a:endParaRPr lang="en-IN" sz="1200" dirty="0">
              <a:latin typeface="Book Antiqua" panose="02040602050305030304" pitchFamily="18" charset="0"/>
            </a:endParaRPr>
          </a:p>
        </p:txBody>
      </p:sp>
      <p:sp>
        <p:nvSpPr>
          <p:cNvPr id="8" name="TextBox 7">
            <a:extLst>
              <a:ext uri="{FF2B5EF4-FFF2-40B4-BE49-F238E27FC236}">
                <a16:creationId xmlns:a16="http://schemas.microsoft.com/office/drawing/2014/main" id="{9E33B8AC-B6C4-C3EC-02C5-42209AE3AA2B}"/>
              </a:ext>
            </a:extLst>
          </p:cNvPr>
          <p:cNvSpPr txBox="1"/>
          <p:nvPr/>
        </p:nvSpPr>
        <p:spPr>
          <a:xfrm>
            <a:off x="3161844" y="5679619"/>
            <a:ext cx="4572000" cy="276999"/>
          </a:xfrm>
          <a:prstGeom prst="rect">
            <a:avLst/>
          </a:prstGeom>
          <a:noFill/>
        </p:spPr>
        <p:txBody>
          <a:bodyPr wrap="square">
            <a:spAutoFit/>
          </a:bodyPr>
          <a:lstStyle/>
          <a:p>
            <a:r>
              <a:rPr lang="en-GB" sz="1200" b="1" i="0" u="none" strike="noStrike" baseline="0" dirty="0">
                <a:solidFill>
                  <a:srgbClr val="FF0000"/>
                </a:solidFill>
                <a:latin typeface="Book Antiqua" panose="02040602050305030304" pitchFamily="18" charset="0"/>
              </a:rPr>
              <a:t>Figure 10-8: </a:t>
            </a:r>
            <a:r>
              <a:rPr lang="en-GB" sz="1200" b="0" i="0" u="none" strike="noStrike" baseline="0" dirty="0">
                <a:solidFill>
                  <a:srgbClr val="FF0000"/>
                </a:solidFill>
                <a:latin typeface="Book Antiqua" panose="02040602050305030304" pitchFamily="18" charset="0"/>
              </a:rPr>
              <a:t>LAN-based backup topology</a:t>
            </a:r>
            <a:endParaRPr lang="en-IN" sz="1200" dirty="0">
              <a:solidFill>
                <a:srgbClr val="FF0000"/>
              </a:solidFill>
              <a:latin typeface="Book Antiqua" panose="0204060205030503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15"/>
          <p:cNvPicPr>
            <a:picLocks noChangeAspect="1" noChangeArrowheads="1"/>
          </p:cNvPicPr>
          <p:nvPr/>
        </p:nvPicPr>
        <p:blipFill>
          <a:blip r:embed="rId3" cstate="print"/>
          <a:srcRect/>
          <a:stretch>
            <a:fillRect/>
          </a:stretch>
        </p:blipFill>
        <p:spPr bwMode="auto">
          <a:xfrm>
            <a:off x="5791200" y="1964073"/>
            <a:ext cx="1066800" cy="691910"/>
          </a:xfrm>
          <a:prstGeom prst="rect">
            <a:avLst/>
          </a:prstGeom>
          <a:noFill/>
          <a:ln w="9525">
            <a:noFill/>
            <a:miter lim="800000"/>
            <a:headEnd/>
            <a:tailEnd/>
          </a:ln>
          <a:effectLst/>
        </p:spPr>
      </p:pic>
      <p:pic>
        <p:nvPicPr>
          <p:cNvPr id="32" name="Picture 16"/>
          <p:cNvPicPr>
            <a:picLocks noChangeAspect="1" noChangeArrowheads="1"/>
          </p:cNvPicPr>
          <p:nvPr/>
        </p:nvPicPr>
        <p:blipFill>
          <a:blip r:embed="rId4" cstate="print"/>
          <a:srcRect/>
          <a:stretch>
            <a:fillRect/>
          </a:stretch>
        </p:blipFill>
        <p:spPr bwMode="auto">
          <a:xfrm>
            <a:off x="1948149" y="1960085"/>
            <a:ext cx="1066800" cy="691910"/>
          </a:xfrm>
          <a:prstGeom prst="rect">
            <a:avLst/>
          </a:prstGeom>
          <a:noFill/>
          <a:ln w="9525">
            <a:noFill/>
            <a:miter lim="800000"/>
            <a:headEnd/>
            <a:tailEnd/>
          </a:ln>
          <a:effectLst/>
        </p:spPr>
      </p:pic>
      <p:sp>
        <p:nvSpPr>
          <p:cNvPr id="2" name="Title 1"/>
          <p:cNvSpPr>
            <a:spLocks noGrp="1"/>
          </p:cNvSpPr>
          <p:nvPr>
            <p:ph type="title"/>
          </p:nvPr>
        </p:nvSpPr>
        <p:spPr>
          <a:xfrm>
            <a:off x="304800" y="76201"/>
            <a:ext cx="8458200" cy="397436"/>
          </a:xfrm>
        </p:spPr>
        <p:txBody>
          <a:bodyPr/>
          <a:lstStyle/>
          <a:p>
            <a:pPr algn="ctr"/>
            <a:r>
              <a:rPr lang="en-US" sz="2100" dirty="0">
                <a:solidFill>
                  <a:srgbClr val="C00000"/>
                </a:solidFill>
                <a:latin typeface="Book Antiqua" panose="02040602050305030304" pitchFamily="18" charset="0"/>
              </a:rPr>
              <a:t>SAN-based Backup</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5" name="Line 1617"/>
          <p:cNvSpPr>
            <a:spLocks noChangeShapeType="1"/>
          </p:cNvSpPr>
          <p:nvPr/>
        </p:nvSpPr>
        <p:spPr bwMode="auto">
          <a:xfrm flipH="1" flipV="1">
            <a:off x="885825" y="2452401"/>
            <a:ext cx="3333750" cy="9525"/>
          </a:xfrm>
          <a:prstGeom prst="line">
            <a:avLst/>
          </a:prstGeom>
          <a:noFill/>
          <a:ln w="38100" cap="rnd">
            <a:solidFill>
              <a:srgbClr val="000000"/>
            </a:solidFill>
            <a:prstDash val="sysDot"/>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 name="Freeform 17"/>
          <p:cNvSpPr>
            <a:spLocks/>
          </p:cNvSpPr>
          <p:nvPr/>
        </p:nvSpPr>
        <p:spPr bwMode="auto">
          <a:xfrm>
            <a:off x="2462308" y="2654682"/>
            <a:ext cx="3798888" cy="1930400"/>
          </a:xfrm>
          <a:custGeom>
            <a:avLst/>
            <a:gdLst/>
            <a:ahLst/>
            <a:cxnLst>
              <a:cxn ang="0">
                <a:pos x="0" y="0"/>
              </a:cxn>
              <a:cxn ang="0">
                <a:pos x="0" y="2147"/>
              </a:cxn>
              <a:cxn ang="0">
                <a:pos x="4743" y="2147"/>
              </a:cxn>
            </a:cxnLst>
            <a:rect l="0" t="0" r="r" b="b"/>
            <a:pathLst>
              <a:path w="4743" h="2147">
                <a:moveTo>
                  <a:pt x="0" y="0"/>
                </a:moveTo>
                <a:lnTo>
                  <a:pt x="0" y="2147"/>
                </a:lnTo>
                <a:lnTo>
                  <a:pt x="4743" y="2147"/>
                </a:lnTo>
              </a:path>
            </a:pathLst>
          </a:custGeom>
          <a:noFill/>
          <a:ln w="12700" cap="flat" cmpd="sng">
            <a:solidFill>
              <a:srgbClr val="0000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 name="Line 19"/>
          <p:cNvSpPr>
            <a:spLocks noChangeShapeType="1"/>
          </p:cNvSpPr>
          <p:nvPr/>
        </p:nvSpPr>
        <p:spPr bwMode="auto">
          <a:xfrm flipH="1">
            <a:off x="786445" y="2311400"/>
            <a:ext cx="1166813" cy="0"/>
          </a:xfrm>
          <a:prstGeom prst="line">
            <a:avLst/>
          </a:prstGeom>
          <a:noFill/>
          <a:ln w="12700">
            <a:solidFill>
              <a:srgbClr val="0000FF"/>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Line 22"/>
          <p:cNvSpPr>
            <a:spLocks noChangeShapeType="1"/>
          </p:cNvSpPr>
          <p:nvPr/>
        </p:nvSpPr>
        <p:spPr bwMode="auto">
          <a:xfrm>
            <a:off x="6332824" y="2630774"/>
            <a:ext cx="9525" cy="1290638"/>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Line 18"/>
          <p:cNvSpPr>
            <a:spLocks noChangeShapeType="1"/>
          </p:cNvSpPr>
          <p:nvPr/>
        </p:nvSpPr>
        <p:spPr bwMode="auto">
          <a:xfrm flipH="1" flipV="1">
            <a:off x="3012252" y="2311400"/>
            <a:ext cx="1316736" cy="0"/>
          </a:xfrm>
          <a:prstGeom prst="line">
            <a:avLst/>
          </a:prstGeom>
          <a:noFill/>
          <a:ln w="12700">
            <a:solidFill>
              <a:srgbClr val="0000FF"/>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Line 20"/>
          <p:cNvSpPr>
            <a:spLocks noChangeShapeType="1"/>
          </p:cNvSpPr>
          <p:nvPr/>
        </p:nvSpPr>
        <p:spPr bwMode="auto">
          <a:xfrm flipH="1">
            <a:off x="4286250" y="2311400"/>
            <a:ext cx="1516063"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Line 21"/>
          <p:cNvSpPr>
            <a:spLocks noChangeShapeType="1"/>
          </p:cNvSpPr>
          <p:nvPr/>
        </p:nvSpPr>
        <p:spPr bwMode="auto">
          <a:xfrm flipH="1">
            <a:off x="6851943" y="2311400"/>
            <a:ext cx="1389888"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 name="Rectangle 158"/>
          <p:cNvSpPr>
            <a:spLocks noChangeArrowheads="1"/>
          </p:cNvSpPr>
          <p:nvPr/>
        </p:nvSpPr>
        <p:spPr bwMode="auto">
          <a:xfrm>
            <a:off x="7086600" y="2590800"/>
            <a:ext cx="798360" cy="184666"/>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Data</a:t>
            </a:r>
          </a:p>
        </p:txBody>
      </p:sp>
      <p:sp>
        <p:nvSpPr>
          <p:cNvPr id="15" name="Rectangle 165"/>
          <p:cNvSpPr>
            <a:spLocks noChangeArrowheads="1"/>
          </p:cNvSpPr>
          <p:nvPr/>
        </p:nvSpPr>
        <p:spPr bwMode="auto">
          <a:xfrm>
            <a:off x="3238500" y="2520950"/>
            <a:ext cx="621389" cy="184666"/>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sp>
        <p:nvSpPr>
          <p:cNvPr id="16" name="Rectangle 166"/>
          <p:cNvSpPr>
            <a:spLocks noChangeArrowheads="1"/>
          </p:cNvSpPr>
          <p:nvPr/>
        </p:nvSpPr>
        <p:spPr bwMode="auto">
          <a:xfrm>
            <a:off x="7971407" y="2844447"/>
            <a:ext cx="1078950"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Device</a:t>
            </a:r>
          </a:p>
        </p:txBody>
      </p:sp>
      <p:sp>
        <p:nvSpPr>
          <p:cNvPr id="17" name="Rectangle 752"/>
          <p:cNvSpPr>
            <a:spLocks noChangeArrowheads="1"/>
          </p:cNvSpPr>
          <p:nvPr/>
        </p:nvSpPr>
        <p:spPr bwMode="auto">
          <a:xfrm>
            <a:off x="76200" y="2838488"/>
            <a:ext cx="1058944"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Server</a:t>
            </a:r>
          </a:p>
        </p:txBody>
      </p:sp>
      <p:sp>
        <p:nvSpPr>
          <p:cNvPr id="18" name="Rectangle 1071"/>
          <p:cNvSpPr>
            <a:spLocks noChangeArrowheads="1"/>
          </p:cNvSpPr>
          <p:nvPr/>
        </p:nvSpPr>
        <p:spPr bwMode="auto">
          <a:xfrm>
            <a:off x="3721189" y="2877845"/>
            <a:ext cx="1486433" cy="430887"/>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Application Server/ </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Client</a:t>
            </a:r>
          </a:p>
        </p:txBody>
      </p:sp>
      <p:sp>
        <p:nvSpPr>
          <p:cNvPr id="19" name="Rectangle 1389"/>
          <p:cNvSpPr>
            <a:spLocks noChangeArrowheads="1"/>
          </p:cNvSpPr>
          <p:nvPr/>
        </p:nvSpPr>
        <p:spPr bwMode="auto">
          <a:xfrm>
            <a:off x="5888324" y="5096522"/>
            <a:ext cx="1003865"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Storage Node</a:t>
            </a:r>
          </a:p>
        </p:txBody>
      </p:sp>
      <p:sp>
        <p:nvSpPr>
          <p:cNvPr id="21" name="Rectangle 10"/>
          <p:cNvSpPr>
            <a:spLocks noChangeArrowheads="1"/>
          </p:cNvSpPr>
          <p:nvPr/>
        </p:nvSpPr>
        <p:spPr bwMode="auto">
          <a:xfrm>
            <a:off x="2281303" y="2171685"/>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sp>
        <p:nvSpPr>
          <p:cNvPr id="23" name="Rectangle 1662"/>
          <p:cNvSpPr>
            <a:spLocks noChangeArrowheads="1"/>
          </p:cNvSpPr>
          <p:nvPr/>
        </p:nvSpPr>
        <p:spPr bwMode="auto">
          <a:xfrm>
            <a:off x="6038482" y="2192580"/>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sp>
        <p:nvSpPr>
          <p:cNvPr id="25" name="Line 1663"/>
          <p:cNvSpPr>
            <a:spLocks noChangeShapeType="1"/>
          </p:cNvSpPr>
          <p:nvPr/>
        </p:nvSpPr>
        <p:spPr bwMode="auto">
          <a:xfrm>
            <a:off x="4661473" y="2500313"/>
            <a:ext cx="1517650" cy="0"/>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9" name="Freeform 1667"/>
          <p:cNvSpPr>
            <a:spLocks/>
          </p:cNvSpPr>
          <p:nvPr/>
        </p:nvSpPr>
        <p:spPr bwMode="auto">
          <a:xfrm>
            <a:off x="6481763" y="2495550"/>
            <a:ext cx="1585912" cy="9525"/>
          </a:xfrm>
          <a:custGeom>
            <a:avLst/>
            <a:gdLst/>
            <a:ahLst/>
            <a:cxnLst>
              <a:cxn ang="0">
                <a:pos x="0" y="6"/>
              </a:cxn>
              <a:cxn ang="0">
                <a:pos x="999" y="0"/>
              </a:cxn>
            </a:cxnLst>
            <a:rect l="0" t="0" r="r" b="b"/>
            <a:pathLst>
              <a:path w="999" h="6">
                <a:moveTo>
                  <a:pt x="0" y="6"/>
                </a:moveTo>
                <a:lnTo>
                  <a:pt x="999" y="0"/>
                </a:lnTo>
              </a:path>
            </a:pathLst>
          </a:custGeom>
          <a:ln>
            <a:prstDash val="sysDash"/>
            <a:tailEnd type="triangle" w="lg" len="med"/>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34" name="Group 33"/>
          <p:cNvGrpSpPr/>
          <p:nvPr/>
        </p:nvGrpSpPr>
        <p:grpSpPr>
          <a:xfrm>
            <a:off x="314325" y="1562724"/>
            <a:ext cx="543668" cy="1256676"/>
            <a:chOff x="142132" y="3086724"/>
            <a:chExt cx="543668" cy="1256676"/>
          </a:xfrm>
        </p:grpSpPr>
        <p:pic>
          <p:nvPicPr>
            <p:cNvPr id="35" name="Picture 7" descr="C:\Documents and Settings\sridhs\Desktop\ISM Book L3\colored Icons\Host.png"/>
            <p:cNvPicPr>
              <a:picLocks noChangeAspect="1" noChangeArrowheads="1"/>
            </p:cNvPicPr>
            <p:nvPr/>
          </p:nvPicPr>
          <p:blipFill>
            <a:blip r:embed="rId5" cstate="print"/>
            <a:srcRect/>
            <a:stretch>
              <a:fillRect/>
            </a:stretch>
          </p:blipFill>
          <p:spPr bwMode="auto">
            <a:xfrm>
              <a:off x="142132" y="3086724"/>
              <a:ext cx="543668" cy="1256676"/>
            </a:xfrm>
            <a:prstGeom prst="rect">
              <a:avLst/>
            </a:prstGeom>
            <a:noFill/>
          </p:spPr>
        </p:pic>
        <p:pic>
          <p:nvPicPr>
            <p:cNvPr id="36" name="Picture 10" descr="C:\Documents and Settings\sridhs\Desktop\ISM Book L3\colored Icons\Standard disk.png"/>
            <p:cNvPicPr>
              <a:picLocks noChangeAspect="1" noChangeArrowheads="1"/>
            </p:cNvPicPr>
            <p:nvPr/>
          </p:nvPicPr>
          <p:blipFill>
            <a:blip r:embed="rId6" cstate="print"/>
            <a:srcRect/>
            <a:stretch>
              <a:fillRect/>
            </a:stretch>
          </p:blipFill>
          <p:spPr bwMode="auto">
            <a:xfrm flipH="1">
              <a:off x="228600" y="3785061"/>
              <a:ext cx="152400" cy="152400"/>
            </a:xfrm>
            <a:prstGeom prst="rect">
              <a:avLst/>
            </a:prstGeom>
            <a:noFill/>
          </p:spPr>
        </p:pic>
        <p:pic>
          <p:nvPicPr>
            <p:cNvPr id="37" name="Picture 10" descr="C:\Documents and Settings\sridhs\Desktop\ISM Book L3\colored Icons\Standard disk.png"/>
            <p:cNvPicPr>
              <a:picLocks noChangeAspect="1" noChangeArrowheads="1"/>
            </p:cNvPicPr>
            <p:nvPr/>
          </p:nvPicPr>
          <p:blipFill>
            <a:blip r:embed="rId6" cstate="print"/>
            <a:srcRect/>
            <a:stretch>
              <a:fillRect/>
            </a:stretch>
          </p:blipFill>
          <p:spPr bwMode="auto">
            <a:xfrm flipH="1">
              <a:off x="405939" y="3785061"/>
              <a:ext cx="152400" cy="152400"/>
            </a:xfrm>
            <a:prstGeom prst="rect">
              <a:avLst/>
            </a:prstGeom>
            <a:noFill/>
          </p:spPr>
        </p:pic>
      </p:grpSp>
      <p:pic>
        <p:nvPicPr>
          <p:cNvPr id="38" name="Picture 6"/>
          <p:cNvPicPr>
            <a:picLocks noChangeAspect="1" noChangeArrowheads="1"/>
          </p:cNvPicPr>
          <p:nvPr/>
        </p:nvPicPr>
        <p:blipFill>
          <a:blip r:embed="rId7" cstate="print"/>
          <a:srcRect/>
          <a:stretch>
            <a:fillRect/>
          </a:stretch>
        </p:blipFill>
        <p:spPr bwMode="auto">
          <a:xfrm>
            <a:off x="8117205" y="1381125"/>
            <a:ext cx="788670" cy="1433945"/>
          </a:xfrm>
          <a:prstGeom prst="rect">
            <a:avLst/>
          </a:prstGeom>
          <a:noFill/>
          <a:ln w="9525">
            <a:noFill/>
            <a:miter lim="800000"/>
            <a:headEnd/>
            <a:tailEnd/>
          </a:ln>
          <a:effectLst/>
        </p:spPr>
      </p:pic>
      <p:pic>
        <p:nvPicPr>
          <p:cNvPr id="39" name="Picture 7" descr="C:\Documents and Settings\sridhs\Desktop\ISM Book L3\colored Icons\Host.png"/>
          <p:cNvPicPr>
            <a:picLocks noChangeAspect="1" noChangeArrowheads="1"/>
          </p:cNvPicPr>
          <p:nvPr/>
        </p:nvPicPr>
        <p:blipFill>
          <a:blip r:embed="rId5" cstate="print"/>
          <a:srcRect/>
          <a:stretch>
            <a:fillRect/>
          </a:stretch>
        </p:blipFill>
        <p:spPr bwMode="auto">
          <a:xfrm>
            <a:off x="4171207" y="1571625"/>
            <a:ext cx="543668" cy="1256676"/>
          </a:xfrm>
          <a:prstGeom prst="rect">
            <a:avLst/>
          </a:prstGeom>
          <a:noFill/>
        </p:spPr>
      </p:pic>
      <p:pic>
        <p:nvPicPr>
          <p:cNvPr id="33" name="Picture 7" descr="C:\Documents and Settings\sridhs\Desktop\ISM Book L3\colored Icons\Host.png"/>
          <p:cNvPicPr>
            <a:picLocks noChangeAspect="1" noChangeArrowheads="1"/>
          </p:cNvPicPr>
          <p:nvPr/>
        </p:nvPicPr>
        <p:blipFill>
          <a:blip r:embed="rId5" cstate="print"/>
          <a:srcRect/>
          <a:stretch>
            <a:fillRect/>
          </a:stretch>
        </p:blipFill>
        <p:spPr bwMode="auto">
          <a:xfrm>
            <a:off x="6107766" y="3848724"/>
            <a:ext cx="543668" cy="1256676"/>
          </a:xfrm>
          <a:prstGeom prst="rect">
            <a:avLst/>
          </a:prstGeom>
          <a:noFill/>
        </p:spPr>
      </p:pic>
      <p:sp>
        <p:nvSpPr>
          <p:cNvPr id="28" name="Freeform 1666"/>
          <p:cNvSpPr>
            <a:spLocks/>
          </p:cNvSpPr>
          <p:nvPr/>
        </p:nvSpPr>
        <p:spPr bwMode="auto">
          <a:xfrm>
            <a:off x="6489524" y="2505075"/>
            <a:ext cx="15875" cy="1992313"/>
          </a:xfrm>
          <a:custGeom>
            <a:avLst/>
            <a:gdLst/>
            <a:ahLst/>
            <a:cxnLst>
              <a:cxn ang="0">
                <a:pos x="10" y="1255"/>
              </a:cxn>
              <a:cxn ang="0">
                <a:pos x="0" y="0"/>
              </a:cxn>
            </a:cxnLst>
            <a:rect l="0" t="0" r="r" b="b"/>
            <a:pathLst>
              <a:path w="10" h="1255">
                <a:moveTo>
                  <a:pt x="10" y="1255"/>
                </a:moveTo>
                <a:lnTo>
                  <a:pt x="0" y="0"/>
                </a:lnTo>
              </a:path>
            </a:pathLst>
          </a:cu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Line 1664"/>
          <p:cNvSpPr>
            <a:spLocks noChangeShapeType="1"/>
          </p:cNvSpPr>
          <p:nvPr/>
        </p:nvSpPr>
        <p:spPr bwMode="auto">
          <a:xfrm>
            <a:off x="6215335" y="2493867"/>
            <a:ext cx="42862" cy="2047875"/>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Freeform 1665"/>
          <p:cNvSpPr>
            <a:spLocks/>
          </p:cNvSpPr>
          <p:nvPr/>
        </p:nvSpPr>
        <p:spPr bwMode="auto">
          <a:xfrm rot="780000">
            <a:off x="6298704" y="4499440"/>
            <a:ext cx="182880" cy="45719"/>
          </a:xfrm>
          <a:custGeom>
            <a:avLst/>
            <a:gdLst/>
            <a:ahLst/>
            <a:cxnLst>
              <a:cxn ang="0">
                <a:pos x="0" y="5"/>
              </a:cxn>
              <a:cxn ang="0">
                <a:pos x="216" y="0"/>
              </a:cxn>
            </a:cxnLst>
            <a:rect l="0" t="0" r="r" b="b"/>
            <a:pathLst>
              <a:path w="216" h="5">
                <a:moveTo>
                  <a:pt x="0" y="5"/>
                </a:moveTo>
                <a:lnTo>
                  <a:pt x="216" y="0"/>
                </a:lnTo>
              </a:path>
            </a:pathLst>
          </a:cu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TextBox 9">
            <a:extLst>
              <a:ext uri="{FF2B5EF4-FFF2-40B4-BE49-F238E27FC236}">
                <a16:creationId xmlns:a16="http://schemas.microsoft.com/office/drawing/2014/main" id="{70D27BE3-BC3A-71A3-2136-6CF15AC4B419}"/>
              </a:ext>
            </a:extLst>
          </p:cNvPr>
          <p:cNvSpPr txBox="1"/>
          <p:nvPr/>
        </p:nvSpPr>
        <p:spPr>
          <a:xfrm>
            <a:off x="2572537" y="3478045"/>
            <a:ext cx="3818901" cy="276999"/>
          </a:xfrm>
          <a:prstGeom prst="rect">
            <a:avLst/>
          </a:prstGeom>
          <a:noFill/>
        </p:spPr>
        <p:txBody>
          <a:bodyPr wrap="square">
            <a:spAutoFit/>
          </a:bodyPr>
          <a:lstStyle/>
          <a:p>
            <a:pPr algn="just"/>
            <a:r>
              <a:rPr lang="en-GB" sz="1200" b="0" i="0" u="none" strike="noStrike" baseline="0" dirty="0">
                <a:solidFill>
                  <a:srgbClr val="C00000"/>
                </a:solidFill>
                <a:latin typeface="Book Antiqua" panose="02040602050305030304" pitchFamily="18" charset="0"/>
              </a:rPr>
              <a:t>Figure 10-9 illustrates a SAN-based backup.</a:t>
            </a:r>
          </a:p>
        </p:txBody>
      </p:sp>
      <p:sp>
        <p:nvSpPr>
          <p:cNvPr id="22" name="TextBox 21">
            <a:extLst>
              <a:ext uri="{FF2B5EF4-FFF2-40B4-BE49-F238E27FC236}">
                <a16:creationId xmlns:a16="http://schemas.microsoft.com/office/drawing/2014/main" id="{BE765B3C-7EB0-6D1A-ECA4-F68E1BC75D1D}"/>
              </a:ext>
            </a:extLst>
          </p:cNvPr>
          <p:cNvSpPr txBox="1"/>
          <p:nvPr/>
        </p:nvSpPr>
        <p:spPr>
          <a:xfrm>
            <a:off x="193692" y="4702187"/>
            <a:ext cx="5694631" cy="1200329"/>
          </a:xfrm>
          <a:prstGeom prst="rect">
            <a:avLst/>
          </a:prstGeom>
          <a:noFill/>
        </p:spPr>
        <p:txBody>
          <a:bodyPr wrap="square">
            <a:spAutoFit/>
          </a:bodyPr>
          <a:lstStyle/>
          <a:p>
            <a:pPr marL="285750" indent="-285750" algn="just">
              <a:buFont typeface="Arial" panose="020B0604020202020204" pitchFamily="34" charset="0"/>
              <a:buChar char="•"/>
            </a:pPr>
            <a:r>
              <a:rPr lang="en-GB" sz="1200" b="0" i="0" u="none" strike="noStrike" baseline="0" dirty="0">
                <a:latin typeface="Book Antiqua" panose="02040602050305030304" pitchFamily="18" charset="0"/>
              </a:rPr>
              <a:t>The volume of metadata is insignificant when compared to the production data; the LAN performance is not degraded in this configuration.</a:t>
            </a:r>
          </a:p>
          <a:p>
            <a:pPr marL="285750" indent="-285750" algn="just">
              <a:buFont typeface="Arial" panose="020B0604020202020204" pitchFamily="34" charset="0"/>
              <a:buChar char="•"/>
            </a:pPr>
            <a:r>
              <a:rPr lang="en-GB" sz="1200" b="0" i="0" u="none" strike="noStrike" baseline="0" dirty="0">
                <a:latin typeface="Book Antiqua" panose="02040602050305030304" pitchFamily="18" charset="0"/>
              </a:rPr>
              <a:t>The emergence of low-cost disks as a backup medium has enabled disk arrays to be attached to the SAN and used as backup devices. </a:t>
            </a:r>
          </a:p>
          <a:p>
            <a:pPr marL="285750" indent="-285750" algn="just">
              <a:buFont typeface="Arial" panose="020B0604020202020204" pitchFamily="34" charset="0"/>
              <a:buChar char="•"/>
            </a:pPr>
            <a:r>
              <a:rPr lang="en-GB" sz="1200" b="0" i="0" u="none" strike="noStrike" baseline="0" dirty="0">
                <a:latin typeface="Book Antiqua" panose="02040602050305030304" pitchFamily="18" charset="0"/>
              </a:rPr>
              <a:t>A tape backup of these data backups on the disks can be created and shipped offsite for disaster recovery </a:t>
            </a:r>
            <a:r>
              <a:rPr lang="en-IN" sz="1200" b="0" i="0" u="none" strike="noStrike" baseline="0" dirty="0">
                <a:latin typeface="Book Antiqua" panose="02040602050305030304" pitchFamily="18" charset="0"/>
              </a:rPr>
              <a:t>and long-term retention.</a:t>
            </a:r>
            <a:endParaRPr lang="en-IN" sz="1200" dirty="0">
              <a:latin typeface="Book Antiqua" panose="02040602050305030304" pitchFamily="18" charset="0"/>
            </a:endParaRPr>
          </a:p>
        </p:txBody>
      </p:sp>
      <p:sp>
        <p:nvSpPr>
          <p:cNvPr id="30" name="TextBox 29">
            <a:extLst>
              <a:ext uri="{FF2B5EF4-FFF2-40B4-BE49-F238E27FC236}">
                <a16:creationId xmlns:a16="http://schemas.microsoft.com/office/drawing/2014/main" id="{747A9DD3-15EF-BD06-EE61-00FEEBDE8259}"/>
              </a:ext>
            </a:extLst>
          </p:cNvPr>
          <p:cNvSpPr txBox="1"/>
          <p:nvPr/>
        </p:nvSpPr>
        <p:spPr>
          <a:xfrm>
            <a:off x="183629" y="422911"/>
            <a:ext cx="8205241" cy="1277273"/>
          </a:xfrm>
          <a:prstGeom prst="rect">
            <a:avLst/>
          </a:prstGeom>
          <a:noFill/>
        </p:spPr>
        <p:txBody>
          <a:bodyPr wrap="square">
            <a:spAutoFit/>
          </a:bodyPr>
          <a:lstStyle/>
          <a:p>
            <a:pPr marL="285750" indent="-285750" algn="just">
              <a:buFont typeface="Arial" panose="020B0604020202020204" pitchFamily="34" charset="0"/>
              <a:buChar char="•"/>
            </a:pPr>
            <a:r>
              <a:rPr lang="en-GB" sz="1100" b="0" i="0" u="none" strike="noStrike" baseline="0" dirty="0">
                <a:latin typeface="Book Antiqua" panose="02040602050305030304" pitchFamily="18" charset="0"/>
              </a:rPr>
              <a:t>A </a:t>
            </a:r>
            <a:r>
              <a:rPr lang="en-GB" sz="1100" b="1" i="1" u="none" strike="noStrike" baseline="0" dirty="0">
                <a:solidFill>
                  <a:srgbClr val="0000FF"/>
                </a:solidFill>
                <a:latin typeface="Book Antiqua" panose="02040602050305030304" pitchFamily="18" charset="0"/>
              </a:rPr>
              <a:t>SAN-based backup </a:t>
            </a:r>
            <a:r>
              <a:rPr lang="en-GB" sz="1100" b="0" i="0" u="none" strike="noStrike" baseline="0" dirty="0">
                <a:latin typeface="Book Antiqua" panose="02040602050305030304" pitchFamily="18" charset="0"/>
              </a:rPr>
              <a:t>is also known as a </a:t>
            </a:r>
            <a:r>
              <a:rPr lang="en-GB" sz="1100" b="1" i="1" dirty="0">
                <a:solidFill>
                  <a:srgbClr val="0000FF"/>
                </a:solidFill>
                <a:latin typeface="Book Antiqua" panose="02040602050305030304" pitchFamily="18" charset="0"/>
              </a:rPr>
              <a:t>LAN-free backup. </a:t>
            </a:r>
          </a:p>
          <a:p>
            <a:pPr marL="285750" indent="-285750" algn="just">
              <a:buFont typeface="Arial" panose="020B0604020202020204" pitchFamily="34" charset="0"/>
              <a:buChar char="•"/>
            </a:pPr>
            <a:r>
              <a:rPr lang="en-GB" sz="1100" b="0" i="0" u="none" strike="noStrike" baseline="0" dirty="0">
                <a:latin typeface="Book Antiqua" panose="02040602050305030304" pitchFamily="18" charset="0"/>
              </a:rPr>
              <a:t>The SAN-based backup topology is the most appropriate solution when a backup device needs to be shared among clients. In this case, the backup device and clients are attached to the SAN.  Figure 10-9 illustrates a SAN-based backup. </a:t>
            </a:r>
          </a:p>
          <a:p>
            <a:pPr marL="285750" indent="-285750" algn="just">
              <a:buFont typeface="Arial" panose="020B0604020202020204" pitchFamily="34" charset="0"/>
              <a:buChar char="•"/>
            </a:pPr>
            <a:r>
              <a:rPr lang="en-GB" sz="1100" dirty="0">
                <a:latin typeface="Book Antiqua" panose="02040602050305030304" pitchFamily="18" charset="0"/>
              </a:rPr>
              <a:t>In this example, a client sends the data to be backed up to the backup device over the SAN. </a:t>
            </a:r>
          </a:p>
          <a:p>
            <a:pPr marL="285750" indent="-285750" algn="just">
              <a:buFont typeface="Arial" panose="020B0604020202020204" pitchFamily="34" charset="0"/>
              <a:buChar char="•"/>
            </a:pPr>
            <a:r>
              <a:rPr lang="en-GB" sz="1100" dirty="0">
                <a:latin typeface="Book Antiqua" panose="02040602050305030304" pitchFamily="18" charset="0"/>
              </a:rPr>
              <a:t>Therefore, the backup data traffic is restricted to the SAN, and only the backup metadata is transported over the LAN. </a:t>
            </a:r>
          </a:p>
          <a:p>
            <a:pPr marL="285750" indent="-285750" algn="just">
              <a:buFont typeface="Arial" panose="020B0604020202020204" pitchFamily="34" charset="0"/>
              <a:buChar char="•"/>
            </a:pPr>
            <a:endParaRPr lang="en-GB" sz="1100" dirty="0">
              <a:latin typeface="Book Antiqua" panose="02040602050305030304" pitchFamily="18" charset="0"/>
            </a:endParaRPr>
          </a:p>
          <a:p>
            <a:pPr marL="285750" indent="-285750" algn="just">
              <a:buFont typeface="Arial" panose="020B0604020202020204" pitchFamily="34" charset="0"/>
              <a:buChar char="•"/>
            </a:pPr>
            <a:endParaRPr lang="en-GB" sz="1100" b="0" i="0" u="none" strike="noStrike" baseline="0" dirty="0">
              <a:latin typeface="Book Antiqua" panose="02040602050305030304" pitchFamily="18" charset="0"/>
            </a:endParaRPr>
          </a:p>
        </p:txBody>
      </p:sp>
    </p:spTree>
    <p:extLst>
      <p:ext uri="{BB962C8B-B14F-4D97-AF65-F5344CB8AC3E}">
        <p14:creationId xmlns:p14="http://schemas.microsoft.com/office/powerpoint/2010/main" val="1885362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701" y="151125"/>
            <a:ext cx="3788885" cy="578615"/>
          </a:xfrm>
        </p:spPr>
        <p:txBody>
          <a:bodyPr/>
          <a:lstStyle/>
          <a:p>
            <a:r>
              <a:rPr lang="en-US" sz="2100" dirty="0">
                <a:solidFill>
                  <a:srgbClr val="C00000"/>
                </a:solidFill>
                <a:latin typeface="Book Antiqua" panose="02040602050305030304" pitchFamily="18" charset="0"/>
              </a:rPr>
              <a:t>Mixed Backup Topology</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53" name="Group 52"/>
          <p:cNvGrpSpPr/>
          <p:nvPr/>
        </p:nvGrpSpPr>
        <p:grpSpPr>
          <a:xfrm>
            <a:off x="383220" y="977745"/>
            <a:ext cx="8403866" cy="4961878"/>
            <a:chOff x="295084" y="1120966"/>
            <a:chExt cx="8403866" cy="4961878"/>
          </a:xfrm>
        </p:grpSpPr>
        <p:sp>
          <p:nvSpPr>
            <p:cNvPr id="54" name="Rectangle 1379"/>
            <p:cNvSpPr>
              <a:spLocks noChangeArrowheads="1"/>
            </p:cNvSpPr>
            <p:nvPr/>
          </p:nvSpPr>
          <p:spPr bwMode="auto">
            <a:xfrm>
              <a:off x="5625535" y="5867400"/>
              <a:ext cx="1003865"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Storage Node</a:t>
              </a:r>
            </a:p>
          </p:txBody>
        </p:sp>
        <p:grpSp>
          <p:nvGrpSpPr>
            <p:cNvPr id="55" name="Group 51"/>
            <p:cNvGrpSpPr/>
            <p:nvPr/>
          </p:nvGrpSpPr>
          <p:grpSpPr>
            <a:xfrm>
              <a:off x="295084" y="1120966"/>
              <a:ext cx="8403866" cy="4749940"/>
              <a:chOff x="295084" y="1120966"/>
              <a:chExt cx="8403866" cy="4749940"/>
            </a:xfrm>
          </p:grpSpPr>
          <p:sp>
            <p:nvSpPr>
              <p:cNvPr id="56" name="Line 10"/>
              <p:cNvSpPr>
                <a:spLocks noChangeShapeType="1"/>
              </p:cNvSpPr>
              <p:nvPr/>
            </p:nvSpPr>
            <p:spPr bwMode="auto">
              <a:xfrm rot="5400000" flipH="1">
                <a:off x="5522531" y="4361436"/>
                <a:ext cx="1235075" cy="0"/>
              </a:xfrm>
              <a:prstGeom prst="line">
                <a:avLst/>
              </a:prstGeom>
              <a:noFill/>
              <a:ln w="38100">
                <a:solidFill>
                  <a:srgbClr val="FF99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7" name="Freeform 7"/>
              <p:cNvSpPr>
                <a:spLocks/>
              </p:cNvSpPr>
              <p:nvPr/>
            </p:nvSpPr>
            <p:spPr bwMode="auto">
              <a:xfrm>
                <a:off x="2593975" y="3778250"/>
                <a:ext cx="3402013" cy="1716088"/>
              </a:xfrm>
              <a:custGeom>
                <a:avLst/>
                <a:gdLst/>
                <a:ahLst/>
                <a:cxnLst>
                  <a:cxn ang="0">
                    <a:pos x="0" y="0"/>
                  </a:cxn>
                  <a:cxn ang="0">
                    <a:pos x="0" y="1886"/>
                  </a:cxn>
                  <a:cxn ang="0">
                    <a:pos x="4166" y="1886"/>
                  </a:cxn>
                </a:cxnLst>
                <a:rect l="0" t="0" r="r" b="b"/>
                <a:pathLst>
                  <a:path w="4166" h="1886">
                    <a:moveTo>
                      <a:pt x="0" y="0"/>
                    </a:moveTo>
                    <a:lnTo>
                      <a:pt x="0" y="1886"/>
                    </a:lnTo>
                    <a:lnTo>
                      <a:pt x="4166" y="1886"/>
                    </a:lnTo>
                  </a:path>
                </a:pathLst>
              </a:custGeom>
              <a:noFill/>
              <a:ln w="12700" cap="flat" cmpd="sng">
                <a:solidFill>
                  <a:srgbClr val="0000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58"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5900451" y="4614230"/>
                <a:ext cx="543668" cy="1256676"/>
              </a:xfrm>
              <a:prstGeom prst="rect">
                <a:avLst/>
              </a:prstGeom>
              <a:noFill/>
            </p:spPr>
          </p:pic>
          <p:sp>
            <p:nvSpPr>
              <p:cNvPr id="59" name="Line 1672"/>
              <p:cNvSpPr>
                <a:spLocks noChangeShapeType="1"/>
              </p:cNvSpPr>
              <p:nvPr/>
            </p:nvSpPr>
            <p:spPr bwMode="auto">
              <a:xfrm>
                <a:off x="2616200" y="2271426"/>
                <a:ext cx="0" cy="857250"/>
              </a:xfrm>
              <a:prstGeom prst="line">
                <a:avLst/>
              </a:prstGeom>
              <a:noFill/>
              <a:ln w="12700">
                <a:solidFill>
                  <a:srgbClr val="0000FF"/>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0" name="Line 8"/>
              <p:cNvSpPr>
                <a:spLocks noChangeShapeType="1"/>
              </p:cNvSpPr>
              <p:nvPr/>
            </p:nvSpPr>
            <p:spPr bwMode="auto">
              <a:xfrm flipH="1">
                <a:off x="3122076" y="3449542"/>
                <a:ext cx="969962"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1" name="Line 9"/>
              <p:cNvSpPr>
                <a:spLocks noChangeShapeType="1"/>
              </p:cNvSpPr>
              <p:nvPr/>
            </p:nvSpPr>
            <p:spPr bwMode="auto">
              <a:xfrm flipH="1">
                <a:off x="1099374" y="3449542"/>
                <a:ext cx="965200" cy="0"/>
              </a:xfrm>
              <a:prstGeom prst="line">
                <a:avLst/>
              </a:prstGeom>
              <a:noFill/>
              <a:ln w="12700">
                <a:solidFill>
                  <a:srgbClr val="0000FF"/>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2" name="Line 10"/>
              <p:cNvSpPr>
                <a:spLocks noChangeShapeType="1"/>
              </p:cNvSpPr>
              <p:nvPr/>
            </p:nvSpPr>
            <p:spPr bwMode="auto">
              <a:xfrm flipH="1">
                <a:off x="4412904" y="3449542"/>
                <a:ext cx="1235075" cy="0"/>
              </a:xfrm>
              <a:prstGeom prst="line">
                <a:avLst/>
              </a:prstGeom>
              <a:noFill/>
              <a:ln w="38100">
                <a:solidFill>
                  <a:srgbClr val="FF99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3" name="Line 11"/>
              <p:cNvSpPr>
                <a:spLocks noChangeShapeType="1"/>
              </p:cNvSpPr>
              <p:nvPr/>
            </p:nvSpPr>
            <p:spPr bwMode="auto">
              <a:xfrm flipH="1">
                <a:off x="6696456" y="3449542"/>
                <a:ext cx="1563624"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4" name="Rectangle 148"/>
              <p:cNvSpPr>
                <a:spLocks noChangeArrowheads="1"/>
              </p:cNvSpPr>
              <p:nvPr/>
            </p:nvSpPr>
            <p:spPr bwMode="auto">
              <a:xfrm>
                <a:off x="6769549" y="3547872"/>
                <a:ext cx="798360" cy="184666"/>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Data</a:t>
                </a:r>
              </a:p>
            </p:txBody>
          </p:sp>
          <p:sp>
            <p:nvSpPr>
              <p:cNvPr id="65" name="Rectangle 155"/>
              <p:cNvSpPr>
                <a:spLocks noChangeArrowheads="1"/>
              </p:cNvSpPr>
              <p:nvPr/>
            </p:nvSpPr>
            <p:spPr bwMode="auto">
              <a:xfrm>
                <a:off x="1802290" y="2692400"/>
                <a:ext cx="621389" cy="184666"/>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sp>
            <p:nvSpPr>
              <p:cNvPr id="66" name="Rectangle 156"/>
              <p:cNvSpPr>
                <a:spLocks noChangeArrowheads="1"/>
              </p:cNvSpPr>
              <p:nvPr/>
            </p:nvSpPr>
            <p:spPr bwMode="auto">
              <a:xfrm>
                <a:off x="7620000" y="4126118"/>
                <a:ext cx="1078950"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Device</a:t>
                </a:r>
              </a:p>
            </p:txBody>
          </p:sp>
          <p:sp>
            <p:nvSpPr>
              <p:cNvPr id="67" name="Rectangle 742"/>
              <p:cNvSpPr>
                <a:spLocks noChangeArrowheads="1"/>
              </p:cNvSpPr>
              <p:nvPr/>
            </p:nvSpPr>
            <p:spPr bwMode="auto">
              <a:xfrm>
                <a:off x="295084" y="4107760"/>
                <a:ext cx="1058944" cy="215444"/>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Server</a:t>
                </a:r>
              </a:p>
            </p:txBody>
          </p:sp>
          <p:sp>
            <p:nvSpPr>
              <p:cNvPr id="68" name="Rectangle 1061"/>
              <p:cNvSpPr>
                <a:spLocks noChangeArrowheads="1"/>
              </p:cNvSpPr>
              <p:nvPr/>
            </p:nvSpPr>
            <p:spPr bwMode="auto">
              <a:xfrm>
                <a:off x="3505209" y="4153968"/>
                <a:ext cx="1592231" cy="430887"/>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Application Server-1/</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Client</a:t>
                </a:r>
              </a:p>
            </p:txBody>
          </p:sp>
          <p:pic>
            <p:nvPicPr>
              <p:cNvPr id="69" name="Picture 16"/>
              <p:cNvPicPr>
                <a:picLocks noChangeAspect="1" noChangeArrowheads="1"/>
              </p:cNvPicPr>
              <p:nvPr/>
            </p:nvPicPr>
            <p:blipFill>
              <a:blip r:embed="rId4" cstate="print"/>
              <a:srcRect/>
              <a:stretch>
                <a:fillRect/>
              </a:stretch>
            </p:blipFill>
            <p:spPr bwMode="auto">
              <a:xfrm>
                <a:off x="2057400" y="3113183"/>
                <a:ext cx="1066800" cy="691910"/>
              </a:xfrm>
              <a:prstGeom prst="rect">
                <a:avLst/>
              </a:prstGeom>
              <a:noFill/>
              <a:ln w="9525">
                <a:noFill/>
                <a:miter lim="800000"/>
                <a:headEnd/>
                <a:tailEnd/>
              </a:ln>
              <a:effectLst/>
            </p:spPr>
          </p:pic>
          <p:sp>
            <p:nvSpPr>
              <p:cNvPr id="70" name="Rectangle 1610"/>
              <p:cNvSpPr>
                <a:spLocks noChangeArrowheads="1"/>
              </p:cNvSpPr>
              <p:nvPr/>
            </p:nvSpPr>
            <p:spPr bwMode="auto">
              <a:xfrm>
                <a:off x="2396951" y="3349757"/>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pic>
            <p:nvPicPr>
              <p:cNvPr id="71" name="Picture 15"/>
              <p:cNvPicPr>
                <a:picLocks noChangeAspect="1" noChangeArrowheads="1"/>
              </p:cNvPicPr>
              <p:nvPr/>
            </p:nvPicPr>
            <p:blipFill>
              <a:blip r:embed="rId5" cstate="print"/>
              <a:srcRect/>
              <a:stretch>
                <a:fillRect/>
              </a:stretch>
            </p:blipFill>
            <p:spPr bwMode="auto">
              <a:xfrm>
                <a:off x="5638800" y="3096975"/>
                <a:ext cx="1066800" cy="691910"/>
              </a:xfrm>
              <a:prstGeom prst="rect">
                <a:avLst/>
              </a:prstGeom>
              <a:noFill/>
              <a:ln w="9525">
                <a:noFill/>
                <a:miter lim="800000"/>
                <a:headEnd/>
                <a:tailEnd/>
              </a:ln>
              <a:effectLst/>
            </p:spPr>
          </p:pic>
          <p:sp>
            <p:nvSpPr>
              <p:cNvPr id="72" name="Rectangle 1612"/>
              <p:cNvSpPr>
                <a:spLocks noChangeArrowheads="1"/>
              </p:cNvSpPr>
              <p:nvPr/>
            </p:nvSpPr>
            <p:spPr bwMode="auto">
              <a:xfrm>
                <a:off x="5903067" y="3304550"/>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sp>
            <p:nvSpPr>
              <p:cNvPr id="73" name="Line 1613"/>
              <p:cNvSpPr>
                <a:spLocks noChangeShapeType="1"/>
              </p:cNvSpPr>
              <p:nvPr/>
            </p:nvSpPr>
            <p:spPr bwMode="auto">
              <a:xfrm flipH="1" flipV="1">
                <a:off x="1157288" y="3582988"/>
                <a:ext cx="2951162" cy="9525"/>
              </a:xfrm>
              <a:prstGeom prst="line">
                <a:avLst/>
              </a:prstGeom>
              <a:noFill/>
              <a:ln w="38100" cap="rnd">
                <a:solidFill>
                  <a:srgbClr val="000000"/>
                </a:solidFill>
                <a:prstDash val="sysDot"/>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4" name="Line 1660"/>
              <p:cNvSpPr>
                <a:spLocks noChangeShapeType="1"/>
              </p:cNvSpPr>
              <p:nvPr/>
            </p:nvSpPr>
            <p:spPr bwMode="auto">
              <a:xfrm>
                <a:off x="4543425" y="3552825"/>
                <a:ext cx="1419225" cy="0"/>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5" name="Freeform 1661"/>
              <p:cNvSpPr>
                <a:spLocks/>
              </p:cNvSpPr>
              <p:nvPr/>
            </p:nvSpPr>
            <p:spPr bwMode="auto">
              <a:xfrm>
                <a:off x="5945092" y="3543300"/>
                <a:ext cx="42863" cy="1560513"/>
              </a:xfrm>
              <a:custGeom>
                <a:avLst/>
                <a:gdLst/>
                <a:ahLst/>
                <a:cxnLst>
                  <a:cxn ang="0">
                    <a:pos x="0" y="0"/>
                  </a:cxn>
                  <a:cxn ang="0">
                    <a:pos x="5" y="1189"/>
                  </a:cxn>
                </a:cxnLst>
                <a:rect l="0" t="0" r="r" b="b"/>
                <a:pathLst>
                  <a:path w="5" h="1189">
                    <a:moveTo>
                      <a:pt x="0" y="0"/>
                    </a:moveTo>
                    <a:lnTo>
                      <a:pt x="5" y="1189"/>
                    </a:lnTo>
                  </a:path>
                </a:pathLst>
              </a:cu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6" name="Line 1662"/>
              <p:cNvSpPr>
                <a:spLocks noChangeShapeType="1"/>
              </p:cNvSpPr>
              <p:nvPr/>
            </p:nvSpPr>
            <p:spPr bwMode="auto">
              <a:xfrm>
                <a:off x="5969000" y="5097463"/>
                <a:ext cx="280988" cy="0"/>
              </a:xfrm>
              <a:prstGeom prst="line">
                <a:avLst/>
              </a:prstGeom>
              <a:noFill/>
              <a:ln w="38100">
                <a:solidFill>
                  <a:srgbClr val="000000"/>
                </a:solidFill>
                <a:prstDash val="sysDot"/>
                <a:round/>
                <a:headEnd/>
                <a:tailEnd type="none"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7" name="Line 1663"/>
              <p:cNvSpPr>
                <a:spLocks noChangeShapeType="1"/>
              </p:cNvSpPr>
              <p:nvPr/>
            </p:nvSpPr>
            <p:spPr bwMode="auto">
              <a:xfrm flipH="1" flipV="1">
                <a:off x="6230938" y="3533775"/>
                <a:ext cx="25400" cy="1584325"/>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8" name="Line 1664"/>
              <p:cNvSpPr>
                <a:spLocks noChangeShapeType="1"/>
              </p:cNvSpPr>
              <p:nvPr/>
            </p:nvSpPr>
            <p:spPr bwMode="auto">
              <a:xfrm>
                <a:off x="6232525" y="3546475"/>
                <a:ext cx="1479550" cy="0"/>
              </a:xfrm>
              <a:prstGeom prst="line">
                <a:avLst/>
              </a:prstGeom>
              <a:ln>
                <a:prstDash val="sysDash"/>
                <a:tailEnd type="triangle" w="lg" len="med"/>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9" name="Line 1671"/>
              <p:cNvSpPr>
                <a:spLocks noChangeShapeType="1"/>
              </p:cNvSpPr>
              <p:nvPr/>
            </p:nvSpPr>
            <p:spPr bwMode="auto">
              <a:xfrm flipH="1">
                <a:off x="2486025" y="2257425"/>
                <a:ext cx="9525" cy="971550"/>
              </a:xfrm>
              <a:prstGeom prst="line">
                <a:avLst/>
              </a:prstGeom>
              <a:noFill/>
              <a:ln w="38100" cap="rnd">
                <a:solidFill>
                  <a:srgbClr val="000000"/>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0" name="Line 1673"/>
              <p:cNvSpPr>
                <a:spLocks noChangeShapeType="1"/>
              </p:cNvSpPr>
              <p:nvPr/>
            </p:nvSpPr>
            <p:spPr bwMode="auto">
              <a:xfrm flipH="1">
                <a:off x="2752725" y="2286000"/>
                <a:ext cx="9525" cy="3048000"/>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1" name="Line 1674"/>
              <p:cNvSpPr>
                <a:spLocks noChangeShapeType="1"/>
              </p:cNvSpPr>
              <p:nvPr/>
            </p:nvSpPr>
            <p:spPr bwMode="auto">
              <a:xfrm flipV="1">
                <a:off x="2752725" y="5324475"/>
                <a:ext cx="3657600" cy="9525"/>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2" name="Line 1676"/>
              <p:cNvSpPr>
                <a:spLocks noChangeShapeType="1"/>
              </p:cNvSpPr>
              <p:nvPr/>
            </p:nvSpPr>
            <p:spPr bwMode="auto">
              <a:xfrm rot="60000" flipH="1" flipV="1">
                <a:off x="6381750" y="3749293"/>
                <a:ext cx="28575" cy="1591056"/>
              </a:xfrm>
              <a:prstGeom prst="line">
                <a:avLst/>
              </a:prstGeom>
              <a:ln>
                <a:prstDash val="sysDash"/>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3" name="Line 1677"/>
              <p:cNvSpPr>
                <a:spLocks noChangeShapeType="1"/>
              </p:cNvSpPr>
              <p:nvPr/>
            </p:nvSpPr>
            <p:spPr bwMode="auto">
              <a:xfrm>
                <a:off x="6378480" y="3743039"/>
                <a:ext cx="1366837" cy="0"/>
              </a:xfrm>
              <a:prstGeom prst="line">
                <a:avLst/>
              </a:prstGeom>
              <a:ln>
                <a:prstDash val="sysDash"/>
                <a:tailEnd type="triangle" w="lg" len="med"/>
              </a:ln>
            </p:spPr>
            <p:style>
              <a:lnRef idx="2">
                <a:schemeClr val="dk1"/>
              </a:lnRef>
              <a:fillRef idx="0">
                <a:schemeClr val="dk1"/>
              </a:fillRef>
              <a:effectRef idx="1">
                <a:schemeClr val="dk1"/>
              </a:effectRef>
              <a:fontRef idx="minor">
                <a:schemeClr val="tx1"/>
              </a:fontRef>
            </p:style>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4" name="Line 1678"/>
              <p:cNvSpPr>
                <a:spLocks noChangeShapeType="1"/>
              </p:cNvSpPr>
              <p:nvPr/>
            </p:nvSpPr>
            <p:spPr bwMode="auto">
              <a:xfrm flipH="1">
                <a:off x="1171575" y="3238500"/>
                <a:ext cx="1304925" cy="0"/>
              </a:xfrm>
              <a:prstGeom prst="line">
                <a:avLst/>
              </a:prstGeom>
              <a:noFill/>
              <a:ln w="38100" cap="rnd">
                <a:solidFill>
                  <a:srgbClr val="000000"/>
                </a:solidFill>
                <a:prstDash val="sysDot"/>
                <a:round/>
                <a:headEnd/>
                <a:tailEnd type="stealth" w="lg" len="lg"/>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5" name="Rectangle 1679"/>
              <p:cNvSpPr>
                <a:spLocks noChangeArrowheads="1"/>
              </p:cNvSpPr>
              <p:nvPr/>
            </p:nvSpPr>
            <p:spPr bwMode="auto">
              <a:xfrm>
                <a:off x="2959864" y="1517122"/>
                <a:ext cx="1592231" cy="430887"/>
              </a:xfrm>
              <a:prstGeom prst="rect">
                <a:avLst/>
              </a:prstGeom>
              <a:noFill/>
              <a:ln w="25400" algn="ctr">
                <a:noFill/>
                <a:miter lim="800000"/>
                <a:headEnd/>
                <a:tailEnd/>
              </a:ln>
              <a:effectLst/>
            </p:spPr>
            <p:txBody>
              <a:bodyPr wrap="none" lIns="0" tIns="0" rIns="0" bIns="0" anchor="ctr" anchorCtr="1">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Application Server-2/</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1636"/>
                    </a:solidFill>
                    <a:effectLst/>
                    <a:uLnTx/>
                    <a:uFillTx/>
                    <a:latin typeface="Calibri" pitchFamily="34" charset="0"/>
                    <a:ea typeface="+mn-ea"/>
                    <a:cs typeface="Calibri" pitchFamily="34" charset="0"/>
                  </a:rPr>
                  <a:t>Backup Client</a:t>
                </a:r>
              </a:p>
            </p:txBody>
          </p:sp>
          <p:sp>
            <p:nvSpPr>
              <p:cNvPr id="86" name="Rectangle 1680"/>
              <p:cNvSpPr>
                <a:spLocks noChangeArrowheads="1"/>
              </p:cNvSpPr>
              <p:nvPr/>
            </p:nvSpPr>
            <p:spPr bwMode="auto">
              <a:xfrm>
                <a:off x="3286426" y="3666419"/>
                <a:ext cx="621389" cy="184666"/>
              </a:xfrm>
              <a:prstGeom prst="rect">
                <a:avLst/>
              </a:prstGeom>
              <a:noFill/>
              <a:ln w="9525" algn="ctr">
                <a:noFill/>
                <a:miter lim="800000"/>
                <a:headEnd/>
                <a:tailEn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grpSp>
            <p:nvGrpSpPr>
              <p:cNvPr id="87" name="Group 86"/>
              <p:cNvGrpSpPr/>
              <p:nvPr/>
            </p:nvGrpSpPr>
            <p:grpSpPr>
              <a:xfrm>
                <a:off x="589234" y="2841434"/>
                <a:ext cx="543668" cy="1256676"/>
                <a:chOff x="142132" y="3086724"/>
                <a:chExt cx="543668" cy="1256676"/>
              </a:xfrm>
            </p:grpSpPr>
            <p:pic>
              <p:nvPicPr>
                <p:cNvPr id="91"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92" name="Picture 10" descr="C:\Documents and Settings\sridhs\Desktop\ISM Book L3\colored Icons\Standard disk.png"/>
                <p:cNvPicPr>
                  <a:picLocks noChangeAspect="1" noChangeArrowheads="1"/>
                </p:cNvPicPr>
                <p:nvPr/>
              </p:nvPicPr>
              <p:blipFill>
                <a:blip r:embed="rId6" cstate="print"/>
                <a:srcRect/>
                <a:stretch>
                  <a:fillRect/>
                </a:stretch>
              </p:blipFill>
              <p:spPr bwMode="auto">
                <a:xfrm flipH="1">
                  <a:off x="228600" y="3785061"/>
                  <a:ext cx="152400" cy="152400"/>
                </a:xfrm>
                <a:prstGeom prst="rect">
                  <a:avLst/>
                </a:prstGeom>
                <a:noFill/>
              </p:spPr>
            </p:pic>
            <p:pic>
              <p:nvPicPr>
                <p:cNvPr id="93" name="Picture 10" descr="C:\Documents and Settings\sridhs\Desktop\ISM Book L3\colored Icons\Standard disk.png"/>
                <p:cNvPicPr>
                  <a:picLocks noChangeAspect="1" noChangeArrowheads="1"/>
                </p:cNvPicPr>
                <p:nvPr/>
              </p:nvPicPr>
              <p:blipFill>
                <a:blip r:embed="rId6" cstate="print"/>
                <a:srcRect/>
                <a:stretch>
                  <a:fillRect/>
                </a:stretch>
              </p:blipFill>
              <p:spPr bwMode="auto">
                <a:xfrm flipH="1">
                  <a:off x="405939" y="3785061"/>
                  <a:ext cx="152400" cy="152400"/>
                </a:xfrm>
                <a:prstGeom prst="rect">
                  <a:avLst/>
                </a:prstGeom>
                <a:noFill/>
              </p:spPr>
            </p:pic>
          </p:grpSp>
          <p:pic>
            <p:nvPicPr>
              <p:cNvPr id="88" name="Picture 6"/>
              <p:cNvPicPr>
                <a:picLocks noChangeAspect="1" noChangeArrowheads="1"/>
              </p:cNvPicPr>
              <p:nvPr/>
            </p:nvPicPr>
            <p:blipFill>
              <a:blip r:embed="rId7" cstate="print"/>
              <a:srcRect/>
              <a:stretch>
                <a:fillRect/>
              </a:stretch>
            </p:blipFill>
            <p:spPr bwMode="auto">
              <a:xfrm>
                <a:off x="7772400" y="2680855"/>
                <a:ext cx="788670" cy="1433945"/>
              </a:xfrm>
              <a:prstGeom prst="rect">
                <a:avLst/>
              </a:prstGeom>
              <a:noFill/>
              <a:ln w="9525">
                <a:noFill/>
                <a:miter lim="800000"/>
                <a:headEnd/>
                <a:tailEnd/>
              </a:ln>
              <a:effectLst/>
            </p:spPr>
          </p:pic>
          <p:pic>
            <p:nvPicPr>
              <p:cNvPr id="89"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4005549" y="2858124"/>
                <a:ext cx="543668" cy="1256676"/>
              </a:xfrm>
              <a:prstGeom prst="rect">
                <a:avLst/>
              </a:prstGeom>
              <a:noFill/>
            </p:spPr>
          </p:pic>
          <p:pic>
            <p:nvPicPr>
              <p:cNvPr id="90"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2362949" y="1120966"/>
                <a:ext cx="543668" cy="1256676"/>
              </a:xfrm>
              <a:prstGeom prst="rect">
                <a:avLst/>
              </a:prstGeom>
              <a:noFill/>
            </p:spPr>
          </p:pic>
        </p:grpSp>
      </p:grpSp>
      <p:sp>
        <p:nvSpPr>
          <p:cNvPr id="6" name="TextBox 5">
            <a:extLst>
              <a:ext uri="{FF2B5EF4-FFF2-40B4-BE49-F238E27FC236}">
                <a16:creationId xmlns:a16="http://schemas.microsoft.com/office/drawing/2014/main" id="{1B678864-9227-BAE4-76CE-B9B0C79C7757}"/>
              </a:ext>
            </a:extLst>
          </p:cNvPr>
          <p:cNvSpPr txBox="1"/>
          <p:nvPr/>
        </p:nvSpPr>
        <p:spPr>
          <a:xfrm>
            <a:off x="4618094" y="165615"/>
            <a:ext cx="4448175" cy="1384995"/>
          </a:xfrm>
          <a:prstGeom prst="rect">
            <a:avLst/>
          </a:prstGeom>
          <a:noFill/>
        </p:spPr>
        <p:txBody>
          <a:bodyPr wrap="square">
            <a:spAutoFit/>
          </a:bodyPr>
          <a:lstStyle/>
          <a:p>
            <a:pPr marL="285750" indent="-285750" algn="l">
              <a:buFont typeface="Arial" panose="020B0604020202020204" pitchFamily="34" charset="0"/>
              <a:buChar char="•"/>
            </a:pPr>
            <a:r>
              <a:rPr lang="en-GB" sz="1400" b="0" i="0" u="none" strike="noStrike" baseline="0" dirty="0">
                <a:latin typeface="Book Antiqua" panose="02040602050305030304" pitchFamily="18" charset="0"/>
              </a:rPr>
              <a:t>The </a:t>
            </a:r>
            <a:r>
              <a:rPr lang="en-GB" sz="1400" b="0" i="1" u="none" strike="noStrike" baseline="0" dirty="0">
                <a:latin typeface="Book Antiqua" panose="02040602050305030304" pitchFamily="18" charset="0"/>
              </a:rPr>
              <a:t>mixed topology </a:t>
            </a:r>
            <a:r>
              <a:rPr lang="en-GB" sz="1400" b="0" i="0" u="none" strike="noStrike" baseline="0" dirty="0">
                <a:latin typeface="Book Antiqua" panose="02040602050305030304" pitchFamily="18" charset="0"/>
              </a:rPr>
              <a:t>uses both the LAN-based and SAN-based topologies, as shown in Figure 10-10. </a:t>
            </a:r>
          </a:p>
          <a:p>
            <a:pPr marL="285750" indent="-285750" algn="just">
              <a:buFont typeface="Arial" panose="020B0604020202020204" pitchFamily="34" charset="0"/>
              <a:buChar char="•"/>
            </a:pPr>
            <a:r>
              <a:rPr lang="en-GB" sz="1400" b="0" i="0" u="none" strike="noStrike" baseline="0" dirty="0">
                <a:latin typeface="Book Antiqua" panose="02040602050305030304" pitchFamily="18" charset="0"/>
              </a:rPr>
              <a:t>This topology might be implemented for several reasons,</a:t>
            </a:r>
            <a:r>
              <a:rPr lang="en-GB" sz="1400" dirty="0">
                <a:latin typeface="Book Antiqua" panose="02040602050305030304" pitchFamily="18" charset="0"/>
              </a:rPr>
              <a:t> </a:t>
            </a:r>
            <a:r>
              <a:rPr lang="en-GB" sz="1400" b="0" i="0" u="none" strike="noStrike" baseline="0" dirty="0">
                <a:latin typeface="Book Antiqua" panose="02040602050305030304" pitchFamily="18" charset="0"/>
              </a:rPr>
              <a:t>including cost, server location, reduction in administrative overhead, and </a:t>
            </a:r>
            <a:r>
              <a:rPr lang="en-IN" sz="1400" b="0" i="0" u="none" strike="noStrike" baseline="0" dirty="0">
                <a:latin typeface="Book Antiqua" panose="02040602050305030304" pitchFamily="18" charset="0"/>
              </a:rPr>
              <a:t>performance considerations.</a:t>
            </a:r>
            <a:endParaRPr lang="en-IN" sz="1400" dirty="0">
              <a:latin typeface="Book Antiqua" panose="02040602050305030304" pitchFamily="18" charset="0"/>
            </a:endParaRPr>
          </a:p>
        </p:txBody>
      </p:sp>
      <p:sp>
        <p:nvSpPr>
          <p:cNvPr id="8" name="TextBox 7">
            <a:extLst>
              <a:ext uri="{FF2B5EF4-FFF2-40B4-BE49-F238E27FC236}">
                <a16:creationId xmlns:a16="http://schemas.microsoft.com/office/drawing/2014/main" id="{9A063A4F-FF53-1AD1-636C-8C615EA2A821}"/>
              </a:ext>
            </a:extLst>
          </p:cNvPr>
          <p:cNvSpPr txBox="1"/>
          <p:nvPr/>
        </p:nvSpPr>
        <p:spPr>
          <a:xfrm>
            <a:off x="613576" y="5501114"/>
            <a:ext cx="4572000" cy="307777"/>
          </a:xfrm>
          <a:prstGeom prst="rect">
            <a:avLst/>
          </a:prstGeom>
          <a:noFill/>
        </p:spPr>
        <p:txBody>
          <a:bodyPr wrap="square">
            <a:spAutoFit/>
          </a:bodyPr>
          <a:lstStyle/>
          <a:p>
            <a:r>
              <a:rPr lang="en-GB" sz="1400" b="1" i="0" u="none" strike="noStrike" baseline="0" dirty="0">
                <a:solidFill>
                  <a:srgbClr val="C00000"/>
                </a:solidFill>
                <a:latin typeface="Book Antiqua" panose="02040602050305030304" pitchFamily="18" charset="0"/>
              </a:rPr>
              <a:t>Figure 10-10: </a:t>
            </a:r>
            <a:r>
              <a:rPr lang="en-GB" sz="1400" b="0" i="0" u="none" strike="noStrike" baseline="0" dirty="0">
                <a:solidFill>
                  <a:srgbClr val="C00000"/>
                </a:solidFill>
                <a:latin typeface="Book Antiqua" panose="02040602050305030304" pitchFamily="18" charset="0"/>
              </a:rPr>
              <a:t>Mixed backup topology</a:t>
            </a:r>
            <a:endParaRPr lang="en-IN" sz="1400" dirty="0">
              <a:solidFill>
                <a:srgbClr val="C00000"/>
              </a:solidFill>
              <a:latin typeface="Book Antiqua" panose="02040602050305030304" pitchFamily="18" charset="0"/>
            </a:endParaRPr>
          </a:p>
        </p:txBody>
      </p:sp>
    </p:spTree>
    <p:extLst>
      <p:ext uri="{BB962C8B-B14F-4D97-AF65-F5344CB8AC3E}">
        <p14:creationId xmlns:p14="http://schemas.microsoft.com/office/powerpoint/2010/main" val="4121215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100" dirty="0">
                <a:solidFill>
                  <a:srgbClr val="C00000"/>
                </a:solidFill>
                <a:latin typeface="Book Antiqua" panose="02040602050305030304" pitchFamily="18" charset="0"/>
              </a:rPr>
              <a:t>Backup in NAS Environment</a:t>
            </a:r>
          </a:p>
        </p:txBody>
      </p:sp>
      <p:sp>
        <p:nvSpPr>
          <p:cNvPr id="6" name="Content Placeholder 5"/>
          <p:cNvSpPr>
            <a:spLocks noGrp="1"/>
          </p:cNvSpPr>
          <p:nvPr>
            <p:ph idx="1"/>
          </p:nvPr>
        </p:nvSpPr>
        <p:spPr>
          <a:xfrm>
            <a:off x="372533" y="821267"/>
            <a:ext cx="8458200" cy="5181600"/>
          </a:xfrm>
        </p:spPr>
        <p:txBody>
          <a:bodyPr/>
          <a:lstStyle/>
          <a:p>
            <a:r>
              <a:rPr lang="en-US" sz="1400" dirty="0">
                <a:solidFill>
                  <a:schemeClr val="tx1"/>
                </a:solidFill>
                <a:latin typeface="Book Antiqua" panose="02040602050305030304" pitchFamily="18" charset="0"/>
              </a:rPr>
              <a:t>Common backup implementations in a NAS environment are:</a:t>
            </a:r>
          </a:p>
          <a:p>
            <a:pPr lvl="1"/>
            <a:r>
              <a:rPr lang="en-US" sz="1400" dirty="0">
                <a:solidFill>
                  <a:schemeClr val="tx1"/>
                </a:solidFill>
                <a:latin typeface="Book Antiqua" panose="02040602050305030304" pitchFamily="18" charset="0"/>
              </a:rPr>
              <a:t>Server-based backup</a:t>
            </a:r>
          </a:p>
          <a:p>
            <a:pPr lvl="1"/>
            <a:r>
              <a:rPr lang="en-US" sz="1400" dirty="0">
                <a:solidFill>
                  <a:schemeClr val="tx1"/>
                </a:solidFill>
                <a:latin typeface="Book Antiqua" panose="02040602050305030304" pitchFamily="18" charset="0"/>
              </a:rPr>
              <a:t>Serverless backup</a:t>
            </a:r>
          </a:p>
          <a:p>
            <a:pPr lvl="1"/>
            <a:r>
              <a:rPr lang="en-US" sz="1400" dirty="0">
                <a:solidFill>
                  <a:schemeClr val="tx1"/>
                </a:solidFill>
                <a:latin typeface="Book Antiqua" panose="02040602050305030304" pitchFamily="18" charset="0"/>
              </a:rPr>
              <a:t>NDMP 2-way backup</a:t>
            </a:r>
          </a:p>
          <a:p>
            <a:pPr lvl="1"/>
            <a:r>
              <a:rPr lang="en-US" sz="1400" dirty="0">
                <a:solidFill>
                  <a:schemeClr val="tx1"/>
                </a:solidFill>
                <a:latin typeface="Book Antiqua" panose="02040602050305030304" pitchFamily="18" charset="0"/>
              </a:rPr>
              <a:t>NDMP 3-way backup</a:t>
            </a:r>
          </a:p>
        </p:txBody>
      </p:sp>
      <p:sp>
        <p:nvSpPr>
          <p:cNvPr id="3" name="Footer Placeholder 2"/>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7" name="TextBox 6">
            <a:extLst>
              <a:ext uri="{FF2B5EF4-FFF2-40B4-BE49-F238E27FC236}">
                <a16:creationId xmlns:a16="http://schemas.microsoft.com/office/drawing/2014/main" id="{EE15340C-961E-1234-0436-4117160E321C}"/>
              </a:ext>
            </a:extLst>
          </p:cNvPr>
          <p:cNvSpPr txBox="1"/>
          <p:nvPr/>
        </p:nvSpPr>
        <p:spPr>
          <a:xfrm>
            <a:off x="457200" y="2514600"/>
            <a:ext cx="7924800" cy="1600438"/>
          </a:xfrm>
          <a:prstGeom prst="rect">
            <a:avLst/>
          </a:prstGeom>
          <a:noFill/>
        </p:spPr>
        <p:txBody>
          <a:bodyPr wrap="square">
            <a:spAutoFit/>
          </a:bodyPr>
          <a:lstStyle/>
          <a:p>
            <a:pPr marL="285750" indent="-285750" algn="just">
              <a:buFont typeface="Arial" panose="020B0604020202020204" pitchFamily="34" charset="0"/>
              <a:buChar char="•"/>
            </a:pPr>
            <a:r>
              <a:rPr lang="en-GB" sz="1400" b="0" i="0" u="none" strike="noStrike" baseline="0" dirty="0">
                <a:latin typeface="Palatino-Roman"/>
              </a:rPr>
              <a:t>The use of a NAS head imposes a new set of considerations on the backup and recovery strategy in NAS environments. </a:t>
            </a:r>
          </a:p>
          <a:p>
            <a:pPr marL="285750" indent="-285750" algn="just">
              <a:buFont typeface="Arial" panose="020B0604020202020204" pitchFamily="34" charset="0"/>
              <a:buChar char="•"/>
            </a:pPr>
            <a:r>
              <a:rPr lang="en-GB" sz="1400" b="0" i="0" u="none" strike="noStrike" baseline="0" dirty="0">
                <a:latin typeface="Palatino-Roman"/>
              </a:rPr>
              <a:t>NAS heads use a proprietary operating system and fi le system structure that supports multiple file-sharing protocols.</a:t>
            </a:r>
          </a:p>
          <a:p>
            <a:pPr marL="285750" indent="-285750" algn="just">
              <a:buFont typeface="Arial" panose="020B0604020202020204" pitchFamily="34" charset="0"/>
              <a:buChar char="•"/>
            </a:pPr>
            <a:r>
              <a:rPr lang="en-GB" sz="1400" b="0" i="0" u="none" strike="noStrike" baseline="0" dirty="0">
                <a:latin typeface="Palatino-Roman"/>
              </a:rPr>
              <a:t>In the NAS environment, backups can be implemented in different ways:</a:t>
            </a:r>
          </a:p>
          <a:p>
            <a:pPr marL="285750" indent="-285750" algn="just">
              <a:buFont typeface="Arial" panose="020B0604020202020204" pitchFamily="34" charset="0"/>
              <a:buChar char="•"/>
            </a:pPr>
            <a:r>
              <a:rPr lang="en-GB" sz="1400" b="0" i="0" u="none" strike="noStrike" baseline="0" dirty="0">
                <a:latin typeface="Palatino-Roman"/>
              </a:rPr>
              <a:t>server based, serverless, or using Network Data Management Protocol (NDMP).</a:t>
            </a:r>
          </a:p>
          <a:p>
            <a:pPr marL="285750" indent="-285750" algn="just">
              <a:buFont typeface="Arial" panose="020B0604020202020204" pitchFamily="34" charset="0"/>
              <a:buChar char="•"/>
            </a:pPr>
            <a:r>
              <a:rPr lang="en-GB" sz="1400" b="0" i="0" u="none" strike="noStrike" baseline="0" dirty="0">
                <a:latin typeface="Palatino-Roman"/>
              </a:rPr>
              <a:t>Common implementations are NDMP 2-way and NDMP 3-way</a:t>
            </a:r>
            <a:endParaRPr lang="en-IN"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Line 8"/>
          <p:cNvSpPr>
            <a:spLocks noChangeShapeType="1"/>
          </p:cNvSpPr>
          <p:nvPr/>
        </p:nvSpPr>
        <p:spPr bwMode="auto">
          <a:xfrm flipH="1">
            <a:off x="1224201" y="3346196"/>
            <a:ext cx="1066958"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55"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925247" y="2716741"/>
            <a:ext cx="543668" cy="1256676"/>
          </a:xfrm>
          <a:prstGeom prst="rect">
            <a:avLst/>
          </a:prstGeom>
          <a:noFill/>
        </p:spPr>
      </p:pic>
      <p:sp>
        <p:nvSpPr>
          <p:cNvPr id="13" name="Line 8"/>
          <p:cNvSpPr>
            <a:spLocks noChangeShapeType="1"/>
          </p:cNvSpPr>
          <p:nvPr/>
        </p:nvSpPr>
        <p:spPr bwMode="auto">
          <a:xfrm flipH="1">
            <a:off x="3345021" y="3335563"/>
            <a:ext cx="1066958"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Line 37"/>
          <p:cNvSpPr>
            <a:spLocks noChangeShapeType="1"/>
          </p:cNvSpPr>
          <p:nvPr/>
        </p:nvSpPr>
        <p:spPr bwMode="auto">
          <a:xfrm rot="5400000" flipH="1" flipV="1">
            <a:off x="5318841" y="2889090"/>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 name="Title 1"/>
          <p:cNvSpPr>
            <a:spLocks noGrp="1"/>
          </p:cNvSpPr>
          <p:nvPr>
            <p:ph type="title"/>
          </p:nvPr>
        </p:nvSpPr>
        <p:spPr>
          <a:xfrm>
            <a:off x="304800" y="76200"/>
            <a:ext cx="8458200" cy="520744"/>
          </a:xfrm>
        </p:spPr>
        <p:txBody>
          <a:bodyPr/>
          <a:lstStyle/>
          <a:p>
            <a:pPr algn="ctr"/>
            <a:r>
              <a:rPr lang="en-US" sz="2100" dirty="0">
                <a:solidFill>
                  <a:srgbClr val="FF0000"/>
                </a:solidFill>
                <a:latin typeface="Book Antiqua" panose="02040602050305030304" pitchFamily="18" charset="0"/>
              </a:rPr>
              <a:t>Server-based backup</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7" name="Line 8"/>
          <p:cNvSpPr>
            <a:spLocks noChangeShapeType="1"/>
          </p:cNvSpPr>
          <p:nvPr/>
        </p:nvSpPr>
        <p:spPr bwMode="auto">
          <a:xfrm flipH="1">
            <a:off x="4753136" y="4683253"/>
            <a:ext cx="1566866"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Line 8"/>
          <p:cNvSpPr>
            <a:spLocks noChangeShapeType="1"/>
          </p:cNvSpPr>
          <p:nvPr/>
        </p:nvSpPr>
        <p:spPr bwMode="auto">
          <a:xfrm flipH="1">
            <a:off x="2793697" y="4716304"/>
            <a:ext cx="1453896"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Line 37"/>
          <p:cNvSpPr>
            <a:spLocks noChangeShapeType="1"/>
          </p:cNvSpPr>
          <p:nvPr/>
        </p:nvSpPr>
        <p:spPr bwMode="auto">
          <a:xfrm flipH="1" flipV="1">
            <a:off x="6317784" y="2129597"/>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Line 37"/>
          <p:cNvSpPr>
            <a:spLocks noChangeShapeType="1"/>
          </p:cNvSpPr>
          <p:nvPr/>
        </p:nvSpPr>
        <p:spPr bwMode="auto">
          <a:xfrm rot="5400000" flipH="1" flipV="1">
            <a:off x="7253766" y="2884329"/>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cxnSp>
        <p:nvCxnSpPr>
          <p:cNvPr id="24" name="Straight Connector 23"/>
          <p:cNvCxnSpPr/>
          <p:nvPr/>
        </p:nvCxnSpPr>
        <p:spPr>
          <a:xfrm>
            <a:off x="1342631" y="3182779"/>
            <a:ext cx="0" cy="266700"/>
          </a:xfrm>
          <a:prstGeom prst="line">
            <a:avLst/>
          </a:prstGeom>
          <a:ln>
            <a:prstDash val="sysDash"/>
          </a:ln>
        </p:spPr>
        <p:style>
          <a:lnRef idx="2">
            <a:schemeClr val="dk1"/>
          </a:lnRef>
          <a:fillRef idx="0">
            <a:schemeClr val="dk1"/>
          </a:fillRef>
          <a:effectRef idx="1">
            <a:schemeClr val="dk1"/>
          </a:effectRef>
          <a:fontRef idx="minor">
            <a:schemeClr val="tx1"/>
          </a:fontRef>
        </p:style>
      </p:cxnSp>
      <p:sp>
        <p:nvSpPr>
          <p:cNvPr id="29" name="Line 8"/>
          <p:cNvSpPr>
            <a:spLocks noChangeShapeType="1"/>
          </p:cNvSpPr>
          <p:nvPr/>
        </p:nvSpPr>
        <p:spPr bwMode="auto">
          <a:xfrm rot="5400000" flipH="1">
            <a:off x="2272493" y="4196589"/>
            <a:ext cx="1042416"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cxnSp>
        <p:nvCxnSpPr>
          <p:cNvPr id="32" name="Straight Connector 31"/>
          <p:cNvCxnSpPr/>
          <p:nvPr/>
        </p:nvCxnSpPr>
        <p:spPr>
          <a:xfrm flipH="1">
            <a:off x="2485631" y="5087779"/>
            <a:ext cx="1752600" cy="0"/>
          </a:xfrm>
          <a:prstGeom prst="line">
            <a:avLst/>
          </a:prstGeom>
          <a:noFill/>
          <a:ln w="38100" cap="rnd">
            <a:solidFill>
              <a:srgbClr val="000000"/>
            </a:solidFill>
            <a:prstDash val="sysDot"/>
            <a:round/>
            <a:headEnd type="stealth" w="lg" len="lg"/>
            <a:tailEnd type="none" w="lg" len="lg"/>
          </a:ln>
          <a:effectLst/>
        </p:spPr>
      </p:cxnSp>
      <p:sp>
        <p:nvSpPr>
          <p:cNvPr id="34" name="Line 8"/>
          <p:cNvSpPr>
            <a:spLocks noChangeShapeType="1"/>
          </p:cNvSpPr>
          <p:nvPr/>
        </p:nvSpPr>
        <p:spPr bwMode="auto">
          <a:xfrm rot="5400000" flipH="1">
            <a:off x="5815795" y="4185572"/>
            <a:ext cx="985837"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6" name="TextBox 35"/>
          <p:cNvSpPr txBox="1"/>
          <p:nvPr/>
        </p:nvSpPr>
        <p:spPr>
          <a:xfrm>
            <a:off x="1676400" y="4317313"/>
            <a:ext cx="806054"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sp>
        <p:nvSpPr>
          <p:cNvPr id="38" name="TextBox 37"/>
          <p:cNvSpPr txBox="1"/>
          <p:nvPr/>
        </p:nvSpPr>
        <p:spPr>
          <a:xfrm>
            <a:off x="370372" y="2198783"/>
            <a:ext cx="1631024"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Application Server/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Client </a:t>
            </a:r>
          </a:p>
        </p:txBody>
      </p:sp>
      <p:sp>
        <p:nvSpPr>
          <p:cNvPr id="39" name="TextBox 38"/>
          <p:cNvSpPr txBox="1"/>
          <p:nvPr/>
        </p:nvSpPr>
        <p:spPr>
          <a:xfrm>
            <a:off x="4099986" y="3519845"/>
            <a:ext cx="92525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NAS Head</a:t>
            </a:r>
          </a:p>
        </p:txBody>
      </p:sp>
      <p:sp>
        <p:nvSpPr>
          <p:cNvPr id="40" name="TextBox 39"/>
          <p:cNvSpPr txBox="1"/>
          <p:nvPr/>
        </p:nvSpPr>
        <p:spPr>
          <a:xfrm>
            <a:off x="6948195" y="3487579"/>
            <a:ext cx="649280"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Data</a:t>
            </a:r>
          </a:p>
        </p:txBody>
      </p:sp>
      <p:sp>
        <p:nvSpPr>
          <p:cNvPr id="41" name="TextBox 40"/>
          <p:cNvSpPr txBox="1"/>
          <p:nvPr/>
        </p:nvSpPr>
        <p:spPr>
          <a:xfrm>
            <a:off x="3889363" y="5321227"/>
            <a:ext cx="1320554"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Server/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Node</a:t>
            </a:r>
          </a:p>
        </p:txBody>
      </p:sp>
      <p:sp>
        <p:nvSpPr>
          <p:cNvPr id="42" name="TextBox 41"/>
          <p:cNvSpPr txBox="1"/>
          <p:nvPr/>
        </p:nvSpPr>
        <p:spPr>
          <a:xfrm>
            <a:off x="5811976" y="469258"/>
            <a:ext cx="119090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p>
        </p:txBody>
      </p:sp>
      <p:sp>
        <p:nvSpPr>
          <p:cNvPr id="43" name="Isosceles Triangle 42"/>
          <p:cNvSpPr/>
          <p:nvPr/>
        </p:nvSpPr>
        <p:spPr>
          <a:xfrm rot="5400000">
            <a:off x="7522541" y="3401605"/>
            <a:ext cx="123332" cy="10632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47" name="TextBox 46"/>
          <p:cNvSpPr txBox="1"/>
          <p:nvPr/>
        </p:nvSpPr>
        <p:spPr>
          <a:xfrm>
            <a:off x="7435625" y="4001648"/>
            <a:ext cx="1263616"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Device</a:t>
            </a:r>
          </a:p>
        </p:txBody>
      </p:sp>
      <p:grpSp>
        <p:nvGrpSpPr>
          <p:cNvPr id="50" name="Group 49"/>
          <p:cNvGrpSpPr/>
          <p:nvPr/>
        </p:nvGrpSpPr>
        <p:grpSpPr>
          <a:xfrm>
            <a:off x="4245166" y="4114800"/>
            <a:ext cx="543668" cy="1256676"/>
            <a:chOff x="142132" y="3086724"/>
            <a:chExt cx="543668" cy="1256676"/>
          </a:xfrm>
        </p:grpSpPr>
        <p:pic>
          <p:nvPicPr>
            <p:cNvPr id="51"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52"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228600" y="3785061"/>
              <a:ext cx="152400" cy="152400"/>
            </a:xfrm>
            <a:prstGeom prst="rect">
              <a:avLst/>
            </a:prstGeom>
            <a:noFill/>
          </p:spPr>
        </p:pic>
        <p:pic>
          <p:nvPicPr>
            <p:cNvPr id="53"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405939" y="3785061"/>
              <a:ext cx="152400" cy="152400"/>
            </a:xfrm>
            <a:prstGeom prst="rect">
              <a:avLst/>
            </a:prstGeom>
            <a:noFill/>
          </p:spPr>
        </p:pic>
      </p:grpSp>
      <p:pic>
        <p:nvPicPr>
          <p:cNvPr id="54" name="Picture 6"/>
          <p:cNvPicPr>
            <a:picLocks noChangeAspect="1" noChangeArrowheads="1"/>
          </p:cNvPicPr>
          <p:nvPr/>
        </p:nvPicPr>
        <p:blipFill>
          <a:blip r:embed="rId5" cstate="print"/>
          <a:srcRect/>
          <a:stretch>
            <a:fillRect/>
          </a:stretch>
        </p:blipFill>
        <p:spPr bwMode="auto">
          <a:xfrm>
            <a:off x="7701687" y="2580702"/>
            <a:ext cx="788670" cy="1433945"/>
          </a:xfrm>
          <a:prstGeom prst="rect">
            <a:avLst/>
          </a:prstGeom>
          <a:noFill/>
          <a:ln w="9525">
            <a:noFill/>
            <a:miter lim="800000"/>
            <a:headEnd/>
            <a:tailEnd/>
          </a:ln>
          <a:effectLst/>
        </p:spPr>
      </p:pic>
      <p:pic>
        <p:nvPicPr>
          <p:cNvPr id="57" name="Picture 5"/>
          <p:cNvPicPr>
            <a:picLocks noChangeAspect="1" noChangeArrowheads="1"/>
          </p:cNvPicPr>
          <p:nvPr/>
        </p:nvPicPr>
        <p:blipFill>
          <a:blip r:embed="rId6" cstate="print"/>
          <a:srcRect/>
          <a:stretch>
            <a:fillRect/>
          </a:stretch>
        </p:blipFill>
        <p:spPr bwMode="auto">
          <a:xfrm>
            <a:off x="4038600" y="3081337"/>
            <a:ext cx="1066800" cy="466726"/>
          </a:xfrm>
          <a:prstGeom prst="rect">
            <a:avLst/>
          </a:prstGeom>
          <a:noFill/>
          <a:ln w="9525">
            <a:noFill/>
            <a:miter lim="800000"/>
            <a:headEnd/>
            <a:tailEnd/>
          </a:ln>
          <a:effectLst/>
        </p:spPr>
      </p:pic>
      <p:pic>
        <p:nvPicPr>
          <p:cNvPr id="59" name="Picture 15"/>
          <p:cNvPicPr>
            <a:picLocks noChangeAspect="1" noChangeArrowheads="1"/>
          </p:cNvPicPr>
          <p:nvPr/>
        </p:nvPicPr>
        <p:blipFill>
          <a:blip r:embed="rId7" cstate="print"/>
          <a:srcRect/>
          <a:stretch>
            <a:fillRect/>
          </a:stretch>
        </p:blipFill>
        <p:spPr bwMode="auto">
          <a:xfrm>
            <a:off x="5767328" y="3009758"/>
            <a:ext cx="1066800" cy="691910"/>
          </a:xfrm>
          <a:prstGeom prst="rect">
            <a:avLst/>
          </a:prstGeom>
          <a:noFill/>
          <a:ln w="9525">
            <a:noFill/>
            <a:miter lim="800000"/>
            <a:headEnd/>
            <a:tailEnd/>
          </a:ln>
          <a:effectLst/>
        </p:spPr>
      </p:pic>
      <p:sp>
        <p:nvSpPr>
          <p:cNvPr id="60" name="Rectangle 1612"/>
          <p:cNvSpPr>
            <a:spLocks noChangeArrowheads="1"/>
          </p:cNvSpPr>
          <p:nvPr/>
        </p:nvSpPr>
        <p:spPr bwMode="auto">
          <a:xfrm>
            <a:off x="6042612" y="3206316"/>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pic>
        <p:nvPicPr>
          <p:cNvPr id="62" name="Picture 16"/>
          <p:cNvPicPr>
            <a:picLocks noChangeAspect="1" noChangeArrowheads="1"/>
          </p:cNvPicPr>
          <p:nvPr/>
        </p:nvPicPr>
        <p:blipFill>
          <a:blip r:embed="rId8" cstate="print"/>
          <a:srcRect/>
          <a:stretch>
            <a:fillRect/>
          </a:stretch>
        </p:blipFill>
        <p:spPr bwMode="auto">
          <a:xfrm>
            <a:off x="2286000" y="2998741"/>
            <a:ext cx="1066800" cy="691910"/>
          </a:xfrm>
          <a:prstGeom prst="rect">
            <a:avLst/>
          </a:prstGeom>
          <a:noFill/>
          <a:ln w="9525">
            <a:noFill/>
            <a:miter lim="800000"/>
            <a:headEnd/>
            <a:tailEnd/>
          </a:ln>
          <a:effectLst/>
        </p:spPr>
      </p:pic>
      <p:sp>
        <p:nvSpPr>
          <p:cNvPr id="63" name="Rectangle 1610"/>
          <p:cNvSpPr>
            <a:spLocks noChangeArrowheads="1"/>
          </p:cNvSpPr>
          <p:nvPr/>
        </p:nvSpPr>
        <p:spPr bwMode="auto">
          <a:xfrm>
            <a:off x="2617404" y="3202264"/>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cxnSp>
        <p:nvCxnSpPr>
          <p:cNvPr id="23" name="Straight Connector 22"/>
          <p:cNvCxnSpPr/>
          <p:nvPr/>
        </p:nvCxnSpPr>
        <p:spPr>
          <a:xfrm>
            <a:off x="1342631" y="3171490"/>
            <a:ext cx="4709160" cy="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46" name="Straight Connector 45"/>
          <p:cNvCxnSpPr/>
          <p:nvPr/>
        </p:nvCxnSpPr>
        <p:spPr>
          <a:xfrm>
            <a:off x="6074523" y="2167043"/>
            <a:ext cx="0" cy="100584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28" name="Straight Connector 27"/>
          <p:cNvCxnSpPr/>
          <p:nvPr/>
        </p:nvCxnSpPr>
        <p:spPr>
          <a:xfrm>
            <a:off x="5981306" y="3449479"/>
            <a:ext cx="0" cy="95250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33" name="Straight Connector 32"/>
          <p:cNvCxnSpPr>
            <a:endCxn id="43" idx="3"/>
          </p:cNvCxnSpPr>
          <p:nvPr/>
        </p:nvCxnSpPr>
        <p:spPr>
          <a:xfrm>
            <a:off x="5974482" y="3449479"/>
            <a:ext cx="1556565" cy="5286"/>
          </a:xfrm>
          <a:prstGeom prst="line">
            <a:avLst/>
          </a:prstGeom>
          <a:ln>
            <a:prstDash val="sysDash"/>
          </a:ln>
        </p:spPr>
        <p:style>
          <a:lnRef idx="2">
            <a:schemeClr val="dk1"/>
          </a:lnRef>
          <a:fillRef idx="0">
            <a:schemeClr val="dk1"/>
          </a:fillRef>
          <a:effectRef idx="1">
            <a:schemeClr val="dk1"/>
          </a:effectRef>
          <a:fontRef idx="minor">
            <a:schemeClr val="tx1"/>
          </a:fontRef>
        </p:style>
      </p:cxnSp>
      <p:pic>
        <p:nvPicPr>
          <p:cNvPr id="56" name="Picture 11" descr="C:\Documents and Settings\sridhs\Desktop\ISM Book L3\colored Icons\Storage Array.png"/>
          <p:cNvPicPr>
            <a:picLocks noChangeAspect="1" noChangeArrowheads="1"/>
          </p:cNvPicPr>
          <p:nvPr/>
        </p:nvPicPr>
        <p:blipFill>
          <a:blip r:embed="rId9" cstate="print"/>
          <a:srcRect/>
          <a:stretch>
            <a:fillRect/>
          </a:stretch>
        </p:blipFill>
        <p:spPr bwMode="auto">
          <a:xfrm>
            <a:off x="5895115" y="789484"/>
            <a:ext cx="961803" cy="1633538"/>
          </a:xfrm>
          <a:prstGeom prst="rect">
            <a:avLst/>
          </a:prstGeom>
          <a:noFill/>
        </p:spPr>
      </p:pic>
      <p:cxnSp>
        <p:nvCxnSpPr>
          <p:cNvPr id="27" name="Straight Connector 26"/>
          <p:cNvCxnSpPr/>
          <p:nvPr/>
        </p:nvCxnSpPr>
        <p:spPr>
          <a:xfrm>
            <a:off x="3171431" y="4401979"/>
            <a:ext cx="2809875" cy="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30" name="Straight Connector 29"/>
          <p:cNvCxnSpPr/>
          <p:nvPr/>
        </p:nvCxnSpPr>
        <p:spPr>
          <a:xfrm>
            <a:off x="1456707" y="3573304"/>
            <a:ext cx="1039941" cy="0"/>
          </a:xfrm>
          <a:prstGeom prst="line">
            <a:avLst/>
          </a:prstGeom>
          <a:noFill/>
          <a:ln w="38100" cap="rnd">
            <a:solidFill>
              <a:srgbClr val="000000"/>
            </a:solidFill>
            <a:prstDash val="sysDot"/>
            <a:round/>
            <a:headEnd type="none" w="lg" len="lg"/>
            <a:tailEnd type="none" w="lg" len="lg"/>
          </a:ln>
          <a:effectLst/>
        </p:spPr>
      </p:cxnSp>
      <p:cxnSp>
        <p:nvCxnSpPr>
          <p:cNvPr id="31" name="Straight Connector 30"/>
          <p:cNvCxnSpPr/>
          <p:nvPr/>
        </p:nvCxnSpPr>
        <p:spPr>
          <a:xfrm flipV="1">
            <a:off x="2485631" y="3573304"/>
            <a:ext cx="0" cy="1514475"/>
          </a:xfrm>
          <a:prstGeom prst="line">
            <a:avLst/>
          </a:prstGeom>
          <a:noFill/>
          <a:ln w="38100" cap="rnd">
            <a:solidFill>
              <a:srgbClr val="000000"/>
            </a:solidFill>
            <a:prstDash val="sysDot"/>
            <a:round/>
            <a:headEnd type="none" w="lg" len="lg"/>
            <a:tailEnd type="none" w="lg" len="lg"/>
          </a:ln>
          <a:effectLst/>
        </p:spPr>
      </p:cxnSp>
      <p:cxnSp>
        <p:nvCxnSpPr>
          <p:cNvPr id="25" name="Straight Connector 24"/>
          <p:cNvCxnSpPr/>
          <p:nvPr/>
        </p:nvCxnSpPr>
        <p:spPr>
          <a:xfrm>
            <a:off x="1342631" y="3449479"/>
            <a:ext cx="1828800" cy="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26" name="Straight Connector 25"/>
          <p:cNvCxnSpPr/>
          <p:nvPr/>
        </p:nvCxnSpPr>
        <p:spPr>
          <a:xfrm>
            <a:off x="3171431" y="3449479"/>
            <a:ext cx="0" cy="952500"/>
          </a:xfrm>
          <a:prstGeom prst="line">
            <a:avLst/>
          </a:prstGeom>
          <a:ln>
            <a:prstDash val="sysDash"/>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579FF662-8120-8D75-D988-2F568D2F0E96}"/>
              </a:ext>
            </a:extLst>
          </p:cNvPr>
          <p:cNvSpPr txBox="1"/>
          <p:nvPr/>
        </p:nvSpPr>
        <p:spPr>
          <a:xfrm>
            <a:off x="176714" y="551468"/>
            <a:ext cx="5635262" cy="1446550"/>
          </a:xfrm>
          <a:prstGeom prst="rect">
            <a:avLst/>
          </a:prstGeom>
          <a:noFill/>
        </p:spPr>
        <p:txBody>
          <a:bodyPr wrap="square">
            <a:spAutoFit/>
          </a:bodyPr>
          <a:lstStyle/>
          <a:p>
            <a:pPr marL="171450" indent="-171450" algn="just">
              <a:buFont typeface="Arial" panose="020B0604020202020204" pitchFamily="34" charset="0"/>
              <a:buChar char="•"/>
            </a:pPr>
            <a:r>
              <a:rPr lang="en-GB" sz="1100" b="0" i="0" u="none" strike="noStrike" baseline="0" dirty="0">
                <a:latin typeface="Palatino-Roman"/>
              </a:rPr>
              <a:t>In an </a:t>
            </a:r>
            <a:r>
              <a:rPr lang="en-GB" sz="1100" b="0" i="1" u="none" strike="noStrike" baseline="0" dirty="0">
                <a:latin typeface="Palatino-Italic"/>
              </a:rPr>
              <a:t>application server-based backup</a:t>
            </a:r>
            <a:r>
              <a:rPr lang="en-GB" sz="1100" b="0" i="0" u="none" strike="noStrike" baseline="0" dirty="0">
                <a:latin typeface="Palatino-Roman"/>
              </a:rPr>
              <a:t>, the NAS head retrieves data from a storage array over the network and transfers it to the backup client running on the application server. </a:t>
            </a:r>
          </a:p>
          <a:p>
            <a:pPr marL="171450" indent="-171450" algn="just">
              <a:buFont typeface="Arial" panose="020B0604020202020204" pitchFamily="34" charset="0"/>
              <a:buChar char="•"/>
            </a:pPr>
            <a:r>
              <a:rPr lang="en-GB" sz="1100" b="0" i="0" u="none" strike="noStrike" baseline="0" dirty="0">
                <a:latin typeface="Palatino-Roman"/>
              </a:rPr>
              <a:t>The backup client sends this data to the storage node, which in turn writes the data to the backup device. </a:t>
            </a:r>
          </a:p>
          <a:p>
            <a:pPr marL="171450" indent="-171450" algn="just">
              <a:buFont typeface="Arial" panose="020B0604020202020204" pitchFamily="34" charset="0"/>
              <a:buChar char="•"/>
            </a:pPr>
            <a:r>
              <a:rPr lang="en-GB" sz="1100" b="0" i="0" u="none" strike="noStrike" baseline="0" dirty="0">
                <a:latin typeface="Palatino-Roman"/>
              </a:rPr>
              <a:t>This results in overloading the network with the backup data and using application server resources to move the backup data. </a:t>
            </a:r>
          </a:p>
          <a:p>
            <a:pPr marL="171450" indent="-171450" algn="l">
              <a:buFont typeface="Arial" panose="020B0604020202020204" pitchFamily="34" charset="0"/>
              <a:buChar char="•"/>
            </a:pPr>
            <a:r>
              <a:rPr lang="en-GB" sz="1100" b="0" i="0" u="none" strike="noStrike" baseline="0" dirty="0">
                <a:latin typeface="Palatino-Roman"/>
              </a:rPr>
              <a:t>Figure 10-11 illustrates server-based backup in the NAS environment.</a:t>
            </a:r>
            <a:endParaRPr lang="en-IN" sz="1100" dirty="0"/>
          </a:p>
        </p:txBody>
      </p:sp>
      <p:sp>
        <p:nvSpPr>
          <p:cNvPr id="12" name="TextBox 11">
            <a:extLst>
              <a:ext uri="{FF2B5EF4-FFF2-40B4-BE49-F238E27FC236}">
                <a16:creationId xmlns:a16="http://schemas.microsoft.com/office/drawing/2014/main" id="{B546144C-6F67-FF5C-883E-3C6885F3C13C}"/>
              </a:ext>
            </a:extLst>
          </p:cNvPr>
          <p:cNvSpPr txBox="1"/>
          <p:nvPr/>
        </p:nvSpPr>
        <p:spPr>
          <a:xfrm>
            <a:off x="109306" y="5750490"/>
            <a:ext cx="4944532" cy="276999"/>
          </a:xfrm>
          <a:prstGeom prst="rect">
            <a:avLst/>
          </a:prstGeom>
          <a:noFill/>
        </p:spPr>
        <p:txBody>
          <a:bodyPr wrap="square">
            <a:spAutoFit/>
          </a:bodyPr>
          <a:lstStyle/>
          <a:p>
            <a:pPr algn="l"/>
            <a:r>
              <a:rPr lang="en-GB" sz="1200" b="0" i="0" u="none" strike="noStrike" baseline="0" dirty="0">
                <a:solidFill>
                  <a:srgbClr val="FF0000"/>
                </a:solidFill>
                <a:latin typeface="Palatino-Roman"/>
              </a:rPr>
              <a:t>Figure 10-11 illustrates server-based backup in the NAS environment.</a:t>
            </a:r>
            <a:endParaRPr lang="en-IN" sz="1200"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458200" cy="520408"/>
          </a:xfrm>
        </p:spPr>
        <p:txBody>
          <a:bodyPr/>
          <a:lstStyle/>
          <a:p>
            <a:pPr algn="ctr"/>
            <a:r>
              <a:rPr lang="en-US" sz="2100" dirty="0">
                <a:solidFill>
                  <a:srgbClr val="C00000"/>
                </a:solidFill>
                <a:latin typeface="Book Antiqua" panose="02040602050305030304" pitchFamily="18" charset="0"/>
              </a:rPr>
              <a:t>Serverless Backup</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Line 8"/>
          <p:cNvSpPr>
            <a:spLocks noChangeShapeType="1"/>
          </p:cNvSpPr>
          <p:nvPr/>
        </p:nvSpPr>
        <p:spPr bwMode="auto">
          <a:xfrm flipH="1">
            <a:off x="4729995" y="4601234"/>
            <a:ext cx="1566866"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 name="Line 8"/>
          <p:cNvSpPr>
            <a:spLocks noChangeShapeType="1"/>
          </p:cNvSpPr>
          <p:nvPr/>
        </p:nvSpPr>
        <p:spPr bwMode="auto">
          <a:xfrm flipH="1">
            <a:off x="2765529" y="4601234"/>
            <a:ext cx="1453896"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Line 37"/>
          <p:cNvSpPr>
            <a:spLocks noChangeShapeType="1"/>
          </p:cNvSpPr>
          <p:nvPr/>
        </p:nvSpPr>
        <p:spPr bwMode="auto">
          <a:xfrm flipH="1" flipV="1">
            <a:off x="6283898" y="2036561"/>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Line 37"/>
          <p:cNvSpPr>
            <a:spLocks noChangeShapeType="1"/>
          </p:cNvSpPr>
          <p:nvPr/>
        </p:nvSpPr>
        <p:spPr bwMode="auto">
          <a:xfrm rot="5400000" flipH="1" flipV="1">
            <a:off x="5318006" y="2818088"/>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Line 8"/>
          <p:cNvSpPr>
            <a:spLocks noChangeShapeType="1"/>
          </p:cNvSpPr>
          <p:nvPr/>
        </p:nvSpPr>
        <p:spPr bwMode="auto">
          <a:xfrm flipH="1">
            <a:off x="3277812" y="3264561"/>
            <a:ext cx="1066958"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Line 8"/>
          <p:cNvSpPr>
            <a:spLocks noChangeShapeType="1"/>
          </p:cNvSpPr>
          <p:nvPr/>
        </p:nvSpPr>
        <p:spPr bwMode="auto">
          <a:xfrm flipH="1">
            <a:off x="1157264" y="3275194"/>
            <a:ext cx="1066958"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 name="Line 37"/>
          <p:cNvSpPr>
            <a:spLocks noChangeShapeType="1"/>
          </p:cNvSpPr>
          <p:nvPr/>
        </p:nvSpPr>
        <p:spPr bwMode="auto">
          <a:xfrm rot="5400000" flipH="1" flipV="1">
            <a:off x="7245606" y="2824344"/>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5" name="Line 8"/>
          <p:cNvSpPr>
            <a:spLocks noChangeShapeType="1"/>
          </p:cNvSpPr>
          <p:nvPr/>
        </p:nvSpPr>
        <p:spPr bwMode="auto">
          <a:xfrm rot="5400000" flipH="1">
            <a:off x="2269344" y="4108315"/>
            <a:ext cx="985837"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Line 8"/>
          <p:cNvSpPr>
            <a:spLocks noChangeShapeType="1"/>
          </p:cNvSpPr>
          <p:nvPr/>
        </p:nvSpPr>
        <p:spPr bwMode="auto">
          <a:xfrm rot="5400000" flipH="1">
            <a:off x="5803943" y="4103553"/>
            <a:ext cx="985837"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TextBox 27"/>
          <p:cNvSpPr txBox="1"/>
          <p:nvPr/>
        </p:nvSpPr>
        <p:spPr>
          <a:xfrm>
            <a:off x="533400" y="3858429"/>
            <a:ext cx="1554079" cy="307777"/>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Application Server</a:t>
            </a:r>
          </a:p>
        </p:txBody>
      </p:sp>
      <p:sp>
        <p:nvSpPr>
          <p:cNvPr id="29" name="TextBox 28"/>
          <p:cNvSpPr txBox="1"/>
          <p:nvPr/>
        </p:nvSpPr>
        <p:spPr>
          <a:xfrm>
            <a:off x="4056907" y="2713371"/>
            <a:ext cx="92525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NAS Head</a:t>
            </a:r>
          </a:p>
        </p:txBody>
      </p:sp>
      <p:sp>
        <p:nvSpPr>
          <p:cNvPr id="30" name="TextBox 29"/>
          <p:cNvSpPr txBox="1"/>
          <p:nvPr/>
        </p:nvSpPr>
        <p:spPr>
          <a:xfrm>
            <a:off x="6754810" y="3427594"/>
            <a:ext cx="725903"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Data</a:t>
            </a:r>
          </a:p>
        </p:txBody>
      </p:sp>
      <p:sp>
        <p:nvSpPr>
          <p:cNvPr id="31" name="TextBox 30"/>
          <p:cNvSpPr txBox="1"/>
          <p:nvPr/>
        </p:nvSpPr>
        <p:spPr>
          <a:xfrm>
            <a:off x="3855476" y="5294293"/>
            <a:ext cx="4190997" cy="492443"/>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Calibri" pitchFamily="34" charset="0"/>
                <a:ea typeface="+mn-ea"/>
                <a:cs typeface="Arial" charset="0"/>
              </a:rPr>
              <a:t>Backup Server/ Storage Node/Backup Client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300" b="1" i="0" u="none" strike="noStrike" kern="1200" cap="none" spc="0" normalizeH="0" baseline="0" noProof="0" dirty="0">
              <a:ln>
                <a:noFill/>
              </a:ln>
              <a:solidFill>
                <a:srgbClr val="000000"/>
              </a:solidFill>
              <a:effectLst/>
              <a:uLnTx/>
              <a:uFillTx/>
              <a:latin typeface="Calibri" pitchFamily="34" charset="0"/>
              <a:ea typeface="+mn-ea"/>
              <a:cs typeface="Arial" charset="0"/>
            </a:endParaRPr>
          </a:p>
        </p:txBody>
      </p:sp>
      <p:sp>
        <p:nvSpPr>
          <p:cNvPr id="32" name="TextBox 31"/>
          <p:cNvSpPr txBox="1"/>
          <p:nvPr/>
        </p:nvSpPr>
        <p:spPr>
          <a:xfrm>
            <a:off x="5691832" y="377101"/>
            <a:ext cx="119090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p>
        </p:txBody>
      </p:sp>
      <p:sp>
        <p:nvSpPr>
          <p:cNvPr id="33" name="Isosceles Triangle 32"/>
          <p:cNvSpPr/>
          <p:nvPr/>
        </p:nvSpPr>
        <p:spPr>
          <a:xfrm rot="5400000">
            <a:off x="7367468" y="3341620"/>
            <a:ext cx="123332" cy="10632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37" name="TextBox 36"/>
          <p:cNvSpPr txBox="1"/>
          <p:nvPr/>
        </p:nvSpPr>
        <p:spPr>
          <a:xfrm>
            <a:off x="7375377" y="3950760"/>
            <a:ext cx="1263616"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Device</a:t>
            </a:r>
          </a:p>
        </p:txBody>
      </p:sp>
      <p:pic>
        <p:nvPicPr>
          <p:cNvPr id="39"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041794" y="2639229"/>
            <a:ext cx="543668" cy="1256676"/>
          </a:xfrm>
          <a:prstGeom prst="rect">
            <a:avLst/>
          </a:prstGeom>
          <a:noFill/>
        </p:spPr>
      </p:pic>
      <p:grpSp>
        <p:nvGrpSpPr>
          <p:cNvPr id="40" name="Group 39"/>
          <p:cNvGrpSpPr/>
          <p:nvPr/>
        </p:nvGrpSpPr>
        <p:grpSpPr>
          <a:xfrm>
            <a:off x="4209892" y="4053978"/>
            <a:ext cx="543668" cy="1256676"/>
            <a:chOff x="142132" y="3086724"/>
            <a:chExt cx="543668" cy="1256676"/>
          </a:xfrm>
        </p:grpSpPr>
        <p:pic>
          <p:nvPicPr>
            <p:cNvPr id="41"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42"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228600" y="3785061"/>
              <a:ext cx="152400" cy="152400"/>
            </a:xfrm>
            <a:prstGeom prst="rect">
              <a:avLst/>
            </a:prstGeom>
            <a:noFill/>
          </p:spPr>
        </p:pic>
        <p:pic>
          <p:nvPicPr>
            <p:cNvPr id="43"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405939" y="3785061"/>
              <a:ext cx="152400" cy="152400"/>
            </a:xfrm>
            <a:prstGeom prst="rect">
              <a:avLst/>
            </a:prstGeom>
            <a:noFill/>
          </p:spPr>
        </p:pic>
      </p:grpSp>
      <p:pic>
        <p:nvPicPr>
          <p:cNvPr id="44" name="Picture 6"/>
          <p:cNvPicPr>
            <a:picLocks noChangeAspect="1" noChangeArrowheads="1"/>
          </p:cNvPicPr>
          <p:nvPr/>
        </p:nvPicPr>
        <p:blipFill>
          <a:blip r:embed="rId5" cstate="print"/>
          <a:srcRect/>
          <a:stretch>
            <a:fillRect/>
          </a:stretch>
        </p:blipFill>
        <p:spPr bwMode="auto">
          <a:xfrm>
            <a:off x="7628045" y="2540995"/>
            <a:ext cx="788670" cy="1433945"/>
          </a:xfrm>
          <a:prstGeom prst="rect">
            <a:avLst/>
          </a:prstGeom>
          <a:noFill/>
          <a:ln w="9525">
            <a:noFill/>
            <a:miter lim="800000"/>
            <a:headEnd/>
            <a:tailEnd/>
          </a:ln>
          <a:effectLst/>
        </p:spPr>
      </p:pic>
      <p:pic>
        <p:nvPicPr>
          <p:cNvPr id="45" name="Picture 5"/>
          <p:cNvPicPr>
            <a:picLocks noChangeAspect="1" noChangeArrowheads="1"/>
          </p:cNvPicPr>
          <p:nvPr/>
        </p:nvPicPr>
        <p:blipFill>
          <a:blip r:embed="rId6" cstate="print"/>
          <a:srcRect/>
          <a:stretch>
            <a:fillRect/>
          </a:stretch>
        </p:blipFill>
        <p:spPr bwMode="auto">
          <a:xfrm>
            <a:off x="3970445" y="2998195"/>
            <a:ext cx="1066800" cy="466726"/>
          </a:xfrm>
          <a:prstGeom prst="rect">
            <a:avLst/>
          </a:prstGeom>
          <a:noFill/>
          <a:ln w="9525">
            <a:noFill/>
            <a:miter lim="800000"/>
            <a:headEnd/>
            <a:tailEnd/>
          </a:ln>
          <a:effectLst/>
        </p:spPr>
      </p:pic>
      <p:pic>
        <p:nvPicPr>
          <p:cNvPr id="47" name="Picture 15"/>
          <p:cNvPicPr>
            <a:picLocks noChangeAspect="1" noChangeArrowheads="1"/>
          </p:cNvPicPr>
          <p:nvPr/>
        </p:nvPicPr>
        <p:blipFill>
          <a:blip r:embed="rId7" cstate="print"/>
          <a:srcRect/>
          <a:stretch>
            <a:fillRect/>
          </a:stretch>
        </p:blipFill>
        <p:spPr bwMode="auto">
          <a:xfrm>
            <a:off x="5756096" y="2925983"/>
            <a:ext cx="1066800" cy="691910"/>
          </a:xfrm>
          <a:prstGeom prst="rect">
            <a:avLst/>
          </a:prstGeom>
          <a:noFill/>
          <a:ln w="9525">
            <a:noFill/>
            <a:miter lim="800000"/>
            <a:headEnd/>
            <a:tailEnd/>
          </a:ln>
          <a:effectLst/>
        </p:spPr>
      </p:pic>
      <p:sp>
        <p:nvSpPr>
          <p:cNvPr id="48" name="Rectangle 1612"/>
          <p:cNvSpPr>
            <a:spLocks noChangeArrowheads="1"/>
          </p:cNvSpPr>
          <p:nvPr/>
        </p:nvSpPr>
        <p:spPr bwMode="auto">
          <a:xfrm>
            <a:off x="6020363" y="3133558"/>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pic>
        <p:nvPicPr>
          <p:cNvPr id="50" name="Picture 16"/>
          <p:cNvPicPr>
            <a:picLocks noChangeAspect="1" noChangeArrowheads="1"/>
          </p:cNvPicPr>
          <p:nvPr/>
        </p:nvPicPr>
        <p:blipFill>
          <a:blip r:embed="rId8" cstate="print"/>
          <a:srcRect/>
          <a:stretch>
            <a:fillRect/>
          </a:stretch>
        </p:blipFill>
        <p:spPr bwMode="auto">
          <a:xfrm>
            <a:off x="2229781" y="2926902"/>
            <a:ext cx="1066800" cy="691910"/>
          </a:xfrm>
          <a:prstGeom prst="rect">
            <a:avLst/>
          </a:prstGeom>
          <a:noFill/>
          <a:ln w="9525">
            <a:noFill/>
            <a:miter lim="800000"/>
            <a:headEnd/>
            <a:tailEnd/>
          </a:ln>
          <a:effectLst/>
        </p:spPr>
      </p:pic>
      <p:sp>
        <p:nvSpPr>
          <p:cNvPr id="51" name="Rectangle 1610"/>
          <p:cNvSpPr>
            <a:spLocks noChangeArrowheads="1"/>
          </p:cNvSpPr>
          <p:nvPr/>
        </p:nvSpPr>
        <p:spPr bwMode="auto">
          <a:xfrm>
            <a:off x="2561185" y="3130425"/>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cxnSp>
        <p:nvCxnSpPr>
          <p:cNvPr id="21" name="Straight Connector 20"/>
          <p:cNvCxnSpPr/>
          <p:nvPr/>
        </p:nvCxnSpPr>
        <p:spPr>
          <a:xfrm>
            <a:off x="3016358" y="3100216"/>
            <a:ext cx="2988625" cy="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34" name="Straight Connector 33"/>
          <p:cNvCxnSpPr/>
          <p:nvPr/>
        </p:nvCxnSpPr>
        <p:spPr>
          <a:xfrm>
            <a:off x="6004983" y="2033960"/>
            <a:ext cx="0" cy="106680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24" name="Straight Connector 23"/>
          <p:cNvCxnSpPr/>
          <p:nvPr/>
        </p:nvCxnSpPr>
        <p:spPr>
          <a:xfrm>
            <a:off x="5826233" y="3389494"/>
            <a:ext cx="0" cy="95250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26" name="Straight Connector 25"/>
          <p:cNvCxnSpPr>
            <a:endCxn id="33" idx="3"/>
          </p:cNvCxnSpPr>
          <p:nvPr/>
        </p:nvCxnSpPr>
        <p:spPr>
          <a:xfrm>
            <a:off x="5819409" y="3389494"/>
            <a:ext cx="1556565" cy="5286"/>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23" name="Straight Connector 22"/>
          <p:cNvCxnSpPr/>
          <p:nvPr/>
        </p:nvCxnSpPr>
        <p:spPr>
          <a:xfrm>
            <a:off x="3016358" y="4341994"/>
            <a:ext cx="2809875" cy="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22" name="Straight Connector 21"/>
          <p:cNvCxnSpPr/>
          <p:nvPr/>
        </p:nvCxnSpPr>
        <p:spPr>
          <a:xfrm>
            <a:off x="3016358" y="3122794"/>
            <a:ext cx="0" cy="1219200"/>
          </a:xfrm>
          <a:prstGeom prst="line">
            <a:avLst/>
          </a:prstGeom>
          <a:ln>
            <a:prstDash val="sysDash"/>
          </a:ln>
        </p:spPr>
        <p:style>
          <a:lnRef idx="2">
            <a:schemeClr val="dk1"/>
          </a:lnRef>
          <a:fillRef idx="0">
            <a:schemeClr val="dk1"/>
          </a:fillRef>
          <a:effectRef idx="1">
            <a:schemeClr val="dk1"/>
          </a:effectRef>
          <a:fontRef idx="minor">
            <a:schemeClr val="tx1"/>
          </a:fontRef>
        </p:style>
      </p:cxnSp>
      <p:pic>
        <p:nvPicPr>
          <p:cNvPr id="52" name="Picture 11" descr="C:\Documents and Settings\sridhs\Desktop\ISM Book L3\colored Icons\Storage Array.png"/>
          <p:cNvPicPr>
            <a:picLocks noChangeAspect="1" noChangeArrowheads="1"/>
          </p:cNvPicPr>
          <p:nvPr/>
        </p:nvPicPr>
        <p:blipFill>
          <a:blip r:embed="rId9" cstate="print"/>
          <a:srcRect/>
          <a:stretch>
            <a:fillRect/>
          </a:stretch>
        </p:blipFill>
        <p:spPr bwMode="auto">
          <a:xfrm>
            <a:off x="5811181" y="668759"/>
            <a:ext cx="961803" cy="1633538"/>
          </a:xfrm>
          <a:prstGeom prst="rect">
            <a:avLst/>
          </a:prstGeom>
          <a:noFill/>
        </p:spPr>
      </p:pic>
      <p:sp>
        <p:nvSpPr>
          <p:cNvPr id="10" name="TextBox 9">
            <a:extLst>
              <a:ext uri="{FF2B5EF4-FFF2-40B4-BE49-F238E27FC236}">
                <a16:creationId xmlns:a16="http://schemas.microsoft.com/office/drawing/2014/main" id="{AA429D45-9E8B-84F3-4B12-1EC76AA23FB1}"/>
              </a:ext>
            </a:extLst>
          </p:cNvPr>
          <p:cNvSpPr txBox="1"/>
          <p:nvPr/>
        </p:nvSpPr>
        <p:spPr>
          <a:xfrm>
            <a:off x="448308" y="539008"/>
            <a:ext cx="5133773" cy="1615827"/>
          </a:xfrm>
          <a:prstGeom prst="rect">
            <a:avLst/>
          </a:prstGeom>
          <a:noFill/>
        </p:spPr>
        <p:txBody>
          <a:bodyPr wrap="square">
            <a:spAutoFit/>
          </a:bodyPr>
          <a:lstStyle/>
          <a:p>
            <a:pPr marL="171450" indent="-171450" algn="just">
              <a:buFont typeface="Arial" panose="020B0604020202020204" pitchFamily="34" charset="0"/>
              <a:buChar char="•"/>
            </a:pPr>
            <a:r>
              <a:rPr lang="en-GB" sz="1100" b="0" i="0" u="none" strike="noStrike" baseline="0" dirty="0">
                <a:latin typeface="Book Antiqua" panose="02040602050305030304" pitchFamily="18" charset="0"/>
              </a:rPr>
              <a:t>In a </a:t>
            </a:r>
            <a:r>
              <a:rPr lang="en-GB" sz="1100" b="0" i="1" u="none" strike="noStrike" baseline="0" dirty="0">
                <a:latin typeface="Book Antiqua" panose="02040602050305030304" pitchFamily="18" charset="0"/>
              </a:rPr>
              <a:t>serverless backup</a:t>
            </a:r>
            <a:r>
              <a:rPr lang="en-GB" sz="1100" b="0" i="0" u="none" strike="noStrike" baseline="0" dirty="0">
                <a:latin typeface="Book Antiqua" panose="02040602050305030304" pitchFamily="18" charset="0"/>
              </a:rPr>
              <a:t>, the network share is mounted directly on the storage node. </a:t>
            </a:r>
          </a:p>
          <a:p>
            <a:pPr marL="171450" indent="-171450" algn="just">
              <a:buFont typeface="Arial" panose="020B0604020202020204" pitchFamily="34" charset="0"/>
              <a:buChar char="•"/>
            </a:pPr>
            <a:r>
              <a:rPr lang="en-GB" sz="1100" b="0" i="0" u="none" strike="noStrike" baseline="0" dirty="0">
                <a:latin typeface="Book Antiqua" panose="02040602050305030304" pitchFamily="18" charset="0"/>
              </a:rPr>
              <a:t>This avoids overloading the network during the backup process and eliminates the need to use resources on the application server. </a:t>
            </a:r>
          </a:p>
          <a:p>
            <a:pPr marL="171450" indent="-171450" algn="just">
              <a:buFont typeface="Arial" panose="020B0604020202020204" pitchFamily="34" charset="0"/>
              <a:buChar char="•"/>
            </a:pPr>
            <a:r>
              <a:rPr lang="en-GB" sz="1100" b="0" i="0" u="none" strike="noStrike" baseline="0" dirty="0">
                <a:latin typeface="Book Antiqua" panose="02040602050305030304" pitchFamily="18" charset="0"/>
              </a:rPr>
              <a:t>Figure 10-12 illustrates serverless backup in the NAS environment.                      </a:t>
            </a:r>
          </a:p>
          <a:p>
            <a:pPr marL="171450" indent="-171450" algn="just">
              <a:buFont typeface="Arial" panose="020B0604020202020204" pitchFamily="34" charset="0"/>
              <a:buChar char="•"/>
            </a:pPr>
            <a:r>
              <a:rPr lang="en-GB" sz="1100" b="0" i="0" u="none" strike="noStrike" baseline="0" dirty="0">
                <a:latin typeface="Book Antiqua" panose="02040602050305030304" pitchFamily="18" charset="0"/>
              </a:rPr>
              <a:t>In this scenario, the storage node, which is also a backup client, reads the data from the NAS head and writes it to the backup device without involving the application server. </a:t>
            </a:r>
          </a:p>
          <a:p>
            <a:pPr marL="171450" indent="-171450" algn="just">
              <a:buFont typeface="Arial" panose="020B0604020202020204" pitchFamily="34" charset="0"/>
              <a:buChar char="•"/>
            </a:pPr>
            <a:r>
              <a:rPr lang="en-GB" sz="1100" b="0" i="0" u="none" strike="noStrike" baseline="0" dirty="0">
                <a:latin typeface="Book Antiqua" panose="02040602050305030304" pitchFamily="18" charset="0"/>
              </a:rPr>
              <a:t>Compared to the previous solution, this eliminates one network hop.</a:t>
            </a:r>
            <a:endParaRPr lang="en-IN" sz="1100" dirty="0">
              <a:latin typeface="Book Antiqua" panose="02040602050305030304" pitchFamily="18" charset="0"/>
            </a:endParaRPr>
          </a:p>
        </p:txBody>
      </p:sp>
      <p:sp>
        <p:nvSpPr>
          <p:cNvPr id="14" name="TextBox 13">
            <a:extLst>
              <a:ext uri="{FF2B5EF4-FFF2-40B4-BE49-F238E27FC236}">
                <a16:creationId xmlns:a16="http://schemas.microsoft.com/office/drawing/2014/main" id="{D746D147-6562-5ABF-14FD-7B94EC3AE8DB}"/>
              </a:ext>
            </a:extLst>
          </p:cNvPr>
          <p:cNvSpPr txBox="1"/>
          <p:nvPr/>
        </p:nvSpPr>
        <p:spPr>
          <a:xfrm>
            <a:off x="347124" y="5804747"/>
            <a:ext cx="5464057" cy="276999"/>
          </a:xfrm>
          <a:prstGeom prst="rect">
            <a:avLst/>
          </a:prstGeom>
          <a:noFill/>
        </p:spPr>
        <p:txBody>
          <a:bodyPr wrap="square">
            <a:spAutoFit/>
          </a:bodyPr>
          <a:lstStyle/>
          <a:p>
            <a:pPr algn="ctr"/>
            <a:r>
              <a:rPr lang="en-GB" sz="1200" b="0" i="0" u="none" strike="noStrike" baseline="0" dirty="0">
                <a:solidFill>
                  <a:srgbClr val="FF0000"/>
                </a:solidFill>
                <a:latin typeface="Book Antiqua" panose="02040602050305030304" pitchFamily="18" charset="0"/>
              </a:rPr>
              <a:t>Figure 10-12 illustrates serverless backup in the NAS environment. </a:t>
            </a:r>
            <a:endParaRPr lang="en-IN" sz="1200" dirty="0">
              <a:solidFill>
                <a:srgbClr val="FF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A86E1-4DD9-5CE4-D663-83F9D07FCCD8}"/>
              </a:ext>
            </a:extLst>
          </p:cNvPr>
          <p:cNvSpPr>
            <a:spLocks noGrp="1"/>
          </p:cNvSpPr>
          <p:nvPr>
            <p:ph type="title"/>
          </p:nvPr>
        </p:nvSpPr>
        <p:spPr>
          <a:xfrm>
            <a:off x="533400" y="304800"/>
            <a:ext cx="8458200" cy="762000"/>
          </a:xfrm>
        </p:spPr>
        <p:txBody>
          <a:bodyPr/>
          <a:lstStyle/>
          <a:p>
            <a:pPr algn="ctr"/>
            <a:r>
              <a:rPr lang="en-IN" sz="2100" dirty="0">
                <a:solidFill>
                  <a:srgbClr val="C00000"/>
                </a:solidFill>
                <a:latin typeface="Book Antiqua" panose="02040602050305030304" pitchFamily="18" charset="0"/>
              </a:rPr>
              <a:t>NDMP-Based Backup</a:t>
            </a:r>
            <a:br>
              <a:rPr lang="en-IN" b="1" dirty="0">
                <a:latin typeface="Formata-Medium"/>
              </a:rPr>
            </a:br>
            <a:endParaRPr lang="en-IN" dirty="0"/>
          </a:p>
        </p:txBody>
      </p:sp>
      <p:sp>
        <p:nvSpPr>
          <p:cNvPr id="3" name="Slide Number Placeholder 2">
            <a:extLst>
              <a:ext uri="{FF2B5EF4-FFF2-40B4-BE49-F238E27FC236}">
                <a16:creationId xmlns:a16="http://schemas.microsoft.com/office/drawing/2014/main" id="{22ECFD61-55D1-2CAA-0965-C937FB40ABC8}"/>
              </a:ext>
            </a:extLst>
          </p:cNvPr>
          <p:cNvSpPr>
            <a:spLocks noGrp="1"/>
          </p:cNvSpPr>
          <p:nvPr>
            <p:ph type="sldNum" sz="quarter" idx="10"/>
          </p:nvPr>
        </p:nvSpPr>
        <p:spPr/>
        <p:txBody>
          <a:bodyPr/>
          <a:lstStyle/>
          <a:p>
            <a:pPr>
              <a:defRPr/>
            </a:pPr>
            <a:fld id="{2F0FE6C8-51A2-4AA8-BE8B-722D435E963D}" type="slidenum">
              <a:rPr lang="en-US" smtClean="0"/>
              <a:pPr>
                <a:defRPr/>
              </a:pPr>
              <a:t>36</a:t>
            </a:fld>
            <a:endParaRPr lang="en-US"/>
          </a:p>
        </p:txBody>
      </p:sp>
      <p:sp>
        <p:nvSpPr>
          <p:cNvPr id="4" name="Footer Placeholder 3">
            <a:extLst>
              <a:ext uri="{FF2B5EF4-FFF2-40B4-BE49-F238E27FC236}">
                <a16:creationId xmlns:a16="http://schemas.microsoft.com/office/drawing/2014/main" id="{D3E8DF45-5454-EB7B-7C19-7176FCFF0A6A}"/>
              </a:ext>
            </a:extLst>
          </p:cNvPr>
          <p:cNvSpPr>
            <a:spLocks noGrp="1"/>
          </p:cNvSpPr>
          <p:nvPr>
            <p:ph type="ftr" sz="quarter" idx="11"/>
          </p:nvPr>
        </p:nvSpPr>
        <p:spPr/>
        <p:txBody>
          <a:bodyPr/>
          <a:lstStyle/>
          <a:p>
            <a:pPr>
              <a:defRPr/>
            </a:pPr>
            <a:r>
              <a:rPr lang="en-US"/>
              <a:t>Module #: Module Name</a:t>
            </a:r>
            <a:endParaRPr lang="en-US" dirty="0"/>
          </a:p>
        </p:txBody>
      </p:sp>
      <p:sp>
        <p:nvSpPr>
          <p:cNvPr id="6" name="TextBox 5">
            <a:extLst>
              <a:ext uri="{FF2B5EF4-FFF2-40B4-BE49-F238E27FC236}">
                <a16:creationId xmlns:a16="http://schemas.microsoft.com/office/drawing/2014/main" id="{40A05464-D15E-B0F6-C736-EB8F863512F3}"/>
              </a:ext>
            </a:extLst>
          </p:cNvPr>
          <p:cNvSpPr txBox="1"/>
          <p:nvPr/>
        </p:nvSpPr>
        <p:spPr>
          <a:xfrm>
            <a:off x="419100" y="651933"/>
            <a:ext cx="8458200" cy="522995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400" b="0" i="1" u="none" strike="noStrike" baseline="0" dirty="0">
                <a:latin typeface="Palatino-Italic"/>
              </a:rPr>
              <a:t>NDMP </a:t>
            </a:r>
            <a:r>
              <a:rPr lang="en-GB" sz="1400" b="0" i="0" u="none" strike="noStrike" baseline="0" dirty="0">
                <a:latin typeface="Palatino-Roman"/>
              </a:rPr>
              <a:t>is an industry-standard TCP/IP-based protocol specifically designed for a backup in a NAS environment. </a:t>
            </a:r>
          </a:p>
          <a:p>
            <a:pPr marL="285750" indent="-285750" algn="just">
              <a:lnSpc>
                <a:spcPct val="150000"/>
              </a:lnSpc>
              <a:buFont typeface="Arial" panose="020B0604020202020204" pitchFamily="34" charset="0"/>
              <a:buChar char="•"/>
            </a:pPr>
            <a:r>
              <a:rPr lang="en-GB" sz="1400" b="0" i="0" u="none" strike="noStrike" baseline="0" dirty="0">
                <a:latin typeface="Palatino-Roman"/>
              </a:rPr>
              <a:t>It communicates with several elements in the backup environment (NAS head, backup devices, backup server, and so on) for data transfer and enables vendors to use a common protocol for the backup architecture. </a:t>
            </a:r>
            <a:r>
              <a:rPr lang="en-GB" sz="1400" dirty="0">
                <a:latin typeface="Palatino-Roman"/>
              </a:rPr>
              <a:t> </a:t>
            </a:r>
          </a:p>
          <a:p>
            <a:pPr marL="285750" indent="-285750" algn="just">
              <a:lnSpc>
                <a:spcPct val="150000"/>
              </a:lnSpc>
              <a:buFont typeface="Arial" panose="020B0604020202020204" pitchFamily="34" charset="0"/>
              <a:buChar char="•"/>
            </a:pPr>
            <a:r>
              <a:rPr lang="en-GB" sz="1400" dirty="0">
                <a:latin typeface="Palatino-Roman"/>
              </a:rPr>
              <a:t>Data can be backed up using NDMP regardless of the operating system or platform. Due to its flexibility, it is no longer necessary to transport data through the application server, which reduces the load on the application server and improves the backup speed.</a:t>
            </a:r>
          </a:p>
          <a:p>
            <a:pPr marL="285750" indent="-285750" algn="just">
              <a:lnSpc>
                <a:spcPct val="150000"/>
              </a:lnSpc>
              <a:buFont typeface="Arial" panose="020B0604020202020204" pitchFamily="34" charset="0"/>
              <a:buChar char="•"/>
            </a:pPr>
            <a:r>
              <a:rPr lang="en-GB" sz="1400" dirty="0">
                <a:latin typeface="Palatino-Roman"/>
              </a:rPr>
              <a:t>NDMP optimizes backup and restore by leveraging the high-speed connection between the backup devices and the NAS head. In NDMP, backup data is sent directly from the NAS head to the backup device, whereas metadata is sent to the backup server. </a:t>
            </a:r>
          </a:p>
          <a:p>
            <a:pPr marL="285750" indent="-285750" algn="just">
              <a:lnSpc>
                <a:spcPct val="150000"/>
              </a:lnSpc>
              <a:buFont typeface="Arial" panose="020B0604020202020204" pitchFamily="34" charset="0"/>
              <a:buChar char="•"/>
            </a:pPr>
            <a:r>
              <a:rPr lang="en-GB" sz="1400" dirty="0">
                <a:latin typeface="Palatino-Roman"/>
              </a:rPr>
              <a:t>Figure 10-13 illustrates a backup in the NAS environment using NDMP 2-way. In this model, network traffic is minimized by isolating data movement from the NAS head to the locally attached backup device. </a:t>
            </a:r>
          </a:p>
          <a:p>
            <a:pPr marL="285750" indent="-285750" algn="just">
              <a:lnSpc>
                <a:spcPct val="150000"/>
              </a:lnSpc>
              <a:buFont typeface="Arial" panose="020B0604020202020204" pitchFamily="34" charset="0"/>
              <a:buChar char="•"/>
            </a:pPr>
            <a:r>
              <a:rPr lang="en-GB" sz="1400" dirty="0">
                <a:latin typeface="Palatino-Roman"/>
              </a:rPr>
              <a:t>Only metadata is transported on the network. The backup device is dedicated to the NAS device, and hence, this method does not support centralized management </a:t>
            </a:r>
            <a:r>
              <a:rPr lang="en-IN" sz="1400" dirty="0">
                <a:latin typeface="Palatino-Roman"/>
              </a:rPr>
              <a:t>of all backup devices.</a:t>
            </a:r>
          </a:p>
        </p:txBody>
      </p:sp>
    </p:spTree>
    <p:extLst>
      <p:ext uri="{BB962C8B-B14F-4D97-AF65-F5344CB8AC3E}">
        <p14:creationId xmlns:p14="http://schemas.microsoft.com/office/powerpoint/2010/main" val="3155492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16"/>
          <p:cNvPicPr>
            <a:picLocks noChangeAspect="1" noChangeArrowheads="1"/>
          </p:cNvPicPr>
          <p:nvPr/>
        </p:nvPicPr>
        <p:blipFill>
          <a:blip r:embed="rId3" cstate="print"/>
          <a:srcRect/>
          <a:stretch>
            <a:fillRect/>
          </a:stretch>
        </p:blipFill>
        <p:spPr bwMode="auto">
          <a:xfrm>
            <a:off x="3080132" y="3331089"/>
            <a:ext cx="1066800" cy="691910"/>
          </a:xfrm>
          <a:prstGeom prst="rect">
            <a:avLst/>
          </a:prstGeom>
          <a:noFill/>
          <a:ln w="9525">
            <a:noFill/>
            <a:miter lim="800000"/>
            <a:headEnd/>
            <a:tailEnd/>
          </a:ln>
          <a:effectLst/>
        </p:spPr>
      </p:pic>
      <p:sp>
        <p:nvSpPr>
          <p:cNvPr id="57" name="Rectangle 1610"/>
          <p:cNvSpPr>
            <a:spLocks noChangeArrowheads="1"/>
          </p:cNvSpPr>
          <p:nvPr/>
        </p:nvSpPr>
        <p:spPr bwMode="auto">
          <a:xfrm>
            <a:off x="3411536" y="3534612"/>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cxnSp>
        <p:nvCxnSpPr>
          <p:cNvPr id="37" name="Straight Connector 36"/>
          <p:cNvCxnSpPr/>
          <p:nvPr/>
        </p:nvCxnSpPr>
        <p:spPr>
          <a:xfrm>
            <a:off x="3981172" y="3733547"/>
            <a:ext cx="990600" cy="0"/>
          </a:xfrm>
          <a:prstGeom prst="line">
            <a:avLst/>
          </a:prstGeom>
          <a:noFill/>
          <a:ln w="38100" cap="rnd">
            <a:solidFill>
              <a:srgbClr val="000000"/>
            </a:solidFill>
            <a:prstDash val="sysDot"/>
            <a:round/>
            <a:headEnd type="none" w="lg" len="lg"/>
            <a:tailEnd type="none" w="lg" len="lg"/>
          </a:ln>
          <a:effectLst/>
        </p:spPr>
      </p:cxnSp>
      <p:sp>
        <p:nvSpPr>
          <p:cNvPr id="18" name="Line 37"/>
          <p:cNvSpPr>
            <a:spLocks noChangeShapeType="1"/>
          </p:cNvSpPr>
          <p:nvPr/>
        </p:nvSpPr>
        <p:spPr bwMode="auto">
          <a:xfrm rot="5400000">
            <a:off x="4902395" y="3052596"/>
            <a:ext cx="914402"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Line 37"/>
          <p:cNvSpPr>
            <a:spLocks noChangeShapeType="1"/>
          </p:cNvSpPr>
          <p:nvPr/>
        </p:nvSpPr>
        <p:spPr bwMode="auto">
          <a:xfrm rot="5400000" flipH="1" flipV="1">
            <a:off x="6182175" y="3222275"/>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Line 8"/>
          <p:cNvSpPr>
            <a:spLocks noChangeShapeType="1"/>
          </p:cNvSpPr>
          <p:nvPr/>
        </p:nvSpPr>
        <p:spPr bwMode="auto">
          <a:xfrm flipH="1">
            <a:off x="4119947" y="3646714"/>
            <a:ext cx="1066958"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 name="Title 1"/>
          <p:cNvSpPr>
            <a:spLocks noGrp="1"/>
          </p:cNvSpPr>
          <p:nvPr>
            <p:ph type="title"/>
          </p:nvPr>
        </p:nvSpPr>
        <p:spPr/>
        <p:txBody>
          <a:bodyPr/>
          <a:lstStyle/>
          <a:p>
            <a:pPr algn="ctr"/>
            <a:r>
              <a:rPr lang="en-US" sz="2100" dirty="0">
                <a:solidFill>
                  <a:srgbClr val="C00000"/>
                </a:solidFill>
                <a:latin typeface="Book Antiqua" panose="02040602050305030304" pitchFamily="18" charset="0"/>
              </a:rPr>
              <a:t>NDMP 2-way Backup</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cxnSp>
        <p:nvCxnSpPr>
          <p:cNvPr id="7" name="Straight Connector 6"/>
          <p:cNvCxnSpPr/>
          <p:nvPr/>
        </p:nvCxnSpPr>
        <p:spPr>
          <a:xfrm>
            <a:off x="3962122" y="4914647"/>
            <a:ext cx="1082174" cy="0"/>
          </a:xfrm>
          <a:prstGeom prst="line">
            <a:avLst/>
          </a:prstGeom>
          <a:noFill/>
          <a:ln w="38100" cap="rnd">
            <a:solidFill>
              <a:srgbClr val="000000"/>
            </a:solidFill>
            <a:prstDash val="sysDot"/>
            <a:round/>
            <a:headEnd type="none" w="lg" len="lg"/>
            <a:tailEnd type="stealth" w="lg" len="lg"/>
          </a:ln>
          <a:effectLst/>
        </p:spPr>
      </p:cxnSp>
      <p:sp>
        <p:nvSpPr>
          <p:cNvPr id="9" name="Line 8"/>
          <p:cNvSpPr>
            <a:spLocks noChangeShapeType="1"/>
          </p:cNvSpPr>
          <p:nvPr/>
        </p:nvSpPr>
        <p:spPr bwMode="auto">
          <a:xfrm flipH="1">
            <a:off x="3612964" y="5224496"/>
            <a:ext cx="1433515"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Line 37"/>
          <p:cNvSpPr>
            <a:spLocks noChangeShapeType="1"/>
          </p:cNvSpPr>
          <p:nvPr/>
        </p:nvSpPr>
        <p:spPr bwMode="auto">
          <a:xfrm flipH="1" flipV="1">
            <a:off x="7148067" y="2429731"/>
            <a:ext cx="0" cy="901701"/>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Line 8"/>
          <p:cNvSpPr>
            <a:spLocks noChangeShapeType="1"/>
          </p:cNvSpPr>
          <p:nvPr/>
        </p:nvSpPr>
        <p:spPr bwMode="auto">
          <a:xfrm flipH="1">
            <a:off x="2021433" y="3657347"/>
            <a:ext cx="1066958"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Line 8"/>
          <p:cNvSpPr>
            <a:spLocks noChangeShapeType="1"/>
          </p:cNvSpPr>
          <p:nvPr/>
        </p:nvSpPr>
        <p:spPr bwMode="auto">
          <a:xfrm rot="5400000" flipH="1">
            <a:off x="3009026" y="4623525"/>
            <a:ext cx="1207883"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9" name="TextBox 28"/>
          <p:cNvSpPr txBox="1"/>
          <p:nvPr/>
        </p:nvSpPr>
        <p:spPr>
          <a:xfrm>
            <a:off x="948713" y="4232405"/>
            <a:ext cx="1631024"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Application Server/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Client </a:t>
            </a:r>
          </a:p>
        </p:txBody>
      </p:sp>
      <p:sp>
        <p:nvSpPr>
          <p:cNvPr id="30" name="TextBox 29"/>
          <p:cNvSpPr txBox="1"/>
          <p:nvPr/>
        </p:nvSpPr>
        <p:spPr>
          <a:xfrm>
            <a:off x="4966633" y="3847918"/>
            <a:ext cx="92525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NAS Head</a:t>
            </a:r>
          </a:p>
        </p:txBody>
      </p:sp>
      <p:sp>
        <p:nvSpPr>
          <p:cNvPr id="31" name="TextBox 30"/>
          <p:cNvSpPr txBox="1"/>
          <p:nvPr/>
        </p:nvSpPr>
        <p:spPr>
          <a:xfrm>
            <a:off x="5503251" y="2846948"/>
            <a:ext cx="649280"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Data</a:t>
            </a:r>
          </a:p>
        </p:txBody>
      </p:sp>
      <p:sp>
        <p:nvSpPr>
          <p:cNvPr id="32" name="TextBox 31"/>
          <p:cNvSpPr txBox="1"/>
          <p:nvPr/>
        </p:nvSpPr>
        <p:spPr>
          <a:xfrm>
            <a:off x="4708629" y="5819667"/>
            <a:ext cx="1243610"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Server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33" name="TextBox 32"/>
          <p:cNvSpPr txBox="1"/>
          <p:nvPr/>
        </p:nvSpPr>
        <p:spPr>
          <a:xfrm>
            <a:off x="6532085" y="702331"/>
            <a:ext cx="119090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Arial" charset="0"/>
              </a:rPr>
              <a:t>Storage Array</a:t>
            </a:r>
          </a:p>
        </p:txBody>
      </p:sp>
      <p:sp>
        <p:nvSpPr>
          <p:cNvPr id="38" name="TextBox 37"/>
          <p:cNvSpPr txBox="1"/>
          <p:nvPr/>
        </p:nvSpPr>
        <p:spPr>
          <a:xfrm>
            <a:off x="4743871" y="916937"/>
            <a:ext cx="1273650" cy="30777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Device</a:t>
            </a:r>
          </a:p>
        </p:txBody>
      </p:sp>
      <p:cxnSp>
        <p:nvCxnSpPr>
          <p:cNvPr id="27" name="Straight Connector 26"/>
          <p:cNvCxnSpPr/>
          <p:nvPr/>
        </p:nvCxnSpPr>
        <p:spPr>
          <a:xfrm rot="5400000" flipH="1" flipV="1">
            <a:off x="5123377" y="3100847"/>
            <a:ext cx="777240" cy="0"/>
          </a:xfrm>
          <a:prstGeom prst="line">
            <a:avLst/>
          </a:prstGeom>
          <a:ln>
            <a:prstDash val="sysDash"/>
            <a:headEnd type="none"/>
            <a:tailEnd type="triangle" w="lg" len="med"/>
          </a:ln>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3962400" y="4248711"/>
            <a:ext cx="806054"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pic>
        <p:nvPicPr>
          <p:cNvPr id="45"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1480851" y="3022301"/>
            <a:ext cx="543668" cy="1256676"/>
          </a:xfrm>
          <a:prstGeom prst="rect">
            <a:avLst/>
          </a:prstGeom>
          <a:noFill/>
        </p:spPr>
      </p:pic>
      <p:grpSp>
        <p:nvGrpSpPr>
          <p:cNvPr id="46" name="Group 45"/>
          <p:cNvGrpSpPr/>
          <p:nvPr/>
        </p:nvGrpSpPr>
        <p:grpSpPr>
          <a:xfrm>
            <a:off x="5040217" y="4594204"/>
            <a:ext cx="543668" cy="1256676"/>
            <a:chOff x="142132" y="3086724"/>
            <a:chExt cx="543668" cy="1256676"/>
          </a:xfrm>
        </p:grpSpPr>
        <p:pic>
          <p:nvPicPr>
            <p:cNvPr id="47"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142132" y="3086724"/>
              <a:ext cx="543668" cy="1256676"/>
            </a:xfrm>
            <a:prstGeom prst="rect">
              <a:avLst/>
            </a:prstGeom>
            <a:noFill/>
          </p:spPr>
        </p:pic>
        <p:pic>
          <p:nvPicPr>
            <p:cNvPr id="48"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228600" y="3785061"/>
              <a:ext cx="152400" cy="152400"/>
            </a:xfrm>
            <a:prstGeom prst="rect">
              <a:avLst/>
            </a:prstGeom>
            <a:noFill/>
          </p:spPr>
        </p:pic>
        <p:pic>
          <p:nvPicPr>
            <p:cNvPr id="49" name="Picture 10" descr="C:\Documents and Settings\sridhs\Desktop\ISM Book L3\colored Icons\Standard disk.png"/>
            <p:cNvPicPr>
              <a:picLocks noChangeAspect="1" noChangeArrowheads="1"/>
            </p:cNvPicPr>
            <p:nvPr/>
          </p:nvPicPr>
          <p:blipFill>
            <a:blip r:embed="rId5" cstate="print"/>
            <a:srcRect/>
            <a:stretch>
              <a:fillRect/>
            </a:stretch>
          </p:blipFill>
          <p:spPr bwMode="auto">
            <a:xfrm flipH="1">
              <a:off x="405939" y="3785061"/>
              <a:ext cx="152400" cy="152400"/>
            </a:xfrm>
            <a:prstGeom prst="rect">
              <a:avLst/>
            </a:prstGeom>
            <a:noFill/>
          </p:spPr>
        </p:pic>
      </p:grpSp>
      <p:pic>
        <p:nvPicPr>
          <p:cNvPr id="50" name="Picture 6"/>
          <p:cNvPicPr>
            <a:picLocks noChangeAspect="1" noChangeArrowheads="1"/>
          </p:cNvPicPr>
          <p:nvPr/>
        </p:nvPicPr>
        <p:blipFill>
          <a:blip r:embed="rId6" cstate="print"/>
          <a:srcRect/>
          <a:stretch>
            <a:fillRect/>
          </a:stretch>
        </p:blipFill>
        <p:spPr bwMode="auto">
          <a:xfrm>
            <a:off x="4953000" y="1184403"/>
            <a:ext cx="788670" cy="1433945"/>
          </a:xfrm>
          <a:prstGeom prst="rect">
            <a:avLst/>
          </a:prstGeom>
          <a:noFill/>
          <a:ln w="9525">
            <a:noFill/>
            <a:miter lim="800000"/>
            <a:headEnd/>
            <a:tailEnd/>
          </a:ln>
          <a:effectLst/>
        </p:spPr>
      </p:pic>
      <p:pic>
        <p:nvPicPr>
          <p:cNvPr id="51" name="Picture 5"/>
          <p:cNvPicPr>
            <a:picLocks noChangeAspect="1" noChangeArrowheads="1"/>
          </p:cNvPicPr>
          <p:nvPr/>
        </p:nvPicPr>
        <p:blipFill>
          <a:blip r:embed="rId7" cstate="print"/>
          <a:srcRect/>
          <a:stretch>
            <a:fillRect/>
          </a:stretch>
        </p:blipFill>
        <p:spPr bwMode="auto">
          <a:xfrm>
            <a:off x="4843749" y="3413399"/>
            <a:ext cx="1066800" cy="466726"/>
          </a:xfrm>
          <a:prstGeom prst="rect">
            <a:avLst/>
          </a:prstGeom>
          <a:noFill/>
          <a:ln w="9525">
            <a:noFill/>
            <a:miter lim="800000"/>
            <a:headEnd/>
            <a:tailEnd/>
          </a:ln>
          <a:effectLst/>
        </p:spPr>
      </p:pic>
      <p:pic>
        <p:nvPicPr>
          <p:cNvPr id="53" name="Picture 15"/>
          <p:cNvPicPr>
            <a:picLocks noChangeAspect="1" noChangeArrowheads="1"/>
          </p:cNvPicPr>
          <p:nvPr/>
        </p:nvPicPr>
        <p:blipFill>
          <a:blip r:embed="rId8" cstate="print"/>
          <a:srcRect/>
          <a:stretch>
            <a:fillRect/>
          </a:stretch>
        </p:blipFill>
        <p:spPr bwMode="auto">
          <a:xfrm>
            <a:off x="6619302" y="3316084"/>
            <a:ext cx="1066800" cy="691910"/>
          </a:xfrm>
          <a:prstGeom prst="rect">
            <a:avLst/>
          </a:prstGeom>
          <a:noFill/>
          <a:ln w="9525">
            <a:noFill/>
            <a:miter lim="800000"/>
            <a:headEnd/>
            <a:tailEnd/>
          </a:ln>
          <a:effectLst/>
        </p:spPr>
      </p:pic>
      <p:sp>
        <p:nvSpPr>
          <p:cNvPr id="54" name="Rectangle 1612"/>
          <p:cNvSpPr>
            <a:spLocks noChangeArrowheads="1"/>
          </p:cNvSpPr>
          <p:nvPr/>
        </p:nvSpPr>
        <p:spPr bwMode="auto">
          <a:xfrm>
            <a:off x="6864037" y="3512642"/>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cxnSp>
        <p:nvCxnSpPr>
          <p:cNvPr id="23" name="Straight Connector 22"/>
          <p:cNvCxnSpPr/>
          <p:nvPr/>
        </p:nvCxnSpPr>
        <p:spPr>
          <a:xfrm>
            <a:off x="5512102" y="3484085"/>
            <a:ext cx="1472184" cy="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35" name="Straight Connector 34"/>
          <p:cNvCxnSpPr/>
          <p:nvPr/>
        </p:nvCxnSpPr>
        <p:spPr>
          <a:xfrm>
            <a:off x="6979322" y="2417564"/>
            <a:ext cx="0" cy="106680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25" name="Straight Connector 24"/>
          <p:cNvCxnSpPr/>
          <p:nvPr/>
        </p:nvCxnSpPr>
        <p:spPr>
          <a:xfrm>
            <a:off x="3971647" y="3731290"/>
            <a:ext cx="0" cy="1183357"/>
          </a:xfrm>
          <a:prstGeom prst="line">
            <a:avLst/>
          </a:prstGeom>
          <a:noFill/>
          <a:ln w="38100" cap="rnd">
            <a:solidFill>
              <a:srgbClr val="000000"/>
            </a:solidFill>
            <a:prstDash val="sysDot"/>
            <a:round/>
            <a:headEnd type="none" w="lg" len="lg"/>
            <a:tailEnd type="none" w="lg" len="lg"/>
          </a:ln>
          <a:effectLst/>
        </p:spPr>
      </p:cxnSp>
      <p:pic>
        <p:nvPicPr>
          <p:cNvPr id="58" name="Picture 11" descr="C:\Documents and Settings\sridhs\Desktop\ISM Book L3\colored Icons\Storage Array.png"/>
          <p:cNvPicPr>
            <a:picLocks noChangeAspect="1" noChangeArrowheads="1"/>
          </p:cNvPicPr>
          <p:nvPr/>
        </p:nvPicPr>
        <p:blipFill>
          <a:blip r:embed="rId9" cstate="print"/>
          <a:srcRect/>
          <a:stretch>
            <a:fillRect/>
          </a:stretch>
        </p:blipFill>
        <p:spPr bwMode="auto">
          <a:xfrm>
            <a:off x="6659116" y="984810"/>
            <a:ext cx="961803" cy="1633538"/>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2952" y="42036"/>
            <a:ext cx="3033448" cy="388650"/>
          </a:xfrm>
        </p:spPr>
        <p:txBody>
          <a:bodyPr/>
          <a:lstStyle/>
          <a:p>
            <a:pPr algn="ctr"/>
            <a:r>
              <a:rPr lang="en-US" sz="2100" dirty="0">
                <a:solidFill>
                  <a:srgbClr val="C00000"/>
                </a:solidFill>
                <a:latin typeface="Book Antiqua" panose="02040602050305030304" pitchFamily="18" charset="0"/>
              </a:rPr>
              <a:t>NDMP 3-way Backup</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Line 8"/>
          <p:cNvSpPr>
            <a:spLocks noChangeShapeType="1"/>
          </p:cNvSpPr>
          <p:nvPr/>
        </p:nvSpPr>
        <p:spPr bwMode="auto">
          <a:xfrm flipH="1" flipV="1">
            <a:off x="5092448" y="4457346"/>
            <a:ext cx="962025" cy="4762"/>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 name="Line 8"/>
          <p:cNvSpPr>
            <a:spLocks noChangeShapeType="1"/>
          </p:cNvSpPr>
          <p:nvPr/>
        </p:nvSpPr>
        <p:spPr bwMode="auto">
          <a:xfrm flipH="1">
            <a:off x="3376609" y="4429125"/>
            <a:ext cx="1433515"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Line 8"/>
          <p:cNvSpPr>
            <a:spLocks noChangeShapeType="1"/>
          </p:cNvSpPr>
          <p:nvPr/>
        </p:nvSpPr>
        <p:spPr bwMode="auto">
          <a:xfrm flipH="1">
            <a:off x="1303432" y="3100674"/>
            <a:ext cx="1152144"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Line 8"/>
          <p:cNvSpPr>
            <a:spLocks noChangeShapeType="1"/>
          </p:cNvSpPr>
          <p:nvPr/>
        </p:nvSpPr>
        <p:spPr bwMode="auto">
          <a:xfrm rot="5400000" flipH="1">
            <a:off x="2864167" y="3912237"/>
            <a:ext cx="1005840"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 name="TextBox 13"/>
          <p:cNvSpPr txBox="1"/>
          <p:nvPr/>
        </p:nvSpPr>
        <p:spPr>
          <a:xfrm>
            <a:off x="347949" y="1905000"/>
            <a:ext cx="1631024" cy="523220"/>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Application Server/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Client </a:t>
            </a:r>
          </a:p>
        </p:txBody>
      </p:sp>
      <p:sp>
        <p:nvSpPr>
          <p:cNvPr id="15" name="TextBox 14"/>
          <p:cNvSpPr txBox="1"/>
          <p:nvPr/>
        </p:nvSpPr>
        <p:spPr>
          <a:xfrm>
            <a:off x="479234" y="5562600"/>
            <a:ext cx="1243610"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Server</a:t>
            </a:r>
          </a:p>
        </p:txBody>
      </p:sp>
      <p:sp>
        <p:nvSpPr>
          <p:cNvPr id="16" name="TextBox 15"/>
          <p:cNvSpPr txBox="1"/>
          <p:nvPr/>
        </p:nvSpPr>
        <p:spPr>
          <a:xfrm>
            <a:off x="7715157" y="2131542"/>
            <a:ext cx="119090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p>
        </p:txBody>
      </p:sp>
      <p:cxnSp>
        <p:nvCxnSpPr>
          <p:cNvPr id="17" name="Straight Connector 16"/>
          <p:cNvCxnSpPr/>
          <p:nvPr/>
        </p:nvCxnSpPr>
        <p:spPr>
          <a:xfrm>
            <a:off x="3005137" y="1374219"/>
            <a:ext cx="1240098" cy="0"/>
          </a:xfrm>
          <a:prstGeom prst="line">
            <a:avLst/>
          </a:prstGeom>
          <a:noFill/>
          <a:ln w="38100" cap="rnd">
            <a:solidFill>
              <a:srgbClr val="000000"/>
            </a:solidFill>
            <a:prstDash val="sysDot"/>
            <a:round/>
            <a:headEnd type="none" w="lg" len="lg"/>
            <a:tailEnd type="none" w="lg" len="lg"/>
          </a:ln>
          <a:effectLst/>
        </p:spPr>
      </p:cxnSp>
      <p:sp>
        <p:nvSpPr>
          <p:cNvPr id="18" name="TextBox 17"/>
          <p:cNvSpPr txBox="1"/>
          <p:nvPr/>
        </p:nvSpPr>
        <p:spPr>
          <a:xfrm>
            <a:off x="7628895" y="5153951"/>
            <a:ext cx="1273650" cy="30777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Device</a:t>
            </a:r>
          </a:p>
        </p:txBody>
      </p:sp>
      <p:sp>
        <p:nvSpPr>
          <p:cNvPr id="19" name="Line 8"/>
          <p:cNvSpPr>
            <a:spLocks noChangeShapeType="1"/>
          </p:cNvSpPr>
          <p:nvPr/>
        </p:nvSpPr>
        <p:spPr bwMode="auto">
          <a:xfrm rot="5400000" flipH="1">
            <a:off x="2754628" y="2160269"/>
            <a:ext cx="1234440"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 name="Line 8"/>
          <p:cNvSpPr>
            <a:spLocks noChangeShapeType="1"/>
          </p:cNvSpPr>
          <p:nvPr/>
        </p:nvSpPr>
        <p:spPr bwMode="auto">
          <a:xfrm flipH="1">
            <a:off x="3381374" y="1542035"/>
            <a:ext cx="1066958"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 name="Line 8"/>
          <p:cNvSpPr>
            <a:spLocks noChangeShapeType="1"/>
          </p:cNvSpPr>
          <p:nvPr/>
        </p:nvSpPr>
        <p:spPr bwMode="auto">
          <a:xfrm rot="5400000" flipH="1">
            <a:off x="1977959" y="4153157"/>
            <a:ext cx="1472184"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 name="Line 8"/>
          <p:cNvSpPr>
            <a:spLocks noChangeShapeType="1"/>
          </p:cNvSpPr>
          <p:nvPr/>
        </p:nvSpPr>
        <p:spPr bwMode="auto">
          <a:xfrm flipH="1">
            <a:off x="1147185" y="4897398"/>
            <a:ext cx="1566866"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cxnSp>
        <p:nvCxnSpPr>
          <p:cNvPr id="23" name="Straight Connector 22"/>
          <p:cNvCxnSpPr/>
          <p:nvPr/>
        </p:nvCxnSpPr>
        <p:spPr>
          <a:xfrm>
            <a:off x="3009899" y="3436114"/>
            <a:ext cx="0" cy="1746504"/>
          </a:xfrm>
          <a:prstGeom prst="line">
            <a:avLst/>
          </a:prstGeom>
          <a:noFill/>
          <a:ln w="38100" cap="rnd">
            <a:solidFill>
              <a:srgbClr val="000000"/>
            </a:solidFill>
            <a:prstDash val="sysDot"/>
            <a:round/>
            <a:headEnd type="none" w="lg" len="lg"/>
            <a:tailEnd type="none" w="lg" len="lg"/>
          </a:ln>
          <a:effectLst/>
        </p:spPr>
      </p:cxnSp>
      <p:cxnSp>
        <p:nvCxnSpPr>
          <p:cNvPr id="24" name="Straight Connector 23"/>
          <p:cNvCxnSpPr/>
          <p:nvPr/>
        </p:nvCxnSpPr>
        <p:spPr>
          <a:xfrm>
            <a:off x="1425538" y="5183148"/>
            <a:ext cx="1554480" cy="0"/>
          </a:xfrm>
          <a:prstGeom prst="line">
            <a:avLst/>
          </a:prstGeom>
          <a:noFill/>
          <a:ln w="38100" cap="rnd">
            <a:solidFill>
              <a:srgbClr val="000000"/>
            </a:solidFill>
            <a:prstDash val="sysDot"/>
            <a:round/>
            <a:headEnd type="stealth" w="lg" len="lg"/>
            <a:tailEnd type="none" w="lg" len="lg"/>
          </a:ln>
          <a:effectLst/>
        </p:spPr>
      </p:cxnSp>
      <p:sp>
        <p:nvSpPr>
          <p:cNvPr id="28" name="TextBox 27"/>
          <p:cNvSpPr txBox="1"/>
          <p:nvPr/>
        </p:nvSpPr>
        <p:spPr>
          <a:xfrm>
            <a:off x="4305299" y="4605051"/>
            <a:ext cx="92525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NAS Head</a:t>
            </a:r>
          </a:p>
        </p:txBody>
      </p:sp>
      <p:sp>
        <p:nvSpPr>
          <p:cNvPr id="29" name="Line 8"/>
          <p:cNvSpPr>
            <a:spLocks noChangeShapeType="1"/>
          </p:cNvSpPr>
          <p:nvPr/>
        </p:nvSpPr>
        <p:spPr bwMode="auto">
          <a:xfrm rot="5400000" flipH="1">
            <a:off x="3892779" y="2149705"/>
            <a:ext cx="1320340"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Line 8"/>
          <p:cNvSpPr>
            <a:spLocks noChangeShapeType="1"/>
          </p:cNvSpPr>
          <p:nvPr/>
        </p:nvSpPr>
        <p:spPr bwMode="auto">
          <a:xfrm rot="5400000" flipH="1">
            <a:off x="4107091" y="3897543"/>
            <a:ext cx="891715" cy="0"/>
          </a:xfrm>
          <a:prstGeom prst="line">
            <a:avLst/>
          </a:prstGeom>
          <a:noFill/>
          <a:ln w="1270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Line 8"/>
          <p:cNvSpPr>
            <a:spLocks noChangeShapeType="1"/>
          </p:cNvSpPr>
          <p:nvPr/>
        </p:nvSpPr>
        <p:spPr bwMode="auto">
          <a:xfrm flipH="1">
            <a:off x="4961954" y="1370895"/>
            <a:ext cx="1066958"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6" name="Line 8"/>
          <p:cNvSpPr>
            <a:spLocks noChangeShapeType="1"/>
          </p:cNvSpPr>
          <p:nvPr/>
        </p:nvSpPr>
        <p:spPr bwMode="auto">
          <a:xfrm flipH="1">
            <a:off x="7061563" y="1359606"/>
            <a:ext cx="1066958"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0" name="Line 8"/>
          <p:cNvSpPr>
            <a:spLocks noChangeShapeType="1"/>
          </p:cNvSpPr>
          <p:nvPr/>
        </p:nvSpPr>
        <p:spPr bwMode="auto">
          <a:xfrm flipH="1" flipV="1">
            <a:off x="7097756" y="4468635"/>
            <a:ext cx="962025" cy="4762"/>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4" name="Isosceles Triangle 43"/>
          <p:cNvSpPr/>
          <p:nvPr/>
        </p:nvSpPr>
        <p:spPr>
          <a:xfrm rot="5400000">
            <a:off x="7732484" y="4207972"/>
            <a:ext cx="123332" cy="10632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47" name="TextBox 46"/>
          <p:cNvSpPr txBox="1"/>
          <p:nvPr/>
        </p:nvSpPr>
        <p:spPr>
          <a:xfrm>
            <a:off x="4232667" y="877018"/>
            <a:ext cx="925253" cy="3077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NAS Head</a:t>
            </a:r>
          </a:p>
        </p:txBody>
      </p:sp>
      <p:sp>
        <p:nvSpPr>
          <p:cNvPr id="50" name="TextBox 49"/>
          <p:cNvSpPr txBox="1"/>
          <p:nvPr/>
        </p:nvSpPr>
        <p:spPr>
          <a:xfrm>
            <a:off x="2971800" y="4904601"/>
            <a:ext cx="806054"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sp>
        <p:nvSpPr>
          <p:cNvPr id="54" name="TextBox 53"/>
          <p:cNvSpPr txBox="1"/>
          <p:nvPr/>
        </p:nvSpPr>
        <p:spPr>
          <a:xfrm>
            <a:off x="4920868" y="3657600"/>
            <a:ext cx="983026"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Data</a:t>
            </a:r>
          </a:p>
        </p:txBody>
      </p:sp>
      <p:pic>
        <p:nvPicPr>
          <p:cNvPr id="58"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838200" y="2438400"/>
            <a:ext cx="543668" cy="1256676"/>
          </a:xfrm>
          <a:prstGeom prst="rect">
            <a:avLst/>
          </a:prstGeom>
          <a:noFill/>
        </p:spPr>
      </p:pic>
      <p:grpSp>
        <p:nvGrpSpPr>
          <p:cNvPr id="59" name="Group 58"/>
          <p:cNvGrpSpPr/>
          <p:nvPr/>
        </p:nvGrpSpPr>
        <p:grpSpPr>
          <a:xfrm>
            <a:off x="838949" y="4343400"/>
            <a:ext cx="543668" cy="1256676"/>
            <a:chOff x="142132" y="3086724"/>
            <a:chExt cx="543668" cy="1256676"/>
          </a:xfrm>
        </p:grpSpPr>
        <p:pic>
          <p:nvPicPr>
            <p:cNvPr id="60"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61"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228600" y="3785061"/>
              <a:ext cx="152400" cy="152400"/>
            </a:xfrm>
            <a:prstGeom prst="rect">
              <a:avLst/>
            </a:prstGeom>
            <a:noFill/>
          </p:spPr>
        </p:pic>
        <p:pic>
          <p:nvPicPr>
            <p:cNvPr id="62"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405939" y="3785061"/>
              <a:ext cx="152400" cy="152400"/>
            </a:xfrm>
            <a:prstGeom prst="rect">
              <a:avLst/>
            </a:prstGeom>
            <a:noFill/>
          </p:spPr>
        </p:pic>
      </p:grpSp>
      <p:pic>
        <p:nvPicPr>
          <p:cNvPr id="63" name="Picture 6"/>
          <p:cNvPicPr>
            <a:picLocks noChangeAspect="1" noChangeArrowheads="1"/>
          </p:cNvPicPr>
          <p:nvPr/>
        </p:nvPicPr>
        <p:blipFill>
          <a:blip r:embed="rId5" cstate="print"/>
          <a:srcRect/>
          <a:stretch>
            <a:fillRect/>
          </a:stretch>
        </p:blipFill>
        <p:spPr bwMode="auto">
          <a:xfrm>
            <a:off x="7890830" y="3767770"/>
            <a:ext cx="788670" cy="1433945"/>
          </a:xfrm>
          <a:prstGeom prst="rect">
            <a:avLst/>
          </a:prstGeom>
          <a:noFill/>
          <a:ln w="9525">
            <a:noFill/>
            <a:miter lim="800000"/>
            <a:headEnd/>
            <a:tailEnd/>
          </a:ln>
          <a:effectLst/>
        </p:spPr>
      </p:pic>
      <p:pic>
        <p:nvPicPr>
          <p:cNvPr id="64" name="Picture 5"/>
          <p:cNvPicPr>
            <a:picLocks noChangeAspect="1" noChangeArrowheads="1"/>
          </p:cNvPicPr>
          <p:nvPr/>
        </p:nvPicPr>
        <p:blipFill>
          <a:blip r:embed="rId6" cstate="print"/>
          <a:srcRect/>
          <a:stretch>
            <a:fillRect/>
          </a:stretch>
        </p:blipFill>
        <p:spPr bwMode="auto">
          <a:xfrm>
            <a:off x="4179983" y="1164401"/>
            <a:ext cx="1066800" cy="466726"/>
          </a:xfrm>
          <a:prstGeom prst="rect">
            <a:avLst/>
          </a:prstGeom>
          <a:noFill/>
          <a:ln w="9525">
            <a:noFill/>
            <a:miter lim="800000"/>
            <a:headEnd/>
            <a:tailEnd/>
          </a:ln>
          <a:effectLst/>
        </p:spPr>
      </p:pic>
      <p:pic>
        <p:nvPicPr>
          <p:cNvPr id="66" name="Picture 15"/>
          <p:cNvPicPr>
            <a:picLocks noChangeAspect="1" noChangeArrowheads="1"/>
          </p:cNvPicPr>
          <p:nvPr/>
        </p:nvPicPr>
        <p:blipFill>
          <a:blip r:embed="rId7" cstate="print"/>
          <a:srcRect/>
          <a:stretch>
            <a:fillRect/>
          </a:stretch>
        </p:blipFill>
        <p:spPr bwMode="auto">
          <a:xfrm>
            <a:off x="6020719" y="1022732"/>
            <a:ext cx="1066800" cy="691910"/>
          </a:xfrm>
          <a:prstGeom prst="rect">
            <a:avLst/>
          </a:prstGeom>
          <a:noFill/>
          <a:ln w="9525">
            <a:noFill/>
            <a:miter lim="800000"/>
            <a:headEnd/>
            <a:tailEnd/>
          </a:ln>
          <a:effectLst/>
        </p:spPr>
      </p:pic>
      <p:sp>
        <p:nvSpPr>
          <p:cNvPr id="67" name="Rectangle 1612"/>
          <p:cNvSpPr>
            <a:spLocks noChangeArrowheads="1"/>
          </p:cNvSpPr>
          <p:nvPr/>
        </p:nvSpPr>
        <p:spPr bwMode="auto">
          <a:xfrm>
            <a:off x="6262952" y="1230307"/>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pic>
        <p:nvPicPr>
          <p:cNvPr id="69" name="Picture 16"/>
          <p:cNvPicPr>
            <a:picLocks noChangeAspect="1" noChangeArrowheads="1"/>
          </p:cNvPicPr>
          <p:nvPr/>
        </p:nvPicPr>
        <p:blipFill>
          <a:blip r:embed="rId8" cstate="print"/>
          <a:srcRect/>
          <a:stretch>
            <a:fillRect/>
          </a:stretch>
        </p:blipFill>
        <p:spPr bwMode="auto">
          <a:xfrm>
            <a:off x="4039519" y="2787268"/>
            <a:ext cx="1066800" cy="691910"/>
          </a:xfrm>
          <a:prstGeom prst="rect">
            <a:avLst/>
          </a:prstGeom>
          <a:noFill/>
          <a:ln w="9525">
            <a:noFill/>
            <a:miter lim="800000"/>
            <a:headEnd/>
            <a:tailEnd/>
          </a:ln>
          <a:effectLst/>
        </p:spPr>
      </p:pic>
      <p:sp>
        <p:nvSpPr>
          <p:cNvPr id="70" name="Rectangle 1610"/>
          <p:cNvSpPr>
            <a:spLocks noChangeArrowheads="1"/>
          </p:cNvSpPr>
          <p:nvPr/>
        </p:nvSpPr>
        <p:spPr bwMode="auto">
          <a:xfrm>
            <a:off x="4235068" y="2918936"/>
            <a:ext cx="751809" cy="646331"/>
          </a:xfrm>
          <a:prstGeom prst="rect">
            <a:avLst/>
          </a:prstGeom>
          <a:noFill/>
          <a:ln w="9525">
            <a:noFill/>
            <a:miter lim="800000"/>
            <a:headEnd/>
            <a:tailEnd/>
          </a:ln>
        </p:spPr>
        <p:txBody>
          <a:bodyPr wrap="squar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Private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pic>
        <p:nvPicPr>
          <p:cNvPr id="71" name="Picture 11" descr="C:\Documents and Settings\sridhs\Desktop\ISM Book L3\colored Icons\Storage Array.png"/>
          <p:cNvPicPr>
            <a:picLocks noChangeAspect="1" noChangeArrowheads="1"/>
          </p:cNvPicPr>
          <p:nvPr/>
        </p:nvPicPr>
        <p:blipFill>
          <a:blip r:embed="rId9" cstate="print"/>
          <a:srcRect/>
          <a:stretch>
            <a:fillRect/>
          </a:stretch>
        </p:blipFill>
        <p:spPr bwMode="auto">
          <a:xfrm>
            <a:off x="7836664" y="540896"/>
            <a:ext cx="961803" cy="1633538"/>
          </a:xfrm>
          <a:prstGeom prst="rect">
            <a:avLst/>
          </a:prstGeom>
          <a:noFill/>
        </p:spPr>
      </p:pic>
      <p:cxnSp>
        <p:nvCxnSpPr>
          <p:cNvPr id="42" name="Straight Connector 41"/>
          <p:cNvCxnSpPr/>
          <p:nvPr/>
        </p:nvCxnSpPr>
        <p:spPr>
          <a:xfrm flipH="1">
            <a:off x="4972049" y="1552574"/>
            <a:ext cx="2895601" cy="1"/>
          </a:xfrm>
          <a:prstGeom prst="line">
            <a:avLst/>
          </a:prstGeom>
          <a:ln>
            <a:prstDash val="sysDash"/>
          </a:ln>
        </p:spPr>
        <p:style>
          <a:lnRef idx="2">
            <a:schemeClr val="dk1"/>
          </a:lnRef>
          <a:fillRef idx="0">
            <a:schemeClr val="dk1"/>
          </a:fillRef>
          <a:effectRef idx="1">
            <a:schemeClr val="dk1"/>
          </a:effectRef>
          <a:fontRef idx="minor">
            <a:schemeClr val="tx1"/>
          </a:fontRef>
        </p:style>
      </p:cxnSp>
      <p:pic>
        <p:nvPicPr>
          <p:cNvPr id="73" name="Picture 15"/>
          <p:cNvPicPr>
            <a:picLocks noChangeAspect="1" noChangeArrowheads="1"/>
          </p:cNvPicPr>
          <p:nvPr/>
        </p:nvPicPr>
        <p:blipFill>
          <a:blip r:embed="rId7" cstate="print"/>
          <a:srcRect/>
          <a:stretch>
            <a:fillRect/>
          </a:stretch>
        </p:blipFill>
        <p:spPr bwMode="auto">
          <a:xfrm>
            <a:off x="6052851" y="4108690"/>
            <a:ext cx="1066800" cy="691910"/>
          </a:xfrm>
          <a:prstGeom prst="rect">
            <a:avLst/>
          </a:prstGeom>
          <a:noFill/>
          <a:ln w="9525">
            <a:noFill/>
            <a:miter lim="800000"/>
            <a:headEnd/>
            <a:tailEnd/>
          </a:ln>
          <a:effectLst/>
        </p:spPr>
      </p:pic>
      <p:sp>
        <p:nvSpPr>
          <p:cNvPr id="74" name="Rectangle 1612"/>
          <p:cNvSpPr>
            <a:spLocks noChangeArrowheads="1"/>
          </p:cNvSpPr>
          <p:nvPr/>
        </p:nvSpPr>
        <p:spPr bwMode="auto">
          <a:xfrm>
            <a:off x="6295084" y="4338299"/>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pic>
        <p:nvPicPr>
          <p:cNvPr id="75" name="Picture 5"/>
          <p:cNvPicPr>
            <a:picLocks noChangeAspect="1" noChangeArrowheads="1"/>
          </p:cNvPicPr>
          <p:nvPr/>
        </p:nvPicPr>
        <p:blipFill>
          <a:blip r:embed="rId6" cstate="print"/>
          <a:srcRect/>
          <a:stretch>
            <a:fillRect/>
          </a:stretch>
        </p:blipFill>
        <p:spPr bwMode="auto">
          <a:xfrm>
            <a:off x="4202017" y="4170457"/>
            <a:ext cx="1066800" cy="466726"/>
          </a:xfrm>
          <a:prstGeom prst="rect">
            <a:avLst/>
          </a:prstGeom>
          <a:noFill/>
          <a:ln w="9525">
            <a:noFill/>
            <a:miter lim="800000"/>
            <a:headEnd/>
            <a:tailEnd/>
          </a:ln>
          <a:effectLst/>
        </p:spPr>
      </p:pic>
      <p:cxnSp>
        <p:nvCxnSpPr>
          <p:cNvPr id="43" name="Straight Connector 42"/>
          <p:cNvCxnSpPr/>
          <p:nvPr/>
        </p:nvCxnSpPr>
        <p:spPr>
          <a:xfrm>
            <a:off x="4972049" y="1543050"/>
            <a:ext cx="0" cy="2697480"/>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39" name="Straight Connector 38"/>
          <p:cNvCxnSpPr/>
          <p:nvPr/>
        </p:nvCxnSpPr>
        <p:spPr>
          <a:xfrm flipH="1" flipV="1">
            <a:off x="4972050" y="4256617"/>
            <a:ext cx="2810105" cy="9524"/>
          </a:xfrm>
          <a:prstGeom prst="line">
            <a:avLst/>
          </a:prstGeom>
          <a:ln>
            <a:prstDash val="sysDash"/>
          </a:ln>
        </p:spPr>
        <p:style>
          <a:lnRef idx="2">
            <a:schemeClr val="dk1"/>
          </a:lnRef>
          <a:fillRef idx="0">
            <a:schemeClr val="dk1"/>
          </a:fillRef>
          <a:effectRef idx="1">
            <a:schemeClr val="dk1"/>
          </a:effectRef>
          <a:fontRef idx="minor">
            <a:schemeClr val="tx1"/>
          </a:fontRef>
        </p:style>
      </p:cxnSp>
      <p:pic>
        <p:nvPicPr>
          <p:cNvPr id="77" name="Picture 16"/>
          <p:cNvPicPr>
            <a:picLocks noChangeAspect="1" noChangeArrowheads="1"/>
          </p:cNvPicPr>
          <p:nvPr/>
        </p:nvPicPr>
        <p:blipFill>
          <a:blip r:embed="rId8" cstate="print"/>
          <a:srcRect/>
          <a:stretch>
            <a:fillRect/>
          </a:stretch>
        </p:blipFill>
        <p:spPr bwMode="auto">
          <a:xfrm>
            <a:off x="2460434" y="2743200"/>
            <a:ext cx="1066800" cy="691910"/>
          </a:xfrm>
          <a:prstGeom prst="rect">
            <a:avLst/>
          </a:prstGeom>
          <a:noFill/>
          <a:ln w="9525">
            <a:noFill/>
            <a:miter lim="800000"/>
            <a:headEnd/>
            <a:tailEnd/>
          </a:ln>
          <a:effectLst/>
        </p:spPr>
      </p:pic>
      <p:sp>
        <p:nvSpPr>
          <p:cNvPr id="78" name="Rectangle 1610"/>
          <p:cNvSpPr>
            <a:spLocks noChangeArrowheads="1"/>
          </p:cNvSpPr>
          <p:nvPr/>
        </p:nvSpPr>
        <p:spPr bwMode="auto">
          <a:xfrm>
            <a:off x="2791838" y="2946723"/>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cxnSp>
        <p:nvCxnSpPr>
          <p:cNvPr id="12" name="Straight Connector 11"/>
          <p:cNvCxnSpPr/>
          <p:nvPr/>
        </p:nvCxnSpPr>
        <p:spPr>
          <a:xfrm>
            <a:off x="3005137" y="1374219"/>
            <a:ext cx="0" cy="1371238"/>
          </a:xfrm>
          <a:prstGeom prst="line">
            <a:avLst/>
          </a:prstGeom>
          <a:noFill/>
          <a:ln w="38100" cap="rnd">
            <a:solidFill>
              <a:srgbClr val="000000"/>
            </a:solidFill>
            <a:prstDash val="sysDot"/>
            <a:round/>
            <a:headEnd type="none" w="lg" len="lg"/>
            <a:tailEnd type="none" w="lg" len="lg"/>
          </a:ln>
          <a:effectLst/>
        </p:spPr>
      </p:cxnSp>
      <p:sp>
        <p:nvSpPr>
          <p:cNvPr id="8" name="TextBox 7">
            <a:extLst>
              <a:ext uri="{FF2B5EF4-FFF2-40B4-BE49-F238E27FC236}">
                <a16:creationId xmlns:a16="http://schemas.microsoft.com/office/drawing/2014/main" id="{D403DD1F-9048-508A-05AC-06E5E7450DD2}"/>
              </a:ext>
            </a:extLst>
          </p:cNvPr>
          <p:cNvSpPr txBox="1"/>
          <p:nvPr/>
        </p:nvSpPr>
        <p:spPr>
          <a:xfrm>
            <a:off x="125747" y="172270"/>
            <a:ext cx="6251355" cy="830997"/>
          </a:xfrm>
          <a:prstGeom prst="rect">
            <a:avLst/>
          </a:prstGeom>
          <a:noFill/>
        </p:spPr>
        <p:txBody>
          <a:bodyPr wrap="square">
            <a:spAutoFit/>
          </a:bodyPr>
          <a:lstStyle/>
          <a:p>
            <a:pPr marL="171450" indent="-171450" algn="just">
              <a:buFont typeface="Arial" panose="020B0604020202020204" pitchFamily="34" charset="0"/>
              <a:buChar char="•"/>
            </a:pPr>
            <a:r>
              <a:rPr lang="en-GB" sz="1200" b="0" i="0" u="none" strike="noStrike" baseline="0" dirty="0">
                <a:latin typeface="Book Antiqua" panose="02040602050305030304" pitchFamily="18" charset="0"/>
              </a:rPr>
              <a:t>In the </a:t>
            </a:r>
            <a:r>
              <a:rPr lang="en-GB" sz="1200" b="0" i="1" u="none" strike="noStrike" baseline="0" dirty="0">
                <a:latin typeface="Book Antiqua" panose="02040602050305030304" pitchFamily="18" charset="0"/>
              </a:rPr>
              <a:t>NDMP 3-way </a:t>
            </a:r>
            <a:r>
              <a:rPr lang="en-GB" sz="1200" b="0" i="0" u="none" strike="noStrike" baseline="0" dirty="0">
                <a:latin typeface="Book Antiqua" panose="02040602050305030304" pitchFamily="18" charset="0"/>
              </a:rPr>
              <a:t>method, a separate private backup network must be established between all NAS heads and the NAS head connected to the backup device.</a:t>
            </a:r>
          </a:p>
          <a:p>
            <a:pPr marL="171450" indent="-171450" algn="just">
              <a:buFont typeface="Arial" panose="020B0604020202020204" pitchFamily="34" charset="0"/>
              <a:buChar char="•"/>
            </a:pPr>
            <a:r>
              <a:rPr lang="en-GB" sz="1200" b="0" i="0" u="none" strike="noStrike" baseline="0" dirty="0">
                <a:latin typeface="Book Antiqua" panose="02040602050305030304" pitchFamily="18" charset="0"/>
              </a:rPr>
              <a:t>Metadata and NDMP control data are still transferred across the public network. </a:t>
            </a:r>
          </a:p>
          <a:p>
            <a:pPr marL="171450" indent="-171450" algn="just">
              <a:buFont typeface="Arial" panose="020B0604020202020204" pitchFamily="34" charset="0"/>
              <a:buChar char="•"/>
            </a:pPr>
            <a:r>
              <a:rPr lang="en-GB" sz="1200" b="0" i="0" u="none" strike="noStrike" baseline="0" dirty="0">
                <a:latin typeface="Book Antiqua" panose="02040602050305030304" pitchFamily="18" charset="0"/>
              </a:rPr>
              <a:t>Figure 10-14 shows a NDMP 3-way backup.</a:t>
            </a:r>
            <a:endParaRPr lang="en-IN" sz="1200" dirty="0">
              <a:latin typeface="Book Antiqua" panose="02040602050305030304" pitchFamily="18" charset="0"/>
            </a:endParaRPr>
          </a:p>
        </p:txBody>
      </p:sp>
      <p:sp>
        <p:nvSpPr>
          <p:cNvPr id="11" name="TextBox 10">
            <a:extLst>
              <a:ext uri="{FF2B5EF4-FFF2-40B4-BE49-F238E27FC236}">
                <a16:creationId xmlns:a16="http://schemas.microsoft.com/office/drawing/2014/main" id="{2FBC9053-9E2C-579B-E513-F085341B727F}"/>
              </a:ext>
            </a:extLst>
          </p:cNvPr>
          <p:cNvSpPr txBox="1"/>
          <p:nvPr/>
        </p:nvSpPr>
        <p:spPr>
          <a:xfrm>
            <a:off x="1989019" y="5460089"/>
            <a:ext cx="5945869" cy="600164"/>
          </a:xfrm>
          <a:prstGeom prst="rect">
            <a:avLst/>
          </a:prstGeom>
          <a:noFill/>
        </p:spPr>
        <p:txBody>
          <a:bodyPr wrap="square">
            <a:spAutoFit/>
          </a:bodyPr>
          <a:lstStyle/>
          <a:p>
            <a:pPr marL="171450" indent="-171450" algn="just">
              <a:buFont typeface="Arial" panose="020B0604020202020204" pitchFamily="34" charset="0"/>
              <a:buChar char="•"/>
            </a:pPr>
            <a:r>
              <a:rPr lang="en-GB" sz="1100" dirty="0">
                <a:latin typeface="Book Antiqua" panose="02040602050305030304" pitchFamily="18" charset="0"/>
              </a:rPr>
              <a:t>An NDMP 3-way is useful when backup devices need to be shared among NAS heads.</a:t>
            </a:r>
          </a:p>
          <a:p>
            <a:pPr marL="171450" indent="-171450" algn="just">
              <a:buFont typeface="Arial" panose="020B0604020202020204" pitchFamily="34" charset="0"/>
              <a:buChar char="•"/>
            </a:pPr>
            <a:r>
              <a:rPr lang="en-GB" sz="1100" dirty="0">
                <a:latin typeface="Book Antiqua" panose="02040602050305030304" pitchFamily="18" charset="0"/>
              </a:rPr>
              <a:t>It enables the NAS head to control the backup device and share it with other NAS heads by receiving the backup data through </a:t>
            </a:r>
            <a:r>
              <a:rPr lang="en-IN" sz="1100" dirty="0">
                <a:latin typeface="Book Antiqua" panose="02040602050305030304" pitchFamily="18" charset="0"/>
              </a:rPr>
              <a:t>the NDMP.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066800" y="2429933"/>
            <a:ext cx="7086600" cy="2667000"/>
          </a:xfrm>
        </p:spPr>
        <p:txBody>
          <a:bodyPr>
            <a:normAutofit/>
          </a:bodyPr>
          <a:lstStyle/>
          <a:p>
            <a:pPr lvl="1" indent="-223838" algn="l">
              <a:buClr>
                <a:srgbClr val="92D050"/>
              </a:buClr>
              <a:buSzPct val="110000"/>
              <a:buFont typeface="Arial" pitchFamily="34" charset="0"/>
              <a:buChar char="•"/>
              <a:defRPr/>
            </a:pPr>
            <a:r>
              <a:rPr lang="en-US" sz="1500" dirty="0">
                <a:solidFill>
                  <a:schemeClr val="tx1"/>
                </a:solidFill>
                <a:latin typeface="Book Antiqua" panose="02040602050305030304" pitchFamily="18" charset="0"/>
              </a:rPr>
              <a:t>Backup to Tape</a:t>
            </a:r>
          </a:p>
          <a:p>
            <a:pPr lvl="1" indent="-223838" algn="l">
              <a:buClr>
                <a:srgbClr val="92D050"/>
              </a:buClr>
              <a:buSzPct val="110000"/>
              <a:buFont typeface="Arial" pitchFamily="34" charset="0"/>
              <a:buChar char="•"/>
              <a:defRPr/>
            </a:pPr>
            <a:r>
              <a:rPr lang="en-US" sz="1500" dirty="0">
                <a:solidFill>
                  <a:schemeClr val="tx1"/>
                </a:solidFill>
                <a:latin typeface="Book Antiqua" panose="02040602050305030304" pitchFamily="18" charset="0"/>
              </a:rPr>
              <a:t>Backup to Disk</a:t>
            </a:r>
          </a:p>
          <a:p>
            <a:pPr lvl="1" indent="-223838" algn="l">
              <a:buClr>
                <a:srgbClr val="92D050"/>
              </a:buClr>
              <a:buSzPct val="110000"/>
              <a:buFont typeface="Arial" pitchFamily="34" charset="0"/>
              <a:buChar char="•"/>
              <a:defRPr/>
            </a:pPr>
            <a:r>
              <a:rPr lang="en-US" sz="1500" dirty="0">
                <a:solidFill>
                  <a:schemeClr val="tx1"/>
                </a:solidFill>
                <a:latin typeface="Book Antiqua" panose="02040602050305030304" pitchFamily="18" charset="0"/>
              </a:rPr>
              <a:t>Backup to Virtual Tape</a:t>
            </a:r>
          </a:p>
          <a:p>
            <a:pPr lvl="1" indent="-223838" algn="l">
              <a:buClr>
                <a:srgbClr val="92D050"/>
              </a:buClr>
              <a:buSzPct val="110000"/>
              <a:defRPr/>
            </a:pPr>
            <a:endParaRPr lang="en-US" sz="1500" dirty="0">
              <a:solidFill>
                <a:schemeClr val="tx1"/>
              </a:solidFill>
              <a:latin typeface="Book Antiqua" panose="02040602050305030304" pitchFamily="18" charset="0"/>
            </a:endParaRPr>
          </a:p>
          <a:p>
            <a:pPr lvl="2" indent="-223838" algn="l">
              <a:buClr>
                <a:srgbClr val="92D050"/>
              </a:buClr>
              <a:buSzPct val="110000"/>
              <a:defRPr/>
            </a:pPr>
            <a:r>
              <a:rPr lang="en-US" sz="1500" dirty="0">
                <a:solidFill>
                  <a:schemeClr val="tx1"/>
                </a:solidFill>
                <a:latin typeface="Book Antiqua" panose="02040602050305030304" pitchFamily="18" charset="0"/>
              </a:rPr>
              <a:t> </a:t>
            </a:r>
          </a:p>
          <a:p>
            <a:pPr lvl="1" indent="-223838" algn="l">
              <a:buClr>
                <a:srgbClr val="92D050"/>
              </a:buClr>
              <a:buSzPct val="110000"/>
              <a:defRPr/>
            </a:pPr>
            <a:endParaRPr lang="en-US" sz="1500" dirty="0">
              <a:solidFill>
                <a:schemeClr val="tx1"/>
              </a:solidFill>
              <a:latin typeface="Book Antiqua" panose="02040602050305030304" pitchFamily="18" charset="0"/>
            </a:endParaRPr>
          </a:p>
          <a:p>
            <a:pPr lvl="1" indent="-223838" algn="l">
              <a:buClr>
                <a:srgbClr val="92D050"/>
              </a:buClr>
              <a:buSzPct val="110000"/>
              <a:buFont typeface="Arial" pitchFamily="34" charset="0"/>
              <a:buChar char="•"/>
              <a:defRPr/>
            </a:pPr>
            <a:endParaRPr lang="en-US" sz="1500" dirty="0">
              <a:solidFill>
                <a:schemeClr val="tx1"/>
              </a:solidFill>
              <a:latin typeface="Book Antiqua" panose="02040602050305030304" pitchFamily="18" charset="0"/>
            </a:endParaRPr>
          </a:p>
        </p:txBody>
      </p:sp>
      <p:sp>
        <p:nvSpPr>
          <p:cNvPr id="23556" name="Content Placeholder 7"/>
          <p:cNvSpPr>
            <a:spLocks noGrp="1"/>
          </p:cNvSpPr>
          <p:nvPr>
            <p:ph sz="quarter" idx="13"/>
          </p:nvPr>
        </p:nvSpPr>
        <p:spPr/>
        <p:txBody>
          <a:bodyPr/>
          <a:lstStyle/>
          <a:p>
            <a:r>
              <a:rPr lang="en-US" sz="2100" dirty="0">
                <a:solidFill>
                  <a:srgbClr val="C00000"/>
                </a:solidFill>
              </a:rPr>
              <a:t>Backup Targets</a:t>
            </a:r>
          </a:p>
        </p:txBody>
      </p:sp>
      <p:sp>
        <p:nvSpPr>
          <p:cNvPr id="9" name="Footer Placeholder 8"/>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1" name="Slide Number Placeholder 10"/>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sz="2100" dirty="0">
                <a:solidFill>
                  <a:srgbClr val="C00000"/>
                </a:solidFill>
                <a:latin typeface="Book Antiqua" panose="02040602050305030304" pitchFamily="18" charset="0"/>
              </a:rPr>
              <a:t>Backup to Tape</a:t>
            </a:r>
          </a:p>
        </p:txBody>
      </p:sp>
      <p:sp>
        <p:nvSpPr>
          <p:cNvPr id="8" name="Content Placeholder 7"/>
          <p:cNvSpPr>
            <a:spLocks noGrp="1"/>
          </p:cNvSpPr>
          <p:nvPr>
            <p:ph idx="1"/>
          </p:nvPr>
        </p:nvSpPr>
        <p:spPr/>
        <p:txBody>
          <a:bodyPr/>
          <a:lstStyle/>
          <a:p>
            <a:r>
              <a:rPr lang="en-US" sz="1700" dirty="0">
                <a:solidFill>
                  <a:schemeClr val="tx1"/>
                </a:solidFill>
                <a:latin typeface="Book Antiqua" panose="02040602050305030304" pitchFamily="18" charset="0"/>
              </a:rPr>
              <a:t>Traditionally low-cost solution</a:t>
            </a:r>
          </a:p>
          <a:p>
            <a:r>
              <a:rPr lang="en-US" sz="1700" dirty="0">
                <a:solidFill>
                  <a:schemeClr val="tx1"/>
                </a:solidFill>
                <a:latin typeface="Book Antiqua" panose="02040602050305030304" pitchFamily="18" charset="0"/>
              </a:rPr>
              <a:t>Tape drives are used to read/write data from/to a tape</a:t>
            </a:r>
          </a:p>
          <a:p>
            <a:r>
              <a:rPr lang="en-US" sz="1700" dirty="0">
                <a:solidFill>
                  <a:schemeClr val="tx1"/>
                </a:solidFill>
                <a:latin typeface="Book Antiqua" panose="02040602050305030304" pitchFamily="18" charset="0"/>
              </a:rPr>
              <a:t>Sequential/linear access</a:t>
            </a:r>
          </a:p>
          <a:p>
            <a:pPr marL="231775" lvl="2" indent="-231775">
              <a:buClr>
                <a:srgbClr val="92D050"/>
              </a:buClr>
              <a:buSzPct val="120000"/>
              <a:buFont typeface="Arial" charset="0"/>
              <a:buChar char="•"/>
            </a:pPr>
            <a:r>
              <a:rPr lang="en-US" sz="1700" dirty="0">
                <a:solidFill>
                  <a:schemeClr val="tx1"/>
                </a:solidFill>
                <a:latin typeface="Book Antiqua" panose="02040602050305030304" pitchFamily="18" charset="0"/>
              </a:rPr>
              <a:t>Multiple streaming to improve media performance</a:t>
            </a:r>
          </a:p>
          <a:p>
            <a:pPr lvl="1"/>
            <a:r>
              <a:rPr lang="en-US" sz="1700" dirty="0">
                <a:solidFill>
                  <a:schemeClr val="tx1"/>
                </a:solidFill>
                <a:latin typeface="Book Antiqua" panose="02040602050305030304" pitchFamily="18" charset="0"/>
              </a:rPr>
              <a:t>Writes data from multiple streams on a single tape</a:t>
            </a:r>
          </a:p>
          <a:p>
            <a:r>
              <a:rPr lang="en-US" sz="1700" dirty="0">
                <a:solidFill>
                  <a:schemeClr val="tx1"/>
                </a:solidFill>
                <a:latin typeface="Book Antiqua" panose="02040602050305030304" pitchFamily="18" charset="0"/>
              </a:rPr>
              <a:t>Limitation of tape</a:t>
            </a:r>
          </a:p>
          <a:p>
            <a:pPr lvl="1"/>
            <a:r>
              <a:rPr lang="en-US" sz="1700" dirty="0">
                <a:solidFill>
                  <a:schemeClr val="tx1"/>
                </a:solidFill>
                <a:latin typeface="Book Antiqua" panose="02040602050305030304" pitchFamily="18" charset="0"/>
              </a:rPr>
              <a:t>Backup and recovery operations are slow due to sequential access</a:t>
            </a:r>
          </a:p>
          <a:p>
            <a:pPr lvl="1"/>
            <a:r>
              <a:rPr lang="en-US" sz="1700" dirty="0">
                <a:solidFill>
                  <a:schemeClr val="tx1"/>
                </a:solidFill>
                <a:latin typeface="Book Antiqua" panose="02040602050305030304" pitchFamily="18" charset="0"/>
              </a:rPr>
              <a:t>Wear and tear of tape</a:t>
            </a:r>
          </a:p>
          <a:p>
            <a:pPr lvl="1"/>
            <a:r>
              <a:rPr lang="en-US" sz="1700" dirty="0">
                <a:solidFill>
                  <a:schemeClr val="tx1"/>
                </a:solidFill>
                <a:latin typeface="Book Antiqua" panose="02040602050305030304" pitchFamily="18" charset="0"/>
              </a:rPr>
              <a:t>Shipping/handling challenges</a:t>
            </a:r>
          </a:p>
          <a:p>
            <a:pPr lvl="1"/>
            <a:r>
              <a:rPr lang="en-US" sz="1700" dirty="0">
                <a:solidFill>
                  <a:schemeClr val="tx1"/>
                </a:solidFill>
                <a:latin typeface="Book Antiqua" panose="02040602050305030304" pitchFamily="18" charset="0"/>
              </a:rPr>
              <a:t>Controlled environment is required for tape storage</a:t>
            </a:r>
          </a:p>
          <a:p>
            <a:pPr lvl="1"/>
            <a:r>
              <a:rPr lang="en-US" sz="1700" dirty="0">
                <a:solidFill>
                  <a:schemeClr val="tx1"/>
                </a:solidFill>
                <a:latin typeface="Book Antiqua" panose="02040602050305030304" pitchFamily="18" charset="0"/>
              </a:rPr>
              <a:t>Causes “shoe shining effect” or “backhitching”</a:t>
            </a:r>
          </a:p>
        </p:txBody>
      </p:sp>
      <p:sp>
        <p:nvSpPr>
          <p:cNvPr id="5"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100" dirty="0">
                <a:solidFill>
                  <a:srgbClr val="C00000"/>
                </a:solidFill>
                <a:latin typeface="Book Antiqua" panose="02040602050305030304" pitchFamily="18" charset="0"/>
              </a:rPr>
              <a:t>Backup to Disk</a:t>
            </a:r>
          </a:p>
        </p:txBody>
      </p:sp>
      <p:sp>
        <p:nvSpPr>
          <p:cNvPr id="7" name="Content Placeholder 6"/>
          <p:cNvSpPr>
            <a:spLocks noGrp="1"/>
          </p:cNvSpPr>
          <p:nvPr>
            <p:ph idx="1"/>
          </p:nvPr>
        </p:nvSpPr>
        <p:spPr/>
        <p:txBody>
          <a:bodyPr/>
          <a:lstStyle/>
          <a:p>
            <a:r>
              <a:rPr lang="en-US" sz="1700" dirty="0">
                <a:solidFill>
                  <a:schemeClr val="tx1"/>
                </a:solidFill>
                <a:latin typeface="Book Antiqua" panose="02040602050305030304" pitchFamily="18" charset="0"/>
              </a:rPr>
              <a:t>Enhanced overall backup and recovery performance</a:t>
            </a:r>
          </a:p>
          <a:p>
            <a:pPr lvl="1"/>
            <a:r>
              <a:rPr lang="en-US" sz="1700" dirty="0">
                <a:solidFill>
                  <a:schemeClr val="tx1"/>
                </a:solidFill>
                <a:latin typeface="Book Antiqua" panose="02040602050305030304" pitchFamily="18" charset="0"/>
              </a:rPr>
              <a:t>Random access</a:t>
            </a:r>
          </a:p>
          <a:p>
            <a:r>
              <a:rPr lang="en-US" sz="1700" dirty="0">
                <a:solidFill>
                  <a:schemeClr val="tx1"/>
                </a:solidFill>
                <a:latin typeface="Book Antiqua" panose="02040602050305030304" pitchFamily="18" charset="0"/>
              </a:rPr>
              <a:t>More reliable</a:t>
            </a:r>
          </a:p>
          <a:p>
            <a:r>
              <a:rPr lang="en-US" sz="1700" dirty="0">
                <a:solidFill>
                  <a:schemeClr val="tx1"/>
                </a:solidFill>
                <a:latin typeface="Book Antiqua" panose="02040602050305030304" pitchFamily="18" charset="0"/>
              </a:rPr>
              <a:t>Can be accessed by multiple hosts simultaneously</a:t>
            </a:r>
          </a:p>
          <a:p>
            <a:pPr>
              <a:buNone/>
            </a:pPr>
            <a:endParaRPr lang="en-US" sz="1700" dirty="0">
              <a:solidFill>
                <a:schemeClr val="tx1"/>
              </a:solidFill>
              <a:latin typeface="Book Antiqua" panose="02040602050305030304" pitchFamily="18" charset="0"/>
            </a:endParaRPr>
          </a:p>
        </p:txBody>
      </p:sp>
      <p:sp>
        <p:nvSpPr>
          <p:cNvPr id="5"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9" name="Text Box 4"/>
          <p:cNvSpPr txBox="1">
            <a:spLocks noChangeArrowheads="1"/>
          </p:cNvSpPr>
          <p:nvPr/>
        </p:nvSpPr>
        <p:spPr bwMode="gray">
          <a:xfrm>
            <a:off x="185451" y="5888995"/>
            <a:ext cx="1923604" cy="130805"/>
          </a:xfrm>
          <a:prstGeom prst="rect">
            <a:avLst/>
          </a:prstGeom>
          <a:noFill/>
          <a:ln w="9525">
            <a:noFill/>
            <a:miter lim="800000"/>
            <a:headEnd/>
            <a:tailEnd/>
          </a:ln>
          <a:effectLst/>
        </p:spPr>
        <p:txBody>
          <a:bodyPr wrap="none" lIns="0" tIns="0" rIns="0" bIns="0">
            <a:spAutoFit/>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EMC Engineering and EMC IT</a:t>
            </a:r>
          </a:p>
        </p:txBody>
      </p:sp>
      <p:sp>
        <p:nvSpPr>
          <p:cNvPr id="11" name="Line 7"/>
          <p:cNvSpPr>
            <a:spLocks noChangeShapeType="1"/>
          </p:cNvSpPr>
          <p:nvPr/>
        </p:nvSpPr>
        <p:spPr bwMode="auto">
          <a:xfrm>
            <a:off x="1915826" y="5010031"/>
            <a:ext cx="0" cy="114300"/>
          </a:xfrm>
          <a:prstGeom prst="line">
            <a:avLst/>
          </a:prstGeom>
          <a:noFill/>
          <a:ln w="28575">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Line 8"/>
          <p:cNvSpPr>
            <a:spLocks noChangeShapeType="1"/>
          </p:cNvSpPr>
          <p:nvPr/>
        </p:nvSpPr>
        <p:spPr bwMode="auto">
          <a:xfrm>
            <a:off x="2430176"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Line 9"/>
          <p:cNvSpPr>
            <a:spLocks noChangeShapeType="1"/>
          </p:cNvSpPr>
          <p:nvPr/>
        </p:nvSpPr>
        <p:spPr bwMode="auto">
          <a:xfrm>
            <a:off x="2946114"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 name="Line 10"/>
          <p:cNvSpPr>
            <a:spLocks noChangeShapeType="1"/>
          </p:cNvSpPr>
          <p:nvPr/>
        </p:nvSpPr>
        <p:spPr bwMode="auto">
          <a:xfrm>
            <a:off x="3460464"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Line 11"/>
          <p:cNvSpPr>
            <a:spLocks noChangeShapeType="1"/>
          </p:cNvSpPr>
          <p:nvPr/>
        </p:nvSpPr>
        <p:spPr bwMode="auto">
          <a:xfrm>
            <a:off x="3976401"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 name="Line 12"/>
          <p:cNvSpPr>
            <a:spLocks noChangeShapeType="1"/>
          </p:cNvSpPr>
          <p:nvPr/>
        </p:nvSpPr>
        <p:spPr bwMode="auto">
          <a:xfrm>
            <a:off x="4490751"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Line 13"/>
          <p:cNvSpPr>
            <a:spLocks noChangeShapeType="1"/>
          </p:cNvSpPr>
          <p:nvPr/>
        </p:nvSpPr>
        <p:spPr bwMode="auto">
          <a:xfrm>
            <a:off x="5006689" y="5010031"/>
            <a:ext cx="0" cy="114300"/>
          </a:xfrm>
          <a:prstGeom prst="line">
            <a:avLst/>
          </a:prstGeom>
          <a:noFill/>
          <a:ln w="28575">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Line 14"/>
          <p:cNvSpPr>
            <a:spLocks noChangeShapeType="1"/>
          </p:cNvSpPr>
          <p:nvPr/>
        </p:nvSpPr>
        <p:spPr bwMode="auto">
          <a:xfrm>
            <a:off x="5522626"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9" name="Line 15"/>
          <p:cNvSpPr>
            <a:spLocks noChangeShapeType="1"/>
          </p:cNvSpPr>
          <p:nvPr/>
        </p:nvSpPr>
        <p:spPr bwMode="auto">
          <a:xfrm>
            <a:off x="6036976"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 name="Line 16"/>
          <p:cNvSpPr>
            <a:spLocks noChangeShapeType="1"/>
          </p:cNvSpPr>
          <p:nvPr/>
        </p:nvSpPr>
        <p:spPr bwMode="auto">
          <a:xfrm>
            <a:off x="6552914"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 name="Line 17"/>
          <p:cNvSpPr>
            <a:spLocks noChangeShapeType="1"/>
          </p:cNvSpPr>
          <p:nvPr/>
        </p:nvSpPr>
        <p:spPr bwMode="auto">
          <a:xfrm>
            <a:off x="7067264"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 name="Line 18"/>
          <p:cNvSpPr>
            <a:spLocks noChangeShapeType="1"/>
          </p:cNvSpPr>
          <p:nvPr/>
        </p:nvSpPr>
        <p:spPr bwMode="auto">
          <a:xfrm>
            <a:off x="7583201" y="5010031"/>
            <a:ext cx="0" cy="114300"/>
          </a:xfrm>
          <a:prstGeom prst="line">
            <a:avLst/>
          </a:prstGeom>
          <a:noFill/>
          <a:ln w="12700">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3" name="Line 19"/>
          <p:cNvSpPr>
            <a:spLocks noChangeShapeType="1"/>
          </p:cNvSpPr>
          <p:nvPr/>
        </p:nvSpPr>
        <p:spPr bwMode="auto">
          <a:xfrm>
            <a:off x="8099139" y="5010031"/>
            <a:ext cx="0" cy="114300"/>
          </a:xfrm>
          <a:prstGeom prst="line">
            <a:avLst/>
          </a:prstGeom>
          <a:noFill/>
          <a:ln w="28575">
            <a:solidFill>
              <a:srgbClr val="000000"/>
            </a:solidFill>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4" name="Text Box 20"/>
          <p:cNvSpPr txBox="1">
            <a:spLocks noChangeArrowheads="1"/>
          </p:cNvSpPr>
          <p:nvPr/>
        </p:nvSpPr>
        <p:spPr bwMode="auto">
          <a:xfrm>
            <a:off x="1857089" y="5130681"/>
            <a:ext cx="104196"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0</a:t>
            </a:r>
          </a:p>
        </p:txBody>
      </p:sp>
      <p:sp>
        <p:nvSpPr>
          <p:cNvPr id="25" name="Text Box 21"/>
          <p:cNvSpPr txBox="1">
            <a:spLocks noChangeArrowheads="1"/>
          </p:cNvSpPr>
          <p:nvPr/>
        </p:nvSpPr>
        <p:spPr bwMode="auto">
          <a:xfrm>
            <a:off x="2315876"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10</a:t>
            </a:r>
          </a:p>
        </p:txBody>
      </p:sp>
      <p:sp>
        <p:nvSpPr>
          <p:cNvPr id="26" name="Text Box 22"/>
          <p:cNvSpPr txBox="1">
            <a:spLocks noChangeArrowheads="1"/>
          </p:cNvSpPr>
          <p:nvPr/>
        </p:nvSpPr>
        <p:spPr bwMode="auto">
          <a:xfrm>
            <a:off x="2830226"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20</a:t>
            </a:r>
          </a:p>
        </p:txBody>
      </p:sp>
      <p:sp>
        <p:nvSpPr>
          <p:cNvPr id="27" name="Text Box 23"/>
          <p:cNvSpPr txBox="1">
            <a:spLocks noChangeArrowheads="1"/>
          </p:cNvSpPr>
          <p:nvPr/>
        </p:nvSpPr>
        <p:spPr bwMode="auto">
          <a:xfrm>
            <a:off x="3346164"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30</a:t>
            </a:r>
          </a:p>
        </p:txBody>
      </p:sp>
      <p:sp>
        <p:nvSpPr>
          <p:cNvPr id="28" name="Text Box 24"/>
          <p:cNvSpPr txBox="1">
            <a:spLocks noChangeArrowheads="1"/>
          </p:cNvSpPr>
          <p:nvPr/>
        </p:nvSpPr>
        <p:spPr bwMode="auto">
          <a:xfrm>
            <a:off x="3860514"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40</a:t>
            </a:r>
          </a:p>
        </p:txBody>
      </p:sp>
      <p:sp>
        <p:nvSpPr>
          <p:cNvPr id="29" name="Text Box 25"/>
          <p:cNvSpPr txBox="1">
            <a:spLocks noChangeArrowheads="1"/>
          </p:cNvSpPr>
          <p:nvPr/>
        </p:nvSpPr>
        <p:spPr bwMode="auto">
          <a:xfrm>
            <a:off x="4376451"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50</a:t>
            </a:r>
          </a:p>
        </p:txBody>
      </p:sp>
      <p:sp>
        <p:nvSpPr>
          <p:cNvPr id="30" name="Text Box 26"/>
          <p:cNvSpPr txBox="1">
            <a:spLocks noChangeArrowheads="1"/>
          </p:cNvSpPr>
          <p:nvPr/>
        </p:nvSpPr>
        <p:spPr bwMode="auto">
          <a:xfrm>
            <a:off x="4890801"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60</a:t>
            </a:r>
          </a:p>
        </p:txBody>
      </p:sp>
      <p:sp>
        <p:nvSpPr>
          <p:cNvPr id="31" name="Text Box 27"/>
          <p:cNvSpPr txBox="1">
            <a:spLocks noChangeArrowheads="1"/>
          </p:cNvSpPr>
          <p:nvPr/>
        </p:nvSpPr>
        <p:spPr bwMode="auto">
          <a:xfrm>
            <a:off x="5405151"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70</a:t>
            </a:r>
          </a:p>
        </p:txBody>
      </p:sp>
      <p:sp>
        <p:nvSpPr>
          <p:cNvPr id="32" name="Text Box 28"/>
          <p:cNvSpPr txBox="1">
            <a:spLocks noChangeArrowheads="1"/>
          </p:cNvSpPr>
          <p:nvPr/>
        </p:nvSpPr>
        <p:spPr bwMode="auto">
          <a:xfrm>
            <a:off x="5921089"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80</a:t>
            </a:r>
          </a:p>
        </p:txBody>
      </p:sp>
      <p:sp>
        <p:nvSpPr>
          <p:cNvPr id="33" name="Text Box 29"/>
          <p:cNvSpPr txBox="1">
            <a:spLocks noChangeArrowheads="1"/>
          </p:cNvSpPr>
          <p:nvPr/>
        </p:nvSpPr>
        <p:spPr bwMode="auto">
          <a:xfrm>
            <a:off x="6435439" y="5130681"/>
            <a:ext cx="208390"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90</a:t>
            </a:r>
          </a:p>
        </p:txBody>
      </p:sp>
      <p:sp>
        <p:nvSpPr>
          <p:cNvPr id="34" name="Text Box 30"/>
          <p:cNvSpPr txBox="1">
            <a:spLocks noChangeArrowheads="1"/>
          </p:cNvSpPr>
          <p:nvPr/>
        </p:nvSpPr>
        <p:spPr bwMode="auto">
          <a:xfrm>
            <a:off x="6895814" y="5130681"/>
            <a:ext cx="312586"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100</a:t>
            </a:r>
          </a:p>
        </p:txBody>
      </p:sp>
      <p:sp>
        <p:nvSpPr>
          <p:cNvPr id="35" name="Text Box 31"/>
          <p:cNvSpPr txBox="1">
            <a:spLocks noChangeArrowheads="1"/>
          </p:cNvSpPr>
          <p:nvPr/>
        </p:nvSpPr>
        <p:spPr bwMode="auto">
          <a:xfrm>
            <a:off x="7926101" y="5130681"/>
            <a:ext cx="312586"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120</a:t>
            </a:r>
          </a:p>
        </p:txBody>
      </p:sp>
      <p:sp>
        <p:nvSpPr>
          <p:cNvPr id="36" name="Text Box 32"/>
          <p:cNvSpPr txBox="1">
            <a:spLocks noChangeArrowheads="1"/>
          </p:cNvSpPr>
          <p:nvPr/>
        </p:nvSpPr>
        <p:spPr bwMode="auto">
          <a:xfrm>
            <a:off x="7410164" y="5130681"/>
            <a:ext cx="312586" cy="2215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Calibri" pitchFamily="34" charset="0"/>
                <a:ea typeface="+mn-ea"/>
                <a:cs typeface="Calibri" pitchFamily="34" charset="0"/>
              </a:rPr>
              <a:t>110</a:t>
            </a:r>
          </a:p>
        </p:txBody>
      </p:sp>
      <p:sp>
        <p:nvSpPr>
          <p:cNvPr id="37" name="Text Box 33"/>
          <p:cNvSpPr txBox="1">
            <a:spLocks noChangeArrowheads="1"/>
          </p:cNvSpPr>
          <p:nvPr/>
        </p:nvSpPr>
        <p:spPr bwMode="auto">
          <a:xfrm>
            <a:off x="3821500" y="5445657"/>
            <a:ext cx="2589299" cy="249299"/>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Recovery Time in Minutes*</a:t>
            </a:r>
          </a:p>
        </p:txBody>
      </p:sp>
      <p:sp>
        <p:nvSpPr>
          <p:cNvPr id="38" name="Text Box 34"/>
          <p:cNvSpPr txBox="1">
            <a:spLocks noChangeArrowheads="1"/>
          </p:cNvSpPr>
          <p:nvPr/>
        </p:nvSpPr>
        <p:spPr bwMode="auto">
          <a:xfrm>
            <a:off x="261651" y="4271844"/>
            <a:ext cx="1208664" cy="360548"/>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Book Antiqua" panose="02040602050305030304" pitchFamily="18" charset="0"/>
                <a:cs typeface="Calibri" pitchFamily="34" charset="0"/>
              </a:rPr>
              <a:t>Tape</a:t>
            </a:r>
            <a:br>
              <a:rPr kumimoji="0" lang="en-US" sz="1300" b="1" i="0" u="none" strike="noStrike" kern="1200" cap="none" spc="0" normalizeH="0" baseline="0" noProof="0" dirty="0">
                <a:ln>
                  <a:noFill/>
                </a:ln>
                <a:solidFill>
                  <a:srgbClr val="000000"/>
                </a:solidFill>
                <a:effectLst/>
                <a:uLnTx/>
                <a:uFillTx/>
                <a:latin typeface="Book Antiqua" panose="02040602050305030304" pitchFamily="18" charset="0"/>
                <a:cs typeface="Calibri" pitchFamily="34" charset="0"/>
              </a:rPr>
            </a:br>
            <a:r>
              <a:rPr kumimoji="0" lang="en-US" sz="1300" b="0" i="0" u="none" strike="noStrike" kern="1200" cap="none" spc="0" normalizeH="0" baseline="0" noProof="0" dirty="0">
                <a:ln>
                  <a:noFill/>
                </a:ln>
                <a:solidFill>
                  <a:srgbClr val="000000"/>
                </a:solidFill>
                <a:effectLst/>
                <a:uLnTx/>
                <a:uFillTx/>
                <a:latin typeface="Book Antiqua" panose="02040602050305030304" pitchFamily="18" charset="0"/>
                <a:cs typeface="Calibri" pitchFamily="34" charset="0"/>
              </a:rPr>
              <a:t>Backup/Restore</a:t>
            </a:r>
          </a:p>
        </p:txBody>
      </p:sp>
      <p:sp>
        <p:nvSpPr>
          <p:cNvPr id="39" name="Text Box 35"/>
          <p:cNvSpPr txBox="1">
            <a:spLocks noChangeArrowheads="1"/>
          </p:cNvSpPr>
          <p:nvPr/>
        </p:nvSpPr>
        <p:spPr bwMode="auto">
          <a:xfrm>
            <a:off x="261651" y="3405069"/>
            <a:ext cx="1208664" cy="360548"/>
          </a:xfrm>
          <a:prstGeom prst="rect">
            <a:avLst/>
          </a:prstGeom>
          <a:noFill/>
          <a:ln w="25400" algn="ctr">
            <a:noFill/>
            <a:miter lim="800000"/>
            <a:headEnd/>
            <a:tailEn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Book Antiqua" panose="02040602050305030304" pitchFamily="18" charset="0"/>
                <a:cs typeface="Calibri" pitchFamily="34" charset="0"/>
              </a:rPr>
              <a:t>Disk</a:t>
            </a:r>
            <a:br>
              <a:rPr kumimoji="0" lang="en-US" sz="1300" b="1" i="0" u="none" strike="noStrike" kern="1200" cap="none" spc="0" normalizeH="0" baseline="0" noProof="0" dirty="0">
                <a:ln>
                  <a:noFill/>
                </a:ln>
                <a:solidFill>
                  <a:srgbClr val="000000"/>
                </a:solidFill>
                <a:effectLst/>
                <a:uLnTx/>
                <a:uFillTx/>
                <a:latin typeface="Book Antiqua" panose="02040602050305030304" pitchFamily="18" charset="0"/>
                <a:cs typeface="Calibri" pitchFamily="34" charset="0"/>
              </a:rPr>
            </a:br>
            <a:r>
              <a:rPr kumimoji="0" lang="en-US" sz="1300" b="0" i="0" u="none" strike="noStrike" kern="1200" cap="none" spc="0" normalizeH="0" baseline="0" noProof="0" dirty="0">
                <a:ln>
                  <a:noFill/>
                </a:ln>
                <a:solidFill>
                  <a:srgbClr val="000000"/>
                </a:solidFill>
                <a:effectLst/>
                <a:uLnTx/>
                <a:uFillTx/>
                <a:latin typeface="Book Antiqua" panose="02040602050305030304" pitchFamily="18" charset="0"/>
                <a:cs typeface="Calibri" pitchFamily="34" charset="0"/>
              </a:rPr>
              <a:t>Backup/Restore</a:t>
            </a:r>
          </a:p>
        </p:txBody>
      </p:sp>
      <p:sp>
        <p:nvSpPr>
          <p:cNvPr id="40" name="Rectangle 36"/>
          <p:cNvSpPr>
            <a:spLocks noChangeArrowheads="1"/>
          </p:cNvSpPr>
          <p:nvPr/>
        </p:nvSpPr>
        <p:spPr bwMode="auto">
          <a:xfrm>
            <a:off x="1906301" y="4190881"/>
            <a:ext cx="5572125" cy="628650"/>
          </a:xfrm>
          <a:prstGeom prst="rect">
            <a:avLst/>
          </a:prstGeom>
          <a:gradFill rotWithShape="1">
            <a:gsLst>
              <a:gs pos="0">
                <a:srgbClr val="00B496">
                  <a:gamma/>
                  <a:shade val="56078"/>
                  <a:invGamma/>
                </a:srgbClr>
              </a:gs>
              <a:gs pos="100000">
                <a:srgbClr val="00B496"/>
              </a:gs>
            </a:gsLst>
            <a:lin ang="0" scaled="1"/>
          </a:gra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1" name="Rectangle 37"/>
          <p:cNvSpPr>
            <a:spLocks noChangeArrowheads="1"/>
          </p:cNvSpPr>
          <p:nvPr/>
        </p:nvSpPr>
        <p:spPr bwMode="auto">
          <a:xfrm>
            <a:off x="1906301" y="3324106"/>
            <a:ext cx="1238250" cy="628650"/>
          </a:xfrm>
          <a:prstGeom prst="rect">
            <a:avLst/>
          </a:prstGeom>
          <a:gradFill rotWithShape="1">
            <a:gsLst>
              <a:gs pos="0">
                <a:srgbClr val="00B496">
                  <a:gamma/>
                  <a:shade val="56078"/>
                  <a:invGamma/>
                </a:srgbClr>
              </a:gs>
              <a:gs pos="100000">
                <a:srgbClr val="00B496"/>
              </a:gs>
            </a:gsLst>
            <a:lin ang="0" scaled="1"/>
          </a:gradFill>
          <a:ln w="1270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2" name="Freeform 38"/>
          <p:cNvSpPr>
            <a:spLocks/>
          </p:cNvSpPr>
          <p:nvPr/>
        </p:nvSpPr>
        <p:spPr bwMode="auto">
          <a:xfrm>
            <a:off x="1915826" y="3228856"/>
            <a:ext cx="6191250" cy="1781175"/>
          </a:xfrm>
          <a:custGeom>
            <a:avLst/>
            <a:gdLst/>
            <a:ahLst/>
            <a:cxnLst>
              <a:cxn ang="0">
                <a:pos x="0" y="0"/>
              </a:cxn>
              <a:cxn ang="0">
                <a:pos x="0" y="1470"/>
              </a:cxn>
              <a:cxn ang="0">
                <a:pos x="3630" y="1470"/>
              </a:cxn>
            </a:cxnLst>
            <a:rect l="0" t="0" r="r" b="b"/>
            <a:pathLst>
              <a:path w="3630" h="1470">
                <a:moveTo>
                  <a:pt x="0" y="0"/>
                </a:moveTo>
                <a:lnTo>
                  <a:pt x="0" y="1470"/>
                </a:lnTo>
                <a:lnTo>
                  <a:pt x="3630" y="1470"/>
                </a:lnTo>
              </a:path>
            </a:pathLst>
          </a:custGeom>
          <a:noFill/>
          <a:ln w="28575" cap="flat" cmpd="sng">
            <a:solidFill>
              <a:srgbClr val="000000"/>
            </a:solidFill>
            <a:prstDash val="solid"/>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Text Box 39"/>
          <p:cNvSpPr txBox="1">
            <a:spLocks noChangeArrowheads="1"/>
          </p:cNvSpPr>
          <p:nvPr/>
        </p:nvSpPr>
        <p:spPr bwMode="auto">
          <a:xfrm>
            <a:off x="6552914" y="4262319"/>
            <a:ext cx="789062" cy="498598"/>
          </a:xfrm>
          <a:prstGeom prst="rect">
            <a:avLst/>
          </a:prstGeom>
          <a:noFill/>
          <a:ln w="25400" algn="ctr">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alibri" pitchFamily="34" charset="0"/>
                <a:ea typeface="+mn-ea"/>
                <a:cs typeface="Calibri" pitchFamily="34" charset="0"/>
              </a:rPr>
              <a:t>108</a:t>
            </a:r>
            <a:br>
              <a:rPr kumimoji="0" lang="en-US" sz="1800" b="1" i="0" u="none" strike="noStrike" kern="1200" cap="none" spc="0" normalizeH="0" baseline="0" noProof="0">
                <a:ln>
                  <a:noFill/>
                </a:ln>
                <a:solidFill>
                  <a:srgbClr val="FFFFFF"/>
                </a:solidFill>
                <a:effectLst/>
                <a:uLnTx/>
                <a:uFillTx/>
                <a:latin typeface="Calibri" pitchFamily="34" charset="0"/>
                <a:ea typeface="+mn-ea"/>
                <a:cs typeface="Calibri" pitchFamily="34" charset="0"/>
              </a:rPr>
            </a:br>
            <a:r>
              <a:rPr kumimoji="0" lang="en-US" sz="1800" b="1" i="0" u="none" strike="noStrike" kern="1200" cap="none" spc="0" normalizeH="0" baseline="0" noProof="0">
                <a:ln>
                  <a:noFill/>
                </a:ln>
                <a:solidFill>
                  <a:srgbClr val="FFFFFF"/>
                </a:solidFill>
                <a:effectLst/>
                <a:uLnTx/>
                <a:uFillTx/>
                <a:latin typeface="Calibri" pitchFamily="34" charset="0"/>
                <a:ea typeface="+mn-ea"/>
                <a:cs typeface="Calibri" pitchFamily="34" charset="0"/>
              </a:rPr>
              <a:t>Minutes</a:t>
            </a:r>
            <a:endParaRPr kumimoji="0" lang="en-US" sz="16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44" name="Text Box 40"/>
          <p:cNvSpPr txBox="1">
            <a:spLocks noChangeArrowheads="1"/>
          </p:cNvSpPr>
          <p:nvPr/>
        </p:nvSpPr>
        <p:spPr bwMode="auto">
          <a:xfrm>
            <a:off x="2228564" y="3366969"/>
            <a:ext cx="789062" cy="498598"/>
          </a:xfrm>
          <a:prstGeom prst="rect">
            <a:avLst/>
          </a:prstGeom>
          <a:noFill/>
          <a:ln w="25400" algn="ctr">
            <a:noFill/>
            <a:miter lim="800000"/>
            <a:headEnd/>
            <a:tailEnd/>
          </a:ln>
          <a:effectLst>
            <a:outerShdw dist="17961" dir="2700000" algn="ctr" rotWithShape="0">
              <a:srgbClr val="000000"/>
            </a:outerShdw>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Calibri" pitchFamily="34" charset="0"/>
                <a:ea typeface="+mn-ea"/>
                <a:cs typeface="Calibri" pitchFamily="34" charset="0"/>
              </a:rPr>
              <a:t>24</a:t>
            </a:r>
            <a:br>
              <a:rPr kumimoji="0" lang="en-US" sz="1800" b="1" i="0" u="none" strike="noStrike" kern="1200" cap="none" spc="0" normalizeH="0" baseline="0" noProof="0">
                <a:ln>
                  <a:noFill/>
                </a:ln>
                <a:solidFill>
                  <a:srgbClr val="FFFFFF"/>
                </a:solidFill>
                <a:effectLst/>
                <a:uLnTx/>
                <a:uFillTx/>
                <a:latin typeface="Calibri" pitchFamily="34" charset="0"/>
                <a:ea typeface="+mn-ea"/>
                <a:cs typeface="Calibri" pitchFamily="34" charset="0"/>
              </a:rPr>
            </a:br>
            <a:r>
              <a:rPr kumimoji="0" lang="en-US" sz="1800" b="1" i="0" u="none" strike="noStrike" kern="1200" cap="none" spc="0" normalizeH="0" baseline="0" noProof="0">
                <a:ln>
                  <a:noFill/>
                </a:ln>
                <a:solidFill>
                  <a:srgbClr val="FFFFFF"/>
                </a:solidFill>
                <a:effectLst/>
                <a:uLnTx/>
                <a:uFillTx/>
                <a:latin typeface="Calibri" pitchFamily="34" charset="0"/>
                <a:ea typeface="+mn-ea"/>
                <a:cs typeface="Calibri" pitchFamily="34" charset="0"/>
              </a:rPr>
              <a:t>Minutes</a:t>
            </a:r>
            <a:endParaRPr kumimoji="0" lang="en-US" sz="16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45" name="Rectangle 3"/>
          <p:cNvSpPr txBox="1">
            <a:spLocks noChangeArrowheads="1"/>
          </p:cNvSpPr>
          <p:nvPr/>
        </p:nvSpPr>
        <p:spPr bwMode="gray">
          <a:xfrm>
            <a:off x="6202076" y="3015868"/>
            <a:ext cx="2954338" cy="1066800"/>
          </a:xfrm>
          <a:prstGeom prst="rect">
            <a:avLst/>
          </a:prstGeom>
        </p:spPr>
        <p:txBody>
          <a:bodyPr/>
          <a:lstStyle/>
          <a:p>
            <a:pPr marL="0" marR="0" lvl="0" indent="0" algn="l" defTabSz="914400" rtl="0" eaLnBrk="1" fontAlgn="base" latinLnBrk="0" hangingPunct="1">
              <a:lnSpc>
                <a:spcPct val="100000"/>
              </a:lnSpc>
              <a:spcBef>
                <a:spcPct val="20000"/>
              </a:spcBef>
              <a:spcAft>
                <a:spcPct val="0"/>
              </a:spcAft>
              <a:buClr>
                <a:srgbClr val="92D050"/>
              </a:buClr>
              <a:buSzPct val="120000"/>
              <a:buFont typeface="Wingdings" pitchFamily="2" charset="2"/>
              <a:buNone/>
              <a:tabLst/>
              <a:defRPr/>
            </a:pPr>
            <a:r>
              <a:rPr kumimoji="0" lang="en-US" sz="1300" b="1" i="0" u="none" strike="noStrike" kern="1200" cap="none" spc="0" normalizeH="0" baseline="0" noProof="0" dirty="0">
                <a:ln>
                  <a:noFill/>
                </a:ln>
                <a:effectLst/>
                <a:uLnTx/>
                <a:uFillTx/>
                <a:latin typeface="Book Antiqua" panose="02040602050305030304" pitchFamily="18" charset="0"/>
                <a:cs typeface="Calibri" pitchFamily="34" charset="0"/>
              </a:rPr>
              <a:t>Typical Scenario:</a:t>
            </a:r>
          </a:p>
          <a:p>
            <a:pPr marL="463550" marR="0" lvl="1" indent="-238125" algn="l" defTabSz="914400" rtl="0" eaLnBrk="1" fontAlgn="base" latinLnBrk="0" hangingPunct="1">
              <a:lnSpc>
                <a:spcPct val="100000"/>
              </a:lnSpc>
              <a:spcBef>
                <a:spcPct val="20000"/>
              </a:spcBef>
              <a:spcAft>
                <a:spcPct val="0"/>
              </a:spcAft>
              <a:buClr>
                <a:srgbClr val="92D050"/>
              </a:buClr>
              <a:buSzPct val="90000"/>
              <a:buFont typeface="Wingdings" pitchFamily="2" charset="2"/>
              <a:buChar char=""/>
              <a:tabLst/>
              <a:defRPr/>
            </a:pPr>
            <a:r>
              <a:rPr kumimoji="0" lang="en-US" sz="1300" b="0" i="0" u="none" strike="noStrike" kern="1200" cap="none" spc="0" normalizeH="0" baseline="0" noProof="0" dirty="0">
                <a:ln>
                  <a:noFill/>
                </a:ln>
                <a:effectLst/>
                <a:uLnTx/>
                <a:uFillTx/>
                <a:latin typeface="Book Antiqua" panose="02040602050305030304" pitchFamily="18" charset="0"/>
                <a:cs typeface="Calibri" pitchFamily="34" charset="0"/>
              </a:rPr>
              <a:t>800 users, 75 MB mailbox </a:t>
            </a:r>
          </a:p>
          <a:p>
            <a:pPr marL="463550" marR="0" lvl="1" indent="-238125" algn="l" defTabSz="914400" rtl="0" eaLnBrk="1" fontAlgn="base" latinLnBrk="0" hangingPunct="1">
              <a:lnSpc>
                <a:spcPct val="100000"/>
              </a:lnSpc>
              <a:spcBef>
                <a:spcPct val="20000"/>
              </a:spcBef>
              <a:spcAft>
                <a:spcPct val="0"/>
              </a:spcAft>
              <a:buClr>
                <a:srgbClr val="92D050"/>
              </a:buClr>
              <a:buSzPct val="90000"/>
              <a:buFont typeface="Wingdings" pitchFamily="2" charset="2"/>
              <a:buChar char=""/>
              <a:tabLst/>
              <a:defRPr/>
            </a:pPr>
            <a:r>
              <a:rPr kumimoji="0" lang="en-US" sz="1300" b="0" i="0" u="none" strike="noStrike" kern="1200" cap="none" spc="0" normalizeH="0" baseline="0" noProof="0" dirty="0">
                <a:ln>
                  <a:noFill/>
                </a:ln>
                <a:effectLst/>
                <a:uLnTx/>
                <a:uFillTx/>
                <a:latin typeface="Book Antiqua" panose="02040602050305030304" pitchFamily="18" charset="0"/>
                <a:cs typeface="Calibri" pitchFamily="34" charset="0"/>
              </a:rPr>
              <a:t>60 GB database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8C4C7-61B3-A718-C9D8-4B53DE1E073E}"/>
              </a:ext>
            </a:extLst>
          </p:cNvPr>
          <p:cNvSpPr>
            <a:spLocks noGrp="1"/>
          </p:cNvSpPr>
          <p:nvPr>
            <p:ph type="title"/>
          </p:nvPr>
        </p:nvSpPr>
        <p:spPr/>
        <p:txBody>
          <a:bodyPr/>
          <a:lstStyle/>
          <a:p>
            <a:pPr algn="ctr"/>
            <a:r>
              <a:rPr lang="en-US" sz="2100" dirty="0">
                <a:solidFill>
                  <a:srgbClr val="C00000"/>
                </a:solidFill>
                <a:latin typeface="Book Antiqua" panose="02040602050305030304" pitchFamily="18" charset="0"/>
              </a:rPr>
              <a:t>Backup to Disk</a:t>
            </a:r>
            <a:endParaRPr lang="en-IN" sz="2100" dirty="0"/>
          </a:p>
        </p:txBody>
      </p:sp>
      <p:sp>
        <p:nvSpPr>
          <p:cNvPr id="3" name="Content Placeholder 2">
            <a:extLst>
              <a:ext uri="{FF2B5EF4-FFF2-40B4-BE49-F238E27FC236}">
                <a16:creationId xmlns:a16="http://schemas.microsoft.com/office/drawing/2014/main" id="{B01EC0AD-26CE-C70B-1369-514E8C522DC8}"/>
              </a:ext>
            </a:extLst>
          </p:cNvPr>
          <p:cNvSpPr>
            <a:spLocks noGrp="1"/>
          </p:cNvSpPr>
          <p:nvPr>
            <p:ph idx="1"/>
          </p:nvPr>
        </p:nvSpPr>
        <p:spPr>
          <a:xfrm>
            <a:off x="270933" y="1295400"/>
            <a:ext cx="8458200" cy="3429000"/>
          </a:xfrm>
        </p:spPr>
        <p:txBody>
          <a:bodyPr/>
          <a:lstStyle/>
          <a:p>
            <a:pPr algn="just">
              <a:lnSpc>
                <a:spcPct val="150000"/>
              </a:lnSpc>
            </a:pPr>
            <a:r>
              <a:rPr lang="en-US" sz="1700" dirty="0">
                <a:solidFill>
                  <a:schemeClr val="tx1"/>
                </a:solidFill>
                <a:latin typeface="Book Antiqua" panose="02040602050305030304" pitchFamily="18" charset="0"/>
              </a:rPr>
              <a:t>Disks have now replaced tapes as the primary device for storing backup data because of their performance advantages.</a:t>
            </a:r>
          </a:p>
          <a:p>
            <a:pPr algn="just">
              <a:lnSpc>
                <a:spcPct val="150000"/>
              </a:lnSpc>
            </a:pPr>
            <a:r>
              <a:rPr lang="en-US" sz="1700" dirty="0">
                <a:solidFill>
                  <a:schemeClr val="tx1"/>
                </a:solidFill>
                <a:latin typeface="Book Antiqua" panose="02040602050305030304" pitchFamily="18" charset="0"/>
              </a:rPr>
              <a:t>Backup-to-disk systems offer ease of implementation, reduced cost, and improved quality of service. disks also offer faster recovery when compared to tapes.</a:t>
            </a:r>
          </a:p>
          <a:p>
            <a:pPr algn="just">
              <a:lnSpc>
                <a:spcPct val="150000"/>
              </a:lnSpc>
            </a:pPr>
            <a:r>
              <a:rPr lang="en-US" sz="1700" dirty="0">
                <a:solidFill>
                  <a:schemeClr val="tx1"/>
                </a:solidFill>
                <a:latin typeface="Book Antiqua" panose="02040602050305030304" pitchFamily="18" charset="0"/>
              </a:rPr>
              <a:t>Backing up to disk storage systems offers clear advantages due to their inherent random access and RAID-protection capabilities.</a:t>
            </a:r>
          </a:p>
          <a:p>
            <a:pPr algn="just">
              <a:lnSpc>
                <a:spcPct val="150000"/>
              </a:lnSpc>
            </a:pPr>
            <a:r>
              <a:rPr lang="en-US" sz="1700" dirty="0">
                <a:solidFill>
                  <a:schemeClr val="tx1"/>
                </a:solidFill>
                <a:latin typeface="Book Antiqua" panose="02040602050305030304" pitchFamily="18" charset="0"/>
              </a:rPr>
              <a:t>Backup to disk does not offer any inherent offsite capability, and is dependent on other technologies such as local and remote replication.</a:t>
            </a:r>
          </a:p>
          <a:p>
            <a:pPr algn="just">
              <a:lnSpc>
                <a:spcPct val="150000"/>
              </a:lnSpc>
            </a:pPr>
            <a:endParaRPr lang="en-IN" sz="17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8DA00154-F5CA-321D-BAD8-7948AEE78A4B}"/>
              </a:ext>
            </a:extLst>
          </p:cNvPr>
          <p:cNvSpPr>
            <a:spLocks noGrp="1"/>
          </p:cNvSpPr>
          <p:nvPr>
            <p:ph type="ftr" sz="quarter" idx="10"/>
          </p:nvPr>
        </p:nvSpPr>
        <p:spPr/>
        <p:txBody>
          <a:bodyPr/>
          <a:lstStyle/>
          <a:p>
            <a:pPr>
              <a:defRPr/>
            </a:pPr>
            <a:r>
              <a:rPr lang="en-US"/>
              <a:t>Module 10: Backup and Archive</a:t>
            </a:r>
            <a:endParaRPr lang="en-US" dirty="0"/>
          </a:p>
        </p:txBody>
      </p:sp>
      <p:sp>
        <p:nvSpPr>
          <p:cNvPr id="5" name="Slide Number Placeholder 4">
            <a:extLst>
              <a:ext uri="{FF2B5EF4-FFF2-40B4-BE49-F238E27FC236}">
                <a16:creationId xmlns:a16="http://schemas.microsoft.com/office/drawing/2014/main" id="{BC1FE774-0C6B-E8C1-0A4D-34A40E46F797}"/>
              </a:ext>
            </a:extLst>
          </p:cNvPr>
          <p:cNvSpPr>
            <a:spLocks noGrp="1"/>
          </p:cNvSpPr>
          <p:nvPr>
            <p:ph type="sldNum" sz="quarter" idx="11"/>
          </p:nvPr>
        </p:nvSpPr>
        <p:spPr/>
        <p:txBody>
          <a:bodyPr/>
          <a:lstStyle/>
          <a:p>
            <a:pPr>
              <a:defRPr/>
            </a:pPr>
            <a:fld id="{5BA1DFFF-3F85-458B-986A-7762775E0CEF}" type="slidenum">
              <a:rPr lang="en-US" smtClean="0"/>
              <a:pPr>
                <a:defRPr/>
              </a:pPr>
              <a:t>42</a:t>
            </a:fld>
            <a:endParaRPr lang="en-US"/>
          </a:p>
        </p:txBody>
      </p:sp>
    </p:spTree>
    <p:extLst>
      <p:ext uri="{BB962C8B-B14F-4D97-AF65-F5344CB8AC3E}">
        <p14:creationId xmlns:p14="http://schemas.microsoft.com/office/powerpoint/2010/main" val="20006379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sz="2100" dirty="0">
                <a:solidFill>
                  <a:srgbClr val="C00000"/>
                </a:solidFill>
                <a:latin typeface="Book Antiqua" panose="02040602050305030304" pitchFamily="18" charset="0"/>
              </a:rPr>
              <a:t>Backup to Virtual Tape</a:t>
            </a:r>
          </a:p>
        </p:txBody>
      </p:sp>
      <p:sp>
        <p:nvSpPr>
          <p:cNvPr id="6" name="Content Placeholder 5"/>
          <p:cNvSpPr>
            <a:spLocks noGrp="1"/>
          </p:cNvSpPr>
          <p:nvPr>
            <p:ph idx="1"/>
          </p:nvPr>
        </p:nvSpPr>
        <p:spPr>
          <a:xfrm>
            <a:off x="679450" y="914400"/>
            <a:ext cx="7632700" cy="4495800"/>
          </a:xfrm>
        </p:spPr>
        <p:txBody>
          <a:bodyPr/>
          <a:lstStyle/>
          <a:p>
            <a:pPr>
              <a:lnSpc>
                <a:spcPct val="150000"/>
              </a:lnSpc>
            </a:pPr>
            <a:r>
              <a:rPr lang="en-US" sz="1200" dirty="0">
                <a:solidFill>
                  <a:schemeClr val="tx1"/>
                </a:solidFill>
                <a:latin typeface="Book Antiqua" panose="02040602050305030304" pitchFamily="18" charset="0"/>
              </a:rPr>
              <a:t>Disks are emulated and presented as tapes to backup software</a:t>
            </a:r>
          </a:p>
          <a:p>
            <a:pPr>
              <a:lnSpc>
                <a:spcPct val="150000"/>
              </a:lnSpc>
            </a:pPr>
            <a:r>
              <a:rPr lang="en-US" sz="1200" dirty="0">
                <a:solidFill>
                  <a:schemeClr val="tx1"/>
                </a:solidFill>
                <a:latin typeface="Book Antiqua" panose="02040602050305030304" pitchFamily="18" charset="0"/>
              </a:rPr>
              <a:t>Does not require any additional modules or changes in the legacy backup software</a:t>
            </a:r>
          </a:p>
          <a:p>
            <a:pPr>
              <a:lnSpc>
                <a:spcPct val="150000"/>
              </a:lnSpc>
            </a:pPr>
            <a:r>
              <a:rPr lang="en-US" sz="1200" dirty="0">
                <a:solidFill>
                  <a:schemeClr val="tx1"/>
                </a:solidFill>
                <a:latin typeface="Book Antiqua" panose="02040602050305030304" pitchFamily="18" charset="0"/>
              </a:rPr>
              <a:t>Provides better single stream performance and reliability over physical tape</a:t>
            </a:r>
          </a:p>
          <a:p>
            <a:pPr>
              <a:lnSpc>
                <a:spcPct val="150000"/>
              </a:lnSpc>
            </a:pPr>
            <a:r>
              <a:rPr lang="en-US" sz="1200" dirty="0">
                <a:solidFill>
                  <a:schemeClr val="tx1"/>
                </a:solidFill>
                <a:latin typeface="Book Antiqua" panose="02040602050305030304" pitchFamily="18" charset="0"/>
              </a:rPr>
              <a:t>Online and random disk access </a:t>
            </a:r>
          </a:p>
          <a:p>
            <a:pPr lvl="1">
              <a:lnSpc>
                <a:spcPct val="150000"/>
              </a:lnSpc>
            </a:pPr>
            <a:r>
              <a:rPr lang="en-US" sz="1200" dirty="0">
                <a:solidFill>
                  <a:schemeClr val="tx1"/>
                </a:solidFill>
                <a:latin typeface="Book Antiqua" panose="02040602050305030304" pitchFamily="18" charset="0"/>
              </a:rPr>
              <a:t>Provides faster backup and recovery ` </a:t>
            </a:r>
          </a:p>
          <a:p>
            <a:pPr algn="just">
              <a:lnSpc>
                <a:spcPct val="150000"/>
              </a:lnSpc>
            </a:pPr>
            <a:r>
              <a:rPr lang="en-GB" sz="1200" dirty="0">
                <a:solidFill>
                  <a:schemeClr val="tx1"/>
                </a:solidFill>
                <a:latin typeface="Book Antiqua" panose="02040602050305030304" pitchFamily="18" charset="0"/>
              </a:rPr>
              <a:t>A virtual tape library (VTL) has the same components as that of a physical tape library, except that the majority of the components are presented as virtual resources. </a:t>
            </a:r>
          </a:p>
          <a:p>
            <a:pPr algn="just">
              <a:lnSpc>
                <a:spcPct val="150000"/>
              </a:lnSpc>
            </a:pPr>
            <a:r>
              <a:rPr lang="en-GB" sz="1200" dirty="0">
                <a:solidFill>
                  <a:schemeClr val="tx1"/>
                </a:solidFill>
                <a:latin typeface="Book Antiqua" panose="02040602050305030304" pitchFamily="18" charset="0"/>
              </a:rPr>
              <a:t>For the backup software, there is no difference between a physical tape library and a virtual tape library.</a:t>
            </a:r>
          </a:p>
          <a:p>
            <a:pPr algn="just">
              <a:lnSpc>
                <a:spcPct val="150000"/>
              </a:lnSpc>
            </a:pPr>
            <a:r>
              <a:rPr lang="en-GB" sz="1200" dirty="0">
                <a:solidFill>
                  <a:schemeClr val="tx1"/>
                </a:solidFill>
                <a:latin typeface="Book Antiqua" panose="02040602050305030304" pitchFamily="18" charset="0"/>
              </a:rPr>
              <a:t>Figure 10-18 shows a virtual tape library.</a:t>
            </a:r>
          </a:p>
          <a:p>
            <a:pPr algn="just">
              <a:lnSpc>
                <a:spcPct val="150000"/>
              </a:lnSpc>
            </a:pPr>
            <a:r>
              <a:rPr lang="en-GB" sz="1200" dirty="0">
                <a:solidFill>
                  <a:schemeClr val="tx1"/>
                </a:solidFill>
                <a:latin typeface="Book Antiqua" panose="02040602050305030304" pitchFamily="18" charset="0"/>
              </a:rPr>
              <a:t>Virtual tape libraries use disks as backup media. </a:t>
            </a:r>
          </a:p>
          <a:p>
            <a:pPr algn="just">
              <a:lnSpc>
                <a:spcPct val="150000"/>
              </a:lnSpc>
            </a:pPr>
            <a:r>
              <a:rPr lang="en-GB" sz="1200" dirty="0">
                <a:solidFill>
                  <a:schemeClr val="tx1"/>
                </a:solidFill>
                <a:latin typeface="Book Antiqua" panose="02040602050305030304" pitchFamily="18" charset="0"/>
              </a:rPr>
              <a:t>Emulation software has a database with a list of virtual tapes, and each virtual tape is assigned space on a LUN. </a:t>
            </a:r>
          </a:p>
          <a:p>
            <a:pPr algn="just">
              <a:lnSpc>
                <a:spcPct val="150000"/>
              </a:lnSpc>
            </a:pPr>
            <a:r>
              <a:rPr lang="en-GB" sz="1200" dirty="0">
                <a:solidFill>
                  <a:schemeClr val="tx1"/>
                </a:solidFill>
                <a:latin typeface="Book Antiqua" panose="02040602050305030304" pitchFamily="18" charset="0"/>
              </a:rPr>
              <a:t>A virtual tape can span multiple LUNs if required. </a:t>
            </a:r>
          </a:p>
          <a:p>
            <a:pPr algn="just">
              <a:lnSpc>
                <a:spcPct val="150000"/>
              </a:lnSpc>
            </a:pPr>
            <a:r>
              <a:rPr lang="en-GB" sz="1200" dirty="0">
                <a:solidFill>
                  <a:schemeClr val="tx1"/>
                </a:solidFill>
                <a:latin typeface="Book Antiqua" panose="02040602050305030304" pitchFamily="18" charset="0"/>
              </a:rPr>
              <a:t>File system awareness is not required while backing up because the virtual tape solution typically </a:t>
            </a:r>
            <a:r>
              <a:rPr lang="en-IN" sz="1200" dirty="0">
                <a:solidFill>
                  <a:schemeClr val="tx1"/>
                </a:solidFill>
                <a:latin typeface="Book Antiqua" panose="02040602050305030304" pitchFamily="18" charset="0"/>
              </a:rPr>
              <a:t>uses raw devices.</a:t>
            </a:r>
            <a:endParaRPr lang="en-US" sz="1200" dirty="0">
              <a:solidFill>
                <a:schemeClr val="tx1"/>
              </a:solidFill>
              <a:latin typeface="Book Antiqua" panose="02040602050305030304" pitchFamily="18" charset="0"/>
            </a:endParaRPr>
          </a:p>
          <a:p>
            <a:pPr>
              <a:lnSpc>
                <a:spcPct val="150000"/>
              </a:lnSpc>
              <a:buNone/>
            </a:pPr>
            <a:endParaRPr lang="en-US" sz="1200" dirty="0">
              <a:solidFill>
                <a:schemeClr val="tx1"/>
              </a:solidFill>
              <a:latin typeface="Book Antiqua" panose="02040602050305030304" pitchFamily="18" charset="0"/>
            </a:endParaRPr>
          </a:p>
        </p:txBody>
      </p:sp>
      <p:sp>
        <p:nvSpPr>
          <p:cNvPr id="3" name="Footer Placeholder 2"/>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solidFill>
                  <a:srgbClr val="C00000"/>
                </a:solidFill>
                <a:latin typeface="Book Antiqua" panose="02040602050305030304" pitchFamily="18" charset="0"/>
              </a:rPr>
              <a:t>Virtual Tape Library</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7" name="Rectangle 2"/>
          <p:cNvSpPr>
            <a:spLocks noChangeArrowheads="1"/>
          </p:cNvSpPr>
          <p:nvPr/>
        </p:nvSpPr>
        <p:spPr bwMode="auto">
          <a:xfrm>
            <a:off x="4979988" y="2324100"/>
            <a:ext cx="3754437" cy="3702050"/>
          </a:xfrm>
          <a:prstGeom prst="rect">
            <a:avLst/>
          </a:prstGeom>
          <a:gradFill rotWithShape="1">
            <a:gsLst>
              <a:gs pos="0">
                <a:srgbClr val="BCA879"/>
              </a:gs>
              <a:gs pos="100000">
                <a:srgbClr val="BCA879">
                  <a:gamma/>
                  <a:tint val="36471"/>
                  <a:invGamma/>
                </a:srgbClr>
              </a:gs>
            </a:gsLst>
            <a:lin ang="1890000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Rectangle 3"/>
          <p:cNvSpPr>
            <a:spLocks noChangeArrowheads="1"/>
          </p:cNvSpPr>
          <p:nvPr/>
        </p:nvSpPr>
        <p:spPr bwMode="auto">
          <a:xfrm>
            <a:off x="5443538" y="4699000"/>
            <a:ext cx="3205162" cy="1249363"/>
          </a:xfrm>
          <a:prstGeom prst="rect">
            <a:avLst/>
          </a:prstGeom>
          <a:gradFill rotWithShape="1">
            <a:gsLst>
              <a:gs pos="0">
                <a:srgbClr val="BCA879"/>
              </a:gs>
              <a:gs pos="100000">
                <a:srgbClr val="BCA879">
                  <a:gamma/>
                  <a:tint val="36471"/>
                  <a:invGamma/>
                </a:srgbClr>
              </a:gs>
            </a:gsLst>
            <a:lin ang="1890000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Rectangle 5"/>
          <p:cNvSpPr>
            <a:spLocks noChangeArrowheads="1"/>
          </p:cNvSpPr>
          <p:nvPr/>
        </p:nvSpPr>
        <p:spPr bwMode="auto">
          <a:xfrm>
            <a:off x="5446713" y="2459038"/>
            <a:ext cx="3201987" cy="2247900"/>
          </a:xfrm>
          <a:prstGeom prst="rect">
            <a:avLst/>
          </a:prstGeom>
          <a:gradFill rotWithShape="1">
            <a:gsLst>
              <a:gs pos="0">
                <a:srgbClr val="BCA879">
                  <a:gamma/>
                  <a:tint val="36471"/>
                  <a:invGamma/>
                </a:srgbClr>
              </a:gs>
              <a:gs pos="100000">
                <a:srgbClr val="BCA879"/>
              </a:gs>
            </a:gsLst>
            <a:lin ang="1890000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Text Box 33"/>
          <p:cNvSpPr txBox="1">
            <a:spLocks noChangeArrowheads="1"/>
          </p:cNvSpPr>
          <p:nvPr/>
        </p:nvSpPr>
        <p:spPr bwMode="auto">
          <a:xfrm>
            <a:off x="41517" y="1413117"/>
            <a:ext cx="1403350" cy="430887"/>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Server/</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Node</a:t>
            </a:r>
          </a:p>
        </p:txBody>
      </p:sp>
      <p:sp>
        <p:nvSpPr>
          <p:cNvPr id="11" name="Text Box 105"/>
          <p:cNvSpPr txBox="1">
            <a:spLocks noChangeArrowheads="1"/>
          </p:cNvSpPr>
          <p:nvPr/>
        </p:nvSpPr>
        <p:spPr bwMode="auto">
          <a:xfrm>
            <a:off x="1147763" y="5879571"/>
            <a:ext cx="1084592" cy="215444"/>
          </a:xfrm>
          <a:prstGeom prst="rect">
            <a:avLst/>
          </a:prstGeom>
          <a:noFill/>
          <a:ln w="25400" algn="ctr">
            <a:noFill/>
            <a:miter lim="800000"/>
            <a:headEnd/>
            <a:tailEnd type="none" w="lg" len="me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Backup Clients</a:t>
            </a:r>
          </a:p>
        </p:txBody>
      </p:sp>
      <p:sp>
        <p:nvSpPr>
          <p:cNvPr id="12" name="Text Box 107"/>
          <p:cNvSpPr txBox="1">
            <a:spLocks noChangeArrowheads="1"/>
          </p:cNvSpPr>
          <p:nvPr/>
        </p:nvSpPr>
        <p:spPr bwMode="auto">
          <a:xfrm>
            <a:off x="6402388" y="4486275"/>
            <a:ext cx="1301575" cy="215444"/>
          </a:xfrm>
          <a:prstGeom prst="rect">
            <a:avLst/>
          </a:prstGeom>
          <a:noFill/>
          <a:ln w="25400" algn="ctr">
            <a:noFill/>
            <a:miter lim="800000"/>
            <a:headEnd/>
            <a:tailEnd type="none" w="lg" len="me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Emulation Engine</a:t>
            </a:r>
          </a:p>
        </p:txBody>
      </p:sp>
      <p:sp>
        <p:nvSpPr>
          <p:cNvPr id="13" name="Text Box 119"/>
          <p:cNvSpPr txBox="1">
            <a:spLocks noChangeArrowheads="1"/>
          </p:cNvSpPr>
          <p:nvPr/>
        </p:nvSpPr>
        <p:spPr bwMode="auto">
          <a:xfrm rot="16200000">
            <a:off x="3948408" y="4071859"/>
            <a:ext cx="2552109" cy="246221"/>
          </a:xfrm>
          <a:prstGeom prst="rect">
            <a:avLst/>
          </a:prstGeom>
          <a:noFill/>
          <a:ln w="25400" algn="ctr">
            <a:noFill/>
            <a:miter lim="800000"/>
            <a:headEnd/>
            <a:tailEnd type="none" w="lg" len="me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Virtual Tape Library Appliance</a:t>
            </a:r>
          </a:p>
        </p:txBody>
      </p:sp>
      <p:sp>
        <p:nvSpPr>
          <p:cNvPr id="14" name="Rectangle 121"/>
          <p:cNvSpPr>
            <a:spLocks noChangeArrowheads="1"/>
          </p:cNvSpPr>
          <p:nvPr/>
        </p:nvSpPr>
        <p:spPr bwMode="auto">
          <a:xfrm>
            <a:off x="5580063" y="2595563"/>
            <a:ext cx="1423987" cy="1860550"/>
          </a:xfrm>
          <a:prstGeom prst="rect">
            <a:avLst/>
          </a:prstGeom>
          <a:gradFill rotWithShape="1">
            <a:gsLst>
              <a:gs pos="0">
                <a:srgbClr val="BCA879"/>
              </a:gs>
              <a:gs pos="100000">
                <a:srgbClr val="BCA879">
                  <a:gamma/>
                  <a:tint val="36471"/>
                  <a:invGamma/>
                </a:srgbClr>
              </a:gs>
            </a:gsLst>
            <a:lin ang="2700000" scaled="1"/>
          </a:gradFill>
          <a:ln w="38100" cap="rnd">
            <a:solidFill>
              <a:schemeClr val="accent2"/>
            </a:solidFill>
            <a:prstDash val="sysDot"/>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5" name="Group 122"/>
          <p:cNvGrpSpPr>
            <a:grpSpLocks noChangeAspect="1"/>
          </p:cNvGrpSpPr>
          <p:nvPr/>
        </p:nvGrpSpPr>
        <p:grpSpPr bwMode="auto">
          <a:xfrm>
            <a:off x="5737225" y="2681288"/>
            <a:ext cx="417513" cy="379412"/>
            <a:chOff x="2188" y="2766"/>
            <a:chExt cx="309" cy="281"/>
          </a:xfrm>
        </p:grpSpPr>
        <p:grpSp>
          <p:nvGrpSpPr>
            <p:cNvPr id="16" name="Group 123"/>
            <p:cNvGrpSpPr>
              <a:grpSpLocks noChangeAspect="1"/>
            </p:cNvGrpSpPr>
            <p:nvPr/>
          </p:nvGrpSpPr>
          <p:grpSpPr bwMode="auto">
            <a:xfrm>
              <a:off x="2188" y="2766"/>
              <a:ext cx="309" cy="281"/>
              <a:chOff x="3026" y="2233"/>
              <a:chExt cx="407" cy="370"/>
            </a:xfrm>
          </p:grpSpPr>
          <p:sp>
            <p:nvSpPr>
              <p:cNvPr id="18" name="Freeform 124"/>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9" name="Freeform 125"/>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 name="Freeform 126"/>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 name="Freeform 127"/>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17" name="Freeform 128"/>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nvGrpSpPr>
          <p:cNvPr id="22" name="Group 129"/>
          <p:cNvGrpSpPr>
            <a:grpSpLocks noChangeAspect="1"/>
          </p:cNvGrpSpPr>
          <p:nvPr/>
        </p:nvGrpSpPr>
        <p:grpSpPr bwMode="auto">
          <a:xfrm>
            <a:off x="6427788" y="2693988"/>
            <a:ext cx="417512" cy="379412"/>
            <a:chOff x="2188" y="2766"/>
            <a:chExt cx="309" cy="281"/>
          </a:xfrm>
        </p:grpSpPr>
        <p:grpSp>
          <p:nvGrpSpPr>
            <p:cNvPr id="23" name="Group 130"/>
            <p:cNvGrpSpPr>
              <a:grpSpLocks noChangeAspect="1"/>
            </p:cNvGrpSpPr>
            <p:nvPr/>
          </p:nvGrpSpPr>
          <p:grpSpPr bwMode="auto">
            <a:xfrm>
              <a:off x="2188" y="2766"/>
              <a:ext cx="309" cy="281"/>
              <a:chOff x="3026" y="2233"/>
              <a:chExt cx="407" cy="370"/>
            </a:xfrm>
          </p:grpSpPr>
          <p:sp>
            <p:nvSpPr>
              <p:cNvPr id="25" name="Freeform 131"/>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Freeform 132"/>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Freeform 133"/>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Freeform 134"/>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24" name="Freeform 135"/>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29" name="Rectangle 136"/>
          <p:cNvSpPr>
            <a:spLocks noChangeAspect="1" noChangeArrowheads="1"/>
          </p:cNvSpPr>
          <p:nvPr/>
        </p:nvSpPr>
        <p:spPr bwMode="auto">
          <a:xfrm>
            <a:off x="5662613" y="3586163"/>
            <a:ext cx="358775" cy="215900"/>
          </a:xfrm>
          <a:prstGeom prst="rect">
            <a:avLst/>
          </a:prstGeom>
          <a:gradFill rotWithShape="1">
            <a:gsLst>
              <a:gs pos="0">
                <a:srgbClr val="009900"/>
              </a:gs>
              <a:gs pos="50000">
                <a:srgbClr val="009900">
                  <a:gamma/>
                  <a:tint val="30196"/>
                  <a:invGamma/>
                </a:srgbClr>
              </a:gs>
              <a:gs pos="100000">
                <a:srgbClr val="009900"/>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30" name="Group 137"/>
          <p:cNvGrpSpPr>
            <a:grpSpLocks noChangeAspect="1"/>
          </p:cNvGrpSpPr>
          <p:nvPr/>
        </p:nvGrpSpPr>
        <p:grpSpPr bwMode="auto">
          <a:xfrm>
            <a:off x="5699125" y="3629025"/>
            <a:ext cx="285750" cy="130175"/>
            <a:chOff x="3024" y="144"/>
            <a:chExt cx="864" cy="384"/>
          </a:xfrm>
        </p:grpSpPr>
        <p:sp>
          <p:nvSpPr>
            <p:cNvPr id="31" name="AutoShape 138"/>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2" name="Rectangle 139"/>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AutoShape 140"/>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34" name="Rectangle 141"/>
          <p:cNvSpPr>
            <a:spLocks noChangeAspect="1" noChangeArrowheads="1"/>
          </p:cNvSpPr>
          <p:nvPr/>
        </p:nvSpPr>
        <p:spPr bwMode="auto">
          <a:xfrm>
            <a:off x="6111875" y="3587750"/>
            <a:ext cx="358775" cy="215900"/>
          </a:xfrm>
          <a:prstGeom prst="rect">
            <a:avLst/>
          </a:prstGeom>
          <a:gradFill rotWithShape="1">
            <a:gsLst>
              <a:gs pos="0">
                <a:srgbClr val="FF0000"/>
              </a:gs>
              <a:gs pos="50000">
                <a:srgbClr val="FF0000">
                  <a:gamma/>
                  <a:tint val="30196"/>
                  <a:invGamma/>
                </a:srgbClr>
              </a:gs>
              <a:gs pos="100000">
                <a:srgbClr val="FF0000"/>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35" name="Group 142"/>
          <p:cNvGrpSpPr>
            <a:grpSpLocks noChangeAspect="1"/>
          </p:cNvGrpSpPr>
          <p:nvPr/>
        </p:nvGrpSpPr>
        <p:grpSpPr bwMode="auto">
          <a:xfrm>
            <a:off x="6148388" y="3630613"/>
            <a:ext cx="285750" cy="130175"/>
            <a:chOff x="3024" y="144"/>
            <a:chExt cx="864" cy="384"/>
          </a:xfrm>
        </p:grpSpPr>
        <p:sp>
          <p:nvSpPr>
            <p:cNvPr id="36" name="AutoShape 143"/>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Rectangle 144"/>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8" name="AutoShape 145"/>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nvGrpSpPr>
          <p:cNvPr id="39" name="Group 146"/>
          <p:cNvGrpSpPr>
            <a:grpSpLocks noChangeAspect="1"/>
          </p:cNvGrpSpPr>
          <p:nvPr/>
        </p:nvGrpSpPr>
        <p:grpSpPr bwMode="auto">
          <a:xfrm>
            <a:off x="6565900" y="3582988"/>
            <a:ext cx="358775" cy="215900"/>
            <a:chOff x="2280" y="2107"/>
            <a:chExt cx="240" cy="144"/>
          </a:xfrm>
        </p:grpSpPr>
        <p:sp>
          <p:nvSpPr>
            <p:cNvPr id="40" name="Rectangle 147"/>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41" name="Group 148"/>
            <p:cNvGrpSpPr>
              <a:grpSpLocks noChangeAspect="1"/>
            </p:cNvGrpSpPr>
            <p:nvPr/>
          </p:nvGrpSpPr>
          <p:grpSpPr bwMode="auto">
            <a:xfrm>
              <a:off x="2304" y="2136"/>
              <a:ext cx="192" cy="86"/>
              <a:chOff x="3024" y="144"/>
              <a:chExt cx="864" cy="384"/>
            </a:xfrm>
          </p:grpSpPr>
          <p:sp>
            <p:nvSpPr>
              <p:cNvPr id="42" name="AutoShape 149"/>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Rectangle 150"/>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4" name="AutoShape 151"/>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45" name="Group 152"/>
          <p:cNvGrpSpPr>
            <a:grpSpLocks noChangeAspect="1"/>
          </p:cNvGrpSpPr>
          <p:nvPr/>
        </p:nvGrpSpPr>
        <p:grpSpPr bwMode="auto">
          <a:xfrm>
            <a:off x="5667375" y="3876675"/>
            <a:ext cx="358775" cy="215900"/>
            <a:chOff x="2280" y="2107"/>
            <a:chExt cx="240" cy="144"/>
          </a:xfrm>
        </p:grpSpPr>
        <p:sp>
          <p:nvSpPr>
            <p:cNvPr id="46" name="Rectangle 153"/>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47" name="Group 154"/>
            <p:cNvGrpSpPr>
              <a:grpSpLocks noChangeAspect="1"/>
            </p:cNvGrpSpPr>
            <p:nvPr/>
          </p:nvGrpSpPr>
          <p:grpSpPr bwMode="auto">
            <a:xfrm>
              <a:off x="2304" y="2136"/>
              <a:ext cx="192" cy="86"/>
              <a:chOff x="3024" y="144"/>
              <a:chExt cx="864" cy="384"/>
            </a:xfrm>
          </p:grpSpPr>
          <p:sp>
            <p:nvSpPr>
              <p:cNvPr id="48" name="AutoShape 155"/>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9" name="Rectangle 156"/>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0" name="AutoShape 157"/>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51" name="Group 158"/>
          <p:cNvGrpSpPr>
            <a:grpSpLocks noChangeAspect="1"/>
          </p:cNvGrpSpPr>
          <p:nvPr/>
        </p:nvGrpSpPr>
        <p:grpSpPr bwMode="auto">
          <a:xfrm>
            <a:off x="6116638" y="3878263"/>
            <a:ext cx="358775" cy="215900"/>
            <a:chOff x="2280" y="2107"/>
            <a:chExt cx="240" cy="144"/>
          </a:xfrm>
        </p:grpSpPr>
        <p:sp>
          <p:nvSpPr>
            <p:cNvPr id="52" name="Rectangle 159"/>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53" name="Group 160"/>
            <p:cNvGrpSpPr>
              <a:grpSpLocks noChangeAspect="1"/>
            </p:cNvGrpSpPr>
            <p:nvPr/>
          </p:nvGrpSpPr>
          <p:grpSpPr bwMode="auto">
            <a:xfrm>
              <a:off x="2304" y="2136"/>
              <a:ext cx="192" cy="86"/>
              <a:chOff x="3024" y="144"/>
              <a:chExt cx="864" cy="384"/>
            </a:xfrm>
          </p:grpSpPr>
          <p:sp>
            <p:nvSpPr>
              <p:cNvPr id="54" name="AutoShape 161"/>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5" name="Rectangle 162"/>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6" name="AutoShape 163"/>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57" name="Group 164"/>
          <p:cNvGrpSpPr>
            <a:grpSpLocks noChangeAspect="1"/>
          </p:cNvGrpSpPr>
          <p:nvPr/>
        </p:nvGrpSpPr>
        <p:grpSpPr bwMode="auto">
          <a:xfrm>
            <a:off x="6570663" y="3873500"/>
            <a:ext cx="358775" cy="215900"/>
            <a:chOff x="2280" y="2107"/>
            <a:chExt cx="240" cy="144"/>
          </a:xfrm>
        </p:grpSpPr>
        <p:sp>
          <p:nvSpPr>
            <p:cNvPr id="58" name="Rectangle 165"/>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59" name="Group 166"/>
            <p:cNvGrpSpPr>
              <a:grpSpLocks noChangeAspect="1"/>
            </p:cNvGrpSpPr>
            <p:nvPr/>
          </p:nvGrpSpPr>
          <p:grpSpPr bwMode="auto">
            <a:xfrm>
              <a:off x="2304" y="2136"/>
              <a:ext cx="192" cy="86"/>
              <a:chOff x="3024" y="144"/>
              <a:chExt cx="864" cy="384"/>
            </a:xfrm>
          </p:grpSpPr>
          <p:sp>
            <p:nvSpPr>
              <p:cNvPr id="60" name="AutoShape 167"/>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1" name="Rectangle 168"/>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2" name="AutoShape 169"/>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63" name="Group 170"/>
          <p:cNvGrpSpPr>
            <a:grpSpLocks noChangeAspect="1"/>
          </p:cNvGrpSpPr>
          <p:nvPr/>
        </p:nvGrpSpPr>
        <p:grpSpPr bwMode="auto">
          <a:xfrm>
            <a:off x="5667375" y="4167188"/>
            <a:ext cx="358775" cy="215900"/>
            <a:chOff x="2280" y="2107"/>
            <a:chExt cx="240" cy="144"/>
          </a:xfrm>
        </p:grpSpPr>
        <p:sp>
          <p:nvSpPr>
            <p:cNvPr id="64" name="Rectangle 171"/>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65" name="Group 172"/>
            <p:cNvGrpSpPr>
              <a:grpSpLocks noChangeAspect="1"/>
            </p:cNvGrpSpPr>
            <p:nvPr/>
          </p:nvGrpSpPr>
          <p:grpSpPr bwMode="auto">
            <a:xfrm>
              <a:off x="2304" y="2136"/>
              <a:ext cx="192" cy="86"/>
              <a:chOff x="3024" y="144"/>
              <a:chExt cx="864" cy="384"/>
            </a:xfrm>
          </p:grpSpPr>
          <p:sp>
            <p:nvSpPr>
              <p:cNvPr id="66" name="AutoShape 173"/>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7" name="Rectangle 174"/>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8" name="AutoShape 175"/>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69" name="Group 176"/>
          <p:cNvGrpSpPr>
            <a:grpSpLocks noChangeAspect="1"/>
          </p:cNvGrpSpPr>
          <p:nvPr/>
        </p:nvGrpSpPr>
        <p:grpSpPr bwMode="auto">
          <a:xfrm>
            <a:off x="6116638" y="4168775"/>
            <a:ext cx="358775" cy="215900"/>
            <a:chOff x="2280" y="2107"/>
            <a:chExt cx="240" cy="144"/>
          </a:xfrm>
        </p:grpSpPr>
        <p:sp>
          <p:nvSpPr>
            <p:cNvPr id="70" name="Rectangle 177"/>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71" name="Group 178"/>
            <p:cNvGrpSpPr>
              <a:grpSpLocks noChangeAspect="1"/>
            </p:cNvGrpSpPr>
            <p:nvPr/>
          </p:nvGrpSpPr>
          <p:grpSpPr bwMode="auto">
            <a:xfrm>
              <a:off x="2304" y="2136"/>
              <a:ext cx="192" cy="86"/>
              <a:chOff x="3024" y="144"/>
              <a:chExt cx="864" cy="384"/>
            </a:xfrm>
          </p:grpSpPr>
          <p:sp>
            <p:nvSpPr>
              <p:cNvPr id="72" name="AutoShape 179"/>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3" name="Rectangle 180"/>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4" name="AutoShape 181"/>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75" name="Group 182"/>
          <p:cNvGrpSpPr>
            <a:grpSpLocks noChangeAspect="1"/>
          </p:cNvGrpSpPr>
          <p:nvPr/>
        </p:nvGrpSpPr>
        <p:grpSpPr bwMode="auto">
          <a:xfrm>
            <a:off x="6570663" y="4164013"/>
            <a:ext cx="358775" cy="215900"/>
            <a:chOff x="2280" y="2107"/>
            <a:chExt cx="240" cy="144"/>
          </a:xfrm>
        </p:grpSpPr>
        <p:sp>
          <p:nvSpPr>
            <p:cNvPr id="76" name="Rectangle 183"/>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77" name="Group 184"/>
            <p:cNvGrpSpPr>
              <a:grpSpLocks noChangeAspect="1"/>
            </p:cNvGrpSpPr>
            <p:nvPr/>
          </p:nvGrpSpPr>
          <p:grpSpPr bwMode="auto">
            <a:xfrm>
              <a:off x="2304" y="2136"/>
              <a:ext cx="192" cy="86"/>
              <a:chOff x="3024" y="144"/>
              <a:chExt cx="864" cy="384"/>
            </a:xfrm>
          </p:grpSpPr>
          <p:sp>
            <p:nvSpPr>
              <p:cNvPr id="78" name="AutoShape 185"/>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9" name="Rectangle 186"/>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0" name="AutoShape 187"/>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81" name="Group 188"/>
          <p:cNvGrpSpPr>
            <a:grpSpLocks noChangeAspect="1"/>
          </p:cNvGrpSpPr>
          <p:nvPr/>
        </p:nvGrpSpPr>
        <p:grpSpPr bwMode="auto">
          <a:xfrm>
            <a:off x="5732463" y="3133725"/>
            <a:ext cx="417512" cy="379413"/>
            <a:chOff x="2188" y="2766"/>
            <a:chExt cx="309" cy="281"/>
          </a:xfrm>
        </p:grpSpPr>
        <p:grpSp>
          <p:nvGrpSpPr>
            <p:cNvPr id="82" name="Group 189"/>
            <p:cNvGrpSpPr>
              <a:grpSpLocks noChangeAspect="1"/>
            </p:cNvGrpSpPr>
            <p:nvPr/>
          </p:nvGrpSpPr>
          <p:grpSpPr bwMode="auto">
            <a:xfrm>
              <a:off x="2188" y="2766"/>
              <a:ext cx="309" cy="281"/>
              <a:chOff x="3026" y="2233"/>
              <a:chExt cx="407" cy="370"/>
            </a:xfrm>
          </p:grpSpPr>
          <p:sp>
            <p:nvSpPr>
              <p:cNvPr id="84" name="Freeform 190"/>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5" name="Freeform 191"/>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6" name="Freeform 192"/>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7" name="Freeform 193"/>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83" name="Freeform 194"/>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nvGrpSpPr>
          <p:cNvPr id="88" name="Group 195"/>
          <p:cNvGrpSpPr>
            <a:grpSpLocks noChangeAspect="1"/>
          </p:cNvGrpSpPr>
          <p:nvPr/>
        </p:nvGrpSpPr>
        <p:grpSpPr bwMode="auto">
          <a:xfrm>
            <a:off x="6423025" y="3146425"/>
            <a:ext cx="417513" cy="379413"/>
            <a:chOff x="2188" y="2766"/>
            <a:chExt cx="309" cy="281"/>
          </a:xfrm>
        </p:grpSpPr>
        <p:grpSp>
          <p:nvGrpSpPr>
            <p:cNvPr id="89" name="Group 196"/>
            <p:cNvGrpSpPr>
              <a:grpSpLocks noChangeAspect="1"/>
            </p:cNvGrpSpPr>
            <p:nvPr/>
          </p:nvGrpSpPr>
          <p:grpSpPr bwMode="auto">
            <a:xfrm>
              <a:off x="2188" y="2766"/>
              <a:ext cx="309" cy="281"/>
              <a:chOff x="3026" y="2233"/>
              <a:chExt cx="407" cy="370"/>
            </a:xfrm>
          </p:grpSpPr>
          <p:sp>
            <p:nvSpPr>
              <p:cNvPr id="91" name="Freeform 197"/>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2" name="Freeform 198"/>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3" name="Freeform 199"/>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4" name="Freeform 200"/>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90" name="Freeform 201"/>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95" name="Rectangle 204"/>
          <p:cNvSpPr>
            <a:spLocks noChangeArrowheads="1"/>
          </p:cNvSpPr>
          <p:nvPr/>
        </p:nvSpPr>
        <p:spPr bwMode="auto">
          <a:xfrm>
            <a:off x="7097713" y="2595563"/>
            <a:ext cx="1423987" cy="1860550"/>
          </a:xfrm>
          <a:prstGeom prst="rect">
            <a:avLst/>
          </a:prstGeom>
          <a:gradFill rotWithShape="1">
            <a:gsLst>
              <a:gs pos="0">
                <a:srgbClr val="BCA879"/>
              </a:gs>
              <a:gs pos="100000">
                <a:srgbClr val="BCA879">
                  <a:gamma/>
                  <a:tint val="36471"/>
                  <a:invGamma/>
                </a:srgbClr>
              </a:gs>
            </a:gsLst>
            <a:lin ang="2700000" scaled="1"/>
          </a:gradFill>
          <a:ln w="38100" cap="rnd">
            <a:solidFill>
              <a:srgbClr val="009900"/>
            </a:solidFill>
            <a:prstDash val="sysDot"/>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96" name="Group 205"/>
          <p:cNvGrpSpPr>
            <a:grpSpLocks noChangeAspect="1"/>
          </p:cNvGrpSpPr>
          <p:nvPr/>
        </p:nvGrpSpPr>
        <p:grpSpPr bwMode="auto">
          <a:xfrm>
            <a:off x="7254875" y="2681288"/>
            <a:ext cx="417513" cy="379412"/>
            <a:chOff x="2188" y="2766"/>
            <a:chExt cx="309" cy="281"/>
          </a:xfrm>
        </p:grpSpPr>
        <p:grpSp>
          <p:nvGrpSpPr>
            <p:cNvPr id="97" name="Group 206"/>
            <p:cNvGrpSpPr>
              <a:grpSpLocks noChangeAspect="1"/>
            </p:cNvGrpSpPr>
            <p:nvPr/>
          </p:nvGrpSpPr>
          <p:grpSpPr bwMode="auto">
            <a:xfrm>
              <a:off x="2188" y="2766"/>
              <a:ext cx="309" cy="281"/>
              <a:chOff x="3026" y="2233"/>
              <a:chExt cx="407" cy="370"/>
            </a:xfrm>
          </p:grpSpPr>
          <p:sp>
            <p:nvSpPr>
              <p:cNvPr id="99" name="Freeform 207"/>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0" name="Freeform 208"/>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1" name="Freeform 209"/>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2" name="Freeform 210"/>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98" name="Freeform 211"/>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nvGrpSpPr>
          <p:cNvPr id="103" name="Group 212"/>
          <p:cNvGrpSpPr>
            <a:grpSpLocks noChangeAspect="1"/>
          </p:cNvGrpSpPr>
          <p:nvPr/>
        </p:nvGrpSpPr>
        <p:grpSpPr bwMode="auto">
          <a:xfrm>
            <a:off x="7945438" y="2693988"/>
            <a:ext cx="417512" cy="379412"/>
            <a:chOff x="2188" y="2766"/>
            <a:chExt cx="309" cy="281"/>
          </a:xfrm>
        </p:grpSpPr>
        <p:grpSp>
          <p:nvGrpSpPr>
            <p:cNvPr id="104" name="Group 213"/>
            <p:cNvGrpSpPr>
              <a:grpSpLocks noChangeAspect="1"/>
            </p:cNvGrpSpPr>
            <p:nvPr/>
          </p:nvGrpSpPr>
          <p:grpSpPr bwMode="auto">
            <a:xfrm>
              <a:off x="2188" y="2766"/>
              <a:ext cx="309" cy="281"/>
              <a:chOff x="3026" y="2233"/>
              <a:chExt cx="407" cy="370"/>
            </a:xfrm>
          </p:grpSpPr>
          <p:sp>
            <p:nvSpPr>
              <p:cNvPr id="106" name="Freeform 214"/>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7" name="Freeform 215"/>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8" name="Freeform 216"/>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9" name="Freeform 217"/>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105" name="Freeform 218"/>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110" name="Rectangle 219"/>
          <p:cNvSpPr>
            <a:spLocks noChangeAspect="1" noChangeArrowheads="1"/>
          </p:cNvSpPr>
          <p:nvPr/>
        </p:nvSpPr>
        <p:spPr bwMode="auto">
          <a:xfrm>
            <a:off x="7180263" y="3586163"/>
            <a:ext cx="358775" cy="215900"/>
          </a:xfrm>
          <a:prstGeom prst="rect">
            <a:avLst/>
          </a:prstGeom>
          <a:gradFill rotWithShape="1">
            <a:gsLst>
              <a:gs pos="0">
                <a:srgbClr val="9900CC"/>
              </a:gs>
              <a:gs pos="50000">
                <a:srgbClr val="9900CC">
                  <a:gamma/>
                  <a:tint val="30196"/>
                  <a:invGamma/>
                </a:srgbClr>
              </a:gs>
              <a:gs pos="100000">
                <a:srgbClr val="9900CC"/>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11" name="Group 220"/>
          <p:cNvGrpSpPr>
            <a:grpSpLocks noChangeAspect="1"/>
          </p:cNvGrpSpPr>
          <p:nvPr/>
        </p:nvGrpSpPr>
        <p:grpSpPr bwMode="auto">
          <a:xfrm>
            <a:off x="7216775" y="3629025"/>
            <a:ext cx="285750" cy="130175"/>
            <a:chOff x="3024" y="144"/>
            <a:chExt cx="864" cy="384"/>
          </a:xfrm>
        </p:grpSpPr>
        <p:sp>
          <p:nvSpPr>
            <p:cNvPr id="112" name="AutoShape 221"/>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3" name="Rectangle 222"/>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4" name="AutoShape 223"/>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nvGrpSpPr>
          <p:cNvPr id="115" name="Group 224"/>
          <p:cNvGrpSpPr>
            <a:grpSpLocks noChangeAspect="1"/>
          </p:cNvGrpSpPr>
          <p:nvPr/>
        </p:nvGrpSpPr>
        <p:grpSpPr bwMode="auto">
          <a:xfrm>
            <a:off x="7629525" y="3587750"/>
            <a:ext cx="358775" cy="215900"/>
            <a:chOff x="2280" y="2107"/>
            <a:chExt cx="240" cy="144"/>
          </a:xfrm>
        </p:grpSpPr>
        <p:sp>
          <p:nvSpPr>
            <p:cNvPr id="116" name="Rectangle 225"/>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17" name="Group 226"/>
            <p:cNvGrpSpPr>
              <a:grpSpLocks noChangeAspect="1"/>
            </p:cNvGrpSpPr>
            <p:nvPr/>
          </p:nvGrpSpPr>
          <p:grpSpPr bwMode="auto">
            <a:xfrm>
              <a:off x="2304" y="2136"/>
              <a:ext cx="192" cy="86"/>
              <a:chOff x="3024" y="144"/>
              <a:chExt cx="864" cy="384"/>
            </a:xfrm>
          </p:grpSpPr>
          <p:sp>
            <p:nvSpPr>
              <p:cNvPr id="118" name="AutoShape 227"/>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9" name="Rectangle 228"/>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0" name="AutoShape 229"/>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21" name="Group 230"/>
          <p:cNvGrpSpPr>
            <a:grpSpLocks noChangeAspect="1"/>
          </p:cNvGrpSpPr>
          <p:nvPr/>
        </p:nvGrpSpPr>
        <p:grpSpPr bwMode="auto">
          <a:xfrm>
            <a:off x="8083550" y="3582988"/>
            <a:ext cx="358775" cy="215900"/>
            <a:chOff x="2280" y="2107"/>
            <a:chExt cx="240" cy="144"/>
          </a:xfrm>
        </p:grpSpPr>
        <p:sp>
          <p:nvSpPr>
            <p:cNvPr id="122" name="Rectangle 231"/>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23" name="Group 232"/>
            <p:cNvGrpSpPr>
              <a:grpSpLocks noChangeAspect="1"/>
            </p:cNvGrpSpPr>
            <p:nvPr/>
          </p:nvGrpSpPr>
          <p:grpSpPr bwMode="auto">
            <a:xfrm>
              <a:off x="2304" y="2136"/>
              <a:ext cx="192" cy="86"/>
              <a:chOff x="3024" y="144"/>
              <a:chExt cx="864" cy="384"/>
            </a:xfrm>
          </p:grpSpPr>
          <p:sp>
            <p:nvSpPr>
              <p:cNvPr id="124" name="AutoShape 233"/>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5" name="Rectangle 234"/>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6" name="AutoShape 235"/>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27" name="Group 236"/>
          <p:cNvGrpSpPr>
            <a:grpSpLocks noChangeAspect="1"/>
          </p:cNvGrpSpPr>
          <p:nvPr/>
        </p:nvGrpSpPr>
        <p:grpSpPr bwMode="auto">
          <a:xfrm>
            <a:off x="7185025" y="3876675"/>
            <a:ext cx="358775" cy="215900"/>
            <a:chOff x="2280" y="2107"/>
            <a:chExt cx="240" cy="144"/>
          </a:xfrm>
        </p:grpSpPr>
        <p:sp>
          <p:nvSpPr>
            <p:cNvPr id="128" name="Rectangle 237"/>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29" name="Group 238"/>
            <p:cNvGrpSpPr>
              <a:grpSpLocks noChangeAspect="1"/>
            </p:cNvGrpSpPr>
            <p:nvPr/>
          </p:nvGrpSpPr>
          <p:grpSpPr bwMode="auto">
            <a:xfrm>
              <a:off x="2304" y="2136"/>
              <a:ext cx="192" cy="86"/>
              <a:chOff x="3024" y="144"/>
              <a:chExt cx="864" cy="384"/>
            </a:xfrm>
          </p:grpSpPr>
          <p:sp>
            <p:nvSpPr>
              <p:cNvPr id="130" name="AutoShape 239"/>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1" name="Rectangle 240"/>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2" name="AutoShape 241"/>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33" name="Group 242"/>
          <p:cNvGrpSpPr>
            <a:grpSpLocks noChangeAspect="1"/>
          </p:cNvGrpSpPr>
          <p:nvPr/>
        </p:nvGrpSpPr>
        <p:grpSpPr bwMode="auto">
          <a:xfrm>
            <a:off x="7634288" y="3878263"/>
            <a:ext cx="358775" cy="215900"/>
            <a:chOff x="2280" y="2107"/>
            <a:chExt cx="240" cy="144"/>
          </a:xfrm>
        </p:grpSpPr>
        <p:sp>
          <p:nvSpPr>
            <p:cNvPr id="134" name="Rectangle 243"/>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35" name="Group 244"/>
            <p:cNvGrpSpPr>
              <a:grpSpLocks noChangeAspect="1"/>
            </p:cNvGrpSpPr>
            <p:nvPr/>
          </p:nvGrpSpPr>
          <p:grpSpPr bwMode="auto">
            <a:xfrm>
              <a:off x="2304" y="2136"/>
              <a:ext cx="192" cy="86"/>
              <a:chOff x="3024" y="144"/>
              <a:chExt cx="864" cy="384"/>
            </a:xfrm>
          </p:grpSpPr>
          <p:sp>
            <p:nvSpPr>
              <p:cNvPr id="136" name="AutoShape 245"/>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7" name="Rectangle 246"/>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8" name="AutoShape 247"/>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39" name="Group 248"/>
          <p:cNvGrpSpPr>
            <a:grpSpLocks noChangeAspect="1"/>
          </p:cNvGrpSpPr>
          <p:nvPr/>
        </p:nvGrpSpPr>
        <p:grpSpPr bwMode="auto">
          <a:xfrm>
            <a:off x="8088313" y="3873500"/>
            <a:ext cx="358775" cy="215900"/>
            <a:chOff x="2280" y="2107"/>
            <a:chExt cx="240" cy="144"/>
          </a:xfrm>
        </p:grpSpPr>
        <p:sp>
          <p:nvSpPr>
            <p:cNvPr id="140" name="Rectangle 249"/>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41" name="Group 250"/>
            <p:cNvGrpSpPr>
              <a:grpSpLocks noChangeAspect="1"/>
            </p:cNvGrpSpPr>
            <p:nvPr/>
          </p:nvGrpSpPr>
          <p:grpSpPr bwMode="auto">
            <a:xfrm>
              <a:off x="2304" y="2136"/>
              <a:ext cx="192" cy="86"/>
              <a:chOff x="3024" y="144"/>
              <a:chExt cx="864" cy="384"/>
            </a:xfrm>
          </p:grpSpPr>
          <p:sp>
            <p:nvSpPr>
              <p:cNvPr id="142" name="AutoShape 251"/>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3" name="Rectangle 252"/>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4" name="AutoShape 253"/>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45" name="Group 254"/>
          <p:cNvGrpSpPr>
            <a:grpSpLocks noChangeAspect="1"/>
          </p:cNvGrpSpPr>
          <p:nvPr/>
        </p:nvGrpSpPr>
        <p:grpSpPr bwMode="auto">
          <a:xfrm>
            <a:off x="7185025" y="4167188"/>
            <a:ext cx="358775" cy="215900"/>
            <a:chOff x="2280" y="2107"/>
            <a:chExt cx="240" cy="144"/>
          </a:xfrm>
        </p:grpSpPr>
        <p:sp>
          <p:nvSpPr>
            <p:cNvPr id="146" name="Rectangle 255"/>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47" name="Group 256"/>
            <p:cNvGrpSpPr>
              <a:grpSpLocks noChangeAspect="1"/>
            </p:cNvGrpSpPr>
            <p:nvPr/>
          </p:nvGrpSpPr>
          <p:grpSpPr bwMode="auto">
            <a:xfrm>
              <a:off x="2304" y="2136"/>
              <a:ext cx="192" cy="86"/>
              <a:chOff x="3024" y="144"/>
              <a:chExt cx="864" cy="384"/>
            </a:xfrm>
          </p:grpSpPr>
          <p:sp>
            <p:nvSpPr>
              <p:cNvPr id="148" name="AutoShape 257"/>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9" name="Rectangle 258"/>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0" name="AutoShape 259"/>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51" name="Group 260"/>
          <p:cNvGrpSpPr>
            <a:grpSpLocks noChangeAspect="1"/>
          </p:cNvGrpSpPr>
          <p:nvPr/>
        </p:nvGrpSpPr>
        <p:grpSpPr bwMode="auto">
          <a:xfrm>
            <a:off x="7634288" y="4168775"/>
            <a:ext cx="358775" cy="215900"/>
            <a:chOff x="2280" y="2107"/>
            <a:chExt cx="240" cy="144"/>
          </a:xfrm>
        </p:grpSpPr>
        <p:sp>
          <p:nvSpPr>
            <p:cNvPr id="152" name="Rectangle 261"/>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53" name="Group 262"/>
            <p:cNvGrpSpPr>
              <a:grpSpLocks noChangeAspect="1"/>
            </p:cNvGrpSpPr>
            <p:nvPr/>
          </p:nvGrpSpPr>
          <p:grpSpPr bwMode="auto">
            <a:xfrm>
              <a:off x="2304" y="2136"/>
              <a:ext cx="192" cy="86"/>
              <a:chOff x="3024" y="144"/>
              <a:chExt cx="864" cy="384"/>
            </a:xfrm>
          </p:grpSpPr>
          <p:sp>
            <p:nvSpPr>
              <p:cNvPr id="154" name="AutoShape 263"/>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5" name="Rectangle 264"/>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6" name="AutoShape 265"/>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57" name="Group 266"/>
          <p:cNvGrpSpPr>
            <a:grpSpLocks noChangeAspect="1"/>
          </p:cNvGrpSpPr>
          <p:nvPr/>
        </p:nvGrpSpPr>
        <p:grpSpPr bwMode="auto">
          <a:xfrm>
            <a:off x="8088313" y="4164013"/>
            <a:ext cx="358775" cy="215900"/>
            <a:chOff x="2280" y="2107"/>
            <a:chExt cx="240" cy="144"/>
          </a:xfrm>
        </p:grpSpPr>
        <p:sp>
          <p:nvSpPr>
            <p:cNvPr id="158" name="Rectangle 267"/>
            <p:cNvSpPr>
              <a:spLocks noChangeAspect="1" noChangeArrowheads="1"/>
            </p:cNvSpPr>
            <p:nvPr/>
          </p:nvSpPr>
          <p:spPr bwMode="auto">
            <a:xfrm>
              <a:off x="2280" y="2107"/>
              <a:ext cx="240" cy="144"/>
            </a:xfrm>
            <a:prstGeom prst="rect">
              <a:avLst/>
            </a:prstGeom>
            <a:gradFill rotWithShape="1">
              <a:gsLst>
                <a:gs pos="0">
                  <a:srgbClr val="BCA879"/>
                </a:gs>
                <a:gs pos="50000">
                  <a:srgbClr val="BCA879">
                    <a:gamma/>
                    <a:tint val="30196"/>
                    <a:invGamma/>
                  </a:srgbClr>
                </a:gs>
                <a:gs pos="100000">
                  <a:srgbClr val="BCA879"/>
                </a:gs>
              </a:gsLst>
              <a:lin ang="0" scaled="1"/>
            </a:gradFill>
            <a:ln w="9525">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59" name="Group 268"/>
            <p:cNvGrpSpPr>
              <a:grpSpLocks noChangeAspect="1"/>
            </p:cNvGrpSpPr>
            <p:nvPr/>
          </p:nvGrpSpPr>
          <p:grpSpPr bwMode="auto">
            <a:xfrm>
              <a:off x="2304" y="2136"/>
              <a:ext cx="192" cy="86"/>
              <a:chOff x="3024" y="144"/>
              <a:chExt cx="864" cy="384"/>
            </a:xfrm>
          </p:grpSpPr>
          <p:sp>
            <p:nvSpPr>
              <p:cNvPr id="160" name="AutoShape 269"/>
              <p:cNvSpPr>
                <a:spLocks noChangeAspect="1" noChangeArrowheads="1"/>
              </p:cNvSpPr>
              <p:nvPr/>
            </p:nvSpPr>
            <p:spPr bwMode="auto">
              <a:xfrm>
                <a:off x="302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1" name="Rectangle 270"/>
              <p:cNvSpPr>
                <a:spLocks noChangeAspect="1" noChangeArrowheads="1"/>
              </p:cNvSpPr>
              <p:nvPr/>
            </p:nvSpPr>
            <p:spPr bwMode="auto">
              <a:xfrm>
                <a:off x="3216" y="144"/>
                <a:ext cx="480" cy="96"/>
              </a:xfrm>
              <a:prstGeom prst="rect">
                <a:avLst/>
              </a:prstGeom>
              <a:solidFill>
                <a:schemeClr val="tx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2" name="AutoShape 271"/>
              <p:cNvSpPr>
                <a:spLocks noChangeAspect="1" noChangeArrowheads="1"/>
              </p:cNvSpPr>
              <p:nvPr/>
            </p:nvSpPr>
            <p:spPr bwMode="auto">
              <a:xfrm>
                <a:off x="3504" y="144"/>
                <a:ext cx="384" cy="384"/>
              </a:xfrm>
              <a:custGeom>
                <a:avLst/>
                <a:gdLst>
                  <a:gd name="G0" fmla="+- 5119 0 0"/>
                  <a:gd name="G1" fmla="+- 21600 0 5119"/>
                  <a:gd name="G2" fmla="+- 21600 0 5119"/>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119" y="10800"/>
                    </a:moveTo>
                    <a:cubicBezTo>
                      <a:pt x="5119" y="13938"/>
                      <a:pt x="7662" y="16481"/>
                      <a:pt x="10800" y="16481"/>
                    </a:cubicBezTo>
                    <a:cubicBezTo>
                      <a:pt x="13938" y="16481"/>
                      <a:pt x="16481" y="13938"/>
                      <a:pt x="16481" y="10800"/>
                    </a:cubicBezTo>
                    <a:cubicBezTo>
                      <a:pt x="16481" y="7662"/>
                      <a:pt x="13938" y="5119"/>
                      <a:pt x="10800" y="5119"/>
                    </a:cubicBezTo>
                    <a:cubicBezTo>
                      <a:pt x="7662" y="5119"/>
                      <a:pt x="5119" y="7662"/>
                      <a:pt x="5119" y="10800"/>
                    </a:cubicBezTo>
                    <a:close/>
                  </a:path>
                </a:pathLst>
              </a:custGeom>
              <a:solidFill>
                <a:schemeClr val="tx1"/>
              </a:solidFill>
              <a:ln w="9525">
                <a:no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grpSp>
        <p:nvGrpSpPr>
          <p:cNvPr id="163" name="Group 272"/>
          <p:cNvGrpSpPr>
            <a:grpSpLocks noChangeAspect="1"/>
          </p:cNvGrpSpPr>
          <p:nvPr/>
        </p:nvGrpSpPr>
        <p:grpSpPr bwMode="auto">
          <a:xfrm>
            <a:off x="7250113" y="3133725"/>
            <a:ext cx="417512" cy="379413"/>
            <a:chOff x="2188" y="2766"/>
            <a:chExt cx="309" cy="281"/>
          </a:xfrm>
        </p:grpSpPr>
        <p:grpSp>
          <p:nvGrpSpPr>
            <p:cNvPr id="164" name="Group 273"/>
            <p:cNvGrpSpPr>
              <a:grpSpLocks noChangeAspect="1"/>
            </p:cNvGrpSpPr>
            <p:nvPr/>
          </p:nvGrpSpPr>
          <p:grpSpPr bwMode="auto">
            <a:xfrm>
              <a:off x="2188" y="2766"/>
              <a:ext cx="309" cy="281"/>
              <a:chOff x="3026" y="2233"/>
              <a:chExt cx="407" cy="370"/>
            </a:xfrm>
          </p:grpSpPr>
          <p:sp>
            <p:nvSpPr>
              <p:cNvPr id="166" name="Freeform 274"/>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7" name="Freeform 275"/>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8" name="Freeform 276"/>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9" name="Freeform 277"/>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165" name="Freeform 278"/>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nvGrpSpPr>
          <p:cNvPr id="170" name="Group 279"/>
          <p:cNvGrpSpPr>
            <a:grpSpLocks noChangeAspect="1"/>
          </p:cNvGrpSpPr>
          <p:nvPr/>
        </p:nvGrpSpPr>
        <p:grpSpPr bwMode="auto">
          <a:xfrm>
            <a:off x="7940675" y="3146425"/>
            <a:ext cx="417513" cy="379413"/>
            <a:chOff x="2188" y="2766"/>
            <a:chExt cx="309" cy="281"/>
          </a:xfrm>
        </p:grpSpPr>
        <p:grpSp>
          <p:nvGrpSpPr>
            <p:cNvPr id="171" name="Group 280"/>
            <p:cNvGrpSpPr>
              <a:grpSpLocks noChangeAspect="1"/>
            </p:cNvGrpSpPr>
            <p:nvPr/>
          </p:nvGrpSpPr>
          <p:grpSpPr bwMode="auto">
            <a:xfrm>
              <a:off x="2188" y="2766"/>
              <a:ext cx="309" cy="281"/>
              <a:chOff x="3026" y="2233"/>
              <a:chExt cx="407" cy="370"/>
            </a:xfrm>
          </p:grpSpPr>
          <p:sp>
            <p:nvSpPr>
              <p:cNvPr id="173" name="Freeform 281"/>
              <p:cNvSpPr>
                <a:spLocks noChangeAspect="1"/>
              </p:cNvSpPr>
              <p:nvPr/>
            </p:nvSpPr>
            <p:spPr bwMode="gray">
              <a:xfrm>
                <a:off x="3026" y="2337"/>
                <a:ext cx="233" cy="260"/>
              </a:xfrm>
              <a:custGeom>
                <a:avLst/>
                <a:gdLst/>
                <a:ahLst/>
                <a:cxnLst>
                  <a:cxn ang="0">
                    <a:pos x="233" y="137"/>
                  </a:cxn>
                  <a:cxn ang="0">
                    <a:pos x="230" y="260"/>
                  </a:cxn>
                  <a:cxn ang="0">
                    <a:pos x="2" y="127"/>
                  </a:cxn>
                  <a:cxn ang="0">
                    <a:pos x="0" y="0"/>
                  </a:cxn>
                  <a:cxn ang="0">
                    <a:pos x="233" y="137"/>
                  </a:cxn>
                </a:cxnLst>
                <a:rect l="0" t="0" r="r" b="b"/>
                <a:pathLst>
                  <a:path w="233" h="260">
                    <a:moveTo>
                      <a:pt x="233" y="137"/>
                    </a:moveTo>
                    <a:lnTo>
                      <a:pt x="230" y="260"/>
                    </a:lnTo>
                    <a:cubicBezTo>
                      <a:pt x="230" y="260"/>
                      <a:pt x="2" y="127"/>
                      <a:pt x="2" y="127"/>
                    </a:cubicBezTo>
                    <a:lnTo>
                      <a:pt x="0" y="0"/>
                    </a:lnTo>
                    <a:lnTo>
                      <a:pt x="233" y="137"/>
                    </a:lnTo>
                    <a:close/>
                  </a:path>
                </a:pathLst>
              </a:custGeom>
              <a:gradFill rotWithShape="1">
                <a:gsLst>
                  <a:gs pos="0">
                    <a:srgbClr val="BCA879"/>
                  </a:gs>
                  <a:gs pos="100000">
                    <a:srgbClr val="BCA879">
                      <a:gamma/>
                      <a:tint val="30196"/>
                      <a:invGamma/>
                    </a:srgbClr>
                  </a:gs>
                </a:gsLst>
                <a:lin ang="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4" name="Freeform 282"/>
              <p:cNvSpPr>
                <a:spLocks noChangeAspect="1"/>
              </p:cNvSpPr>
              <p:nvPr/>
            </p:nvSpPr>
            <p:spPr bwMode="gray">
              <a:xfrm>
                <a:off x="3254" y="2369"/>
                <a:ext cx="174" cy="234"/>
              </a:xfrm>
              <a:custGeom>
                <a:avLst/>
                <a:gdLst/>
                <a:ahLst/>
                <a:cxnLst>
                  <a:cxn ang="0">
                    <a:pos x="178" y="0"/>
                  </a:cxn>
                  <a:cxn ang="0">
                    <a:pos x="180" y="134"/>
                  </a:cxn>
                  <a:cxn ang="0">
                    <a:pos x="0" y="234"/>
                  </a:cxn>
                  <a:cxn ang="0">
                    <a:pos x="0" y="110"/>
                  </a:cxn>
                  <a:cxn ang="0">
                    <a:pos x="178" y="0"/>
                  </a:cxn>
                </a:cxnLst>
                <a:rect l="0" t="0" r="r" b="b"/>
                <a:pathLst>
                  <a:path w="180" h="234">
                    <a:moveTo>
                      <a:pt x="178" y="0"/>
                    </a:moveTo>
                    <a:lnTo>
                      <a:pt x="180" y="134"/>
                    </a:lnTo>
                    <a:lnTo>
                      <a:pt x="0" y="234"/>
                    </a:lnTo>
                    <a:lnTo>
                      <a:pt x="0" y="110"/>
                    </a:lnTo>
                    <a:lnTo>
                      <a:pt x="178" y="0"/>
                    </a:lnTo>
                    <a:close/>
                  </a:path>
                </a:pathLst>
              </a:custGeom>
              <a:gradFill rotWithShape="1">
                <a:gsLst>
                  <a:gs pos="0">
                    <a:srgbClr val="BCA879">
                      <a:gamma/>
                      <a:tint val="30196"/>
                      <a:invGamma/>
                    </a:srgbClr>
                  </a:gs>
                  <a:gs pos="100000">
                    <a:srgbClr val="BCA879"/>
                  </a:gs>
                </a:gsLst>
                <a:lin ang="2700000" scaled="1"/>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5" name="Freeform 283"/>
              <p:cNvSpPr>
                <a:spLocks noChangeAspect="1"/>
              </p:cNvSpPr>
              <p:nvPr/>
            </p:nvSpPr>
            <p:spPr bwMode="gray">
              <a:xfrm>
                <a:off x="3027" y="2233"/>
                <a:ext cx="406" cy="243"/>
              </a:xfrm>
              <a:custGeom>
                <a:avLst/>
                <a:gdLst/>
                <a:ahLst/>
                <a:cxnLst>
                  <a:cxn ang="0">
                    <a:pos x="406" y="135"/>
                  </a:cxn>
                  <a:cxn ang="0">
                    <a:pos x="230" y="243"/>
                  </a:cxn>
                  <a:cxn ang="0">
                    <a:pos x="0" y="106"/>
                  </a:cxn>
                  <a:cxn ang="0">
                    <a:pos x="188" y="0"/>
                  </a:cxn>
                  <a:cxn ang="0">
                    <a:pos x="406" y="135"/>
                  </a:cxn>
                </a:cxnLst>
                <a:rect l="0" t="0" r="r" b="b"/>
                <a:pathLst>
                  <a:path w="406" h="243">
                    <a:moveTo>
                      <a:pt x="406" y="135"/>
                    </a:moveTo>
                    <a:lnTo>
                      <a:pt x="230" y="243"/>
                    </a:lnTo>
                    <a:lnTo>
                      <a:pt x="0" y="106"/>
                    </a:lnTo>
                    <a:cubicBezTo>
                      <a:pt x="94" y="53"/>
                      <a:pt x="188" y="0"/>
                      <a:pt x="188" y="0"/>
                    </a:cubicBezTo>
                    <a:lnTo>
                      <a:pt x="406" y="135"/>
                    </a:lnTo>
                    <a:close/>
                  </a:path>
                </a:pathLst>
              </a:custGeom>
              <a:gradFill rotWithShape="1">
                <a:gsLst>
                  <a:gs pos="0">
                    <a:srgbClr val="BCA879"/>
                  </a:gs>
                  <a:gs pos="100000">
                    <a:srgbClr val="BCA879">
                      <a:gamma/>
                      <a:tint val="30196"/>
                      <a:invGamma/>
                    </a:srgbClr>
                  </a:gs>
                </a:gsLst>
                <a:path path="rect">
                  <a:fillToRect l="100000" b="100000"/>
                </a:path>
              </a:gradFill>
              <a:ln w="6350" cap="flat" cmpd="sng">
                <a:solidFill>
                  <a:schemeClr val="bg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6" name="Freeform 284"/>
              <p:cNvSpPr>
                <a:spLocks noChangeAspect="1"/>
              </p:cNvSpPr>
              <p:nvPr/>
            </p:nvSpPr>
            <p:spPr bwMode="auto">
              <a:xfrm>
                <a:off x="3028" y="2235"/>
                <a:ext cx="399" cy="364"/>
              </a:xfrm>
              <a:custGeom>
                <a:avLst/>
                <a:gdLst/>
                <a:ahLst/>
                <a:cxnLst>
                  <a:cxn ang="0">
                    <a:pos x="185" y="0"/>
                  </a:cxn>
                  <a:cxn ang="0">
                    <a:pos x="399" y="134"/>
                  </a:cxn>
                  <a:cxn ang="0">
                    <a:pos x="399" y="268"/>
                  </a:cxn>
                  <a:cxn ang="0">
                    <a:pos x="228" y="364"/>
                  </a:cxn>
                  <a:cxn ang="0">
                    <a:pos x="0" y="227"/>
                  </a:cxn>
                  <a:cxn ang="0">
                    <a:pos x="0" y="106"/>
                  </a:cxn>
                  <a:cxn ang="0">
                    <a:pos x="185" y="0"/>
                  </a:cxn>
                </a:cxnLst>
                <a:rect l="0" t="0" r="r" b="b"/>
                <a:pathLst>
                  <a:path w="399" h="364">
                    <a:moveTo>
                      <a:pt x="185" y="0"/>
                    </a:moveTo>
                    <a:lnTo>
                      <a:pt x="399" y="134"/>
                    </a:lnTo>
                    <a:lnTo>
                      <a:pt x="399" y="268"/>
                    </a:lnTo>
                    <a:lnTo>
                      <a:pt x="228" y="364"/>
                    </a:lnTo>
                    <a:lnTo>
                      <a:pt x="0" y="227"/>
                    </a:lnTo>
                    <a:lnTo>
                      <a:pt x="0" y="106"/>
                    </a:lnTo>
                    <a:lnTo>
                      <a:pt x="185" y="0"/>
                    </a:lnTo>
                    <a:close/>
                  </a:path>
                </a:pathLst>
              </a:custGeom>
              <a:noFill/>
              <a:ln w="9525" cap="flat" cmpd="sng">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172" name="Freeform 285"/>
            <p:cNvSpPr>
              <a:spLocks noChangeAspect="1"/>
            </p:cNvSpPr>
            <p:nvPr/>
          </p:nvSpPr>
          <p:spPr bwMode="auto">
            <a:xfrm rot="270840">
              <a:off x="2222" y="2907"/>
              <a:ext cx="108" cy="75"/>
            </a:xfrm>
            <a:custGeom>
              <a:avLst/>
              <a:gdLst/>
              <a:ahLst/>
              <a:cxnLst>
                <a:cxn ang="0">
                  <a:pos x="108" y="51"/>
                </a:cxn>
                <a:cxn ang="0">
                  <a:pos x="108" y="75"/>
                </a:cxn>
                <a:cxn ang="0">
                  <a:pos x="58" y="56"/>
                </a:cxn>
                <a:cxn ang="0">
                  <a:pos x="33" y="40"/>
                </a:cxn>
                <a:cxn ang="0">
                  <a:pos x="15" y="28"/>
                </a:cxn>
                <a:cxn ang="0">
                  <a:pos x="0" y="23"/>
                </a:cxn>
                <a:cxn ang="0">
                  <a:pos x="0" y="0"/>
                </a:cxn>
                <a:cxn ang="0">
                  <a:pos x="33" y="21"/>
                </a:cxn>
                <a:cxn ang="0">
                  <a:pos x="61" y="35"/>
                </a:cxn>
                <a:cxn ang="0">
                  <a:pos x="84" y="44"/>
                </a:cxn>
                <a:cxn ang="0">
                  <a:pos x="108" y="51"/>
                </a:cxn>
              </a:cxnLst>
              <a:rect l="0" t="0" r="r" b="b"/>
              <a:pathLst>
                <a:path w="108" h="75">
                  <a:moveTo>
                    <a:pt x="108" y="51"/>
                  </a:moveTo>
                  <a:lnTo>
                    <a:pt x="108" y="75"/>
                  </a:lnTo>
                  <a:lnTo>
                    <a:pt x="58" y="56"/>
                  </a:lnTo>
                  <a:lnTo>
                    <a:pt x="33" y="40"/>
                  </a:lnTo>
                  <a:lnTo>
                    <a:pt x="15" y="28"/>
                  </a:lnTo>
                  <a:lnTo>
                    <a:pt x="0" y="23"/>
                  </a:lnTo>
                  <a:lnTo>
                    <a:pt x="0" y="0"/>
                  </a:lnTo>
                  <a:lnTo>
                    <a:pt x="33" y="21"/>
                  </a:lnTo>
                  <a:lnTo>
                    <a:pt x="61" y="35"/>
                  </a:lnTo>
                  <a:lnTo>
                    <a:pt x="84" y="44"/>
                  </a:lnTo>
                  <a:lnTo>
                    <a:pt x="108" y="51"/>
                  </a:lnTo>
                  <a:close/>
                </a:path>
              </a:pathLst>
            </a:custGeom>
            <a:solidFill>
              <a:schemeClr val="tx1"/>
            </a:solidFill>
            <a:ln w="9525" cap="flat" cmpd="sng">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178" name="Text Box 288"/>
          <p:cNvSpPr txBox="1">
            <a:spLocks noChangeArrowheads="1"/>
          </p:cNvSpPr>
          <p:nvPr/>
        </p:nvSpPr>
        <p:spPr bwMode="auto">
          <a:xfrm>
            <a:off x="6503988" y="4733925"/>
            <a:ext cx="1094082" cy="215444"/>
          </a:xfrm>
          <a:prstGeom prst="rect">
            <a:avLst/>
          </a:prstGeom>
          <a:noFill/>
          <a:ln w="25400" algn="ctr">
            <a:noFill/>
            <a:miter lim="800000"/>
            <a:headEnd/>
            <a:tailEnd type="none" w="lg" len="me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(LUNs)</a:t>
            </a:r>
          </a:p>
        </p:txBody>
      </p:sp>
      <p:cxnSp>
        <p:nvCxnSpPr>
          <p:cNvPr id="191" name="AutoShape 303"/>
          <p:cNvCxnSpPr>
            <a:cxnSpLocks noChangeShapeType="1"/>
          </p:cNvCxnSpPr>
          <p:nvPr/>
        </p:nvCxnSpPr>
        <p:spPr bwMode="auto">
          <a:xfrm rot="5400000" flipH="1">
            <a:off x="5632704" y="1110582"/>
            <a:ext cx="658368" cy="1792224"/>
          </a:xfrm>
          <a:prstGeom prst="bentConnector2">
            <a:avLst/>
          </a:prstGeom>
          <a:noFill/>
          <a:ln w="38100">
            <a:solidFill>
              <a:srgbClr val="FF9900"/>
            </a:solidFill>
            <a:miter lim="800000"/>
            <a:headEnd/>
            <a:tailEnd/>
          </a:ln>
          <a:effectLst/>
        </p:spPr>
      </p:cxnSp>
      <p:cxnSp>
        <p:nvCxnSpPr>
          <p:cNvPr id="193" name="AutoShape 305"/>
          <p:cNvCxnSpPr>
            <a:cxnSpLocks noChangeShapeType="1"/>
          </p:cNvCxnSpPr>
          <p:nvPr/>
        </p:nvCxnSpPr>
        <p:spPr bwMode="auto">
          <a:xfrm>
            <a:off x="1902111" y="1674813"/>
            <a:ext cx="2258568" cy="3175"/>
          </a:xfrm>
          <a:prstGeom prst="straightConnector1">
            <a:avLst/>
          </a:prstGeom>
          <a:noFill/>
          <a:ln w="38100">
            <a:solidFill>
              <a:srgbClr val="FF9900"/>
            </a:solidFill>
            <a:round/>
            <a:headEnd/>
            <a:tailEnd/>
          </a:ln>
          <a:effectLst/>
        </p:spPr>
      </p:cxnSp>
      <p:cxnSp>
        <p:nvCxnSpPr>
          <p:cNvPr id="194" name="AutoShape 306"/>
          <p:cNvCxnSpPr>
            <a:cxnSpLocks noChangeShapeType="1"/>
          </p:cNvCxnSpPr>
          <p:nvPr/>
        </p:nvCxnSpPr>
        <p:spPr bwMode="auto">
          <a:xfrm>
            <a:off x="1656292" y="2171346"/>
            <a:ext cx="7938" cy="914400"/>
          </a:xfrm>
          <a:prstGeom prst="straightConnector1">
            <a:avLst/>
          </a:prstGeom>
          <a:noFill/>
          <a:ln w="12700">
            <a:solidFill>
              <a:srgbClr val="0000FF"/>
            </a:solidFill>
            <a:round/>
            <a:headEnd/>
            <a:tailEnd/>
          </a:ln>
          <a:effectLst/>
        </p:spPr>
      </p:cxnSp>
      <p:sp>
        <p:nvSpPr>
          <p:cNvPr id="198" name="AutoShape 311"/>
          <p:cNvSpPr>
            <a:spLocks noChangeArrowheads="1"/>
          </p:cNvSpPr>
          <p:nvPr/>
        </p:nvSpPr>
        <p:spPr bwMode="auto">
          <a:xfrm>
            <a:off x="533400" y="4398963"/>
            <a:ext cx="2289176" cy="1428750"/>
          </a:xfrm>
          <a:prstGeom prst="roundRect">
            <a:avLst>
              <a:gd name="adj" fmla="val 16667"/>
            </a:avLst>
          </a:prstGeom>
          <a:noFill/>
          <a:ln w="38100" cap="rnd" algn="ctr">
            <a:solidFill>
              <a:srgbClr val="000000"/>
            </a:solidFill>
            <a:prstDash val="sysDot"/>
            <a:round/>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cxnSp>
        <p:nvCxnSpPr>
          <p:cNvPr id="199" name="AutoShape 312"/>
          <p:cNvCxnSpPr>
            <a:cxnSpLocks noChangeShapeType="1"/>
            <a:endCxn id="198" idx="0"/>
          </p:cNvCxnSpPr>
          <p:nvPr/>
        </p:nvCxnSpPr>
        <p:spPr bwMode="auto">
          <a:xfrm rot="16200000" flipH="1">
            <a:off x="1315243" y="4036218"/>
            <a:ext cx="722314" cy="3175"/>
          </a:xfrm>
          <a:prstGeom prst="straightConnector1">
            <a:avLst/>
          </a:prstGeom>
          <a:noFill/>
          <a:ln w="12700">
            <a:solidFill>
              <a:srgbClr val="0000FF"/>
            </a:solidFill>
            <a:round/>
            <a:headEnd/>
            <a:tailEnd/>
          </a:ln>
          <a:effectLst/>
        </p:spPr>
      </p:cxnSp>
      <p:pic>
        <p:nvPicPr>
          <p:cNvPr id="212"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718681" y="4495800"/>
            <a:ext cx="543668" cy="1256676"/>
          </a:xfrm>
          <a:prstGeom prst="rect">
            <a:avLst/>
          </a:prstGeom>
          <a:noFill/>
        </p:spPr>
      </p:pic>
      <p:grpSp>
        <p:nvGrpSpPr>
          <p:cNvPr id="213" name="Group 212"/>
          <p:cNvGrpSpPr/>
          <p:nvPr/>
        </p:nvGrpSpPr>
        <p:grpSpPr>
          <a:xfrm>
            <a:off x="1382617" y="1035587"/>
            <a:ext cx="543668" cy="1256676"/>
            <a:chOff x="142132" y="3086724"/>
            <a:chExt cx="543668" cy="1256676"/>
          </a:xfrm>
        </p:grpSpPr>
        <p:pic>
          <p:nvPicPr>
            <p:cNvPr id="214"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2132" y="3086724"/>
              <a:ext cx="543668" cy="1256676"/>
            </a:xfrm>
            <a:prstGeom prst="rect">
              <a:avLst/>
            </a:prstGeom>
            <a:noFill/>
          </p:spPr>
        </p:pic>
        <p:pic>
          <p:nvPicPr>
            <p:cNvPr id="215"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228600" y="3785061"/>
              <a:ext cx="152400" cy="152400"/>
            </a:xfrm>
            <a:prstGeom prst="rect">
              <a:avLst/>
            </a:prstGeom>
            <a:noFill/>
          </p:spPr>
        </p:pic>
        <p:pic>
          <p:nvPicPr>
            <p:cNvPr id="216"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405939" y="3785061"/>
              <a:ext cx="152400" cy="152400"/>
            </a:xfrm>
            <a:prstGeom prst="rect">
              <a:avLst/>
            </a:prstGeom>
            <a:noFill/>
          </p:spPr>
        </p:pic>
      </p:grpSp>
      <p:pic>
        <p:nvPicPr>
          <p:cNvPr id="218" name="Picture 15"/>
          <p:cNvPicPr>
            <a:picLocks noChangeAspect="1" noChangeArrowheads="1"/>
          </p:cNvPicPr>
          <p:nvPr/>
        </p:nvPicPr>
        <p:blipFill>
          <a:blip r:embed="rId5" cstate="print"/>
          <a:srcRect/>
          <a:stretch>
            <a:fillRect/>
          </a:stretch>
        </p:blipFill>
        <p:spPr bwMode="auto">
          <a:xfrm>
            <a:off x="4114800" y="1343456"/>
            <a:ext cx="1066800" cy="691910"/>
          </a:xfrm>
          <a:prstGeom prst="rect">
            <a:avLst/>
          </a:prstGeom>
          <a:noFill/>
          <a:ln w="9525">
            <a:noFill/>
            <a:miter lim="800000"/>
            <a:headEnd/>
            <a:tailEnd/>
          </a:ln>
          <a:effectLst/>
        </p:spPr>
      </p:pic>
      <p:sp>
        <p:nvSpPr>
          <p:cNvPr id="219" name="Rectangle 1612"/>
          <p:cNvSpPr>
            <a:spLocks noChangeArrowheads="1"/>
          </p:cNvSpPr>
          <p:nvPr/>
        </p:nvSpPr>
        <p:spPr bwMode="auto">
          <a:xfrm>
            <a:off x="4379067" y="1551031"/>
            <a:ext cx="603563"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p>
        </p:txBody>
      </p:sp>
      <p:pic>
        <p:nvPicPr>
          <p:cNvPr id="221" name="Picture 16"/>
          <p:cNvPicPr>
            <a:picLocks noChangeAspect="1" noChangeArrowheads="1"/>
          </p:cNvPicPr>
          <p:nvPr/>
        </p:nvPicPr>
        <p:blipFill>
          <a:blip r:embed="rId6" cstate="print"/>
          <a:srcRect/>
          <a:stretch>
            <a:fillRect/>
          </a:stretch>
        </p:blipFill>
        <p:spPr bwMode="auto">
          <a:xfrm>
            <a:off x="1142081" y="2998741"/>
            <a:ext cx="1066800" cy="691910"/>
          </a:xfrm>
          <a:prstGeom prst="rect">
            <a:avLst/>
          </a:prstGeom>
          <a:noFill/>
          <a:ln w="9525">
            <a:noFill/>
            <a:miter lim="800000"/>
            <a:headEnd/>
            <a:tailEnd/>
          </a:ln>
          <a:effectLst/>
        </p:spPr>
      </p:pic>
      <p:sp>
        <p:nvSpPr>
          <p:cNvPr id="222" name="Rectangle 1610"/>
          <p:cNvSpPr>
            <a:spLocks noChangeArrowheads="1"/>
          </p:cNvSpPr>
          <p:nvPr/>
        </p:nvSpPr>
        <p:spPr bwMode="auto">
          <a:xfrm>
            <a:off x="1473485" y="3202264"/>
            <a:ext cx="346249" cy="246221"/>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LAN</a:t>
            </a:r>
          </a:p>
        </p:txBody>
      </p:sp>
      <p:pic>
        <p:nvPicPr>
          <p:cNvPr id="223"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404481" y="4495800"/>
            <a:ext cx="543668" cy="1256676"/>
          </a:xfrm>
          <a:prstGeom prst="rect">
            <a:avLst/>
          </a:prstGeom>
          <a:noFill/>
        </p:spPr>
      </p:pic>
      <p:pic>
        <p:nvPicPr>
          <p:cNvPr id="224"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2090281" y="4491375"/>
            <a:ext cx="543668" cy="1256676"/>
          </a:xfrm>
          <a:prstGeom prst="rect">
            <a:avLst/>
          </a:prstGeom>
          <a:noFill/>
        </p:spPr>
      </p:pic>
      <p:pic>
        <p:nvPicPr>
          <p:cNvPr id="228"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5716838" y="5453349"/>
            <a:ext cx="457200" cy="457200"/>
          </a:xfrm>
          <a:prstGeom prst="rect">
            <a:avLst/>
          </a:prstGeom>
          <a:noFill/>
        </p:spPr>
      </p:pic>
      <p:pic>
        <p:nvPicPr>
          <p:cNvPr id="229"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6250238" y="5443251"/>
            <a:ext cx="457200" cy="457200"/>
          </a:xfrm>
          <a:prstGeom prst="rect">
            <a:avLst/>
          </a:prstGeom>
          <a:noFill/>
        </p:spPr>
      </p:pic>
      <p:pic>
        <p:nvPicPr>
          <p:cNvPr id="230"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6815770" y="5453349"/>
            <a:ext cx="457200" cy="457200"/>
          </a:xfrm>
          <a:prstGeom prst="rect">
            <a:avLst/>
          </a:prstGeom>
          <a:noFill/>
        </p:spPr>
      </p:pic>
      <p:pic>
        <p:nvPicPr>
          <p:cNvPr id="231"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7360187" y="5463447"/>
            <a:ext cx="457200" cy="457200"/>
          </a:xfrm>
          <a:prstGeom prst="rect">
            <a:avLst/>
          </a:prstGeom>
          <a:noFill/>
        </p:spPr>
      </p:pic>
      <p:pic>
        <p:nvPicPr>
          <p:cNvPr id="232"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7926638" y="5453349"/>
            <a:ext cx="457200" cy="457200"/>
          </a:xfrm>
          <a:prstGeom prst="rect">
            <a:avLst/>
          </a:prstGeom>
          <a:noFill/>
        </p:spPr>
      </p:pic>
      <p:pic>
        <p:nvPicPr>
          <p:cNvPr id="233"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5727855" y="4920868"/>
            <a:ext cx="457200" cy="457200"/>
          </a:xfrm>
          <a:prstGeom prst="rect">
            <a:avLst/>
          </a:prstGeom>
          <a:noFill/>
        </p:spPr>
      </p:pic>
      <p:pic>
        <p:nvPicPr>
          <p:cNvPr id="234"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6261255" y="4935561"/>
            <a:ext cx="457200" cy="457200"/>
          </a:xfrm>
          <a:prstGeom prst="rect">
            <a:avLst/>
          </a:prstGeom>
          <a:noFill/>
        </p:spPr>
      </p:pic>
      <p:pic>
        <p:nvPicPr>
          <p:cNvPr id="235"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6783638" y="4941983"/>
            <a:ext cx="457200" cy="457200"/>
          </a:xfrm>
          <a:prstGeom prst="rect">
            <a:avLst/>
          </a:prstGeom>
          <a:noFill/>
        </p:spPr>
      </p:pic>
      <p:pic>
        <p:nvPicPr>
          <p:cNvPr id="236"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7371204" y="4951162"/>
            <a:ext cx="457200" cy="457200"/>
          </a:xfrm>
          <a:prstGeom prst="rect">
            <a:avLst/>
          </a:prstGeom>
          <a:noFill/>
        </p:spPr>
      </p:pic>
      <p:pic>
        <p:nvPicPr>
          <p:cNvPr id="237" name="Picture 9" descr="C:\Documents and Settings\sridhs\Desktop\ISM Book L3\colored Icons\LUN.png"/>
          <p:cNvPicPr>
            <a:picLocks noChangeAspect="1" noChangeArrowheads="1"/>
          </p:cNvPicPr>
          <p:nvPr/>
        </p:nvPicPr>
        <p:blipFill>
          <a:blip r:embed="rId7" cstate="print"/>
          <a:srcRect/>
          <a:stretch>
            <a:fillRect/>
          </a:stretch>
        </p:blipFill>
        <p:spPr bwMode="auto">
          <a:xfrm>
            <a:off x="7937655" y="4941064"/>
            <a:ext cx="457200" cy="457200"/>
          </a:xfrm>
          <a:prstGeom prst="rect">
            <a:avLst/>
          </a:prstGeom>
          <a:noFill/>
        </p:spPr>
      </p:pic>
      <p:sp>
        <p:nvSpPr>
          <p:cNvPr id="179" name="Rectangle 289"/>
          <p:cNvSpPr>
            <a:spLocks noChangeArrowheads="1"/>
          </p:cNvSpPr>
          <p:nvPr/>
        </p:nvSpPr>
        <p:spPr bwMode="auto">
          <a:xfrm>
            <a:off x="6360062" y="5163242"/>
            <a:ext cx="119062" cy="119062"/>
          </a:xfrm>
          <a:prstGeom prst="rect">
            <a:avLst/>
          </a:prstGeom>
          <a:gradFill rotWithShape="1">
            <a:gsLst>
              <a:gs pos="0">
                <a:srgbClr val="009900"/>
              </a:gs>
              <a:gs pos="50000">
                <a:srgbClr val="009900">
                  <a:gamma/>
                  <a:tint val="36471"/>
                  <a:invGamma/>
                </a:srgbClr>
              </a:gs>
              <a:gs pos="100000">
                <a:srgbClr val="009900"/>
              </a:gs>
            </a:gsLst>
            <a:lin ang="0" scaled="1"/>
          </a:gradFill>
          <a:ln w="25400" algn="ctr">
            <a:noFill/>
            <a:miter lim="800000"/>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2" name="Rectangle 292"/>
          <p:cNvSpPr>
            <a:spLocks noChangeArrowheads="1"/>
          </p:cNvSpPr>
          <p:nvPr/>
        </p:nvSpPr>
        <p:spPr bwMode="auto">
          <a:xfrm>
            <a:off x="6479124" y="5163242"/>
            <a:ext cx="119063" cy="119062"/>
          </a:xfrm>
          <a:prstGeom prst="rect">
            <a:avLst/>
          </a:prstGeom>
          <a:gradFill rotWithShape="1">
            <a:gsLst>
              <a:gs pos="0">
                <a:srgbClr val="9900CC"/>
              </a:gs>
              <a:gs pos="50000">
                <a:srgbClr val="9900CC">
                  <a:gamma/>
                  <a:tint val="36471"/>
                  <a:invGamma/>
                </a:srgbClr>
              </a:gs>
              <a:gs pos="100000">
                <a:srgbClr val="9900CC"/>
              </a:gs>
            </a:gsLst>
            <a:lin ang="0" scaled="1"/>
          </a:gradFill>
          <a:ln w="25400" algn="ctr">
            <a:noFill/>
            <a:miter lim="800000"/>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3" name="Rectangle 293"/>
          <p:cNvSpPr>
            <a:spLocks noChangeArrowheads="1"/>
          </p:cNvSpPr>
          <p:nvPr/>
        </p:nvSpPr>
        <p:spPr bwMode="auto">
          <a:xfrm>
            <a:off x="6893462" y="5160772"/>
            <a:ext cx="119062" cy="119062"/>
          </a:xfrm>
          <a:prstGeom prst="rect">
            <a:avLst/>
          </a:prstGeom>
          <a:gradFill rotWithShape="1">
            <a:gsLst>
              <a:gs pos="0">
                <a:srgbClr val="9900CC"/>
              </a:gs>
              <a:gs pos="50000">
                <a:srgbClr val="9900CC">
                  <a:gamma/>
                  <a:tint val="36471"/>
                  <a:invGamma/>
                </a:srgbClr>
              </a:gs>
              <a:gs pos="100000">
                <a:srgbClr val="9900CC"/>
              </a:gs>
            </a:gsLst>
            <a:lin ang="0" scaled="1"/>
          </a:gradFill>
          <a:ln w="25400" algn="ctr">
            <a:noFill/>
            <a:miter lim="800000"/>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4" name="Rectangle 294"/>
          <p:cNvSpPr>
            <a:spLocks noChangeArrowheads="1"/>
          </p:cNvSpPr>
          <p:nvPr/>
        </p:nvSpPr>
        <p:spPr bwMode="auto">
          <a:xfrm>
            <a:off x="7012524" y="5160772"/>
            <a:ext cx="119063" cy="119062"/>
          </a:xfrm>
          <a:prstGeom prst="rect">
            <a:avLst/>
          </a:prstGeom>
          <a:gradFill rotWithShape="1">
            <a:gsLst>
              <a:gs pos="0">
                <a:srgbClr val="9900CC"/>
              </a:gs>
              <a:gs pos="50000">
                <a:srgbClr val="9900CC">
                  <a:gamma/>
                  <a:tint val="36471"/>
                  <a:invGamma/>
                </a:srgbClr>
              </a:gs>
              <a:gs pos="100000">
                <a:srgbClr val="9900CC"/>
              </a:gs>
            </a:gsLst>
            <a:lin ang="0" scaled="1"/>
          </a:gradFill>
          <a:ln w="25400" algn="ctr">
            <a:noFill/>
            <a:miter lim="800000"/>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7" name="Rectangle 287"/>
          <p:cNvSpPr>
            <a:spLocks noChangeArrowheads="1"/>
          </p:cNvSpPr>
          <p:nvPr/>
        </p:nvSpPr>
        <p:spPr bwMode="auto">
          <a:xfrm>
            <a:off x="5775767" y="5149468"/>
            <a:ext cx="119062" cy="119062"/>
          </a:xfrm>
          <a:prstGeom prst="rect">
            <a:avLst/>
          </a:prstGeom>
          <a:gradFill rotWithShape="1">
            <a:gsLst>
              <a:gs pos="0">
                <a:srgbClr val="009900"/>
              </a:gs>
              <a:gs pos="50000">
                <a:srgbClr val="009900">
                  <a:gamma/>
                  <a:tint val="36471"/>
                  <a:invGamma/>
                </a:srgbClr>
              </a:gs>
              <a:gs pos="100000">
                <a:srgbClr val="009900"/>
              </a:gs>
            </a:gsLst>
            <a:lin ang="0" scaled="1"/>
          </a:gradFill>
          <a:ln w="25400" algn="ctr">
            <a:noFill/>
            <a:miter lim="800000"/>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0" name="Rectangle 290"/>
          <p:cNvSpPr>
            <a:spLocks noChangeArrowheads="1"/>
          </p:cNvSpPr>
          <p:nvPr/>
        </p:nvSpPr>
        <p:spPr bwMode="auto">
          <a:xfrm>
            <a:off x="5894829" y="5149468"/>
            <a:ext cx="119063" cy="119062"/>
          </a:xfrm>
          <a:prstGeom prst="rect">
            <a:avLst/>
          </a:prstGeom>
          <a:gradFill rotWithShape="1">
            <a:gsLst>
              <a:gs pos="0">
                <a:srgbClr val="FF0000"/>
              </a:gs>
              <a:gs pos="50000">
                <a:srgbClr val="FF0000">
                  <a:gamma/>
                  <a:tint val="36471"/>
                  <a:invGamma/>
                </a:srgbClr>
              </a:gs>
              <a:gs pos="100000">
                <a:srgbClr val="FF0000"/>
              </a:gs>
            </a:gsLst>
            <a:lin ang="0" scaled="1"/>
          </a:gradFill>
          <a:ln w="25400" algn="ctr">
            <a:noFill/>
            <a:miter lim="800000"/>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1" name="Rectangle 291"/>
          <p:cNvSpPr>
            <a:spLocks noChangeArrowheads="1"/>
          </p:cNvSpPr>
          <p:nvPr/>
        </p:nvSpPr>
        <p:spPr bwMode="auto">
          <a:xfrm>
            <a:off x="6013892" y="5149468"/>
            <a:ext cx="119062" cy="119062"/>
          </a:xfrm>
          <a:prstGeom prst="rect">
            <a:avLst/>
          </a:prstGeom>
          <a:gradFill rotWithShape="1">
            <a:gsLst>
              <a:gs pos="0">
                <a:srgbClr val="9900CC"/>
              </a:gs>
              <a:gs pos="50000">
                <a:srgbClr val="9900CC">
                  <a:gamma/>
                  <a:tint val="36471"/>
                  <a:invGamma/>
                </a:srgbClr>
              </a:gs>
              <a:gs pos="100000">
                <a:srgbClr val="9900CC"/>
              </a:gs>
            </a:gsLst>
            <a:lin ang="0" scaled="1"/>
          </a:gradFill>
          <a:ln w="25400" algn="ctr">
            <a:noFill/>
            <a:miter lim="800000"/>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 name="TextBox 3">
            <a:extLst>
              <a:ext uri="{FF2B5EF4-FFF2-40B4-BE49-F238E27FC236}">
                <a16:creationId xmlns:a16="http://schemas.microsoft.com/office/drawing/2014/main" id="{59B7F6D5-E082-4821-2E9D-6FB0B455D69D}"/>
              </a:ext>
            </a:extLst>
          </p:cNvPr>
          <p:cNvSpPr txBox="1"/>
          <p:nvPr/>
        </p:nvSpPr>
        <p:spPr>
          <a:xfrm>
            <a:off x="4622800" y="759236"/>
            <a:ext cx="4572000" cy="307777"/>
          </a:xfrm>
          <a:prstGeom prst="rect">
            <a:avLst/>
          </a:prstGeom>
          <a:noFill/>
        </p:spPr>
        <p:txBody>
          <a:bodyPr wrap="square">
            <a:spAutoFit/>
          </a:bodyPr>
          <a:lstStyle/>
          <a:p>
            <a:r>
              <a:rPr lang="en-GB" sz="1400" b="1" i="0" u="none" strike="noStrike" baseline="0" dirty="0">
                <a:solidFill>
                  <a:srgbClr val="C00000"/>
                </a:solidFill>
                <a:latin typeface="Book Antiqua" panose="02040602050305030304" pitchFamily="18" charset="0"/>
              </a:rPr>
              <a:t>Figure 10-18: </a:t>
            </a:r>
            <a:r>
              <a:rPr lang="en-GB" sz="1400" b="0" i="0" u="none" strike="noStrike" baseline="0" dirty="0">
                <a:solidFill>
                  <a:srgbClr val="C00000"/>
                </a:solidFill>
                <a:latin typeface="Book Antiqua" panose="02040602050305030304" pitchFamily="18" charset="0"/>
              </a:rPr>
              <a:t>Virtual tape library</a:t>
            </a:r>
            <a:endParaRPr lang="en-IN" sz="1400" dirty="0">
              <a:solidFill>
                <a:srgbClr val="C00000"/>
              </a:solidFill>
              <a:latin typeface="Book Antiqua" panose="0204060205030503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dirty="0">
                <a:solidFill>
                  <a:srgbClr val="C00000"/>
                </a:solidFill>
                <a:latin typeface="Book Antiqua" panose="02040602050305030304" pitchFamily="18" charset="0"/>
              </a:rPr>
              <a:t>Backup Target Comparison</a:t>
            </a:r>
          </a:p>
        </p:txBody>
      </p:sp>
      <p:sp>
        <p:nvSpPr>
          <p:cNvPr id="3" name="Footer Placeholder 2"/>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10: Backup and Archive</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aphicFrame>
        <p:nvGraphicFramePr>
          <p:cNvPr id="6" name="Table 5"/>
          <p:cNvGraphicFramePr>
            <a:graphicFrameLocks noGrp="1"/>
          </p:cNvGraphicFramePr>
          <p:nvPr>
            <p:extLst>
              <p:ext uri="{D42A27DB-BD31-4B8C-83A1-F6EECF244321}">
                <p14:modId xmlns:p14="http://schemas.microsoft.com/office/powerpoint/2010/main" val="2413969306"/>
              </p:ext>
            </p:extLst>
          </p:nvPr>
        </p:nvGraphicFramePr>
        <p:xfrm>
          <a:off x="516036" y="1371600"/>
          <a:ext cx="8018364" cy="3886198"/>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998564">
                  <a:extLst>
                    <a:ext uri="{9D8B030D-6E8A-4147-A177-3AD203B41FA5}">
                      <a16:colId xmlns:a16="http://schemas.microsoft.com/office/drawing/2014/main" val="20003"/>
                    </a:ext>
                  </a:extLst>
                </a:gridCol>
              </a:tblGrid>
              <a:tr h="448880">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endParaRPr kumimoji="0" lang="en-US" sz="1700" b="0" i="0" u="none" strike="noStrike" cap="none" normalizeH="0" baseline="0" dirty="0">
                        <a:ln>
                          <a:noFill/>
                        </a:ln>
                        <a:solidFill>
                          <a:schemeClr val="tx2"/>
                        </a:solidFill>
                        <a:effectLst/>
                        <a:latin typeface="Book Antiqua" panose="02040602050305030304" pitchFamily="18" charset="0"/>
                        <a:cs typeface="Arial" charset="0"/>
                      </a:endParaRPr>
                    </a:p>
                  </a:txBody>
                  <a:tcPr anchor="ctr" anchorCtr="1" horzOverflow="overflow">
                    <a:solidFill>
                      <a:schemeClr val="bg1"/>
                    </a:solidFill>
                  </a:tcPr>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1" i="0" u="none" strike="noStrike" cap="none" normalizeH="0" baseline="0" dirty="0">
                          <a:ln>
                            <a:noFill/>
                          </a:ln>
                          <a:solidFill>
                            <a:srgbClr val="0000FF"/>
                          </a:solidFill>
                          <a:effectLst/>
                          <a:latin typeface="Book Antiqua" panose="02040602050305030304" pitchFamily="18" charset="0"/>
                          <a:cs typeface="Arial" charset="0"/>
                        </a:rPr>
                        <a:t>Tape</a:t>
                      </a:r>
                    </a:p>
                  </a:txBody>
                  <a:tcPr anchor="ctr" anchorCtr="1" horzOverflow="overflow">
                    <a:solidFill>
                      <a:schemeClr val="accent4">
                        <a:lumMod val="20000"/>
                        <a:lumOff val="80000"/>
                      </a:schemeClr>
                    </a:solidFill>
                  </a:tcPr>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1" i="0" u="none" strike="noStrike" cap="none" normalizeH="0" baseline="0" dirty="0">
                          <a:ln>
                            <a:noFill/>
                          </a:ln>
                          <a:solidFill>
                            <a:srgbClr val="0000FF"/>
                          </a:solidFill>
                          <a:effectLst/>
                          <a:latin typeface="Book Antiqua" panose="02040602050305030304" pitchFamily="18" charset="0"/>
                          <a:cs typeface="Arial" charset="0"/>
                        </a:rPr>
                        <a:t>Disk</a:t>
                      </a:r>
                    </a:p>
                  </a:txBody>
                  <a:tcPr anchor="ctr" anchorCtr="1" horzOverflow="overflow">
                    <a:solidFill>
                      <a:schemeClr val="accent4">
                        <a:lumMod val="20000"/>
                        <a:lumOff val="80000"/>
                      </a:schemeClr>
                    </a:solidFill>
                  </a:tcPr>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1" i="0" u="none" strike="noStrike" cap="none" normalizeH="0" baseline="0" dirty="0">
                          <a:ln>
                            <a:noFill/>
                          </a:ln>
                          <a:solidFill>
                            <a:srgbClr val="0000FF"/>
                          </a:solidFill>
                          <a:effectLst/>
                          <a:latin typeface="Book Antiqua" panose="02040602050305030304" pitchFamily="18" charset="0"/>
                          <a:cs typeface="Arial" charset="0"/>
                        </a:rPr>
                        <a:t>Virtual Tape</a:t>
                      </a:r>
                    </a:p>
                  </a:txBody>
                  <a:tcPr anchor="ctr" anchorCtr="1" horzOverflow="overflow">
                    <a:solidFill>
                      <a:schemeClr val="accent4">
                        <a:lumMod val="20000"/>
                        <a:lumOff val="80000"/>
                      </a:schemeClr>
                    </a:solidFill>
                  </a:tcPr>
                </a:tc>
                <a:extLst>
                  <a:ext uri="{0D108BD9-81ED-4DB2-BD59-A6C34878D82A}">
                    <a16:rowId xmlns:a16="http://schemas.microsoft.com/office/drawing/2014/main" val="10000"/>
                  </a:ext>
                </a:extLst>
              </a:tr>
              <a:tr h="996146">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1" i="0" u="none" strike="noStrike" kern="1200" cap="none" normalizeH="0" baseline="0" dirty="0">
                          <a:ln>
                            <a:noFill/>
                          </a:ln>
                          <a:solidFill>
                            <a:srgbClr val="0000FF"/>
                          </a:solidFill>
                          <a:effectLst/>
                          <a:latin typeface="Book Antiqua" panose="02040602050305030304" pitchFamily="18" charset="0"/>
                          <a:ea typeface="+mn-ea"/>
                          <a:cs typeface="Arial" charset="0"/>
                        </a:rPr>
                        <a:t>Offsite Replication Capabilities</a:t>
                      </a:r>
                    </a:p>
                  </a:txBody>
                  <a:tcPr anchor="ctr" anchorCtr="1" horzOverflow="overflow">
                    <a:solidFill>
                      <a:schemeClr val="accent4">
                        <a:lumMod val="20000"/>
                        <a:lumOff val="80000"/>
                      </a:schemeClr>
                    </a:solidFill>
                  </a:tcPr>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No</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Yes</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Yes</a:t>
                      </a:r>
                    </a:p>
                  </a:txBody>
                  <a:tcPr anchor="ctr" anchorCtr="1" horzOverflow="overflow"/>
                </a:tc>
                <a:extLst>
                  <a:ext uri="{0D108BD9-81ED-4DB2-BD59-A6C34878D82A}">
                    <a16:rowId xmlns:a16="http://schemas.microsoft.com/office/drawing/2014/main" val="10001"/>
                  </a:ext>
                </a:extLst>
              </a:tr>
              <a:tr h="996146">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1" i="0" u="none" strike="noStrike" kern="1200" cap="none" normalizeH="0" baseline="0" dirty="0">
                          <a:ln>
                            <a:noFill/>
                          </a:ln>
                          <a:solidFill>
                            <a:srgbClr val="0000FF"/>
                          </a:solidFill>
                          <a:effectLst/>
                          <a:latin typeface="Book Antiqua" panose="02040602050305030304" pitchFamily="18" charset="0"/>
                          <a:ea typeface="+mn-ea"/>
                          <a:cs typeface="Arial" charset="0"/>
                        </a:rPr>
                        <a:t>Reliability</a:t>
                      </a:r>
                    </a:p>
                  </a:txBody>
                  <a:tcPr anchor="ctr" anchorCtr="1" horzOverflow="overflow">
                    <a:solidFill>
                      <a:schemeClr val="accent4">
                        <a:lumMod val="20000"/>
                        <a:lumOff val="80000"/>
                      </a:schemeClr>
                    </a:solidFill>
                  </a:tcPr>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No inherent protection methods</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RAID, spare</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RAID, spare</a:t>
                      </a:r>
                    </a:p>
                  </a:txBody>
                  <a:tcPr anchor="ctr" anchorCtr="1" horzOverflow="overflow"/>
                </a:tc>
                <a:extLst>
                  <a:ext uri="{0D108BD9-81ED-4DB2-BD59-A6C34878D82A}">
                    <a16:rowId xmlns:a16="http://schemas.microsoft.com/office/drawing/2014/main" val="10002"/>
                  </a:ext>
                </a:extLst>
              </a:tr>
              <a:tr h="448880">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1" i="0" u="none" strike="noStrike" kern="1200" cap="none" normalizeH="0" baseline="0" dirty="0">
                          <a:ln>
                            <a:noFill/>
                          </a:ln>
                          <a:solidFill>
                            <a:srgbClr val="0000FF"/>
                          </a:solidFill>
                          <a:effectLst/>
                          <a:latin typeface="Book Antiqua" panose="02040602050305030304" pitchFamily="18" charset="0"/>
                          <a:ea typeface="+mn-ea"/>
                          <a:cs typeface="Arial" charset="0"/>
                        </a:rPr>
                        <a:t>Performance</a:t>
                      </a:r>
                    </a:p>
                  </a:txBody>
                  <a:tcPr anchor="ctr" anchorCtr="1" horzOverflow="overflow">
                    <a:solidFill>
                      <a:schemeClr val="accent4">
                        <a:lumMod val="20000"/>
                        <a:lumOff val="80000"/>
                      </a:schemeClr>
                    </a:solidFill>
                  </a:tcPr>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Low</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High</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High</a:t>
                      </a:r>
                    </a:p>
                  </a:txBody>
                  <a:tcPr anchor="ctr" anchorCtr="1" horzOverflow="overflow"/>
                </a:tc>
                <a:extLst>
                  <a:ext uri="{0D108BD9-81ED-4DB2-BD59-A6C34878D82A}">
                    <a16:rowId xmlns:a16="http://schemas.microsoft.com/office/drawing/2014/main" val="10003"/>
                  </a:ext>
                </a:extLst>
              </a:tr>
              <a:tr h="996146">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1" i="0" u="none" strike="noStrike" kern="1200" cap="none" normalizeH="0" baseline="0" dirty="0">
                          <a:ln>
                            <a:noFill/>
                          </a:ln>
                          <a:solidFill>
                            <a:srgbClr val="0000FF"/>
                          </a:solidFill>
                          <a:effectLst/>
                          <a:latin typeface="Book Antiqua" panose="02040602050305030304" pitchFamily="18" charset="0"/>
                          <a:ea typeface="+mn-ea"/>
                          <a:cs typeface="Arial" charset="0"/>
                        </a:rPr>
                        <a:t>Use</a:t>
                      </a:r>
                    </a:p>
                  </a:txBody>
                  <a:tcPr anchor="ctr" anchorCtr="1" horzOverflow="overflow">
                    <a:solidFill>
                      <a:schemeClr val="accent4">
                        <a:lumMod val="20000"/>
                        <a:lumOff val="80000"/>
                      </a:schemeClr>
                    </a:solidFill>
                  </a:tcPr>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Backup only</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Multiple (backup and production)</a:t>
                      </a:r>
                    </a:p>
                  </a:txBody>
                  <a:tcPr anchor="ctr" anchorCtr="1" horzOverflow="overflow"/>
                </a:tc>
                <a:tc>
                  <a:txBody>
                    <a:body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itchFamily="2" charset="2"/>
                        <a:buNone/>
                        <a:tabLst>
                          <a:tab pos="6985000" algn="l"/>
                          <a:tab pos="7185025" algn="l"/>
                          <a:tab pos="7837488" algn="l"/>
                        </a:tabLst>
                      </a:pPr>
                      <a:r>
                        <a:rPr kumimoji="0" lang="en-US" sz="1700" b="0" i="0" u="none" strike="noStrike" cap="none" normalizeH="0" baseline="0" dirty="0">
                          <a:ln>
                            <a:noFill/>
                          </a:ln>
                          <a:solidFill>
                            <a:schemeClr val="tx1"/>
                          </a:solidFill>
                          <a:effectLst/>
                          <a:latin typeface="Book Antiqua" panose="02040602050305030304" pitchFamily="18" charset="0"/>
                          <a:cs typeface="Arial" charset="0"/>
                        </a:rPr>
                        <a:t>Backup only</a:t>
                      </a:r>
                    </a:p>
                  </a:txBody>
                  <a:tcPr anchor="ctr" anchorCtr="1" horzOverflow="overflow"/>
                </a:tc>
                <a:extLst>
                  <a:ext uri="{0D108BD9-81ED-4DB2-BD59-A6C34878D82A}">
                    <a16:rowId xmlns:a16="http://schemas.microsoft.com/office/drawing/2014/main" val="10004"/>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2042977" y="4707192"/>
            <a:ext cx="914400" cy="914400"/>
          </a:xfrm>
          <a:prstGeom prst="rect">
            <a:avLst/>
          </a:prstGeom>
          <a:noFill/>
        </p:spPr>
      </p:pic>
      <p:sp>
        <p:nvSpPr>
          <p:cNvPr id="7" name="Title 6"/>
          <p:cNvSpPr>
            <a:spLocks noGrp="1"/>
          </p:cNvSpPr>
          <p:nvPr>
            <p:ph type="title"/>
          </p:nvPr>
        </p:nvSpPr>
        <p:spPr/>
        <p:txBody>
          <a:bodyPr/>
          <a:lstStyle/>
          <a:p>
            <a:r>
              <a:rPr lang="en-US" dirty="0"/>
              <a:t>What is Replication?</a:t>
            </a:r>
          </a:p>
        </p:txBody>
      </p:sp>
      <p:sp>
        <p:nvSpPr>
          <p:cNvPr id="15" name="Content Placeholder 7"/>
          <p:cNvSpPr>
            <a:spLocks noGrp="1"/>
          </p:cNvSpPr>
          <p:nvPr>
            <p:ph idx="1"/>
          </p:nvPr>
        </p:nvSpPr>
        <p:spPr>
          <a:xfrm>
            <a:off x="438605" y="2621578"/>
            <a:ext cx="8458200" cy="3276600"/>
          </a:xfrm>
        </p:spPr>
        <p:txBody>
          <a:bodyPr/>
          <a:lstStyle/>
          <a:p>
            <a:r>
              <a:rPr lang="en-US" sz="1700" dirty="0">
                <a:solidFill>
                  <a:schemeClr val="tx1"/>
                </a:solidFill>
                <a:latin typeface="Book Antiqua" panose="02040602050305030304" pitchFamily="18" charset="0"/>
              </a:rPr>
              <a:t>Replication can be classified as</a:t>
            </a:r>
          </a:p>
          <a:p>
            <a:pPr lvl="1"/>
            <a:r>
              <a:rPr lang="en-US" sz="1700" dirty="0">
                <a:solidFill>
                  <a:schemeClr val="tx1"/>
                </a:solidFill>
                <a:latin typeface="Book Antiqua" panose="02040602050305030304" pitchFamily="18" charset="0"/>
              </a:rPr>
              <a:t>Local replication</a:t>
            </a:r>
          </a:p>
          <a:p>
            <a:pPr lvl="2"/>
            <a:r>
              <a:rPr lang="en-US" sz="1700" dirty="0">
                <a:solidFill>
                  <a:schemeClr val="tx1"/>
                </a:solidFill>
                <a:latin typeface="Book Antiqua" panose="02040602050305030304" pitchFamily="18" charset="0"/>
              </a:rPr>
              <a:t>Replicating data within the same array or data center</a:t>
            </a:r>
          </a:p>
          <a:p>
            <a:pPr lvl="1"/>
            <a:r>
              <a:rPr lang="en-US" sz="1700" dirty="0">
                <a:solidFill>
                  <a:schemeClr val="tx1"/>
                </a:solidFill>
                <a:latin typeface="Book Antiqua" panose="02040602050305030304" pitchFamily="18" charset="0"/>
              </a:rPr>
              <a:t>Remote replication</a:t>
            </a:r>
          </a:p>
          <a:p>
            <a:pPr lvl="2"/>
            <a:r>
              <a:rPr lang="en-US" sz="1700" dirty="0">
                <a:solidFill>
                  <a:schemeClr val="tx1"/>
                </a:solidFill>
                <a:latin typeface="Book Antiqua" panose="02040602050305030304" pitchFamily="18" charset="0"/>
              </a:rPr>
              <a:t>Replicating data at remote site</a:t>
            </a:r>
          </a:p>
        </p:txBody>
      </p:sp>
      <p:sp>
        <p:nvSpPr>
          <p:cNvPr id="9" name="Footer Placeholder 8"/>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8" name="Slide Number Placeholder 7"/>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11" name="Rectangle 10"/>
          <p:cNvSpPr/>
          <p:nvPr/>
        </p:nvSpPr>
        <p:spPr>
          <a:xfrm>
            <a:off x="457200" y="1143000"/>
            <a:ext cx="7239000" cy="838200"/>
          </a:xfrm>
          <a:prstGeom prst="rect">
            <a:avLst/>
          </a:prstGeom>
          <a:solidFill>
            <a:schemeClr val="bg1">
              <a:lumMod val="95000"/>
            </a:schemeClr>
          </a:solidFill>
          <a:ln>
            <a:solidFill>
              <a:srgbClr val="00B050"/>
            </a:solidFill>
          </a:ln>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97330" tIns="229108" rIns="297330" bIns="113792" numCol="1" spcCol="1270" anchor="ctr" anchorCtr="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MetaNormalLF-Roman"/>
                <a:ea typeface="+mn-ea"/>
                <a:cs typeface="Arial"/>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rPr>
              <a:t>It is a process of creating an exact copy (replica) of data.</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hueOff val="0"/>
                  <a:satOff val="0"/>
                  <a:lumOff val="0"/>
                  <a:alphaOff val="0"/>
                </a:srgbClr>
              </a:solidFill>
              <a:effectLst/>
              <a:uLnTx/>
              <a:uFillTx/>
              <a:latin typeface="Calibri" pitchFamily="34" charset="0"/>
              <a:ea typeface="+mn-ea"/>
              <a:cs typeface="Arial"/>
            </a:endParaRPr>
          </a:p>
        </p:txBody>
      </p:sp>
      <p:sp>
        <p:nvSpPr>
          <p:cNvPr id="12" name="Rounded Rectangle 4"/>
          <p:cNvSpPr/>
          <p:nvPr/>
        </p:nvSpPr>
        <p:spPr>
          <a:xfrm>
            <a:off x="685800" y="914400"/>
            <a:ext cx="1188720" cy="369216"/>
          </a:xfrm>
          <a:prstGeom prst="rect">
            <a:avLst/>
          </a:prstGeom>
        </p:spPr>
        <p:style>
          <a:lnRef idx="0">
            <a:schemeClr val="accent3"/>
          </a:lnRef>
          <a:fillRef idx="3">
            <a:schemeClr val="accent3"/>
          </a:fillRef>
          <a:effectRef idx="3">
            <a:schemeClr val="accent3"/>
          </a:effectRef>
          <a:fontRef idx="minor">
            <a:schemeClr val="lt1"/>
          </a:fontRef>
        </p:style>
        <p:txBody>
          <a:bodyPr spcFirstLastPara="0" vert="horz" wrap="square" lIns="101362" tIns="0" rIns="101362" bIns="0" numCol="1" spcCol="1270" anchor="ctr" anchorCtr="0">
            <a:noAutofit/>
          </a:bodyPr>
          <a:lstStyle/>
          <a:p>
            <a:pPr marL="0" marR="0" lvl="0" indent="0" algn="ctr" defTabSz="800100" rtl="0" eaLnBrk="1" fontAlgn="base"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mn-ea"/>
                <a:cs typeface="Arial"/>
              </a:rPr>
              <a:t>Replication</a:t>
            </a:r>
          </a:p>
        </p:txBody>
      </p:sp>
      <p:sp>
        <p:nvSpPr>
          <p:cNvPr id="16" name="Text Box 22"/>
          <p:cNvSpPr txBox="1">
            <a:spLocks noChangeArrowheads="1"/>
          </p:cNvSpPr>
          <p:nvPr/>
        </p:nvSpPr>
        <p:spPr bwMode="gray">
          <a:xfrm>
            <a:off x="2263112" y="5682734"/>
            <a:ext cx="503984"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Arial" charset="0"/>
              </a:rPr>
              <a:t>Source</a:t>
            </a:r>
          </a:p>
        </p:txBody>
      </p:sp>
      <p:sp>
        <p:nvSpPr>
          <p:cNvPr id="17" name="Rectangle 23"/>
          <p:cNvSpPr>
            <a:spLocks noChangeArrowheads="1"/>
          </p:cNvSpPr>
          <p:nvPr/>
        </p:nvSpPr>
        <p:spPr bwMode="gray">
          <a:xfrm>
            <a:off x="2029566" y="4970155"/>
            <a:ext cx="280795" cy="213876"/>
          </a:xfrm>
          <a:prstGeom prst="rect">
            <a:avLst/>
          </a:prstGeom>
          <a:solidFill>
            <a:srgbClr val="FF912D"/>
          </a:solidFill>
          <a:ln w="12700" algn="ctr">
            <a:solidFill>
              <a:srgbClr val="000A18"/>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8" name="Rectangle 24"/>
          <p:cNvSpPr>
            <a:spLocks noChangeArrowheads="1"/>
          </p:cNvSpPr>
          <p:nvPr/>
        </p:nvSpPr>
        <p:spPr bwMode="gray">
          <a:xfrm>
            <a:off x="2149714" y="5294055"/>
            <a:ext cx="280795" cy="213876"/>
          </a:xfrm>
          <a:prstGeom prst="rect">
            <a:avLst/>
          </a:prstGeom>
          <a:solidFill>
            <a:srgbClr val="2DBEFF"/>
          </a:solidFill>
          <a:ln w="12700" algn="ctr">
            <a:solidFill>
              <a:srgbClr val="000A18"/>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9" name="Rectangle 25"/>
          <p:cNvSpPr>
            <a:spLocks noChangeArrowheads="1"/>
          </p:cNvSpPr>
          <p:nvPr/>
        </p:nvSpPr>
        <p:spPr bwMode="gray">
          <a:xfrm>
            <a:off x="2277962" y="5128506"/>
            <a:ext cx="280795" cy="213876"/>
          </a:xfrm>
          <a:prstGeom prst="rect">
            <a:avLst/>
          </a:prstGeom>
          <a:solidFill>
            <a:srgbClr val="96FF2D"/>
          </a:solidFill>
          <a:ln w="12700" algn="ctr">
            <a:solidFill>
              <a:srgbClr val="000A18"/>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0" name="Text Box 44"/>
          <p:cNvSpPr txBox="1">
            <a:spLocks noChangeArrowheads="1"/>
          </p:cNvSpPr>
          <p:nvPr/>
        </p:nvSpPr>
        <p:spPr bwMode="gray">
          <a:xfrm>
            <a:off x="5862714" y="5653238"/>
            <a:ext cx="1147686"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Arial" charset="0"/>
              </a:rPr>
              <a:t>Replica (Target)</a:t>
            </a:r>
          </a:p>
        </p:txBody>
      </p:sp>
      <p:sp>
        <p:nvSpPr>
          <p:cNvPr id="24" name="AutoShape 48"/>
          <p:cNvSpPr>
            <a:spLocks noChangeArrowheads="1"/>
          </p:cNvSpPr>
          <p:nvPr/>
        </p:nvSpPr>
        <p:spPr bwMode="gray">
          <a:xfrm>
            <a:off x="3320145" y="4852934"/>
            <a:ext cx="2344911" cy="592273"/>
          </a:xfrm>
          <a:prstGeom prst="rightArrow">
            <a:avLst>
              <a:gd name="adj1" fmla="val 57981"/>
              <a:gd name="adj2" fmla="val 57464"/>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5" name="Text Box 49"/>
          <p:cNvSpPr txBox="1">
            <a:spLocks noChangeArrowheads="1"/>
          </p:cNvSpPr>
          <p:nvPr/>
        </p:nvSpPr>
        <p:spPr bwMode="gray">
          <a:xfrm>
            <a:off x="3757538" y="5066811"/>
            <a:ext cx="1112484" cy="246221"/>
          </a:xfrm>
          <a:prstGeom prst="rect">
            <a:avLst/>
          </a:prstGeom>
          <a:noFill/>
          <a:ln w="12700" algn="ctr">
            <a:noFill/>
            <a:miter lim="800000"/>
            <a:headEnd/>
            <a:tailEnd type="none" w="lg" len="lg"/>
          </a:ln>
          <a:effectLst>
            <a:outerShdw dist="17961" dir="2700000" algn="ctr" rotWithShape="0">
              <a:srgbClr val="000000"/>
            </a:outerShdw>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REPLICATION</a:t>
            </a:r>
            <a:endPar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endParaRPr>
          </a:p>
        </p:txBody>
      </p:sp>
      <p:pic>
        <p:nvPicPr>
          <p:cNvPr id="28"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5961133" y="4721940"/>
            <a:ext cx="914400" cy="914400"/>
          </a:xfrm>
          <a:prstGeom prst="rect">
            <a:avLst/>
          </a:prstGeom>
          <a:noFill/>
        </p:spPr>
      </p:pic>
      <p:sp>
        <p:nvSpPr>
          <p:cNvPr id="29" name="Rectangle 23"/>
          <p:cNvSpPr>
            <a:spLocks noChangeArrowheads="1"/>
          </p:cNvSpPr>
          <p:nvPr/>
        </p:nvSpPr>
        <p:spPr bwMode="gray">
          <a:xfrm>
            <a:off x="5947722" y="4984903"/>
            <a:ext cx="280795" cy="213876"/>
          </a:xfrm>
          <a:prstGeom prst="rect">
            <a:avLst/>
          </a:prstGeom>
          <a:solidFill>
            <a:srgbClr val="FF912D"/>
          </a:solidFill>
          <a:ln w="12700" algn="ctr">
            <a:solidFill>
              <a:srgbClr val="000A18"/>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0" name="Rectangle 24"/>
          <p:cNvSpPr>
            <a:spLocks noChangeArrowheads="1"/>
          </p:cNvSpPr>
          <p:nvPr/>
        </p:nvSpPr>
        <p:spPr bwMode="gray">
          <a:xfrm>
            <a:off x="6067870" y="5308803"/>
            <a:ext cx="280795" cy="213876"/>
          </a:xfrm>
          <a:prstGeom prst="rect">
            <a:avLst/>
          </a:prstGeom>
          <a:solidFill>
            <a:srgbClr val="2DBEFF"/>
          </a:solidFill>
          <a:ln w="12700" algn="ctr">
            <a:solidFill>
              <a:srgbClr val="000A18"/>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1" name="Rectangle 25"/>
          <p:cNvSpPr>
            <a:spLocks noChangeArrowheads="1"/>
          </p:cNvSpPr>
          <p:nvPr/>
        </p:nvSpPr>
        <p:spPr bwMode="gray">
          <a:xfrm>
            <a:off x="6196118" y="5143254"/>
            <a:ext cx="280795" cy="213876"/>
          </a:xfrm>
          <a:prstGeom prst="rect">
            <a:avLst/>
          </a:prstGeom>
          <a:solidFill>
            <a:srgbClr val="96FF2D"/>
          </a:solidFill>
          <a:ln w="12700" algn="ctr">
            <a:solidFill>
              <a:srgbClr val="000A18"/>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F444F-FF85-8F4C-8306-0BB079FE3E6C}"/>
              </a:ext>
            </a:extLst>
          </p:cNvPr>
          <p:cNvSpPr>
            <a:spLocks noGrp="1"/>
          </p:cNvSpPr>
          <p:nvPr>
            <p:ph type="title"/>
          </p:nvPr>
        </p:nvSpPr>
        <p:spPr>
          <a:xfrm>
            <a:off x="304800" y="152400"/>
            <a:ext cx="8458200" cy="762000"/>
          </a:xfrm>
        </p:spPr>
        <p:txBody>
          <a:bodyPr/>
          <a:lstStyle/>
          <a:p>
            <a:pPr algn="ctr"/>
            <a:r>
              <a:rPr lang="en-IN" sz="2100" b="1" dirty="0">
                <a:solidFill>
                  <a:srgbClr val="C00000"/>
                </a:solidFill>
                <a:latin typeface="Book Antiqua" panose="02040602050305030304" pitchFamily="18" charset="0"/>
              </a:rPr>
              <a:t>Replication Terminology</a:t>
            </a:r>
            <a:endParaRPr lang="en-IN" sz="2100"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B0DA427C-DF2D-378F-80A5-A927F2666B63}"/>
              </a:ext>
            </a:extLst>
          </p:cNvPr>
          <p:cNvSpPr>
            <a:spLocks noGrp="1"/>
          </p:cNvSpPr>
          <p:nvPr>
            <p:ph idx="1"/>
          </p:nvPr>
        </p:nvSpPr>
        <p:spPr>
          <a:xfrm>
            <a:off x="338667" y="685800"/>
            <a:ext cx="8458200" cy="5181600"/>
          </a:xfrm>
        </p:spPr>
        <p:txBody>
          <a:bodyPr/>
          <a:lstStyle/>
          <a:p>
            <a:pPr marL="0" indent="0" algn="just">
              <a:lnSpc>
                <a:spcPct val="150000"/>
              </a:lnSpc>
              <a:buNone/>
            </a:pPr>
            <a:r>
              <a:rPr lang="en-GB" sz="1400" dirty="0">
                <a:solidFill>
                  <a:srgbClr val="0000FF"/>
                </a:solidFill>
                <a:latin typeface="Book Antiqua" panose="02040602050305030304" pitchFamily="18" charset="0"/>
              </a:rPr>
              <a:t>The common terms used to represent various entities and operations in a replication environment :</a:t>
            </a:r>
          </a:p>
          <a:p>
            <a:pPr algn="just">
              <a:lnSpc>
                <a:spcPct val="150000"/>
              </a:lnSpc>
            </a:pPr>
            <a:r>
              <a:rPr lang="en-GB" sz="1400" b="1" dirty="0">
                <a:solidFill>
                  <a:schemeClr val="tx1"/>
                </a:solidFill>
                <a:latin typeface="Book Antiqua" panose="02040602050305030304" pitchFamily="18" charset="0"/>
              </a:rPr>
              <a:t>Source: </a:t>
            </a:r>
            <a:r>
              <a:rPr lang="en-GB" sz="1400" dirty="0">
                <a:solidFill>
                  <a:schemeClr val="tx1"/>
                </a:solidFill>
                <a:latin typeface="Book Antiqua" panose="02040602050305030304" pitchFamily="18" charset="0"/>
              </a:rPr>
              <a:t>A host accessing the production data from one or more LUNs on the storage array is called a </a:t>
            </a:r>
            <a:r>
              <a:rPr lang="en-GB" sz="1400" i="1" dirty="0">
                <a:solidFill>
                  <a:schemeClr val="tx1"/>
                </a:solidFill>
                <a:latin typeface="Book Antiqua" panose="02040602050305030304" pitchFamily="18" charset="0"/>
              </a:rPr>
              <a:t>production host</a:t>
            </a:r>
            <a:r>
              <a:rPr lang="en-GB" sz="1400" dirty="0">
                <a:solidFill>
                  <a:schemeClr val="tx1"/>
                </a:solidFill>
                <a:latin typeface="Book Antiqua" panose="02040602050305030304" pitchFamily="18" charset="0"/>
              </a:rPr>
              <a:t>, and these LUNs are known as </a:t>
            </a:r>
            <a:r>
              <a:rPr lang="en-IN" sz="1400" dirty="0">
                <a:solidFill>
                  <a:schemeClr val="tx1"/>
                </a:solidFill>
                <a:latin typeface="Book Antiqua" panose="02040602050305030304" pitchFamily="18" charset="0"/>
              </a:rPr>
              <a:t>source LUNs (devices/volumes), production LUNs, or simply the </a:t>
            </a:r>
            <a:r>
              <a:rPr lang="en-IN" sz="1400" i="1" dirty="0">
                <a:solidFill>
                  <a:schemeClr val="tx1"/>
                </a:solidFill>
                <a:latin typeface="Book Antiqua" panose="02040602050305030304" pitchFamily="18" charset="0"/>
              </a:rPr>
              <a:t>source</a:t>
            </a:r>
            <a:r>
              <a:rPr lang="en-IN" sz="1400" dirty="0">
                <a:solidFill>
                  <a:schemeClr val="tx1"/>
                </a:solidFill>
                <a:latin typeface="Book Antiqua" panose="02040602050305030304" pitchFamily="18" charset="0"/>
              </a:rPr>
              <a:t>.</a:t>
            </a:r>
          </a:p>
          <a:p>
            <a:pPr algn="just">
              <a:lnSpc>
                <a:spcPct val="150000"/>
              </a:lnSpc>
            </a:pPr>
            <a:r>
              <a:rPr lang="en-GB" sz="1400" b="1" dirty="0">
                <a:solidFill>
                  <a:schemeClr val="tx1"/>
                </a:solidFill>
                <a:latin typeface="Book Antiqua" panose="02040602050305030304" pitchFamily="18" charset="0"/>
              </a:rPr>
              <a:t>Target: </a:t>
            </a:r>
            <a:r>
              <a:rPr lang="en-GB" sz="1400" dirty="0">
                <a:solidFill>
                  <a:schemeClr val="tx1"/>
                </a:solidFill>
                <a:latin typeface="Book Antiqua" panose="02040602050305030304" pitchFamily="18" charset="0"/>
              </a:rPr>
              <a:t>A LUN (or LUNs) on which the production data is replicated, is called the target LUN or simply the </a:t>
            </a:r>
            <a:r>
              <a:rPr lang="en-GB" sz="1400" i="1" dirty="0">
                <a:solidFill>
                  <a:schemeClr val="tx1"/>
                </a:solidFill>
                <a:latin typeface="Book Antiqua" panose="02040602050305030304" pitchFamily="18" charset="0"/>
              </a:rPr>
              <a:t>target </a:t>
            </a:r>
            <a:r>
              <a:rPr lang="en-GB" sz="1400" dirty="0">
                <a:solidFill>
                  <a:schemeClr val="tx1"/>
                </a:solidFill>
                <a:latin typeface="Book Antiqua" panose="02040602050305030304" pitchFamily="18" charset="0"/>
              </a:rPr>
              <a:t>or replica.</a:t>
            </a:r>
          </a:p>
          <a:p>
            <a:pPr algn="just">
              <a:lnSpc>
                <a:spcPct val="150000"/>
              </a:lnSpc>
            </a:pPr>
            <a:r>
              <a:rPr lang="en-GB" sz="1400" b="1" dirty="0">
                <a:solidFill>
                  <a:schemeClr val="tx1"/>
                </a:solidFill>
                <a:latin typeface="Book Antiqua" panose="02040602050305030304" pitchFamily="18" charset="0"/>
              </a:rPr>
              <a:t>Point-in-Time (PIT) and continuous replica: </a:t>
            </a:r>
            <a:r>
              <a:rPr lang="en-GB" sz="1400" dirty="0">
                <a:solidFill>
                  <a:schemeClr val="tx1"/>
                </a:solidFill>
                <a:latin typeface="Book Antiqua" panose="02040602050305030304" pitchFamily="18" charset="0"/>
              </a:rPr>
              <a:t>Replicas can be either a PIT or a continuous copy. The PIT replica is an identical image of the source at some specific timestamp. </a:t>
            </a:r>
          </a:p>
          <a:p>
            <a:pPr algn="just">
              <a:lnSpc>
                <a:spcPct val="150000"/>
              </a:lnSpc>
            </a:pPr>
            <a:r>
              <a:rPr lang="en-GB" sz="1400" dirty="0">
                <a:solidFill>
                  <a:schemeClr val="tx1"/>
                </a:solidFill>
                <a:latin typeface="Book Antiqua" panose="02040602050305030304" pitchFamily="18" charset="0"/>
              </a:rPr>
              <a:t>For example, if a replica of a file system is created at 4:00 p.m. on Monday, this replica is the Monday 4:00 p.m. PIT copy. On the other hand, the continuous replica is in-sync with the production </a:t>
            </a:r>
            <a:r>
              <a:rPr lang="en-IN" sz="1400" dirty="0">
                <a:solidFill>
                  <a:schemeClr val="tx1"/>
                </a:solidFill>
                <a:latin typeface="Book Antiqua" panose="02040602050305030304" pitchFamily="18" charset="0"/>
              </a:rPr>
              <a:t>data at all times.</a:t>
            </a:r>
          </a:p>
          <a:p>
            <a:pPr algn="just">
              <a:lnSpc>
                <a:spcPct val="150000"/>
              </a:lnSpc>
            </a:pPr>
            <a:r>
              <a:rPr lang="en-GB" sz="1400" b="1" dirty="0">
                <a:solidFill>
                  <a:schemeClr val="tx1"/>
                </a:solidFill>
                <a:latin typeface="Book Antiqua" panose="02040602050305030304" pitchFamily="18" charset="0"/>
              </a:rPr>
              <a:t>Recoverability and </a:t>
            </a:r>
            <a:r>
              <a:rPr lang="en-GB" sz="1400" b="1" dirty="0" err="1">
                <a:solidFill>
                  <a:schemeClr val="tx1"/>
                </a:solidFill>
                <a:latin typeface="Book Antiqua" panose="02040602050305030304" pitchFamily="18" charset="0"/>
              </a:rPr>
              <a:t>restartability</a:t>
            </a:r>
            <a:r>
              <a:rPr lang="en-GB" sz="1400" b="1" dirty="0">
                <a:solidFill>
                  <a:schemeClr val="tx1"/>
                </a:solidFill>
                <a:latin typeface="Book Antiqua" panose="02040602050305030304" pitchFamily="18" charset="0"/>
              </a:rPr>
              <a:t>: </a:t>
            </a:r>
            <a:r>
              <a:rPr lang="en-GB" sz="1400" dirty="0">
                <a:solidFill>
                  <a:schemeClr val="tx1"/>
                </a:solidFill>
                <a:latin typeface="Book Antiqua" panose="02040602050305030304" pitchFamily="18" charset="0"/>
              </a:rPr>
              <a:t>Recoverability enables restoration of data from the replicas to the source if data loss or corruption occurs.</a:t>
            </a:r>
          </a:p>
          <a:p>
            <a:pPr algn="just">
              <a:lnSpc>
                <a:spcPct val="150000"/>
              </a:lnSpc>
            </a:pPr>
            <a:r>
              <a:rPr lang="en-GB" sz="1400" dirty="0" err="1">
                <a:solidFill>
                  <a:schemeClr val="tx1"/>
                </a:solidFill>
                <a:latin typeface="Book Antiqua" panose="02040602050305030304" pitchFamily="18" charset="0"/>
              </a:rPr>
              <a:t>Restartability</a:t>
            </a:r>
            <a:r>
              <a:rPr lang="en-GB" sz="1400" dirty="0">
                <a:solidFill>
                  <a:schemeClr val="tx1"/>
                </a:solidFill>
                <a:latin typeface="Book Antiqua" panose="02040602050305030304" pitchFamily="18" charset="0"/>
              </a:rPr>
              <a:t> enables restarting business operations using the replicas. The replica must be consistent with the source so that it is usable for both recovery and restart operations. </a:t>
            </a:r>
            <a:endParaRPr lang="en-IN" sz="14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552A7C04-8F93-D286-78C4-7AFAF8906513}"/>
              </a:ext>
            </a:extLst>
          </p:cNvPr>
          <p:cNvSpPr>
            <a:spLocks noGrp="1"/>
          </p:cNvSpPr>
          <p:nvPr>
            <p:ph type="ftr" sz="quarter" idx="10"/>
          </p:nvPr>
        </p:nvSpPr>
        <p:spPr/>
        <p:txBody>
          <a:bodyPr/>
          <a:lstStyle/>
          <a:p>
            <a:pPr>
              <a:defRPr/>
            </a:pPr>
            <a:r>
              <a:rPr lang="en-US"/>
              <a:t>Module 11: Local Replication</a:t>
            </a:r>
            <a:endParaRPr lang="en-US" dirty="0"/>
          </a:p>
        </p:txBody>
      </p:sp>
      <p:sp>
        <p:nvSpPr>
          <p:cNvPr id="5" name="Slide Number Placeholder 4">
            <a:extLst>
              <a:ext uri="{FF2B5EF4-FFF2-40B4-BE49-F238E27FC236}">
                <a16:creationId xmlns:a16="http://schemas.microsoft.com/office/drawing/2014/main" id="{D15F685E-D643-A75D-C0C8-17E8FA8FAB95}"/>
              </a:ext>
            </a:extLst>
          </p:cNvPr>
          <p:cNvSpPr>
            <a:spLocks noGrp="1"/>
          </p:cNvSpPr>
          <p:nvPr>
            <p:ph type="sldNum" sz="quarter" idx="11"/>
          </p:nvPr>
        </p:nvSpPr>
        <p:spPr/>
        <p:txBody>
          <a:bodyPr/>
          <a:lstStyle/>
          <a:p>
            <a:pPr>
              <a:defRPr/>
            </a:pPr>
            <a:fld id="{5BA1DFFF-3F85-458B-986A-7762775E0CEF}" type="slidenum">
              <a:rPr lang="en-US" smtClean="0"/>
              <a:pPr>
                <a:defRPr/>
              </a:pPr>
              <a:t>47</a:t>
            </a:fld>
            <a:endParaRPr lang="en-US"/>
          </a:p>
        </p:txBody>
      </p:sp>
    </p:spTree>
    <p:extLst>
      <p:ext uri="{BB962C8B-B14F-4D97-AF65-F5344CB8AC3E}">
        <p14:creationId xmlns:p14="http://schemas.microsoft.com/office/powerpoint/2010/main" val="180894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100" dirty="0">
                <a:solidFill>
                  <a:srgbClr val="C00000"/>
                </a:solidFill>
                <a:latin typeface="Book Antiqua" panose="02040602050305030304" pitchFamily="18" charset="0"/>
              </a:rPr>
              <a:t>Replica Characteristics</a:t>
            </a:r>
          </a:p>
        </p:txBody>
      </p:sp>
      <p:sp>
        <p:nvSpPr>
          <p:cNvPr id="7" name="Content Placeholder 6"/>
          <p:cNvSpPr>
            <a:spLocks noGrp="1"/>
          </p:cNvSpPr>
          <p:nvPr>
            <p:ph idx="1"/>
          </p:nvPr>
        </p:nvSpPr>
        <p:spPr>
          <a:xfrm>
            <a:off x="704850" y="1066800"/>
            <a:ext cx="7581900" cy="3429000"/>
          </a:xfrm>
        </p:spPr>
        <p:txBody>
          <a:bodyPr/>
          <a:lstStyle/>
          <a:p>
            <a:r>
              <a:rPr lang="en-US" sz="1700" dirty="0">
                <a:solidFill>
                  <a:schemeClr val="tx1"/>
                </a:solidFill>
                <a:latin typeface="Bookman Old Style" panose="02050604050505020204" pitchFamily="18" charset="0"/>
              </a:rPr>
              <a:t>Recoverability/</a:t>
            </a:r>
            <a:r>
              <a:rPr lang="en-US" sz="1700" dirty="0" err="1">
                <a:solidFill>
                  <a:schemeClr val="tx1"/>
                </a:solidFill>
                <a:latin typeface="Bookman Old Style" panose="02050604050505020204" pitchFamily="18" charset="0"/>
              </a:rPr>
              <a:t>Restartability</a:t>
            </a:r>
            <a:endParaRPr lang="en-US" sz="1700" dirty="0">
              <a:solidFill>
                <a:schemeClr val="tx1"/>
              </a:solidFill>
              <a:latin typeface="Bookman Old Style" panose="02050604050505020204" pitchFamily="18" charset="0"/>
            </a:endParaRPr>
          </a:p>
          <a:p>
            <a:pPr lvl="1"/>
            <a:r>
              <a:rPr lang="en-US" sz="1700" dirty="0">
                <a:solidFill>
                  <a:schemeClr val="tx1"/>
                </a:solidFill>
                <a:latin typeface="Bookman Old Style" panose="02050604050505020204" pitchFamily="18" charset="0"/>
              </a:rPr>
              <a:t>Replica should be able to restore data on the source device</a:t>
            </a:r>
          </a:p>
          <a:p>
            <a:pPr lvl="1"/>
            <a:r>
              <a:rPr lang="en-US" sz="1700" dirty="0">
                <a:solidFill>
                  <a:schemeClr val="tx1"/>
                </a:solidFill>
                <a:latin typeface="Bookman Old Style" panose="02050604050505020204" pitchFamily="18" charset="0"/>
              </a:rPr>
              <a:t>Restart business operation from replica </a:t>
            </a:r>
          </a:p>
          <a:p>
            <a:r>
              <a:rPr lang="en-US" sz="1700" dirty="0">
                <a:solidFill>
                  <a:schemeClr val="tx1"/>
                </a:solidFill>
                <a:latin typeface="Bookman Old Style" panose="02050604050505020204" pitchFamily="18" charset="0"/>
              </a:rPr>
              <a:t>Consistency</a:t>
            </a:r>
          </a:p>
          <a:p>
            <a:pPr lvl="1"/>
            <a:r>
              <a:rPr lang="en-US" sz="1700" dirty="0">
                <a:solidFill>
                  <a:schemeClr val="tx1"/>
                </a:solidFill>
                <a:latin typeface="Bookman Old Style" panose="02050604050505020204" pitchFamily="18" charset="0"/>
              </a:rPr>
              <a:t>Replica must be consistent with the source </a:t>
            </a:r>
          </a:p>
          <a:p>
            <a:r>
              <a:rPr lang="en-US" sz="1700" dirty="0">
                <a:solidFill>
                  <a:schemeClr val="tx1"/>
                </a:solidFill>
                <a:latin typeface="Bookman Old Style" panose="02050604050505020204" pitchFamily="18" charset="0"/>
              </a:rPr>
              <a:t>Choice of replica tie back into RPO</a:t>
            </a:r>
          </a:p>
          <a:p>
            <a:pPr lvl="1"/>
            <a:r>
              <a:rPr lang="en-US" sz="1700" dirty="0">
                <a:solidFill>
                  <a:schemeClr val="tx1"/>
                </a:solidFill>
                <a:latin typeface="Bookman Old Style" panose="02050604050505020204" pitchFamily="18" charset="0"/>
              </a:rPr>
              <a:t>Point-in-Time (PIT) </a:t>
            </a:r>
          </a:p>
          <a:p>
            <a:pPr lvl="2"/>
            <a:r>
              <a:rPr lang="en-US" sz="1700" dirty="0">
                <a:solidFill>
                  <a:schemeClr val="tx1"/>
                </a:solidFill>
                <a:latin typeface="Bookman Old Style" panose="02050604050505020204" pitchFamily="18" charset="0"/>
              </a:rPr>
              <a:t>Non-zero RPO</a:t>
            </a:r>
          </a:p>
          <a:p>
            <a:pPr lvl="1"/>
            <a:r>
              <a:rPr lang="en-US" sz="1700" dirty="0">
                <a:solidFill>
                  <a:schemeClr val="tx1"/>
                </a:solidFill>
                <a:latin typeface="Bookman Old Style" panose="02050604050505020204" pitchFamily="18" charset="0"/>
              </a:rPr>
              <a:t>Continuous </a:t>
            </a:r>
          </a:p>
          <a:p>
            <a:pPr lvl="2"/>
            <a:r>
              <a:rPr lang="en-US" sz="1700" dirty="0">
                <a:solidFill>
                  <a:schemeClr val="tx1"/>
                </a:solidFill>
                <a:latin typeface="Bookman Old Style" panose="02050604050505020204" pitchFamily="18" charset="0"/>
              </a:rPr>
              <a:t>Near-zero RPO</a:t>
            </a:r>
          </a:p>
          <a:p>
            <a:pPr lvl="1"/>
            <a:endParaRPr lang="en-US" sz="1700" dirty="0">
              <a:solidFill>
                <a:schemeClr val="tx1"/>
              </a:solidFill>
              <a:latin typeface="Bookman Old Style" panose="02050604050505020204" pitchFamily="18" charset="0"/>
            </a:endParaRPr>
          </a:p>
          <a:p>
            <a:pPr>
              <a:buNone/>
            </a:pPr>
            <a:endParaRPr lang="en-US" sz="1700" dirty="0">
              <a:solidFill>
                <a:schemeClr val="tx1"/>
              </a:solidFill>
              <a:latin typeface="Bookman Old Style" panose="02050604050505020204" pitchFamily="18" charset="0"/>
            </a:endParaRPr>
          </a:p>
        </p:txBody>
      </p:sp>
      <p:sp>
        <p:nvSpPr>
          <p:cNvPr id="5" name="Footer Placeholder 4"/>
          <p:cNvSpPr>
            <a:spLocks noGrp="1"/>
          </p:cNvSpPr>
          <p:nvPr>
            <p:ph type="ftr" sz="quarter" idx="10"/>
          </p:nvPr>
        </p:nvSpPr>
        <p:spPr/>
        <p:txBody>
          <a:bodyPr/>
          <a:lstStyle/>
          <a:p>
            <a:pPr>
              <a:defRPr/>
            </a:pPr>
            <a:r>
              <a:rPr lang="en-US"/>
              <a:t>Module 11: Local Replication</a:t>
            </a:r>
            <a:endParaRPr lang="en-US" dirty="0"/>
          </a:p>
        </p:txBody>
      </p:sp>
      <p:sp>
        <p:nvSpPr>
          <p:cNvPr id="6" name="Slide Number Placeholder 5"/>
          <p:cNvSpPr>
            <a:spLocks noGrp="1"/>
          </p:cNvSpPr>
          <p:nvPr>
            <p:ph type="sldNum" sz="quarter" idx="11"/>
          </p:nvPr>
        </p:nvSpPr>
        <p:spPr/>
        <p:txBody>
          <a:bodyPr/>
          <a:lstStyle/>
          <a:p>
            <a:pPr>
              <a:defRPr/>
            </a:pPr>
            <a:fld id="{895683FA-D0FB-447D-82E1-0D3AF418E355}" type="slidenum">
              <a:rPr lang="en-US" smtClean="0"/>
              <a:pPr>
                <a:defRPr/>
              </a:pPr>
              <a:t>48</a:t>
            </a:fld>
            <a:endParaRPr lang="en-US"/>
          </a:p>
        </p:txBody>
      </p:sp>
    </p:spTree>
    <p:extLst>
      <p:ext uri="{BB962C8B-B14F-4D97-AF65-F5344CB8AC3E}">
        <p14:creationId xmlns:p14="http://schemas.microsoft.com/office/powerpoint/2010/main" val="4235974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B6F98-D6B2-0EDD-1F7C-C5D94E518566}"/>
              </a:ext>
            </a:extLst>
          </p:cNvPr>
          <p:cNvSpPr>
            <a:spLocks noGrp="1"/>
          </p:cNvSpPr>
          <p:nvPr>
            <p:ph type="title"/>
          </p:nvPr>
        </p:nvSpPr>
        <p:spPr>
          <a:xfrm>
            <a:off x="304800" y="304800"/>
            <a:ext cx="8458200" cy="533400"/>
          </a:xfrm>
        </p:spPr>
        <p:txBody>
          <a:bodyPr/>
          <a:lstStyle/>
          <a:p>
            <a:pPr algn="ctr"/>
            <a:r>
              <a:rPr lang="en-IN" sz="2100" b="1" dirty="0">
                <a:solidFill>
                  <a:srgbClr val="C00000"/>
                </a:solidFill>
                <a:latin typeface="Book Antiqua" panose="02040602050305030304" pitchFamily="18" charset="0"/>
              </a:rPr>
              <a:t>Uses of Local Replicas</a:t>
            </a:r>
            <a:br>
              <a:rPr lang="en-IN" b="1" dirty="0"/>
            </a:br>
            <a:endParaRPr lang="en-IN" dirty="0"/>
          </a:p>
        </p:txBody>
      </p:sp>
      <p:sp>
        <p:nvSpPr>
          <p:cNvPr id="3" name="Content Placeholder 2">
            <a:extLst>
              <a:ext uri="{FF2B5EF4-FFF2-40B4-BE49-F238E27FC236}">
                <a16:creationId xmlns:a16="http://schemas.microsoft.com/office/drawing/2014/main" id="{0BA224D3-D239-B7B6-4AA5-15D3967B305C}"/>
              </a:ext>
            </a:extLst>
          </p:cNvPr>
          <p:cNvSpPr>
            <a:spLocks noGrp="1"/>
          </p:cNvSpPr>
          <p:nvPr>
            <p:ph idx="1"/>
          </p:nvPr>
        </p:nvSpPr>
        <p:spPr>
          <a:xfrm>
            <a:off x="304800" y="668867"/>
            <a:ext cx="8458200" cy="5181600"/>
          </a:xfrm>
        </p:spPr>
        <p:txBody>
          <a:bodyPr/>
          <a:lstStyle/>
          <a:p>
            <a:pPr marL="0" indent="0" algn="just">
              <a:buNone/>
            </a:pPr>
            <a:r>
              <a:rPr lang="en-GB" sz="1400" b="1" dirty="0">
                <a:solidFill>
                  <a:srgbClr val="0000FF"/>
                </a:solidFill>
                <a:latin typeface="Book Antiqua" panose="02040602050305030304" pitchFamily="18" charset="0"/>
              </a:rPr>
              <a:t>One or more local replicas of the source data may be created for various purposes, </a:t>
            </a:r>
            <a:r>
              <a:rPr lang="en-IN" sz="1400" b="1" dirty="0">
                <a:solidFill>
                  <a:srgbClr val="0000FF"/>
                </a:solidFill>
                <a:latin typeface="Book Antiqua" panose="02040602050305030304" pitchFamily="18" charset="0"/>
              </a:rPr>
              <a:t>including the following:</a:t>
            </a:r>
          </a:p>
          <a:p>
            <a:pPr algn="just">
              <a:lnSpc>
                <a:spcPct val="150000"/>
              </a:lnSpc>
            </a:pPr>
            <a:r>
              <a:rPr lang="en-GB" sz="1400" b="1" dirty="0">
                <a:solidFill>
                  <a:srgbClr val="0000FF"/>
                </a:solidFill>
                <a:latin typeface="Book Antiqua" panose="02040602050305030304" pitchFamily="18" charset="0"/>
              </a:rPr>
              <a:t>Alternative source for backup</a:t>
            </a:r>
            <a:r>
              <a:rPr lang="en-GB" sz="1400" b="1" dirty="0">
                <a:solidFill>
                  <a:schemeClr val="tx1"/>
                </a:solidFill>
                <a:latin typeface="Book Antiqua" panose="02040602050305030304" pitchFamily="18" charset="0"/>
              </a:rPr>
              <a:t>: </a:t>
            </a:r>
            <a:r>
              <a:rPr lang="en-GB" sz="1400" dirty="0">
                <a:solidFill>
                  <a:schemeClr val="tx1"/>
                </a:solidFill>
                <a:latin typeface="Book Antiqua" panose="02040602050305030304" pitchFamily="18" charset="0"/>
              </a:rPr>
              <a:t>Under normal backup operations, data is read from the production volumes (LUNs) and written to the backup device. This places an additional burden on the production infrastructure because production LUNs are simultaneously involved in production operations and servicing data for backup operations. The local replica contains an exact point-in-time (PIT) copy of the source data, and therefore can be used as a source to perform backup operations. This alleviates the backup I/O workload on the production volumes. Another benefit of using local replicas for backup is that it reduces the backup window to zero.</a:t>
            </a:r>
          </a:p>
          <a:p>
            <a:pPr algn="just">
              <a:lnSpc>
                <a:spcPct val="150000"/>
              </a:lnSpc>
            </a:pPr>
            <a:r>
              <a:rPr lang="en-GB" sz="1400" b="1" dirty="0">
                <a:solidFill>
                  <a:srgbClr val="0000FF"/>
                </a:solidFill>
                <a:latin typeface="Book Antiqua" panose="02040602050305030304" pitchFamily="18" charset="0"/>
              </a:rPr>
              <a:t>Fast recovery</a:t>
            </a:r>
            <a:r>
              <a:rPr lang="en-GB" sz="1400" dirty="0">
                <a:solidFill>
                  <a:schemeClr val="tx1"/>
                </a:solidFill>
                <a:latin typeface="Book Antiqua" panose="02040602050305030304" pitchFamily="18" charset="0"/>
              </a:rPr>
              <a:t>: If data loss or data corruption occurs on the source, a local replica might be used to recover the lost or corrupted data. If a complete failure of the source occurs, some replication solutions enable a replica to be used to restore data onto a different set of source devices, or production can be restarted on the replica. In either case, this method provides faster recovery and minimal RTO compared to traditional recovery from tape backups. In many instances, business operations can be started using the source device before the data is completely copied from the replica.</a:t>
            </a:r>
          </a:p>
          <a:p>
            <a:pPr algn="just"/>
            <a:endParaRPr lang="en-IN" sz="12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D4CE9DEE-1C75-2277-8C51-E7B24BAF0F58}"/>
              </a:ext>
            </a:extLst>
          </p:cNvPr>
          <p:cNvSpPr>
            <a:spLocks noGrp="1"/>
          </p:cNvSpPr>
          <p:nvPr>
            <p:ph type="ftr" sz="quarter" idx="10"/>
          </p:nvPr>
        </p:nvSpPr>
        <p:spPr/>
        <p:txBody>
          <a:bodyPr/>
          <a:lstStyle/>
          <a:p>
            <a:pPr>
              <a:defRPr/>
            </a:pPr>
            <a:r>
              <a:rPr lang="en-US"/>
              <a:t>Module 11: Local Replication</a:t>
            </a:r>
            <a:endParaRPr lang="en-US" dirty="0"/>
          </a:p>
        </p:txBody>
      </p:sp>
      <p:sp>
        <p:nvSpPr>
          <p:cNvPr id="5" name="Slide Number Placeholder 4">
            <a:extLst>
              <a:ext uri="{FF2B5EF4-FFF2-40B4-BE49-F238E27FC236}">
                <a16:creationId xmlns:a16="http://schemas.microsoft.com/office/drawing/2014/main" id="{F74D5133-A2BA-53A9-2F0C-1904283F3824}"/>
              </a:ext>
            </a:extLst>
          </p:cNvPr>
          <p:cNvSpPr>
            <a:spLocks noGrp="1"/>
          </p:cNvSpPr>
          <p:nvPr>
            <p:ph type="sldNum" sz="quarter" idx="11"/>
          </p:nvPr>
        </p:nvSpPr>
        <p:spPr/>
        <p:txBody>
          <a:bodyPr/>
          <a:lstStyle/>
          <a:p>
            <a:pPr>
              <a:defRPr/>
            </a:pPr>
            <a:fld id="{5BA1DFFF-3F85-458B-986A-7762775E0CEF}" type="slidenum">
              <a:rPr lang="en-US" smtClean="0"/>
              <a:pPr>
                <a:defRPr/>
              </a:pPr>
              <a:t>49</a:t>
            </a:fld>
            <a:endParaRPr lang="en-US"/>
          </a:p>
        </p:txBody>
      </p:sp>
    </p:spTree>
    <p:extLst>
      <p:ext uri="{BB962C8B-B14F-4D97-AF65-F5344CB8AC3E}">
        <p14:creationId xmlns:p14="http://schemas.microsoft.com/office/powerpoint/2010/main" val="3421387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4105D-C5E8-3B14-C53F-EF77BB6E7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7E4BA-5CFD-D022-FE03-42CC539C2AE2}"/>
              </a:ext>
            </a:extLst>
          </p:cNvPr>
          <p:cNvSpPr>
            <a:spLocks noGrp="1"/>
          </p:cNvSpPr>
          <p:nvPr>
            <p:ph type="title"/>
          </p:nvPr>
        </p:nvSpPr>
        <p:spPr>
          <a:xfrm>
            <a:off x="304800" y="304800"/>
            <a:ext cx="8458200" cy="533400"/>
          </a:xfrm>
        </p:spPr>
        <p:txBody>
          <a:bodyPr/>
          <a:lstStyle/>
          <a:p>
            <a:pPr algn="ctr"/>
            <a:r>
              <a:rPr lang="en-IN" sz="2100" b="1" dirty="0">
                <a:solidFill>
                  <a:srgbClr val="C00000"/>
                </a:solidFill>
                <a:latin typeface="Book Antiqua" panose="02040602050305030304" pitchFamily="18" charset="0"/>
              </a:rPr>
              <a:t>Uses of Local Replicas</a:t>
            </a:r>
            <a:br>
              <a:rPr lang="en-IN" b="1" dirty="0"/>
            </a:br>
            <a:endParaRPr lang="en-IN" dirty="0"/>
          </a:p>
        </p:txBody>
      </p:sp>
      <p:sp>
        <p:nvSpPr>
          <p:cNvPr id="3" name="Content Placeholder 2">
            <a:extLst>
              <a:ext uri="{FF2B5EF4-FFF2-40B4-BE49-F238E27FC236}">
                <a16:creationId xmlns:a16="http://schemas.microsoft.com/office/drawing/2014/main" id="{ABADD626-2BA8-340D-AC63-6458AEDC4C46}"/>
              </a:ext>
            </a:extLst>
          </p:cNvPr>
          <p:cNvSpPr>
            <a:spLocks noGrp="1"/>
          </p:cNvSpPr>
          <p:nvPr>
            <p:ph idx="1"/>
          </p:nvPr>
        </p:nvSpPr>
        <p:spPr>
          <a:xfrm>
            <a:off x="313267" y="762000"/>
            <a:ext cx="8458200" cy="5181600"/>
          </a:xfrm>
        </p:spPr>
        <p:txBody>
          <a:bodyPr/>
          <a:lstStyle/>
          <a:p>
            <a:pPr algn="just">
              <a:lnSpc>
                <a:spcPct val="150000"/>
              </a:lnSpc>
            </a:pPr>
            <a:r>
              <a:rPr lang="en-GB" sz="1400" b="1" dirty="0">
                <a:solidFill>
                  <a:srgbClr val="0000FF"/>
                </a:solidFill>
                <a:latin typeface="Book Antiqua" panose="02040602050305030304" pitchFamily="18" charset="0"/>
              </a:rPr>
              <a:t>Decision-support activities, such as reporting or data warehousing</a:t>
            </a:r>
            <a:r>
              <a:rPr lang="en-GB" sz="1400" dirty="0">
                <a:solidFill>
                  <a:schemeClr val="tx1"/>
                </a:solidFill>
                <a:latin typeface="Book Antiqua" panose="02040602050305030304" pitchFamily="18" charset="0"/>
              </a:rPr>
              <a:t>: Running the reports using the data on the replicas greatly reduces the I/O burden placed on the production device. Local replicas are also used for data-warehousing applications. The data-warehouse application may be populated by the data on the replica and thus avoid the impact on the </a:t>
            </a:r>
            <a:r>
              <a:rPr lang="en-IN" sz="1400" dirty="0">
                <a:solidFill>
                  <a:schemeClr val="tx1"/>
                </a:solidFill>
                <a:latin typeface="Book Antiqua" panose="02040602050305030304" pitchFamily="18" charset="0"/>
              </a:rPr>
              <a:t>production environment.</a:t>
            </a:r>
          </a:p>
          <a:p>
            <a:pPr algn="just">
              <a:lnSpc>
                <a:spcPct val="150000"/>
              </a:lnSpc>
            </a:pPr>
            <a:r>
              <a:rPr lang="en-GB" sz="1400" b="1" dirty="0">
                <a:solidFill>
                  <a:srgbClr val="0000FF"/>
                </a:solidFill>
                <a:latin typeface="Book Antiqua" panose="02040602050305030304" pitchFamily="18" charset="0"/>
              </a:rPr>
              <a:t>Testing platform</a:t>
            </a:r>
            <a:r>
              <a:rPr lang="en-GB" sz="1400" dirty="0">
                <a:solidFill>
                  <a:schemeClr val="tx1"/>
                </a:solidFill>
                <a:latin typeface="Book Antiqua" panose="02040602050305030304" pitchFamily="18" charset="0"/>
              </a:rPr>
              <a:t>: Local replicas are also used for testing new applications or upgrades. For example, an organization may use the replica to test the production application upgrade; if the test is successful, the upgrade may be implemented on the production environment.</a:t>
            </a:r>
          </a:p>
          <a:p>
            <a:pPr algn="just">
              <a:lnSpc>
                <a:spcPct val="150000"/>
              </a:lnSpc>
            </a:pPr>
            <a:r>
              <a:rPr lang="en-GB" sz="1400" b="1" dirty="0">
                <a:solidFill>
                  <a:srgbClr val="0000FF"/>
                </a:solidFill>
                <a:latin typeface="Book Antiqua" panose="02040602050305030304" pitchFamily="18" charset="0"/>
              </a:rPr>
              <a:t>Data migration</a:t>
            </a:r>
            <a:r>
              <a:rPr lang="en-GB" sz="1400" dirty="0">
                <a:solidFill>
                  <a:schemeClr val="tx1"/>
                </a:solidFill>
                <a:latin typeface="Book Antiqua" panose="02040602050305030304" pitchFamily="18" charset="0"/>
              </a:rPr>
              <a:t>: Another use for a local replica is data migration. Data migrations are performed for various reasons, such as migrating from a smaller capacity LUN to one of a larger capacity for newer versions of the application.</a:t>
            </a:r>
            <a:endParaRPr lang="en-IN" sz="14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6C049A0B-1EAC-3097-42C9-C2E9D2103FC9}"/>
              </a:ext>
            </a:extLst>
          </p:cNvPr>
          <p:cNvSpPr>
            <a:spLocks noGrp="1"/>
          </p:cNvSpPr>
          <p:nvPr>
            <p:ph type="ftr" sz="quarter" idx="10"/>
          </p:nvPr>
        </p:nvSpPr>
        <p:spPr/>
        <p:txBody>
          <a:bodyPr/>
          <a:lstStyle/>
          <a:p>
            <a:pPr>
              <a:defRPr/>
            </a:pPr>
            <a:r>
              <a:rPr lang="en-US"/>
              <a:t>Module 11: Local Replication</a:t>
            </a:r>
            <a:endParaRPr lang="en-US" dirty="0"/>
          </a:p>
        </p:txBody>
      </p:sp>
      <p:sp>
        <p:nvSpPr>
          <p:cNvPr id="5" name="Slide Number Placeholder 4">
            <a:extLst>
              <a:ext uri="{FF2B5EF4-FFF2-40B4-BE49-F238E27FC236}">
                <a16:creationId xmlns:a16="http://schemas.microsoft.com/office/drawing/2014/main" id="{C64D3A81-58E6-1723-AF05-2D18EA50143C}"/>
              </a:ext>
            </a:extLst>
          </p:cNvPr>
          <p:cNvSpPr>
            <a:spLocks noGrp="1"/>
          </p:cNvSpPr>
          <p:nvPr>
            <p:ph type="sldNum" sz="quarter" idx="11"/>
          </p:nvPr>
        </p:nvSpPr>
        <p:spPr/>
        <p:txBody>
          <a:bodyPr/>
          <a:lstStyle/>
          <a:p>
            <a:pPr>
              <a:defRPr/>
            </a:pPr>
            <a:fld id="{5BA1DFFF-3F85-458B-986A-7762775E0CEF}" type="slidenum">
              <a:rPr lang="en-US" smtClean="0"/>
              <a:pPr>
                <a:defRPr/>
              </a:pPr>
              <a:t>50</a:t>
            </a:fld>
            <a:endParaRPr lang="en-US"/>
          </a:p>
        </p:txBody>
      </p:sp>
    </p:spTree>
    <p:extLst>
      <p:ext uri="{BB962C8B-B14F-4D97-AF65-F5344CB8AC3E}">
        <p14:creationId xmlns:p14="http://schemas.microsoft.com/office/powerpoint/2010/main" val="12951806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A5241-F81B-0D93-8C07-6456CFC071B4}"/>
              </a:ext>
            </a:extLst>
          </p:cNvPr>
          <p:cNvSpPr>
            <a:spLocks noGrp="1"/>
          </p:cNvSpPr>
          <p:nvPr>
            <p:ph type="title"/>
          </p:nvPr>
        </p:nvSpPr>
        <p:spPr/>
        <p:txBody>
          <a:bodyPr/>
          <a:lstStyle/>
          <a:p>
            <a:pPr algn="ctr"/>
            <a:r>
              <a:rPr lang="en-IN" sz="2100" b="1" dirty="0">
                <a:solidFill>
                  <a:srgbClr val="C00000"/>
                </a:solidFill>
                <a:latin typeface="Book Antiqua" panose="02040602050305030304" pitchFamily="18" charset="0"/>
              </a:rPr>
              <a:t>Replica Consistency</a:t>
            </a:r>
            <a:endParaRPr lang="en-IN" sz="2100"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26458BE0-CCE1-FED5-6C4C-0AADDB235A8C}"/>
              </a:ext>
            </a:extLst>
          </p:cNvPr>
          <p:cNvSpPr>
            <a:spLocks noGrp="1"/>
          </p:cNvSpPr>
          <p:nvPr>
            <p:ph idx="1"/>
          </p:nvPr>
        </p:nvSpPr>
        <p:spPr>
          <a:xfrm>
            <a:off x="342900" y="872067"/>
            <a:ext cx="8458200" cy="5181600"/>
          </a:xfrm>
        </p:spPr>
        <p:txBody>
          <a:bodyPr/>
          <a:lstStyle/>
          <a:p>
            <a:pPr algn="just">
              <a:lnSpc>
                <a:spcPct val="150000"/>
              </a:lnSpc>
            </a:pPr>
            <a:r>
              <a:rPr lang="en-GB" sz="1700" dirty="0">
                <a:solidFill>
                  <a:schemeClr val="tx1"/>
                </a:solidFill>
                <a:latin typeface="Book Antiqua" panose="02040602050305030304" pitchFamily="18" charset="0"/>
              </a:rPr>
              <a:t>Most file systems and databases buffer the data in the host before writing it to the disk. </a:t>
            </a:r>
          </a:p>
          <a:p>
            <a:pPr algn="just">
              <a:lnSpc>
                <a:spcPct val="150000"/>
              </a:lnSpc>
            </a:pPr>
            <a:r>
              <a:rPr lang="en-GB" sz="1700" dirty="0">
                <a:solidFill>
                  <a:schemeClr val="tx1"/>
                </a:solidFill>
                <a:latin typeface="Book Antiqua" panose="02040602050305030304" pitchFamily="18" charset="0"/>
              </a:rPr>
              <a:t>A consistent replica ensures that the data buffered in the host is captured on the disk when the replica is created. </a:t>
            </a:r>
          </a:p>
          <a:p>
            <a:pPr algn="just">
              <a:lnSpc>
                <a:spcPct val="150000"/>
              </a:lnSpc>
            </a:pPr>
            <a:r>
              <a:rPr lang="en-GB" sz="1700" dirty="0">
                <a:solidFill>
                  <a:schemeClr val="tx1"/>
                </a:solidFill>
                <a:latin typeface="Book Antiqua" panose="02040602050305030304" pitchFamily="18" charset="0"/>
              </a:rPr>
              <a:t>The data staged in the cache and not yet committed to the disk should be flushed before taking the replica. </a:t>
            </a:r>
          </a:p>
          <a:p>
            <a:pPr algn="just">
              <a:lnSpc>
                <a:spcPct val="150000"/>
              </a:lnSpc>
            </a:pPr>
            <a:r>
              <a:rPr lang="en-GB" sz="1700" dirty="0">
                <a:solidFill>
                  <a:schemeClr val="tx1"/>
                </a:solidFill>
                <a:latin typeface="Book Antiqua" panose="02040602050305030304" pitchFamily="18" charset="0"/>
              </a:rPr>
              <a:t>The storage array operating environment takes care of flushing its cache before the replication operation is initiated. </a:t>
            </a:r>
          </a:p>
          <a:p>
            <a:pPr algn="just">
              <a:lnSpc>
                <a:spcPct val="150000"/>
              </a:lnSpc>
            </a:pPr>
            <a:r>
              <a:rPr lang="en-GB" sz="1700" dirty="0">
                <a:solidFill>
                  <a:schemeClr val="tx1"/>
                </a:solidFill>
                <a:latin typeface="Book Antiqua" panose="02040602050305030304" pitchFamily="18" charset="0"/>
              </a:rPr>
              <a:t>Consistency ensures the usability of a replica and is a primary requirement for all the replication technologies.</a:t>
            </a:r>
            <a:endParaRPr lang="en-IN" sz="17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FF561C2A-D54D-1419-DB48-8E681A9A9A34}"/>
              </a:ext>
            </a:extLst>
          </p:cNvPr>
          <p:cNvSpPr>
            <a:spLocks noGrp="1"/>
          </p:cNvSpPr>
          <p:nvPr>
            <p:ph type="ftr" sz="quarter" idx="10"/>
          </p:nvPr>
        </p:nvSpPr>
        <p:spPr/>
        <p:txBody>
          <a:bodyPr/>
          <a:lstStyle/>
          <a:p>
            <a:pPr>
              <a:defRPr/>
            </a:pPr>
            <a:r>
              <a:rPr lang="en-US"/>
              <a:t>Module 11: Local Replication</a:t>
            </a:r>
            <a:endParaRPr lang="en-US" dirty="0"/>
          </a:p>
        </p:txBody>
      </p:sp>
      <p:sp>
        <p:nvSpPr>
          <p:cNvPr id="5" name="Slide Number Placeholder 4">
            <a:extLst>
              <a:ext uri="{FF2B5EF4-FFF2-40B4-BE49-F238E27FC236}">
                <a16:creationId xmlns:a16="http://schemas.microsoft.com/office/drawing/2014/main" id="{66F10230-0937-3729-F213-27DBBDB09C52}"/>
              </a:ext>
            </a:extLst>
          </p:cNvPr>
          <p:cNvSpPr>
            <a:spLocks noGrp="1"/>
          </p:cNvSpPr>
          <p:nvPr>
            <p:ph type="sldNum" sz="quarter" idx="11"/>
          </p:nvPr>
        </p:nvSpPr>
        <p:spPr/>
        <p:txBody>
          <a:bodyPr/>
          <a:lstStyle/>
          <a:p>
            <a:pPr>
              <a:defRPr/>
            </a:pPr>
            <a:fld id="{5BA1DFFF-3F85-458B-986A-7762775E0CEF}" type="slidenum">
              <a:rPr lang="en-US" smtClean="0"/>
              <a:pPr>
                <a:defRPr/>
              </a:pPr>
              <a:t>51</a:t>
            </a:fld>
            <a:endParaRPr lang="en-US"/>
          </a:p>
        </p:txBody>
      </p:sp>
    </p:spTree>
    <p:extLst>
      <p:ext uri="{BB962C8B-B14F-4D97-AF65-F5344CB8AC3E}">
        <p14:creationId xmlns:p14="http://schemas.microsoft.com/office/powerpoint/2010/main" val="24558758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2100" b="1" dirty="0">
                <a:solidFill>
                  <a:srgbClr val="C00000"/>
                </a:solidFill>
                <a:latin typeface="Book Antiqua" panose="02040602050305030304" pitchFamily="18" charset="0"/>
              </a:rPr>
              <a:t>Understanding Consistency</a:t>
            </a:r>
          </a:p>
        </p:txBody>
      </p:sp>
      <p:sp>
        <p:nvSpPr>
          <p:cNvPr id="8" name="Content Placeholder 7"/>
          <p:cNvSpPr>
            <a:spLocks noGrp="1"/>
          </p:cNvSpPr>
          <p:nvPr>
            <p:ph idx="1"/>
          </p:nvPr>
        </p:nvSpPr>
        <p:spPr/>
        <p:txBody>
          <a:bodyPr/>
          <a:lstStyle/>
          <a:p>
            <a:r>
              <a:rPr lang="en-US" sz="1700" dirty="0">
                <a:solidFill>
                  <a:schemeClr val="tx1"/>
                </a:solidFill>
                <a:latin typeface="Bookman Old Style" panose="02050604050505020204" pitchFamily="18" charset="0"/>
              </a:rPr>
              <a:t>Consistency ensures the usability of replica</a:t>
            </a:r>
          </a:p>
          <a:p>
            <a:r>
              <a:rPr lang="en-US" sz="1700" dirty="0">
                <a:solidFill>
                  <a:schemeClr val="tx1"/>
                </a:solidFill>
                <a:latin typeface="Bookman Old Style" panose="02050604050505020204" pitchFamily="18" charset="0"/>
              </a:rPr>
              <a:t>Consistency can be achieved in various ways for file system and database</a:t>
            </a:r>
          </a:p>
        </p:txBody>
      </p:sp>
      <p:sp>
        <p:nvSpPr>
          <p:cNvPr id="5" name="Footer Placeholder 4"/>
          <p:cNvSpPr>
            <a:spLocks noGrp="1"/>
          </p:cNvSpPr>
          <p:nvPr>
            <p:ph type="ftr" sz="quarter" idx="10"/>
          </p:nvPr>
        </p:nvSpPr>
        <p:spPr/>
        <p:txBody>
          <a:bodyPr/>
          <a:lstStyle/>
          <a:p>
            <a:pPr>
              <a:defRPr/>
            </a:pPr>
            <a:r>
              <a:rPr lang="en-US"/>
              <a:t>Module 11: Local Replication</a:t>
            </a:r>
            <a:endParaRPr lang="en-US" dirty="0"/>
          </a:p>
        </p:txBody>
      </p:sp>
      <p:sp>
        <p:nvSpPr>
          <p:cNvPr id="6" name="Slide Number Placeholder 5"/>
          <p:cNvSpPr>
            <a:spLocks noGrp="1"/>
          </p:cNvSpPr>
          <p:nvPr>
            <p:ph type="sldNum" sz="quarter" idx="11"/>
          </p:nvPr>
        </p:nvSpPr>
        <p:spPr/>
        <p:txBody>
          <a:bodyPr/>
          <a:lstStyle/>
          <a:p>
            <a:pPr>
              <a:defRPr/>
            </a:pPr>
            <a:fld id="{895683FA-D0FB-447D-82E1-0D3AF418E355}" type="slidenum">
              <a:rPr lang="en-US" smtClean="0"/>
              <a:pPr>
                <a:defRPr/>
              </a:pPr>
              <a:t>52</a:t>
            </a:fld>
            <a:endParaRPr lang="en-US"/>
          </a:p>
        </p:txBody>
      </p:sp>
      <p:graphicFrame>
        <p:nvGraphicFramePr>
          <p:cNvPr id="9" name="Content Placeholder 8"/>
          <p:cNvGraphicFramePr>
            <a:graphicFrameLocks/>
          </p:cNvGraphicFramePr>
          <p:nvPr>
            <p:extLst>
              <p:ext uri="{D42A27DB-BD31-4B8C-83A1-F6EECF244321}">
                <p14:modId xmlns:p14="http://schemas.microsoft.com/office/powerpoint/2010/main" val="465553940"/>
              </p:ext>
            </p:extLst>
          </p:nvPr>
        </p:nvGraphicFramePr>
        <p:xfrm>
          <a:off x="1066800" y="2118360"/>
          <a:ext cx="6629400" cy="262128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1627216">
                  <a:extLst>
                    <a:ext uri="{9D8B030D-6E8A-4147-A177-3AD203B41FA5}">
                      <a16:colId xmlns:a16="http://schemas.microsoft.com/office/drawing/2014/main" val="20001"/>
                    </a:ext>
                  </a:extLst>
                </a:gridCol>
                <a:gridCol w="3676304">
                  <a:extLst>
                    <a:ext uri="{9D8B030D-6E8A-4147-A177-3AD203B41FA5}">
                      <a16:colId xmlns:a16="http://schemas.microsoft.com/office/drawing/2014/main" val="20002"/>
                    </a:ext>
                  </a:extLst>
                </a:gridCol>
              </a:tblGrid>
              <a:tr h="838200">
                <a:tc>
                  <a:txBody>
                    <a:bodyPr/>
                    <a:lstStyle/>
                    <a:p>
                      <a:pPr algn="l"/>
                      <a:r>
                        <a:rPr lang="en-US" sz="1400" dirty="0">
                          <a:latin typeface="Bookman Old Style" panose="02050604050505020204" pitchFamily="18" charset="0"/>
                        </a:rPr>
                        <a:t>z</a:t>
                      </a:r>
                    </a:p>
                  </a:txBody>
                  <a:tcPr anchor="ctr">
                    <a:solidFill>
                      <a:srgbClr val="FFFFFF"/>
                    </a:solidFill>
                  </a:tcPr>
                </a:tc>
                <a:tc>
                  <a:txBody>
                    <a:bodyPr/>
                    <a:lstStyle/>
                    <a:p>
                      <a:pPr marL="0" algn="ctr" defTabSz="914400" rtl="0" eaLnBrk="1" latinLnBrk="0" hangingPunct="1"/>
                      <a:r>
                        <a:rPr lang="en-US" sz="1400" b="1" kern="1200" dirty="0">
                          <a:solidFill>
                            <a:schemeClr val="tx1"/>
                          </a:solidFill>
                          <a:latin typeface="Book Antiqua" panose="02040602050305030304" pitchFamily="18" charset="0"/>
                          <a:ea typeface="+mn-ea"/>
                          <a:cs typeface="+mn-cs"/>
                        </a:rPr>
                        <a:t>Offline</a:t>
                      </a:r>
                    </a:p>
                  </a:txBody>
                  <a:tcPr anchor="ctr">
                    <a:solidFill>
                      <a:schemeClr val="accent4">
                        <a:lumMod val="20000"/>
                        <a:lumOff val="80000"/>
                      </a:schemeClr>
                    </a:solidFill>
                  </a:tcPr>
                </a:tc>
                <a:tc>
                  <a:txBody>
                    <a:bodyPr/>
                    <a:lstStyle/>
                    <a:p>
                      <a:pPr marL="0" algn="ctr" defTabSz="914400" rtl="0" eaLnBrk="1" latinLnBrk="0" hangingPunct="1"/>
                      <a:r>
                        <a:rPr lang="en-US" sz="1400" b="1" kern="1200" dirty="0">
                          <a:solidFill>
                            <a:schemeClr val="tx1"/>
                          </a:solidFill>
                          <a:latin typeface="Book Antiqua" panose="02040602050305030304" pitchFamily="18" charset="0"/>
                          <a:ea typeface="+mn-ea"/>
                          <a:cs typeface="+mn-cs"/>
                        </a:rPr>
                        <a:t>Online</a:t>
                      </a:r>
                    </a:p>
                  </a:txBody>
                  <a:tcPr anchor="ctr">
                    <a:solidFill>
                      <a:schemeClr val="accent4">
                        <a:lumMod val="20000"/>
                        <a:lumOff val="80000"/>
                      </a:schemeClr>
                    </a:solidFill>
                  </a:tcPr>
                </a:tc>
                <a:extLst>
                  <a:ext uri="{0D108BD9-81ED-4DB2-BD59-A6C34878D82A}">
                    <a16:rowId xmlns:a16="http://schemas.microsoft.com/office/drawing/2014/main" val="10000"/>
                  </a:ext>
                </a:extLst>
              </a:tr>
              <a:tr h="838200">
                <a:tc>
                  <a:txBody>
                    <a:bodyPr/>
                    <a:lstStyle/>
                    <a:p>
                      <a:pPr algn="ctr"/>
                      <a:r>
                        <a:rPr lang="en-US" sz="1400" b="1" dirty="0">
                          <a:solidFill>
                            <a:schemeClr val="tx1"/>
                          </a:solidFill>
                          <a:latin typeface="Book Antiqua" panose="02040602050305030304" pitchFamily="18" charset="0"/>
                        </a:rPr>
                        <a:t>File System</a:t>
                      </a:r>
                    </a:p>
                  </a:txBody>
                  <a:tcPr anchor="ctr">
                    <a:solidFill>
                      <a:schemeClr val="accent4">
                        <a:lumMod val="20000"/>
                        <a:lumOff val="80000"/>
                      </a:schemeClr>
                    </a:solidFill>
                  </a:tcPr>
                </a:tc>
                <a:tc>
                  <a:txBody>
                    <a:bodyPr/>
                    <a:lstStyle/>
                    <a:p>
                      <a:pPr algn="l"/>
                      <a:r>
                        <a:rPr lang="en-US" sz="1400" dirty="0">
                          <a:latin typeface="Bookman Old Style" panose="02050604050505020204" pitchFamily="18" charset="0"/>
                        </a:rPr>
                        <a:t> </a:t>
                      </a:r>
                    </a:p>
                    <a:p>
                      <a:pPr algn="l"/>
                      <a:r>
                        <a:rPr lang="en-US" sz="1400" dirty="0" err="1">
                          <a:latin typeface="Bookman Old Style" panose="02050604050505020204" pitchFamily="18" charset="0"/>
                        </a:rPr>
                        <a:t>Unmount</a:t>
                      </a:r>
                      <a:r>
                        <a:rPr lang="en-US" sz="1400" dirty="0">
                          <a:latin typeface="Bookman Old Style" panose="02050604050505020204" pitchFamily="18" charset="0"/>
                        </a:rPr>
                        <a:t> file</a:t>
                      </a:r>
                      <a:r>
                        <a:rPr lang="en-US" sz="1400" baseline="0" dirty="0">
                          <a:latin typeface="Bookman Old Style" panose="02050604050505020204" pitchFamily="18" charset="0"/>
                        </a:rPr>
                        <a:t> system</a:t>
                      </a:r>
                      <a:endParaRPr lang="en-US" sz="1400" dirty="0">
                        <a:latin typeface="Bookman Old Style" panose="02050604050505020204" pitchFamily="18" charset="0"/>
                      </a:endParaRPr>
                    </a:p>
                  </a:txBody>
                  <a:tcPr/>
                </a:tc>
                <a:tc>
                  <a:txBody>
                    <a:bodyPr/>
                    <a:lstStyle/>
                    <a:p>
                      <a:pPr algn="l"/>
                      <a:endParaRPr lang="en-US" sz="1400" dirty="0">
                        <a:latin typeface="Bookman Old Style" panose="02050604050505020204" pitchFamily="18" charset="0"/>
                      </a:endParaRPr>
                    </a:p>
                    <a:p>
                      <a:pPr algn="l"/>
                      <a:r>
                        <a:rPr lang="en-US" sz="1400" dirty="0">
                          <a:latin typeface="Bookman Old Style" panose="02050604050505020204" pitchFamily="18" charset="0"/>
                        </a:rPr>
                        <a:t>Flushing host buffers</a:t>
                      </a:r>
                    </a:p>
                    <a:p>
                      <a:pPr algn="l"/>
                      <a:endParaRPr lang="en-US" sz="1400" dirty="0">
                        <a:latin typeface="Bookman Old Style" panose="02050604050505020204" pitchFamily="18" charset="0"/>
                      </a:endParaRPr>
                    </a:p>
                  </a:txBody>
                  <a:tcPr/>
                </a:tc>
                <a:extLst>
                  <a:ext uri="{0D108BD9-81ED-4DB2-BD59-A6C34878D82A}">
                    <a16:rowId xmlns:a16="http://schemas.microsoft.com/office/drawing/2014/main" val="10001"/>
                  </a:ext>
                </a:extLst>
              </a:tr>
              <a:tr h="838200">
                <a:tc>
                  <a:txBody>
                    <a:bodyPr/>
                    <a:lstStyle/>
                    <a:p>
                      <a:pPr algn="ctr"/>
                      <a:r>
                        <a:rPr lang="en-US" sz="1400" b="1" dirty="0">
                          <a:solidFill>
                            <a:schemeClr val="tx1"/>
                          </a:solidFill>
                          <a:latin typeface="Book Antiqua" panose="02040602050305030304" pitchFamily="18" charset="0"/>
                        </a:rPr>
                        <a:t>Database</a:t>
                      </a:r>
                    </a:p>
                  </a:txBody>
                  <a:tcPr anchor="ctr">
                    <a:solidFill>
                      <a:schemeClr val="accent4">
                        <a:lumMod val="20000"/>
                        <a:lumOff val="80000"/>
                      </a:schemeClr>
                    </a:solidFill>
                  </a:tcPr>
                </a:tc>
                <a:tc>
                  <a:txBody>
                    <a:bodyPr/>
                    <a:lstStyle/>
                    <a:p>
                      <a:pPr algn="l"/>
                      <a:r>
                        <a:rPr lang="en-US" sz="1400" dirty="0">
                          <a:latin typeface="Bookman Old Style" panose="02050604050505020204" pitchFamily="18" charset="0"/>
                        </a:rPr>
                        <a:t>Shutdown database</a:t>
                      </a:r>
                    </a:p>
                  </a:txBody>
                  <a:tcPr anchor="ctr"/>
                </a:tc>
                <a:tc>
                  <a:txBody>
                    <a:bodyPr/>
                    <a:lstStyle/>
                    <a:p>
                      <a:pPr marL="228600" lvl="1" indent="-228600" algn="l">
                        <a:buFont typeface="Arial" pitchFamily="34" charset="0"/>
                        <a:buAutoNum type="alphaLcParenR"/>
                      </a:pPr>
                      <a:r>
                        <a:rPr lang="en-US" sz="1400" dirty="0">
                          <a:latin typeface="Bookman Old Style" panose="02050604050505020204" pitchFamily="18" charset="0"/>
                        </a:rPr>
                        <a:t>Using dependent write I/O principle </a:t>
                      </a:r>
                    </a:p>
                    <a:p>
                      <a:pPr marL="228600" lvl="1" indent="-228600" algn="l">
                        <a:buFont typeface="Arial" pitchFamily="34" charset="0"/>
                        <a:buAutoNum type="alphaLcParenR"/>
                      </a:pPr>
                      <a:r>
                        <a:rPr lang="en-US" sz="1400" dirty="0">
                          <a:latin typeface="Bookman Old Style" panose="02050604050505020204" pitchFamily="18" charset="0"/>
                        </a:rPr>
                        <a:t>Holding I/Os to source before creating replica</a:t>
                      </a:r>
                    </a:p>
                    <a:p>
                      <a:pPr algn="l"/>
                      <a:endParaRPr lang="en-US" sz="1400" dirty="0">
                        <a:latin typeface="Bookman Old Style" panose="020506040505050202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4A5CF-24E5-89E7-BEA8-B1A95CE33DB7}"/>
              </a:ext>
            </a:extLst>
          </p:cNvPr>
          <p:cNvSpPr>
            <a:spLocks noGrp="1"/>
          </p:cNvSpPr>
          <p:nvPr>
            <p:ph type="title"/>
          </p:nvPr>
        </p:nvSpPr>
        <p:spPr/>
        <p:txBody>
          <a:bodyPr/>
          <a:lstStyle/>
          <a:p>
            <a:r>
              <a:rPr lang="en-GB" sz="2100" b="1" dirty="0">
                <a:solidFill>
                  <a:srgbClr val="C00000"/>
                </a:solidFill>
                <a:latin typeface="Book Antiqua" panose="02040602050305030304" pitchFamily="18" charset="0"/>
              </a:rPr>
              <a:t>Consistency of a Replicated File System</a:t>
            </a:r>
            <a:endParaRPr lang="en-IN" sz="2100" dirty="0">
              <a:solidFill>
                <a:srgbClr val="C00000"/>
              </a:solidFill>
              <a:latin typeface="Book Antiqua" panose="02040602050305030304" pitchFamily="18" charset="0"/>
            </a:endParaRPr>
          </a:p>
        </p:txBody>
      </p:sp>
      <p:sp>
        <p:nvSpPr>
          <p:cNvPr id="3" name="Content Placeholder 2">
            <a:extLst>
              <a:ext uri="{FF2B5EF4-FFF2-40B4-BE49-F238E27FC236}">
                <a16:creationId xmlns:a16="http://schemas.microsoft.com/office/drawing/2014/main" id="{E13F4655-57B1-61D3-90F0-078E7240CF1B}"/>
              </a:ext>
            </a:extLst>
          </p:cNvPr>
          <p:cNvSpPr>
            <a:spLocks noGrp="1"/>
          </p:cNvSpPr>
          <p:nvPr>
            <p:ph idx="1"/>
          </p:nvPr>
        </p:nvSpPr>
        <p:spPr>
          <a:xfrm>
            <a:off x="304800" y="838200"/>
            <a:ext cx="8458200" cy="5181600"/>
          </a:xfrm>
        </p:spPr>
        <p:txBody>
          <a:bodyPr/>
          <a:lstStyle/>
          <a:p>
            <a:pPr>
              <a:lnSpc>
                <a:spcPct val="150000"/>
              </a:lnSpc>
            </a:pPr>
            <a:r>
              <a:rPr lang="en-GB" sz="1400" dirty="0">
                <a:solidFill>
                  <a:schemeClr val="tx1"/>
                </a:solidFill>
                <a:latin typeface="Book Antiqua" panose="02040602050305030304" pitchFamily="18" charset="0"/>
              </a:rPr>
              <a:t>File systems buffer the data in the host memory to improve the application response time. </a:t>
            </a:r>
          </a:p>
          <a:p>
            <a:pPr>
              <a:lnSpc>
                <a:spcPct val="150000"/>
              </a:lnSpc>
            </a:pPr>
            <a:r>
              <a:rPr lang="en-GB" sz="1400" dirty="0">
                <a:solidFill>
                  <a:schemeClr val="tx1"/>
                </a:solidFill>
                <a:latin typeface="Book Antiqua" panose="02040602050305030304" pitchFamily="18" charset="0"/>
              </a:rPr>
              <a:t>The buffered data is periodically written to the disk. In UNIX operating systems, sync daemon is the process that flushes the buffers to the disk at set intervals. </a:t>
            </a:r>
          </a:p>
          <a:p>
            <a:pPr>
              <a:lnSpc>
                <a:spcPct val="150000"/>
              </a:lnSpc>
            </a:pPr>
            <a:r>
              <a:rPr lang="en-GB" sz="1400" dirty="0">
                <a:solidFill>
                  <a:schemeClr val="tx1"/>
                </a:solidFill>
                <a:latin typeface="Book Antiqua" panose="02040602050305030304" pitchFamily="18" charset="0"/>
              </a:rPr>
              <a:t>In some cases, the replica is created between the set intervals, which might result in the creation of an inconsistent replica. </a:t>
            </a:r>
          </a:p>
          <a:p>
            <a:pPr>
              <a:lnSpc>
                <a:spcPct val="150000"/>
              </a:lnSpc>
            </a:pPr>
            <a:r>
              <a:rPr lang="en-GB" sz="1400" dirty="0">
                <a:solidFill>
                  <a:schemeClr val="tx1"/>
                </a:solidFill>
                <a:latin typeface="Book Antiqua" panose="02040602050305030304" pitchFamily="18" charset="0"/>
              </a:rPr>
              <a:t>Therefore, host memory buffers must be flushed to ensure data consistency on the replica, prior to its creation. </a:t>
            </a:r>
          </a:p>
          <a:p>
            <a:pPr>
              <a:lnSpc>
                <a:spcPct val="150000"/>
              </a:lnSpc>
            </a:pPr>
            <a:r>
              <a:rPr lang="en-GB" sz="1400" dirty="0">
                <a:solidFill>
                  <a:schemeClr val="tx1"/>
                </a:solidFill>
                <a:latin typeface="Book Antiqua" panose="02040602050305030304" pitchFamily="18" charset="0"/>
              </a:rPr>
              <a:t>Figure 11-1 illustrates how the file system buffer is flushed to the source device before replication. If the host memory buffers are not flushed, the data on the replica will not contain the information that was buffered in the host. </a:t>
            </a:r>
          </a:p>
          <a:p>
            <a:pPr>
              <a:lnSpc>
                <a:spcPct val="150000"/>
              </a:lnSpc>
            </a:pPr>
            <a:r>
              <a:rPr lang="en-GB" sz="1400" dirty="0">
                <a:solidFill>
                  <a:schemeClr val="tx1"/>
                </a:solidFill>
                <a:latin typeface="Book Antiqua" panose="02040602050305030304" pitchFamily="18" charset="0"/>
              </a:rPr>
              <a:t>If the file system is unmounted before creating the replica, the buffers will be automatically flushed and the data will be consistent on the replica.</a:t>
            </a:r>
            <a:endParaRPr lang="en-IN" sz="1400" dirty="0">
              <a:solidFill>
                <a:schemeClr val="tx1"/>
              </a:solidFill>
              <a:latin typeface="Book Antiqua" panose="02040602050305030304" pitchFamily="18" charset="0"/>
            </a:endParaRPr>
          </a:p>
        </p:txBody>
      </p:sp>
      <p:sp>
        <p:nvSpPr>
          <p:cNvPr id="4" name="Footer Placeholder 3">
            <a:extLst>
              <a:ext uri="{FF2B5EF4-FFF2-40B4-BE49-F238E27FC236}">
                <a16:creationId xmlns:a16="http://schemas.microsoft.com/office/drawing/2014/main" id="{857E15F1-55B3-E860-A28C-39657E396A37}"/>
              </a:ext>
            </a:extLst>
          </p:cNvPr>
          <p:cNvSpPr>
            <a:spLocks noGrp="1"/>
          </p:cNvSpPr>
          <p:nvPr>
            <p:ph type="ftr" sz="quarter" idx="10"/>
          </p:nvPr>
        </p:nvSpPr>
        <p:spPr/>
        <p:txBody>
          <a:bodyPr/>
          <a:lstStyle/>
          <a:p>
            <a:pPr>
              <a:defRPr/>
            </a:pPr>
            <a:r>
              <a:rPr lang="en-US"/>
              <a:t>Module 11: Local Replication</a:t>
            </a:r>
            <a:endParaRPr lang="en-US" dirty="0"/>
          </a:p>
        </p:txBody>
      </p:sp>
      <p:sp>
        <p:nvSpPr>
          <p:cNvPr id="5" name="Slide Number Placeholder 4">
            <a:extLst>
              <a:ext uri="{FF2B5EF4-FFF2-40B4-BE49-F238E27FC236}">
                <a16:creationId xmlns:a16="http://schemas.microsoft.com/office/drawing/2014/main" id="{89759F2C-6038-3D3C-584A-14C238045C66}"/>
              </a:ext>
            </a:extLst>
          </p:cNvPr>
          <p:cNvSpPr>
            <a:spLocks noGrp="1"/>
          </p:cNvSpPr>
          <p:nvPr>
            <p:ph type="sldNum" sz="quarter" idx="11"/>
          </p:nvPr>
        </p:nvSpPr>
        <p:spPr/>
        <p:txBody>
          <a:bodyPr/>
          <a:lstStyle/>
          <a:p>
            <a:pPr>
              <a:defRPr/>
            </a:pPr>
            <a:fld id="{5BA1DFFF-3F85-458B-986A-7762775E0CEF}" type="slidenum">
              <a:rPr lang="en-US" smtClean="0"/>
              <a:pPr>
                <a:defRPr/>
              </a:pPr>
              <a:t>53</a:t>
            </a:fld>
            <a:endParaRPr lang="en-US"/>
          </a:p>
        </p:txBody>
      </p:sp>
    </p:spTree>
    <p:extLst>
      <p:ext uri="{BB962C8B-B14F-4D97-AF65-F5344CB8AC3E}">
        <p14:creationId xmlns:p14="http://schemas.microsoft.com/office/powerpoint/2010/main" val="10654314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2896" y="4976192"/>
            <a:ext cx="1066800" cy="1066800"/>
          </a:xfrm>
          <a:prstGeom prst="rect">
            <a:avLst/>
          </a:prstGeom>
          <a:noFill/>
        </p:spPr>
      </p:pic>
      <p:pic>
        <p:nvPicPr>
          <p:cNvPr id="712"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3521764" y="4953000"/>
            <a:ext cx="1066800" cy="1066800"/>
          </a:xfrm>
          <a:prstGeom prst="rect">
            <a:avLst/>
          </a:prstGeom>
          <a:noFill/>
        </p:spPr>
      </p:pic>
      <p:sp>
        <p:nvSpPr>
          <p:cNvPr id="7" name="Title 6"/>
          <p:cNvSpPr>
            <a:spLocks noGrp="1"/>
          </p:cNvSpPr>
          <p:nvPr>
            <p:ph type="title"/>
          </p:nvPr>
        </p:nvSpPr>
        <p:spPr/>
        <p:txBody>
          <a:bodyPr/>
          <a:lstStyle/>
          <a:p>
            <a:r>
              <a:rPr lang="en-US" sz="2100" b="1" dirty="0">
                <a:solidFill>
                  <a:srgbClr val="C00000"/>
                </a:solidFill>
                <a:latin typeface="Book Antiqua" panose="02040602050305030304" pitchFamily="18" charset="0"/>
              </a:rPr>
              <a:t>File System Consistency: Flushing Host Buffer</a:t>
            </a:r>
          </a:p>
        </p:txBody>
      </p:sp>
      <p:sp>
        <p:nvSpPr>
          <p:cNvPr id="6" name="Slide Number Placeholder 5"/>
          <p:cNvSpPr>
            <a:spLocks noGrp="1"/>
          </p:cNvSpPr>
          <p:nvPr>
            <p:ph type="sldNum" sz="quarter" idx="10"/>
          </p:nvPr>
        </p:nvSpPr>
        <p:spPr/>
        <p:txBody>
          <a:bodyPr/>
          <a:lstStyle/>
          <a:p>
            <a:pPr>
              <a:defRPr/>
            </a:pPr>
            <a:fld id="{895683FA-D0FB-447D-82E1-0D3AF418E355}" type="slidenum">
              <a:rPr lang="en-US" smtClean="0"/>
              <a:pPr>
                <a:defRPr/>
              </a:pPr>
              <a:t>54</a:t>
            </a:fld>
            <a:endParaRPr lang="en-US"/>
          </a:p>
        </p:txBody>
      </p:sp>
      <p:sp>
        <p:nvSpPr>
          <p:cNvPr id="5" name="Footer Placeholder 4"/>
          <p:cNvSpPr>
            <a:spLocks noGrp="1"/>
          </p:cNvSpPr>
          <p:nvPr>
            <p:ph type="ftr" sz="quarter" idx="11"/>
          </p:nvPr>
        </p:nvSpPr>
        <p:spPr/>
        <p:txBody>
          <a:bodyPr/>
          <a:lstStyle/>
          <a:p>
            <a:pPr>
              <a:defRPr/>
            </a:pPr>
            <a:r>
              <a:rPr lang="en-US"/>
              <a:t>Module 11: Local Replication</a:t>
            </a:r>
            <a:endParaRPr lang="en-US" dirty="0"/>
          </a:p>
        </p:txBody>
      </p:sp>
      <p:sp>
        <p:nvSpPr>
          <p:cNvPr id="10" name="Freeform 8"/>
          <p:cNvSpPr>
            <a:spLocks/>
          </p:cNvSpPr>
          <p:nvPr/>
        </p:nvSpPr>
        <p:spPr bwMode="auto">
          <a:xfrm>
            <a:off x="3476625" y="1231900"/>
            <a:ext cx="4041775" cy="473075"/>
          </a:xfrm>
          <a:custGeom>
            <a:avLst/>
            <a:gdLst/>
            <a:ahLst/>
            <a:cxnLst>
              <a:cxn ang="0">
                <a:pos x="7638" y="231"/>
              </a:cxn>
              <a:cxn ang="0">
                <a:pos x="7634" y="176"/>
              </a:cxn>
              <a:cxn ang="0">
                <a:pos x="7624" y="130"/>
              </a:cxn>
              <a:cxn ang="0">
                <a:pos x="7605" y="90"/>
              </a:cxn>
              <a:cxn ang="0">
                <a:pos x="7581" y="58"/>
              </a:cxn>
              <a:cxn ang="0">
                <a:pos x="7548" y="32"/>
              </a:cxn>
              <a:cxn ang="0">
                <a:pos x="7509" y="15"/>
              </a:cxn>
              <a:cxn ang="0">
                <a:pos x="7461" y="3"/>
              </a:cxn>
              <a:cxn ang="0">
                <a:pos x="7408" y="0"/>
              </a:cxn>
              <a:cxn ang="0">
                <a:pos x="202" y="0"/>
              </a:cxn>
              <a:cxn ang="0">
                <a:pos x="152" y="7"/>
              </a:cxn>
              <a:cxn ang="0">
                <a:pos x="108" y="22"/>
              </a:cxn>
              <a:cxn ang="0">
                <a:pos x="72" y="43"/>
              </a:cxn>
              <a:cxn ang="0">
                <a:pos x="44" y="72"/>
              </a:cxn>
              <a:cxn ang="0">
                <a:pos x="22" y="108"/>
              </a:cxn>
              <a:cxn ang="0">
                <a:pos x="7" y="151"/>
              </a:cxn>
              <a:cxn ang="0">
                <a:pos x="0" y="202"/>
              </a:cxn>
              <a:cxn ang="0">
                <a:pos x="0" y="663"/>
              </a:cxn>
              <a:cxn ang="0">
                <a:pos x="3" y="716"/>
              </a:cxn>
              <a:cxn ang="0">
                <a:pos x="15" y="764"/>
              </a:cxn>
              <a:cxn ang="0">
                <a:pos x="32" y="803"/>
              </a:cxn>
              <a:cxn ang="0">
                <a:pos x="58" y="836"/>
              </a:cxn>
              <a:cxn ang="0">
                <a:pos x="90" y="861"/>
              </a:cxn>
              <a:cxn ang="0">
                <a:pos x="130" y="879"/>
              </a:cxn>
              <a:cxn ang="0">
                <a:pos x="176" y="889"/>
              </a:cxn>
              <a:cxn ang="0">
                <a:pos x="231" y="894"/>
              </a:cxn>
              <a:cxn ang="0">
                <a:pos x="7414" y="892"/>
              </a:cxn>
              <a:cxn ang="0">
                <a:pos x="7435" y="892"/>
              </a:cxn>
              <a:cxn ang="0">
                <a:pos x="7473" y="886"/>
              </a:cxn>
              <a:cxn ang="0">
                <a:pos x="7486" y="885"/>
              </a:cxn>
              <a:cxn ang="0">
                <a:pos x="7529" y="871"/>
              </a:cxn>
              <a:cxn ang="0">
                <a:pos x="7542" y="862"/>
              </a:cxn>
              <a:cxn ang="0">
                <a:pos x="7565" y="849"/>
              </a:cxn>
              <a:cxn ang="0">
                <a:pos x="7572" y="842"/>
              </a:cxn>
              <a:cxn ang="0">
                <a:pos x="7587" y="827"/>
              </a:cxn>
              <a:cxn ang="0">
                <a:pos x="7594" y="820"/>
              </a:cxn>
              <a:cxn ang="0">
                <a:pos x="7607" y="797"/>
              </a:cxn>
              <a:cxn ang="0">
                <a:pos x="7615" y="784"/>
              </a:cxn>
              <a:cxn ang="0">
                <a:pos x="7630" y="741"/>
              </a:cxn>
              <a:cxn ang="0">
                <a:pos x="7631" y="728"/>
              </a:cxn>
              <a:cxn ang="0">
                <a:pos x="7637" y="690"/>
              </a:cxn>
              <a:cxn ang="0">
                <a:pos x="7637" y="669"/>
              </a:cxn>
            </a:cxnLst>
            <a:rect l="0" t="0" r="r" b="b"/>
            <a:pathLst>
              <a:path w="7638" h="894">
                <a:moveTo>
                  <a:pt x="7638" y="663"/>
                </a:moveTo>
                <a:lnTo>
                  <a:pt x="7638" y="231"/>
                </a:lnTo>
                <a:lnTo>
                  <a:pt x="7637" y="202"/>
                </a:lnTo>
                <a:lnTo>
                  <a:pt x="7634" y="176"/>
                </a:lnTo>
                <a:lnTo>
                  <a:pt x="7630" y="151"/>
                </a:lnTo>
                <a:lnTo>
                  <a:pt x="7624" y="130"/>
                </a:lnTo>
                <a:lnTo>
                  <a:pt x="7615" y="108"/>
                </a:lnTo>
                <a:lnTo>
                  <a:pt x="7605" y="90"/>
                </a:lnTo>
                <a:lnTo>
                  <a:pt x="7594" y="72"/>
                </a:lnTo>
                <a:lnTo>
                  <a:pt x="7581" y="58"/>
                </a:lnTo>
                <a:lnTo>
                  <a:pt x="7565" y="43"/>
                </a:lnTo>
                <a:lnTo>
                  <a:pt x="7548" y="32"/>
                </a:lnTo>
                <a:lnTo>
                  <a:pt x="7529" y="22"/>
                </a:lnTo>
                <a:lnTo>
                  <a:pt x="7509" y="15"/>
                </a:lnTo>
                <a:lnTo>
                  <a:pt x="7486" y="7"/>
                </a:lnTo>
                <a:lnTo>
                  <a:pt x="7461" y="3"/>
                </a:lnTo>
                <a:lnTo>
                  <a:pt x="7435" y="0"/>
                </a:lnTo>
                <a:lnTo>
                  <a:pt x="7408" y="0"/>
                </a:lnTo>
                <a:lnTo>
                  <a:pt x="231" y="0"/>
                </a:lnTo>
                <a:lnTo>
                  <a:pt x="202" y="0"/>
                </a:lnTo>
                <a:lnTo>
                  <a:pt x="176" y="3"/>
                </a:lnTo>
                <a:lnTo>
                  <a:pt x="152" y="7"/>
                </a:lnTo>
                <a:lnTo>
                  <a:pt x="130" y="15"/>
                </a:lnTo>
                <a:lnTo>
                  <a:pt x="108" y="22"/>
                </a:lnTo>
                <a:lnTo>
                  <a:pt x="90" y="32"/>
                </a:lnTo>
                <a:lnTo>
                  <a:pt x="72" y="43"/>
                </a:lnTo>
                <a:lnTo>
                  <a:pt x="58" y="58"/>
                </a:lnTo>
                <a:lnTo>
                  <a:pt x="44" y="72"/>
                </a:lnTo>
                <a:lnTo>
                  <a:pt x="32" y="90"/>
                </a:lnTo>
                <a:lnTo>
                  <a:pt x="22" y="108"/>
                </a:lnTo>
                <a:lnTo>
                  <a:pt x="15" y="130"/>
                </a:lnTo>
                <a:lnTo>
                  <a:pt x="7" y="151"/>
                </a:lnTo>
                <a:lnTo>
                  <a:pt x="3" y="176"/>
                </a:lnTo>
                <a:lnTo>
                  <a:pt x="0" y="202"/>
                </a:lnTo>
                <a:lnTo>
                  <a:pt x="0" y="231"/>
                </a:lnTo>
                <a:lnTo>
                  <a:pt x="0" y="663"/>
                </a:lnTo>
                <a:lnTo>
                  <a:pt x="0" y="690"/>
                </a:lnTo>
                <a:lnTo>
                  <a:pt x="3" y="716"/>
                </a:lnTo>
                <a:lnTo>
                  <a:pt x="7" y="741"/>
                </a:lnTo>
                <a:lnTo>
                  <a:pt x="15" y="764"/>
                </a:lnTo>
                <a:lnTo>
                  <a:pt x="22" y="784"/>
                </a:lnTo>
                <a:lnTo>
                  <a:pt x="32" y="803"/>
                </a:lnTo>
                <a:lnTo>
                  <a:pt x="44" y="820"/>
                </a:lnTo>
                <a:lnTo>
                  <a:pt x="58" y="836"/>
                </a:lnTo>
                <a:lnTo>
                  <a:pt x="72" y="849"/>
                </a:lnTo>
                <a:lnTo>
                  <a:pt x="90" y="861"/>
                </a:lnTo>
                <a:lnTo>
                  <a:pt x="108" y="871"/>
                </a:lnTo>
                <a:lnTo>
                  <a:pt x="130" y="879"/>
                </a:lnTo>
                <a:lnTo>
                  <a:pt x="152" y="885"/>
                </a:lnTo>
                <a:lnTo>
                  <a:pt x="176" y="889"/>
                </a:lnTo>
                <a:lnTo>
                  <a:pt x="202" y="892"/>
                </a:lnTo>
                <a:lnTo>
                  <a:pt x="231" y="894"/>
                </a:lnTo>
                <a:lnTo>
                  <a:pt x="7408" y="894"/>
                </a:lnTo>
                <a:lnTo>
                  <a:pt x="7414" y="892"/>
                </a:lnTo>
                <a:lnTo>
                  <a:pt x="7421" y="892"/>
                </a:lnTo>
                <a:lnTo>
                  <a:pt x="7435" y="892"/>
                </a:lnTo>
                <a:lnTo>
                  <a:pt x="7461" y="889"/>
                </a:lnTo>
                <a:lnTo>
                  <a:pt x="7473" y="886"/>
                </a:lnTo>
                <a:lnTo>
                  <a:pt x="7478" y="885"/>
                </a:lnTo>
                <a:lnTo>
                  <a:pt x="7486" y="885"/>
                </a:lnTo>
                <a:lnTo>
                  <a:pt x="7509" y="879"/>
                </a:lnTo>
                <a:lnTo>
                  <a:pt x="7529" y="871"/>
                </a:lnTo>
                <a:lnTo>
                  <a:pt x="7538" y="865"/>
                </a:lnTo>
                <a:lnTo>
                  <a:pt x="7542" y="862"/>
                </a:lnTo>
                <a:lnTo>
                  <a:pt x="7548" y="861"/>
                </a:lnTo>
                <a:lnTo>
                  <a:pt x="7565" y="849"/>
                </a:lnTo>
                <a:lnTo>
                  <a:pt x="7568" y="845"/>
                </a:lnTo>
                <a:lnTo>
                  <a:pt x="7572" y="842"/>
                </a:lnTo>
                <a:lnTo>
                  <a:pt x="7581" y="836"/>
                </a:lnTo>
                <a:lnTo>
                  <a:pt x="7587" y="827"/>
                </a:lnTo>
                <a:lnTo>
                  <a:pt x="7589" y="823"/>
                </a:lnTo>
                <a:lnTo>
                  <a:pt x="7594" y="820"/>
                </a:lnTo>
                <a:lnTo>
                  <a:pt x="7605" y="803"/>
                </a:lnTo>
                <a:lnTo>
                  <a:pt x="7607" y="797"/>
                </a:lnTo>
                <a:lnTo>
                  <a:pt x="7610" y="793"/>
                </a:lnTo>
                <a:lnTo>
                  <a:pt x="7615" y="784"/>
                </a:lnTo>
                <a:lnTo>
                  <a:pt x="7624" y="764"/>
                </a:lnTo>
                <a:lnTo>
                  <a:pt x="7630" y="741"/>
                </a:lnTo>
                <a:lnTo>
                  <a:pt x="7630" y="734"/>
                </a:lnTo>
                <a:lnTo>
                  <a:pt x="7631" y="728"/>
                </a:lnTo>
                <a:lnTo>
                  <a:pt x="7634" y="716"/>
                </a:lnTo>
                <a:lnTo>
                  <a:pt x="7637" y="690"/>
                </a:lnTo>
                <a:lnTo>
                  <a:pt x="7637" y="676"/>
                </a:lnTo>
                <a:lnTo>
                  <a:pt x="7637" y="669"/>
                </a:lnTo>
                <a:lnTo>
                  <a:pt x="7638" y="663"/>
                </a:lnTo>
                <a:close/>
              </a:path>
            </a:pathLst>
          </a:custGeom>
          <a:gradFill rotWithShape="1">
            <a:gsLst>
              <a:gs pos="0">
                <a:srgbClr val="339966">
                  <a:gamma/>
                  <a:shade val="46275"/>
                  <a:invGamma/>
                </a:srgbClr>
              </a:gs>
              <a:gs pos="50000">
                <a:srgbClr val="339966"/>
              </a:gs>
              <a:gs pos="100000">
                <a:srgbClr val="339966">
                  <a:gamma/>
                  <a:shade val="46275"/>
                  <a:invGamma/>
                </a:srgbClr>
              </a:gs>
            </a:gsLst>
            <a:lin ang="5400000" scaled="1"/>
          </a:gradFill>
          <a:ln w="9525">
            <a:solidFill>
              <a:srgbClr val="003300"/>
            </a:solidFill>
            <a:round/>
            <a:headEnd/>
            <a:tailEnd/>
          </a:ln>
        </p:spPr>
        <p:txBody>
          <a:bodyPr/>
          <a:lstStyle/>
          <a:p>
            <a:endParaRPr lang="en-US" sz="2000">
              <a:latin typeface="Calibri" pitchFamily="34" charset="0"/>
              <a:cs typeface="Calibri" pitchFamily="34" charset="0"/>
            </a:endParaRPr>
          </a:p>
        </p:txBody>
      </p:sp>
      <p:sp>
        <p:nvSpPr>
          <p:cNvPr id="11" name="Freeform 9"/>
          <p:cNvSpPr>
            <a:spLocks/>
          </p:cNvSpPr>
          <p:nvPr/>
        </p:nvSpPr>
        <p:spPr bwMode="auto">
          <a:xfrm>
            <a:off x="3476625" y="1749425"/>
            <a:ext cx="1860550" cy="473075"/>
          </a:xfrm>
          <a:custGeom>
            <a:avLst/>
            <a:gdLst/>
            <a:ahLst/>
            <a:cxnLst>
              <a:cxn ang="0">
                <a:pos x="3515" y="202"/>
              </a:cxn>
              <a:cxn ang="0">
                <a:pos x="3507" y="151"/>
              </a:cxn>
              <a:cxn ang="0">
                <a:pos x="3493" y="108"/>
              </a:cxn>
              <a:cxn ang="0">
                <a:pos x="3471" y="72"/>
              </a:cxn>
              <a:cxn ang="0">
                <a:pos x="3442" y="43"/>
              </a:cxn>
              <a:cxn ang="0">
                <a:pos x="3406" y="22"/>
              </a:cxn>
              <a:cxn ang="0">
                <a:pos x="3363" y="7"/>
              </a:cxn>
              <a:cxn ang="0">
                <a:pos x="3313" y="0"/>
              </a:cxn>
              <a:cxn ang="0">
                <a:pos x="231" y="0"/>
              </a:cxn>
              <a:cxn ang="0">
                <a:pos x="176" y="3"/>
              </a:cxn>
              <a:cxn ang="0">
                <a:pos x="130" y="15"/>
              </a:cxn>
              <a:cxn ang="0">
                <a:pos x="90" y="32"/>
              </a:cxn>
              <a:cxn ang="0">
                <a:pos x="58" y="58"/>
              </a:cxn>
              <a:cxn ang="0">
                <a:pos x="32" y="89"/>
              </a:cxn>
              <a:cxn ang="0">
                <a:pos x="15" y="130"/>
              </a:cxn>
              <a:cxn ang="0">
                <a:pos x="3" y="176"/>
              </a:cxn>
              <a:cxn ang="0">
                <a:pos x="0" y="231"/>
              </a:cxn>
              <a:cxn ang="0">
                <a:pos x="0" y="690"/>
              </a:cxn>
              <a:cxn ang="0">
                <a:pos x="7" y="741"/>
              </a:cxn>
              <a:cxn ang="0">
                <a:pos x="22" y="784"/>
              </a:cxn>
              <a:cxn ang="0">
                <a:pos x="44" y="820"/>
              </a:cxn>
              <a:cxn ang="0">
                <a:pos x="72" y="849"/>
              </a:cxn>
              <a:cxn ang="0">
                <a:pos x="108" y="871"/>
              </a:cxn>
              <a:cxn ang="0">
                <a:pos x="152" y="885"/>
              </a:cxn>
              <a:cxn ang="0">
                <a:pos x="202" y="892"/>
              </a:cxn>
              <a:cxn ang="0">
                <a:pos x="3285" y="894"/>
              </a:cxn>
              <a:cxn ang="0">
                <a:pos x="3298" y="892"/>
              </a:cxn>
              <a:cxn ang="0">
                <a:pos x="3339" y="889"/>
              </a:cxn>
              <a:cxn ang="0">
                <a:pos x="3356" y="885"/>
              </a:cxn>
              <a:cxn ang="0">
                <a:pos x="3386" y="879"/>
              </a:cxn>
              <a:cxn ang="0">
                <a:pos x="3415" y="865"/>
              </a:cxn>
              <a:cxn ang="0">
                <a:pos x="3425" y="860"/>
              </a:cxn>
              <a:cxn ang="0">
                <a:pos x="3445" y="845"/>
              </a:cxn>
              <a:cxn ang="0">
                <a:pos x="3458" y="836"/>
              </a:cxn>
              <a:cxn ang="0">
                <a:pos x="3467" y="823"/>
              </a:cxn>
              <a:cxn ang="0">
                <a:pos x="3483" y="803"/>
              </a:cxn>
              <a:cxn ang="0">
                <a:pos x="3487" y="793"/>
              </a:cxn>
              <a:cxn ang="0">
                <a:pos x="3502" y="764"/>
              </a:cxn>
              <a:cxn ang="0">
                <a:pos x="3507" y="734"/>
              </a:cxn>
              <a:cxn ang="0">
                <a:pos x="3512" y="716"/>
              </a:cxn>
              <a:cxn ang="0">
                <a:pos x="3515" y="676"/>
              </a:cxn>
              <a:cxn ang="0">
                <a:pos x="3516" y="663"/>
              </a:cxn>
            </a:cxnLst>
            <a:rect l="0" t="0" r="r" b="b"/>
            <a:pathLst>
              <a:path w="3516" h="894">
                <a:moveTo>
                  <a:pt x="3516" y="231"/>
                </a:moveTo>
                <a:lnTo>
                  <a:pt x="3515" y="202"/>
                </a:lnTo>
                <a:lnTo>
                  <a:pt x="3512" y="176"/>
                </a:lnTo>
                <a:lnTo>
                  <a:pt x="3507" y="151"/>
                </a:lnTo>
                <a:lnTo>
                  <a:pt x="3502" y="130"/>
                </a:lnTo>
                <a:lnTo>
                  <a:pt x="3493" y="108"/>
                </a:lnTo>
                <a:lnTo>
                  <a:pt x="3483" y="89"/>
                </a:lnTo>
                <a:lnTo>
                  <a:pt x="3471" y="72"/>
                </a:lnTo>
                <a:lnTo>
                  <a:pt x="3458" y="58"/>
                </a:lnTo>
                <a:lnTo>
                  <a:pt x="3442" y="43"/>
                </a:lnTo>
                <a:lnTo>
                  <a:pt x="3425" y="32"/>
                </a:lnTo>
                <a:lnTo>
                  <a:pt x="3406" y="22"/>
                </a:lnTo>
                <a:lnTo>
                  <a:pt x="3386" y="15"/>
                </a:lnTo>
                <a:lnTo>
                  <a:pt x="3363" y="7"/>
                </a:lnTo>
                <a:lnTo>
                  <a:pt x="3339" y="3"/>
                </a:lnTo>
                <a:lnTo>
                  <a:pt x="3313" y="0"/>
                </a:lnTo>
                <a:lnTo>
                  <a:pt x="3285" y="0"/>
                </a:lnTo>
                <a:lnTo>
                  <a:pt x="231" y="0"/>
                </a:lnTo>
                <a:lnTo>
                  <a:pt x="202" y="0"/>
                </a:lnTo>
                <a:lnTo>
                  <a:pt x="176" y="3"/>
                </a:lnTo>
                <a:lnTo>
                  <a:pt x="152" y="7"/>
                </a:lnTo>
                <a:lnTo>
                  <a:pt x="130" y="15"/>
                </a:lnTo>
                <a:lnTo>
                  <a:pt x="108" y="22"/>
                </a:lnTo>
                <a:lnTo>
                  <a:pt x="90" y="32"/>
                </a:lnTo>
                <a:lnTo>
                  <a:pt x="72" y="43"/>
                </a:lnTo>
                <a:lnTo>
                  <a:pt x="58" y="58"/>
                </a:lnTo>
                <a:lnTo>
                  <a:pt x="44" y="72"/>
                </a:lnTo>
                <a:lnTo>
                  <a:pt x="32" y="89"/>
                </a:lnTo>
                <a:lnTo>
                  <a:pt x="22" y="108"/>
                </a:lnTo>
                <a:lnTo>
                  <a:pt x="15" y="130"/>
                </a:lnTo>
                <a:lnTo>
                  <a:pt x="7" y="151"/>
                </a:lnTo>
                <a:lnTo>
                  <a:pt x="3" y="176"/>
                </a:lnTo>
                <a:lnTo>
                  <a:pt x="0" y="202"/>
                </a:lnTo>
                <a:lnTo>
                  <a:pt x="0" y="231"/>
                </a:lnTo>
                <a:lnTo>
                  <a:pt x="0" y="663"/>
                </a:lnTo>
                <a:lnTo>
                  <a:pt x="0" y="690"/>
                </a:lnTo>
                <a:lnTo>
                  <a:pt x="3" y="716"/>
                </a:lnTo>
                <a:lnTo>
                  <a:pt x="7" y="741"/>
                </a:lnTo>
                <a:lnTo>
                  <a:pt x="15" y="764"/>
                </a:lnTo>
                <a:lnTo>
                  <a:pt x="22" y="784"/>
                </a:lnTo>
                <a:lnTo>
                  <a:pt x="32" y="803"/>
                </a:lnTo>
                <a:lnTo>
                  <a:pt x="44" y="820"/>
                </a:lnTo>
                <a:lnTo>
                  <a:pt x="58" y="836"/>
                </a:lnTo>
                <a:lnTo>
                  <a:pt x="72" y="849"/>
                </a:lnTo>
                <a:lnTo>
                  <a:pt x="90" y="860"/>
                </a:lnTo>
                <a:lnTo>
                  <a:pt x="108" y="871"/>
                </a:lnTo>
                <a:lnTo>
                  <a:pt x="130" y="879"/>
                </a:lnTo>
                <a:lnTo>
                  <a:pt x="152" y="885"/>
                </a:lnTo>
                <a:lnTo>
                  <a:pt x="176" y="889"/>
                </a:lnTo>
                <a:lnTo>
                  <a:pt x="202" y="892"/>
                </a:lnTo>
                <a:lnTo>
                  <a:pt x="231" y="894"/>
                </a:lnTo>
                <a:lnTo>
                  <a:pt x="3285" y="894"/>
                </a:lnTo>
                <a:lnTo>
                  <a:pt x="3291" y="892"/>
                </a:lnTo>
                <a:lnTo>
                  <a:pt x="3298" y="892"/>
                </a:lnTo>
                <a:lnTo>
                  <a:pt x="3313" y="892"/>
                </a:lnTo>
                <a:lnTo>
                  <a:pt x="3339" y="889"/>
                </a:lnTo>
                <a:lnTo>
                  <a:pt x="3350" y="886"/>
                </a:lnTo>
                <a:lnTo>
                  <a:pt x="3356" y="885"/>
                </a:lnTo>
                <a:lnTo>
                  <a:pt x="3363" y="885"/>
                </a:lnTo>
                <a:lnTo>
                  <a:pt x="3386" y="879"/>
                </a:lnTo>
                <a:lnTo>
                  <a:pt x="3406" y="871"/>
                </a:lnTo>
                <a:lnTo>
                  <a:pt x="3415" y="865"/>
                </a:lnTo>
                <a:lnTo>
                  <a:pt x="3419" y="862"/>
                </a:lnTo>
                <a:lnTo>
                  <a:pt x="3425" y="860"/>
                </a:lnTo>
                <a:lnTo>
                  <a:pt x="3442" y="849"/>
                </a:lnTo>
                <a:lnTo>
                  <a:pt x="3445" y="845"/>
                </a:lnTo>
                <a:lnTo>
                  <a:pt x="3450" y="842"/>
                </a:lnTo>
                <a:lnTo>
                  <a:pt x="3458" y="836"/>
                </a:lnTo>
                <a:lnTo>
                  <a:pt x="3464" y="827"/>
                </a:lnTo>
                <a:lnTo>
                  <a:pt x="3467" y="823"/>
                </a:lnTo>
                <a:lnTo>
                  <a:pt x="3471" y="820"/>
                </a:lnTo>
                <a:lnTo>
                  <a:pt x="3483" y="803"/>
                </a:lnTo>
                <a:lnTo>
                  <a:pt x="3484" y="797"/>
                </a:lnTo>
                <a:lnTo>
                  <a:pt x="3487" y="793"/>
                </a:lnTo>
                <a:lnTo>
                  <a:pt x="3493" y="784"/>
                </a:lnTo>
                <a:lnTo>
                  <a:pt x="3502" y="764"/>
                </a:lnTo>
                <a:lnTo>
                  <a:pt x="3507" y="741"/>
                </a:lnTo>
                <a:lnTo>
                  <a:pt x="3507" y="734"/>
                </a:lnTo>
                <a:lnTo>
                  <a:pt x="3509" y="728"/>
                </a:lnTo>
                <a:lnTo>
                  <a:pt x="3512" y="716"/>
                </a:lnTo>
                <a:lnTo>
                  <a:pt x="3515" y="690"/>
                </a:lnTo>
                <a:lnTo>
                  <a:pt x="3515" y="676"/>
                </a:lnTo>
                <a:lnTo>
                  <a:pt x="3515" y="669"/>
                </a:lnTo>
                <a:lnTo>
                  <a:pt x="3516" y="663"/>
                </a:lnTo>
                <a:lnTo>
                  <a:pt x="3516" y="231"/>
                </a:lnTo>
                <a:close/>
              </a:path>
            </a:pathLst>
          </a:custGeom>
          <a:gradFill rotWithShape="1">
            <a:gsLst>
              <a:gs pos="0">
                <a:srgbClr val="339966">
                  <a:gamma/>
                  <a:shade val="46275"/>
                  <a:invGamma/>
                </a:srgbClr>
              </a:gs>
              <a:gs pos="50000">
                <a:srgbClr val="339966">
                  <a:alpha val="85001"/>
                </a:srgbClr>
              </a:gs>
              <a:gs pos="100000">
                <a:srgbClr val="339966">
                  <a:gamma/>
                  <a:shade val="46275"/>
                  <a:invGamma/>
                </a:srgbClr>
              </a:gs>
            </a:gsLst>
            <a:lin ang="5400000" scaled="1"/>
          </a:gradFill>
          <a:ln w="9525" cap="flat" cmpd="sng">
            <a:solidFill>
              <a:srgbClr val="003300"/>
            </a:solidFill>
            <a:prstDash val="solid"/>
            <a:round/>
            <a:headEnd type="none" w="med" len="med"/>
            <a:tailEnd type="none" w="med" len="med"/>
          </a:ln>
          <a:effectLst/>
        </p:spPr>
        <p:txBody>
          <a:bodyPr/>
          <a:lstStyle/>
          <a:p>
            <a:endParaRPr lang="en-US" sz="2000">
              <a:latin typeface="Calibri" pitchFamily="34" charset="0"/>
              <a:cs typeface="Calibri" pitchFamily="34" charset="0"/>
            </a:endParaRPr>
          </a:p>
        </p:txBody>
      </p:sp>
      <p:sp>
        <p:nvSpPr>
          <p:cNvPr id="12" name="Freeform 10"/>
          <p:cNvSpPr>
            <a:spLocks/>
          </p:cNvSpPr>
          <p:nvPr/>
        </p:nvSpPr>
        <p:spPr bwMode="auto">
          <a:xfrm>
            <a:off x="3476625" y="2268538"/>
            <a:ext cx="2928938" cy="473075"/>
          </a:xfrm>
          <a:custGeom>
            <a:avLst/>
            <a:gdLst/>
            <a:ahLst/>
            <a:cxnLst>
              <a:cxn ang="0">
                <a:pos x="5292" y="0"/>
              </a:cxn>
              <a:cxn ang="0">
                <a:pos x="5234" y="55"/>
              </a:cxn>
              <a:cxn ang="0">
                <a:pos x="5292" y="0"/>
              </a:cxn>
              <a:cxn ang="0">
                <a:pos x="202" y="0"/>
              </a:cxn>
              <a:cxn ang="0">
                <a:pos x="152" y="7"/>
              </a:cxn>
              <a:cxn ang="0">
                <a:pos x="108" y="22"/>
              </a:cxn>
              <a:cxn ang="0">
                <a:pos x="72" y="43"/>
              </a:cxn>
              <a:cxn ang="0">
                <a:pos x="44" y="72"/>
              </a:cxn>
              <a:cxn ang="0">
                <a:pos x="22" y="108"/>
              </a:cxn>
              <a:cxn ang="0">
                <a:pos x="7" y="151"/>
              </a:cxn>
              <a:cxn ang="0">
                <a:pos x="0" y="202"/>
              </a:cxn>
              <a:cxn ang="0">
                <a:pos x="0" y="663"/>
              </a:cxn>
              <a:cxn ang="0">
                <a:pos x="3" y="716"/>
              </a:cxn>
              <a:cxn ang="0">
                <a:pos x="15" y="764"/>
              </a:cxn>
              <a:cxn ang="0">
                <a:pos x="32" y="803"/>
              </a:cxn>
              <a:cxn ang="0">
                <a:pos x="58" y="836"/>
              </a:cxn>
              <a:cxn ang="0">
                <a:pos x="90" y="860"/>
              </a:cxn>
              <a:cxn ang="0">
                <a:pos x="130" y="879"/>
              </a:cxn>
              <a:cxn ang="0">
                <a:pos x="176" y="889"/>
              </a:cxn>
              <a:cxn ang="0">
                <a:pos x="231" y="894"/>
              </a:cxn>
              <a:cxn ang="0">
                <a:pos x="5309" y="892"/>
              </a:cxn>
              <a:cxn ang="0">
                <a:pos x="5331" y="892"/>
              </a:cxn>
              <a:cxn ang="0">
                <a:pos x="5368" y="886"/>
              </a:cxn>
              <a:cxn ang="0">
                <a:pos x="5381" y="885"/>
              </a:cxn>
              <a:cxn ang="0">
                <a:pos x="5424" y="870"/>
              </a:cxn>
              <a:cxn ang="0">
                <a:pos x="5437" y="862"/>
              </a:cxn>
              <a:cxn ang="0">
                <a:pos x="5460" y="849"/>
              </a:cxn>
              <a:cxn ang="0">
                <a:pos x="5468" y="842"/>
              </a:cxn>
              <a:cxn ang="0">
                <a:pos x="5482" y="827"/>
              </a:cxn>
              <a:cxn ang="0">
                <a:pos x="5489" y="820"/>
              </a:cxn>
              <a:cxn ang="0">
                <a:pos x="5502" y="797"/>
              </a:cxn>
              <a:cxn ang="0">
                <a:pos x="5511" y="784"/>
              </a:cxn>
              <a:cxn ang="0">
                <a:pos x="5525" y="741"/>
              </a:cxn>
              <a:cxn ang="0">
                <a:pos x="5527" y="728"/>
              </a:cxn>
              <a:cxn ang="0">
                <a:pos x="5533" y="690"/>
              </a:cxn>
              <a:cxn ang="0">
                <a:pos x="5533" y="669"/>
              </a:cxn>
              <a:cxn ang="0">
                <a:pos x="5534" y="231"/>
              </a:cxn>
              <a:cxn ang="0">
                <a:pos x="5530" y="176"/>
              </a:cxn>
              <a:cxn ang="0">
                <a:pos x="5520" y="130"/>
              </a:cxn>
              <a:cxn ang="0">
                <a:pos x="5501" y="89"/>
              </a:cxn>
              <a:cxn ang="0">
                <a:pos x="5476" y="58"/>
              </a:cxn>
              <a:cxn ang="0">
                <a:pos x="5443" y="32"/>
              </a:cxn>
              <a:cxn ang="0">
                <a:pos x="5404" y="14"/>
              </a:cxn>
              <a:cxn ang="0">
                <a:pos x="5357" y="3"/>
              </a:cxn>
              <a:cxn ang="0">
                <a:pos x="5303" y="0"/>
              </a:cxn>
            </a:cxnLst>
            <a:rect l="0" t="0" r="r" b="b"/>
            <a:pathLst>
              <a:path w="5534" h="894">
                <a:moveTo>
                  <a:pt x="5303" y="0"/>
                </a:moveTo>
                <a:lnTo>
                  <a:pt x="5292" y="0"/>
                </a:lnTo>
                <a:lnTo>
                  <a:pt x="5262" y="26"/>
                </a:lnTo>
                <a:lnTo>
                  <a:pt x="5234" y="55"/>
                </a:lnTo>
                <a:lnTo>
                  <a:pt x="5262" y="26"/>
                </a:lnTo>
                <a:lnTo>
                  <a:pt x="5292" y="0"/>
                </a:lnTo>
                <a:lnTo>
                  <a:pt x="231" y="0"/>
                </a:lnTo>
                <a:lnTo>
                  <a:pt x="202" y="0"/>
                </a:lnTo>
                <a:lnTo>
                  <a:pt x="176" y="3"/>
                </a:lnTo>
                <a:lnTo>
                  <a:pt x="152" y="7"/>
                </a:lnTo>
                <a:lnTo>
                  <a:pt x="130" y="14"/>
                </a:lnTo>
                <a:lnTo>
                  <a:pt x="108" y="22"/>
                </a:lnTo>
                <a:lnTo>
                  <a:pt x="90" y="32"/>
                </a:lnTo>
                <a:lnTo>
                  <a:pt x="72" y="43"/>
                </a:lnTo>
                <a:lnTo>
                  <a:pt x="58" y="58"/>
                </a:lnTo>
                <a:lnTo>
                  <a:pt x="44" y="72"/>
                </a:lnTo>
                <a:lnTo>
                  <a:pt x="32" y="89"/>
                </a:lnTo>
                <a:lnTo>
                  <a:pt x="22" y="108"/>
                </a:lnTo>
                <a:lnTo>
                  <a:pt x="15" y="130"/>
                </a:lnTo>
                <a:lnTo>
                  <a:pt x="7" y="151"/>
                </a:lnTo>
                <a:lnTo>
                  <a:pt x="3" y="176"/>
                </a:lnTo>
                <a:lnTo>
                  <a:pt x="0" y="202"/>
                </a:lnTo>
                <a:lnTo>
                  <a:pt x="0" y="231"/>
                </a:lnTo>
                <a:lnTo>
                  <a:pt x="0" y="663"/>
                </a:lnTo>
                <a:lnTo>
                  <a:pt x="0" y="690"/>
                </a:lnTo>
                <a:lnTo>
                  <a:pt x="3" y="716"/>
                </a:lnTo>
                <a:lnTo>
                  <a:pt x="7" y="741"/>
                </a:lnTo>
                <a:lnTo>
                  <a:pt x="15" y="764"/>
                </a:lnTo>
                <a:lnTo>
                  <a:pt x="22" y="784"/>
                </a:lnTo>
                <a:lnTo>
                  <a:pt x="32" y="803"/>
                </a:lnTo>
                <a:lnTo>
                  <a:pt x="44" y="820"/>
                </a:lnTo>
                <a:lnTo>
                  <a:pt x="58" y="836"/>
                </a:lnTo>
                <a:lnTo>
                  <a:pt x="72" y="849"/>
                </a:lnTo>
                <a:lnTo>
                  <a:pt x="90" y="860"/>
                </a:lnTo>
                <a:lnTo>
                  <a:pt x="108" y="870"/>
                </a:lnTo>
                <a:lnTo>
                  <a:pt x="130" y="879"/>
                </a:lnTo>
                <a:lnTo>
                  <a:pt x="152" y="885"/>
                </a:lnTo>
                <a:lnTo>
                  <a:pt x="176" y="889"/>
                </a:lnTo>
                <a:lnTo>
                  <a:pt x="202" y="892"/>
                </a:lnTo>
                <a:lnTo>
                  <a:pt x="231" y="894"/>
                </a:lnTo>
                <a:lnTo>
                  <a:pt x="5303" y="894"/>
                </a:lnTo>
                <a:lnTo>
                  <a:pt x="5309" y="892"/>
                </a:lnTo>
                <a:lnTo>
                  <a:pt x="5316" y="892"/>
                </a:lnTo>
                <a:lnTo>
                  <a:pt x="5331" y="892"/>
                </a:lnTo>
                <a:lnTo>
                  <a:pt x="5357" y="889"/>
                </a:lnTo>
                <a:lnTo>
                  <a:pt x="5368" y="886"/>
                </a:lnTo>
                <a:lnTo>
                  <a:pt x="5374" y="885"/>
                </a:lnTo>
                <a:lnTo>
                  <a:pt x="5381" y="885"/>
                </a:lnTo>
                <a:lnTo>
                  <a:pt x="5404" y="879"/>
                </a:lnTo>
                <a:lnTo>
                  <a:pt x="5424" y="870"/>
                </a:lnTo>
                <a:lnTo>
                  <a:pt x="5433" y="865"/>
                </a:lnTo>
                <a:lnTo>
                  <a:pt x="5437" y="862"/>
                </a:lnTo>
                <a:lnTo>
                  <a:pt x="5443" y="860"/>
                </a:lnTo>
                <a:lnTo>
                  <a:pt x="5460" y="849"/>
                </a:lnTo>
                <a:lnTo>
                  <a:pt x="5463" y="845"/>
                </a:lnTo>
                <a:lnTo>
                  <a:pt x="5468" y="842"/>
                </a:lnTo>
                <a:lnTo>
                  <a:pt x="5476" y="836"/>
                </a:lnTo>
                <a:lnTo>
                  <a:pt x="5482" y="827"/>
                </a:lnTo>
                <a:lnTo>
                  <a:pt x="5485" y="823"/>
                </a:lnTo>
                <a:lnTo>
                  <a:pt x="5489" y="820"/>
                </a:lnTo>
                <a:lnTo>
                  <a:pt x="5501" y="803"/>
                </a:lnTo>
                <a:lnTo>
                  <a:pt x="5502" y="797"/>
                </a:lnTo>
                <a:lnTo>
                  <a:pt x="5505" y="793"/>
                </a:lnTo>
                <a:lnTo>
                  <a:pt x="5511" y="784"/>
                </a:lnTo>
                <a:lnTo>
                  <a:pt x="5520" y="764"/>
                </a:lnTo>
                <a:lnTo>
                  <a:pt x="5525" y="741"/>
                </a:lnTo>
                <a:lnTo>
                  <a:pt x="5525" y="734"/>
                </a:lnTo>
                <a:lnTo>
                  <a:pt x="5527" y="728"/>
                </a:lnTo>
                <a:lnTo>
                  <a:pt x="5530" y="716"/>
                </a:lnTo>
                <a:lnTo>
                  <a:pt x="5533" y="690"/>
                </a:lnTo>
                <a:lnTo>
                  <a:pt x="5533" y="676"/>
                </a:lnTo>
                <a:lnTo>
                  <a:pt x="5533" y="669"/>
                </a:lnTo>
                <a:lnTo>
                  <a:pt x="5534" y="663"/>
                </a:lnTo>
                <a:lnTo>
                  <a:pt x="5534" y="231"/>
                </a:lnTo>
                <a:lnTo>
                  <a:pt x="5533" y="202"/>
                </a:lnTo>
                <a:lnTo>
                  <a:pt x="5530" y="176"/>
                </a:lnTo>
                <a:lnTo>
                  <a:pt x="5525" y="151"/>
                </a:lnTo>
                <a:lnTo>
                  <a:pt x="5520" y="130"/>
                </a:lnTo>
                <a:lnTo>
                  <a:pt x="5511" y="108"/>
                </a:lnTo>
                <a:lnTo>
                  <a:pt x="5501" y="89"/>
                </a:lnTo>
                <a:lnTo>
                  <a:pt x="5489" y="72"/>
                </a:lnTo>
                <a:lnTo>
                  <a:pt x="5476" y="58"/>
                </a:lnTo>
                <a:lnTo>
                  <a:pt x="5460" y="43"/>
                </a:lnTo>
                <a:lnTo>
                  <a:pt x="5443" y="32"/>
                </a:lnTo>
                <a:lnTo>
                  <a:pt x="5424" y="22"/>
                </a:lnTo>
                <a:lnTo>
                  <a:pt x="5404" y="14"/>
                </a:lnTo>
                <a:lnTo>
                  <a:pt x="5381" y="7"/>
                </a:lnTo>
                <a:lnTo>
                  <a:pt x="5357" y="3"/>
                </a:lnTo>
                <a:lnTo>
                  <a:pt x="5331" y="0"/>
                </a:lnTo>
                <a:lnTo>
                  <a:pt x="5303" y="0"/>
                </a:lnTo>
                <a:close/>
              </a:path>
            </a:pathLst>
          </a:custGeom>
          <a:gradFill rotWithShape="1">
            <a:gsLst>
              <a:gs pos="0">
                <a:srgbClr val="339966">
                  <a:gamma/>
                  <a:shade val="46275"/>
                  <a:invGamma/>
                </a:srgbClr>
              </a:gs>
              <a:gs pos="50000">
                <a:srgbClr val="339966">
                  <a:alpha val="70000"/>
                </a:srgbClr>
              </a:gs>
              <a:gs pos="100000">
                <a:srgbClr val="339966">
                  <a:gamma/>
                  <a:shade val="46275"/>
                  <a:invGamma/>
                </a:srgbClr>
              </a:gs>
            </a:gsLst>
            <a:lin ang="5400000" scaled="1"/>
          </a:gradFill>
          <a:ln w="9525" cap="flat" cmpd="sng">
            <a:solidFill>
              <a:srgbClr val="003300"/>
            </a:solidFill>
            <a:prstDash val="solid"/>
            <a:round/>
            <a:headEnd type="none" w="med" len="med"/>
            <a:tailEnd type="none" w="med" len="med"/>
          </a:ln>
          <a:effectLst/>
        </p:spPr>
        <p:txBody>
          <a:bodyPr/>
          <a:lstStyle/>
          <a:p>
            <a:endParaRPr lang="en-US" sz="2000">
              <a:latin typeface="Calibri" pitchFamily="34" charset="0"/>
              <a:cs typeface="Calibri" pitchFamily="34" charset="0"/>
            </a:endParaRPr>
          </a:p>
        </p:txBody>
      </p:sp>
      <p:sp>
        <p:nvSpPr>
          <p:cNvPr id="13" name="Freeform 11"/>
          <p:cNvSpPr>
            <a:spLocks/>
          </p:cNvSpPr>
          <p:nvPr/>
        </p:nvSpPr>
        <p:spPr bwMode="auto">
          <a:xfrm>
            <a:off x="3476625" y="2787650"/>
            <a:ext cx="3538538" cy="471488"/>
          </a:xfrm>
          <a:custGeom>
            <a:avLst/>
            <a:gdLst/>
            <a:ahLst/>
            <a:cxnLst>
              <a:cxn ang="0">
                <a:pos x="6462" y="892"/>
              </a:cxn>
              <a:cxn ang="0">
                <a:pos x="6484" y="892"/>
              </a:cxn>
              <a:cxn ang="0">
                <a:pos x="6521" y="886"/>
              </a:cxn>
              <a:cxn ang="0">
                <a:pos x="6534" y="885"/>
              </a:cxn>
              <a:cxn ang="0">
                <a:pos x="6578" y="870"/>
              </a:cxn>
              <a:cxn ang="0">
                <a:pos x="6591" y="862"/>
              </a:cxn>
              <a:cxn ang="0">
                <a:pos x="6614" y="849"/>
              </a:cxn>
              <a:cxn ang="0">
                <a:pos x="6621" y="842"/>
              </a:cxn>
              <a:cxn ang="0">
                <a:pos x="6635" y="827"/>
              </a:cxn>
              <a:cxn ang="0">
                <a:pos x="6642" y="820"/>
              </a:cxn>
              <a:cxn ang="0">
                <a:pos x="6655" y="797"/>
              </a:cxn>
              <a:cxn ang="0">
                <a:pos x="6664" y="784"/>
              </a:cxn>
              <a:cxn ang="0">
                <a:pos x="6678" y="741"/>
              </a:cxn>
              <a:cxn ang="0">
                <a:pos x="6680" y="728"/>
              </a:cxn>
              <a:cxn ang="0">
                <a:pos x="6686" y="690"/>
              </a:cxn>
              <a:cxn ang="0">
                <a:pos x="6686" y="669"/>
              </a:cxn>
              <a:cxn ang="0">
                <a:pos x="6687" y="231"/>
              </a:cxn>
              <a:cxn ang="0">
                <a:pos x="6683" y="176"/>
              </a:cxn>
              <a:cxn ang="0">
                <a:pos x="6673" y="130"/>
              </a:cxn>
              <a:cxn ang="0">
                <a:pos x="6654" y="89"/>
              </a:cxn>
              <a:cxn ang="0">
                <a:pos x="6629" y="58"/>
              </a:cxn>
              <a:cxn ang="0">
                <a:pos x="6596" y="32"/>
              </a:cxn>
              <a:cxn ang="0">
                <a:pos x="6557" y="14"/>
              </a:cxn>
              <a:cxn ang="0">
                <a:pos x="6510" y="3"/>
              </a:cxn>
              <a:cxn ang="0">
                <a:pos x="6457" y="0"/>
              </a:cxn>
              <a:cxn ang="0">
                <a:pos x="202" y="0"/>
              </a:cxn>
              <a:cxn ang="0">
                <a:pos x="152" y="7"/>
              </a:cxn>
              <a:cxn ang="0">
                <a:pos x="108" y="22"/>
              </a:cxn>
              <a:cxn ang="0">
                <a:pos x="72" y="43"/>
              </a:cxn>
              <a:cxn ang="0">
                <a:pos x="44" y="72"/>
              </a:cxn>
              <a:cxn ang="0">
                <a:pos x="22" y="108"/>
              </a:cxn>
              <a:cxn ang="0">
                <a:pos x="7" y="151"/>
              </a:cxn>
              <a:cxn ang="0">
                <a:pos x="0" y="202"/>
              </a:cxn>
              <a:cxn ang="0">
                <a:pos x="0" y="663"/>
              </a:cxn>
              <a:cxn ang="0">
                <a:pos x="3" y="716"/>
              </a:cxn>
              <a:cxn ang="0">
                <a:pos x="15" y="764"/>
              </a:cxn>
              <a:cxn ang="0">
                <a:pos x="32" y="803"/>
              </a:cxn>
              <a:cxn ang="0">
                <a:pos x="58" y="836"/>
              </a:cxn>
              <a:cxn ang="0">
                <a:pos x="90" y="860"/>
              </a:cxn>
              <a:cxn ang="0">
                <a:pos x="130" y="879"/>
              </a:cxn>
              <a:cxn ang="0">
                <a:pos x="176" y="889"/>
              </a:cxn>
              <a:cxn ang="0">
                <a:pos x="231" y="893"/>
              </a:cxn>
            </a:cxnLst>
            <a:rect l="0" t="0" r="r" b="b"/>
            <a:pathLst>
              <a:path w="6687" h="893">
                <a:moveTo>
                  <a:pt x="6457" y="893"/>
                </a:moveTo>
                <a:lnTo>
                  <a:pt x="6462" y="892"/>
                </a:lnTo>
                <a:lnTo>
                  <a:pt x="6469" y="892"/>
                </a:lnTo>
                <a:lnTo>
                  <a:pt x="6484" y="892"/>
                </a:lnTo>
                <a:lnTo>
                  <a:pt x="6510" y="889"/>
                </a:lnTo>
                <a:lnTo>
                  <a:pt x="6521" y="886"/>
                </a:lnTo>
                <a:lnTo>
                  <a:pt x="6527" y="885"/>
                </a:lnTo>
                <a:lnTo>
                  <a:pt x="6534" y="885"/>
                </a:lnTo>
                <a:lnTo>
                  <a:pt x="6557" y="879"/>
                </a:lnTo>
                <a:lnTo>
                  <a:pt x="6578" y="870"/>
                </a:lnTo>
                <a:lnTo>
                  <a:pt x="6586" y="865"/>
                </a:lnTo>
                <a:lnTo>
                  <a:pt x="6591" y="862"/>
                </a:lnTo>
                <a:lnTo>
                  <a:pt x="6596" y="860"/>
                </a:lnTo>
                <a:lnTo>
                  <a:pt x="6614" y="849"/>
                </a:lnTo>
                <a:lnTo>
                  <a:pt x="6617" y="844"/>
                </a:lnTo>
                <a:lnTo>
                  <a:pt x="6621" y="842"/>
                </a:lnTo>
                <a:lnTo>
                  <a:pt x="6629" y="836"/>
                </a:lnTo>
                <a:lnTo>
                  <a:pt x="6635" y="827"/>
                </a:lnTo>
                <a:lnTo>
                  <a:pt x="6638" y="823"/>
                </a:lnTo>
                <a:lnTo>
                  <a:pt x="6642" y="820"/>
                </a:lnTo>
                <a:lnTo>
                  <a:pt x="6654" y="803"/>
                </a:lnTo>
                <a:lnTo>
                  <a:pt x="6655" y="797"/>
                </a:lnTo>
                <a:lnTo>
                  <a:pt x="6658" y="793"/>
                </a:lnTo>
                <a:lnTo>
                  <a:pt x="6664" y="784"/>
                </a:lnTo>
                <a:lnTo>
                  <a:pt x="6673" y="764"/>
                </a:lnTo>
                <a:lnTo>
                  <a:pt x="6678" y="741"/>
                </a:lnTo>
                <a:lnTo>
                  <a:pt x="6678" y="734"/>
                </a:lnTo>
                <a:lnTo>
                  <a:pt x="6680" y="728"/>
                </a:lnTo>
                <a:lnTo>
                  <a:pt x="6683" y="716"/>
                </a:lnTo>
                <a:lnTo>
                  <a:pt x="6686" y="690"/>
                </a:lnTo>
                <a:lnTo>
                  <a:pt x="6686" y="676"/>
                </a:lnTo>
                <a:lnTo>
                  <a:pt x="6686" y="669"/>
                </a:lnTo>
                <a:lnTo>
                  <a:pt x="6687" y="663"/>
                </a:lnTo>
                <a:lnTo>
                  <a:pt x="6687" y="231"/>
                </a:lnTo>
                <a:lnTo>
                  <a:pt x="6686" y="202"/>
                </a:lnTo>
                <a:lnTo>
                  <a:pt x="6683" y="176"/>
                </a:lnTo>
                <a:lnTo>
                  <a:pt x="6678" y="151"/>
                </a:lnTo>
                <a:lnTo>
                  <a:pt x="6673" y="130"/>
                </a:lnTo>
                <a:lnTo>
                  <a:pt x="6664" y="108"/>
                </a:lnTo>
                <a:lnTo>
                  <a:pt x="6654" y="89"/>
                </a:lnTo>
                <a:lnTo>
                  <a:pt x="6642" y="72"/>
                </a:lnTo>
                <a:lnTo>
                  <a:pt x="6629" y="58"/>
                </a:lnTo>
                <a:lnTo>
                  <a:pt x="6614" y="43"/>
                </a:lnTo>
                <a:lnTo>
                  <a:pt x="6596" y="32"/>
                </a:lnTo>
                <a:lnTo>
                  <a:pt x="6578" y="22"/>
                </a:lnTo>
                <a:lnTo>
                  <a:pt x="6557" y="14"/>
                </a:lnTo>
                <a:lnTo>
                  <a:pt x="6534" y="7"/>
                </a:lnTo>
                <a:lnTo>
                  <a:pt x="6510" y="3"/>
                </a:lnTo>
                <a:lnTo>
                  <a:pt x="6484" y="0"/>
                </a:lnTo>
                <a:lnTo>
                  <a:pt x="6457" y="0"/>
                </a:lnTo>
                <a:lnTo>
                  <a:pt x="231" y="0"/>
                </a:lnTo>
                <a:lnTo>
                  <a:pt x="202" y="0"/>
                </a:lnTo>
                <a:lnTo>
                  <a:pt x="176" y="3"/>
                </a:lnTo>
                <a:lnTo>
                  <a:pt x="152" y="7"/>
                </a:lnTo>
                <a:lnTo>
                  <a:pt x="130" y="14"/>
                </a:lnTo>
                <a:lnTo>
                  <a:pt x="108" y="22"/>
                </a:lnTo>
                <a:lnTo>
                  <a:pt x="90" y="32"/>
                </a:lnTo>
                <a:lnTo>
                  <a:pt x="72" y="43"/>
                </a:lnTo>
                <a:lnTo>
                  <a:pt x="58" y="58"/>
                </a:lnTo>
                <a:lnTo>
                  <a:pt x="44" y="72"/>
                </a:lnTo>
                <a:lnTo>
                  <a:pt x="32" y="89"/>
                </a:lnTo>
                <a:lnTo>
                  <a:pt x="22" y="108"/>
                </a:lnTo>
                <a:lnTo>
                  <a:pt x="15" y="130"/>
                </a:lnTo>
                <a:lnTo>
                  <a:pt x="7" y="151"/>
                </a:lnTo>
                <a:lnTo>
                  <a:pt x="3" y="176"/>
                </a:lnTo>
                <a:lnTo>
                  <a:pt x="0" y="202"/>
                </a:lnTo>
                <a:lnTo>
                  <a:pt x="0" y="231"/>
                </a:lnTo>
                <a:lnTo>
                  <a:pt x="0" y="663"/>
                </a:lnTo>
                <a:lnTo>
                  <a:pt x="0" y="690"/>
                </a:lnTo>
                <a:lnTo>
                  <a:pt x="3" y="716"/>
                </a:lnTo>
                <a:lnTo>
                  <a:pt x="7" y="741"/>
                </a:lnTo>
                <a:lnTo>
                  <a:pt x="15" y="764"/>
                </a:lnTo>
                <a:lnTo>
                  <a:pt x="22" y="784"/>
                </a:lnTo>
                <a:lnTo>
                  <a:pt x="32" y="803"/>
                </a:lnTo>
                <a:lnTo>
                  <a:pt x="44" y="820"/>
                </a:lnTo>
                <a:lnTo>
                  <a:pt x="58" y="836"/>
                </a:lnTo>
                <a:lnTo>
                  <a:pt x="72" y="849"/>
                </a:lnTo>
                <a:lnTo>
                  <a:pt x="90" y="860"/>
                </a:lnTo>
                <a:lnTo>
                  <a:pt x="108" y="870"/>
                </a:lnTo>
                <a:lnTo>
                  <a:pt x="130" y="879"/>
                </a:lnTo>
                <a:lnTo>
                  <a:pt x="152" y="885"/>
                </a:lnTo>
                <a:lnTo>
                  <a:pt x="176" y="889"/>
                </a:lnTo>
                <a:lnTo>
                  <a:pt x="202" y="892"/>
                </a:lnTo>
                <a:lnTo>
                  <a:pt x="231" y="893"/>
                </a:lnTo>
                <a:lnTo>
                  <a:pt x="6457" y="893"/>
                </a:lnTo>
                <a:close/>
              </a:path>
            </a:pathLst>
          </a:custGeom>
          <a:gradFill rotWithShape="1">
            <a:gsLst>
              <a:gs pos="0">
                <a:srgbClr val="339966">
                  <a:gamma/>
                  <a:shade val="46275"/>
                  <a:invGamma/>
                </a:srgbClr>
              </a:gs>
              <a:gs pos="50000">
                <a:srgbClr val="339966">
                  <a:alpha val="55000"/>
                </a:srgbClr>
              </a:gs>
              <a:gs pos="100000">
                <a:srgbClr val="339966">
                  <a:gamma/>
                  <a:shade val="46275"/>
                  <a:invGamma/>
                </a:srgbClr>
              </a:gs>
            </a:gsLst>
            <a:lin ang="5400000" scaled="1"/>
          </a:gradFill>
          <a:ln w="9525" cap="flat" cmpd="sng">
            <a:solidFill>
              <a:srgbClr val="003300"/>
            </a:solidFill>
            <a:prstDash val="solid"/>
            <a:round/>
            <a:headEnd type="none" w="med" len="med"/>
            <a:tailEnd type="none" w="med" len="med"/>
          </a:ln>
          <a:effectLst/>
        </p:spPr>
        <p:txBody>
          <a:bodyPr/>
          <a:lstStyle/>
          <a:p>
            <a:endParaRPr lang="en-US" sz="2000">
              <a:latin typeface="Calibri" pitchFamily="34" charset="0"/>
              <a:cs typeface="Calibri" pitchFamily="34" charset="0"/>
            </a:endParaRPr>
          </a:p>
        </p:txBody>
      </p:sp>
      <p:sp>
        <p:nvSpPr>
          <p:cNvPr id="14" name="Freeform 12"/>
          <p:cNvSpPr>
            <a:spLocks/>
          </p:cNvSpPr>
          <p:nvPr/>
        </p:nvSpPr>
        <p:spPr bwMode="auto">
          <a:xfrm>
            <a:off x="3476625" y="3305175"/>
            <a:ext cx="4041775" cy="473075"/>
          </a:xfrm>
          <a:custGeom>
            <a:avLst/>
            <a:gdLst/>
            <a:ahLst/>
            <a:cxnLst>
              <a:cxn ang="0">
                <a:pos x="7637" y="202"/>
              </a:cxn>
              <a:cxn ang="0">
                <a:pos x="7630" y="151"/>
              </a:cxn>
              <a:cxn ang="0">
                <a:pos x="7615" y="108"/>
              </a:cxn>
              <a:cxn ang="0">
                <a:pos x="7594" y="72"/>
              </a:cxn>
              <a:cxn ang="0">
                <a:pos x="7565" y="43"/>
              </a:cxn>
              <a:cxn ang="0">
                <a:pos x="7529" y="22"/>
              </a:cxn>
              <a:cxn ang="0">
                <a:pos x="7486" y="7"/>
              </a:cxn>
              <a:cxn ang="0">
                <a:pos x="7435" y="0"/>
              </a:cxn>
              <a:cxn ang="0">
                <a:pos x="231" y="0"/>
              </a:cxn>
              <a:cxn ang="0">
                <a:pos x="176" y="3"/>
              </a:cxn>
              <a:cxn ang="0">
                <a:pos x="130" y="14"/>
              </a:cxn>
              <a:cxn ang="0">
                <a:pos x="90" y="32"/>
              </a:cxn>
              <a:cxn ang="0">
                <a:pos x="58" y="58"/>
              </a:cxn>
              <a:cxn ang="0">
                <a:pos x="32" y="89"/>
              </a:cxn>
              <a:cxn ang="0">
                <a:pos x="15" y="130"/>
              </a:cxn>
              <a:cxn ang="0">
                <a:pos x="3" y="176"/>
              </a:cxn>
              <a:cxn ang="0">
                <a:pos x="0" y="231"/>
              </a:cxn>
              <a:cxn ang="0">
                <a:pos x="0" y="690"/>
              </a:cxn>
              <a:cxn ang="0">
                <a:pos x="7" y="741"/>
              </a:cxn>
              <a:cxn ang="0">
                <a:pos x="22" y="784"/>
              </a:cxn>
              <a:cxn ang="0">
                <a:pos x="44" y="820"/>
              </a:cxn>
              <a:cxn ang="0">
                <a:pos x="72" y="849"/>
              </a:cxn>
              <a:cxn ang="0">
                <a:pos x="108" y="870"/>
              </a:cxn>
              <a:cxn ang="0">
                <a:pos x="152" y="885"/>
              </a:cxn>
              <a:cxn ang="0">
                <a:pos x="202" y="892"/>
              </a:cxn>
              <a:cxn ang="0">
                <a:pos x="7408" y="893"/>
              </a:cxn>
              <a:cxn ang="0">
                <a:pos x="7421" y="892"/>
              </a:cxn>
              <a:cxn ang="0">
                <a:pos x="7461" y="889"/>
              </a:cxn>
              <a:cxn ang="0">
                <a:pos x="7478" y="885"/>
              </a:cxn>
              <a:cxn ang="0">
                <a:pos x="7509" y="879"/>
              </a:cxn>
              <a:cxn ang="0">
                <a:pos x="7538" y="865"/>
              </a:cxn>
              <a:cxn ang="0">
                <a:pos x="7548" y="860"/>
              </a:cxn>
              <a:cxn ang="0">
                <a:pos x="7568" y="844"/>
              </a:cxn>
              <a:cxn ang="0">
                <a:pos x="7581" y="836"/>
              </a:cxn>
              <a:cxn ang="0">
                <a:pos x="7589" y="823"/>
              </a:cxn>
              <a:cxn ang="0">
                <a:pos x="7605" y="803"/>
              </a:cxn>
              <a:cxn ang="0">
                <a:pos x="7610" y="793"/>
              </a:cxn>
              <a:cxn ang="0">
                <a:pos x="7624" y="764"/>
              </a:cxn>
              <a:cxn ang="0">
                <a:pos x="7630" y="733"/>
              </a:cxn>
              <a:cxn ang="0">
                <a:pos x="7634" y="716"/>
              </a:cxn>
              <a:cxn ang="0">
                <a:pos x="7637" y="676"/>
              </a:cxn>
              <a:cxn ang="0">
                <a:pos x="7638" y="663"/>
              </a:cxn>
            </a:cxnLst>
            <a:rect l="0" t="0" r="r" b="b"/>
            <a:pathLst>
              <a:path w="7638" h="893">
                <a:moveTo>
                  <a:pt x="7638" y="231"/>
                </a:moveTo>
                <a:lnTo>
                  <a:pt x="7637" y="202"/>
                </a:lnTo>
                <a:lnTo>
                  <a:pt x="7634" y="176"/>
                </a:lnTo>
                <a:lnTo>
                  <a:pt x="7630" y="151"/>
                </a:lnTo>
                <a:lnTo>
                  <a:pt x="7624" y="130"/>
                </a:lnTo>
                <a:lnTo>
                  <a:pt x="7615" y="108"/>
                </a:lnTo>
                <a:lnTo>
                  <a:pt x="7605" y="89"/>
                </a:lnTo>
                <a:lnTo>
                  <a:pt x="7594" y="72"/>
                </a:lnTo>
                <a:lnTo>
                  <a:pt x="7581" y="58"/>
                </a:lnTo>
                <a:lnTo>
                  <a:pt x="7565" y="43"/>
                </a:lnTo>
                <a:lnTo>
                  <a:pt x="7548" y="32"/>
                </a:lnTo>
                <a:lnTo>
                  <a:pt x="7529" y="22"/>
                </a:lnTo>
                <a:lnTo>
                  <a:pt x="7509" y="14"/>
                </a:lnTo>
                <a:lnTo>
                  <a:pt x="7486" y="7"/>
                </a:lnTo>
                <a:lnTo>
                  <a:pt x="7461" y="3"/>
                </a:lnTo>
                <a:lnTo>
                  <a:pt x="7435" y="0"/>
                </a:lnTo>
                <a:lnTo>
                  <a:pt x="7408" y="0"/>
                </a:lnTo>
                <a:lnTo>
                  <a:pt x="231" y="0"/>
                </a:lnTo>
                <a:lnTo>
                  <a:pt x="202" y="0"/>
                </a:lnTo>
                <a:lnTo>
                  <a:pt x="176" y="3"/>
                </a:lnTo>
                <a:lnTo>
                  <a:pt x="152" y="7"/>
                </a:lnTo>
                <a:lnTo>
                  <a:pt x="130" y="14"/>
                </a:lnTo>
                <a:lnTo>
                  <a:pt x="108" y="22"/>
                </a:lnTo>
                <a:lnTo>
                  <a:pt x="90" y="32"/>
                </a:lnTo>
                <a:lnTo>
                  <a:pt x="72" y="43"/>
                </a:lnTo>
                <a:lnTo>
                  <a:pt x="58" y="58"/>
                </a:lnTo>
                <a:lnTo>
                  <a:pt x="44" y="72"/>
                </a:lnTo>
                <a:lnTo>
                  <a:pt x="32" y="89"/>
                </a:lnTo>
                <a:lnTo>
                  <a:pt x="22" y="108"/>
                </a:lnTo>
                <a:lnTo>
                  <a:pt x="15" y="130"/>
                </a:lnTo>
                <a:lnTo>
                  <a:pt x="7" y="151"/>
                </a:lnTo>
                <a:lnTo>
                  <a:pt x="3" y="176"/>
                </a:lnTo>
                <a:lnTo>
                  <a:pt x="0" y="202"/>
                </a:lnTo>
                <a:lnTo>
                  <a:pt x="0" y="231"/>
                </a:lnTo>
                <a:lnTo>
                  <a:pt x="0" y="663"/>
                </a:lnTo>
                <a:lnTo>
                  <a:pt x="0" y="690"/>
                </a:lnTo>
                <a:lnTo>
                  <a:pt x="3" y="716"/>
                </a:lnTo>
                <a:lnTo>
                  <a:pt x="7" y="741"/>
                </a:lnTo>
                <a:lnTo>
                  <a:pt x="15" y="764"/>
                </a:lnTo>
                <a:lnTo>
                  <a:pt x="22" y="784"/>
                </a:lnTo>
                <a:lnTo>
                  <a:pt x="32" y="803"/>
                </a:lnTo>
                <a:lnTo>
                  <a:pt x="44" y="820"/>
                </a:lnTo>
                <a:lnTo>
                  <a:pt x="58" y="836"/>
                </a:lnTo>
                <a:lnTo>
                  <a:pt x="72" y="849"/>
                </a:lnTo>
                <a:lnTo>
                  <a:pt x="90" y="860"/>
                </a:lnTo>
                <a:lnTo>
                  <a:pt x="108" y="870"/>
                </a:lnTo>
                <a:lnTo>
                  <a:pt x="130" y="879"/>
                </a:lnTo>
                <a:lnTo>
                  <a:pt x="152" y="885"/>
                </a:lnTo>
                <a:lnTo>
                  <a:pt x="176" y="889"/>
                </a:lnTo>
                <a:lnTo>
                  <a:pt x="202" y="892"/>
                </a:lnTo>
                <a:lnTo>
                  <a:pt x="231" y="893"/>
                </a:lnTo>
                <a:lnTo>
                  <a:pt x="7408" y="893"/>
                </a:lnTo>
                <a:lnTo>
                  <a:pt x="7414" y="892"/>
                </a:lnTo>
                <a:lnTo>
                  <a:pt x="7421" y="892"/>
                </a:lnTo>
                <a:lnTo>
                  <a:pt x="7435" y="892"/>
                </a:lnTo>
                <a:lnTo>
                  <a:pt x="7461" y="889"/>
                </a:lnTo>
                <a:lnTo>
                  <a:pt x="7473" y="886"/>
                </a:lnTo>
                <a:lnTo>
                  <a:pt x="7478" y="885"/>
                </a:lnTo>
                <a:lnTo>
                  <a:pt x="7486" y="885"/>
                </a:lnTo>
                <a:lnTo>
                  <a:pt x="7509" y="879"/>
                </a:lnTo>
                <a:lnTo>
                  <a:pt x="7529" y="870"/>
                </a:lnTo>
                <a:lnTo>
                  <a:pt x="7538" y="865"/>
                </a:lnTo>
                <a:lnTo>
                  <a:pt x="7542" y="862"/>
                </a:lnTo>
                <a:lnTo>
                  <a:pt x="7548" y="860"/>
                </a:lnTo>
                <a:lnTo>
                  <a:pt x="7565" y="849"/>
                </a:lnTo>
                <a:lnTo>
                  <a:pt x="7568" y="844"/>
                </a:lnTo>
                <a:lnTo>
                  <a:pt x="7572" y="842"/>
                </a:lnTo>
                <a:lnTo>
                  <a:pt x="7581" y="836"/>
                </a:lnTo>
                <a:lnTo>
                  <a:pt x="7587" y="827"/>
                </a:lnTo>
                <a:lnTo>
                  <a:pt x="7589" y="823"/>
                </a:lnTo>
                <a:lnTo>
                  <a:pt x="7594" y="820"/>
                </a:lnTo>
                <a:lnTo>
                  <a:pt x="7605" y="803"/>
                </a:lnTo>
                <a:lnTo>
                  <a:pt x="7607" y="797"/>
                </a:lnTo>
                <a:lnTo>
                  <a:pt x="7610" y="793"/>
                </a:lnTo>
                <a:lnTo>
                  <a:pt x="7615" y="784"/>
                </a:lnTo>
                <a:lnTo>
                  <a:pt x="7624" y="764"/>
                </a:lnTo>
                <a:lnTo>
                  <a:pt x="7630" y="741"/>
                </a:lnTo>
                <a:lnTo>
                  <a:pt x="7630" y="733"/>
                </a:lnTo>
                <a:lnTo>
                  <a:pt x="7631" y="728"/>
                </a:lnTo>
                <a:lnTo>
                  <a:pt x="7634" y="716"/>
                </a:lnTo>
                <a:lnTo>
                  <a:pt x="7637" y="690"/>
                </a:lnTo>
                <a:lnTo>
                  <a:pt x="7637" y="676"/>
                </a:lnTo>
                <a:lnTo>
                  <a:pt x="7637" y="669"/>
                </a:lnTo>
                <a:lnTo>
                  <a:pt x="7638" y="663"/>
                </a:lnTo>
                <a:lnTo>
                  <a:pt x="7638" y="231"/>
                </a:lnTo>
                <a:close/>
              </a:path>
            </a:pathLst>
          </a:custGeom>
          <a:gradFill rotWithShape="1">
            <a:gsLst>
              <a:gs pos="0">
                <a:srgbClr val="339966">
                  <a:gamma/>
                  <a:shade val="46275"/>
                  <a:invGamma/>
                </a:srgbClr>
              </a:gs>
              <a:gs pos="50000">
                <a:srgbClr val="339966">
                  <a:alpha val="39999"/>
                </a:srgbClr>
              </a:gs>
              <a:gs pos="100000">
                <a:srgbClr val="339966">
                  <a:gamma/>
                  <a:shade val="46275"/>
                  <a:invGamma/>
                </a:srgbClr>
              </a:gs>
            </a:gsLst>
            <a:lin ang="5400000" scaled="1"/>
          </a:gradFill>
          <a:ln w="9525" cap="flat" cmpd="sng">
            <a:solidFill>
              <a:srgbClr val="003300"/>
            </a:solidFill>
            <a:prstDash val="solid"/>
            <a:round/>
            <a:headEnd type="none" w="med" len="med"/>
            <a:tailEnd type="none" w="med" len="med"/>
          </a:ln>
          <a:effectLst/>
        </p:spPr>
        <p:txBody>
          <a:bodyPr/>
          <a:lstStyle/>
          <a:p>
            <a:endParaRPr lang="en-US" sz="2000">
              <a:latin typeface="Calibri" pitchFamily="34" charset="0"/>
              <a:cs typeface="Calibri" pitchFamily="34" charset="0"/>
            </a:endParaRPr>
          </a:p>
        </p:txBody>
      </p:sp>
      <p:sp>
        <p:nvSpPr>
          <p:cNvPr id="15" name="Freeform 13"/>
          <p:cNvSpPr>
            <a:spLocks/>
          </p:cNvSpPr>
          <p:nvPr/>
        </p:nvSpPr>
        <p:spPr bwMode="auto">
          <a:xfrm>
            <a:off x="6230938" y="2282825"/>
            <a:ext cx="31750"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 name="Freeform 14"/>
          <p:cNvSpPr>
            <a:spLocks/>
          </p:cNvSpPr>
          <p:nvPr/>
        </p:nvSpPr>
        <p:spPr bwMode="auto">
          <a:xfrm>
            <a:off x="6273800" y="2243138"/>
            <a:ext cx="30163" cy="30162"/>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2"/>
              </a:cxn>
              <a:cxn ang="0">
                <a:pos x="28" y="0"/>
              </a:cxn>
              <a:cxn ang="0">
                <a:pos x="39" y="2"/>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2"/>
                </a:lnTo>
                <a:lnTo>
                  <a:pt x="28" y="0"/>
                </a:lnTo>
                <a:lnTo>
                  <a:pt x="39" y="2"/>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 name="Freeform 15"/>
          <p:cNvSpPr>
            <a:spLocks/>
          </p:cNvSpPr>
          <p:nvPr/>
        </p:nvSpPr>
        <p:spPr bwMode="auto">
          <a:xfrm>
            <a:off x="6321425" y="2205038"/>
            <a:ext cx="30163" cy="30162"/>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 name="Freeform 16"/>
          <p:cNvSpPr>
            <a:spLocks/>
          </p:cNvSpPr>
          <p:nvPr/>
        </p:nvSpPr>
        <p:spPr bwMode="auto">
          <a:xfrm>
            <a:off x="6372225" y="21717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 name="Freeform 17"/>
          <p:cNvSpPr>
            <a:spLocks/>
          </p:cNvSpPr>
          <p:nvPr/>
        </p:nvSpPr>
        <p:spPr bwMode="auto">
          <a:xfrm>
            <a:off x="6426200" y="2141538"/>
            <a:ext cx="31750" cy="30162"/>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 name="Freeform 18"/>
          <p:cNvSpPr>
            <a:spLocks/>
          </p:cNvSpPr>
          <p:nvPr/>
        </p:nvSpPr>
        <p:spPr bwMode="auto">
          <a:xfrm>
            <a:off x="6483350" y="2114550"/>
            <a:ext cx="30163" cy="30163"/>
          </a:xfrm>
          <a:custGeom>
            <a:avLst/>
            <a:gdLst/>
            <a:ahLst/>
            <a:cxnLst>
              <a:cxn ang="0">
                <a:pos x="57" y="28"/>
              </a:cxn>
              <a:cxn ang="0">
                <a:pos x="56" y="28"/>
              </a:cxn>
              <a:cxn ang="0">
                <a:pos x="56" y="30"/>
              </a:cxn>
              <a:cxn ang="0">
                <a:pos x="56" y="33"/>
              </a:cxn>
              <a:cxn ang="0">
                <a:pos x="54" y="38"/>
              </a:cxn>
              <a:cxn ang="0">
                <a:pos x="51" y="43"/>
              </a:cxn>
              <a:cxn ang="0">
                <a:pos x="49" y="49"/>
              </a:cxn>
              <a:cxn ang="0">
                <a:pos x="43" y="51"/>
              </a:cxn>
              <a:cxn ang="0">
                <a:pos x="38" y="54"/>
              </a:cxn>
              <a:cxn ang="0">
                <a:pos x="33" y="56"/>
              </a:cxn>
              <a:cxn ang="0">
                <a:pos x="30" y="56"/>
              </a:cxn>
              <a:cxn ang="0">
                <a:pos x="28" y="56"/>
              </a:cxn>
              <a:cxn ang="0">
                <a:pos x="28" y="57"/>
              </a:cxn>
              <a:cxn ang="0">
                <a:pos x="17" y="54"/>
              </a:cxn>
              <a:cxn ang="0">
                <a:pos x="8" y="49"/>
              </a:cxn>
              <a:cxn ang="0">
                <a:pos x="1" y="38"/>
              </a:cxn>
              <a:cxn ang="0">
                <a:pos x="0" y="28"/>
              </a:cxn>
              <a:cxn ang="0">
                <a:pos x="1" y="17"/>
              </a:cxn>
              <a:cxn ang="0">
                <a:pos x="8" y="8"/>
              </a:cxn>
              <a:cxn ang="0">
                <a:pos x="17" y="1"/>
              </a:cxn>
              <a:cxn ang="0">
                <a:pos x="28" y="0"/>
              </a:cxn>
              <a:cxn ang="0">
                <a:pos x="38" y="1"/>
              </a:cxn>
              <a:cxn ang="0">
                <a:pos x="49" y="8"/>
              </a:cxn>
              <a:cxn ang="0">
                <a:pos x="54" y="17"/>
              </a:cxn>
              <a:cxn ang="0">
                <a:pos x="57" y="28"/>
              </a:cxn>
            </a:cxnLst>
            <a:rect l="0" t="0" r="r" b="b"/>
            <a:pathLst>
              <a:path w="57" h="57">
                <a:moveTo>
                  <a:pt x="57" y="28"/>
                </a:moveTo>
                <a:lnTo>
                  <a:pt x="56" y="28"/>
                </a:lnTo>
                <a:lnTo>
                  <a:pt x="56" y="30"/>
                </a:lnTo>
                <a:lnTo>
                  <a:pt x="56" y="33"/>
                </a:lnTo>
                <a:lnTo>
                  <a:pt x="54" y="38"/>
                </a:lnTo>
                <a:lnTo>
                  <a:pt x="51" y="43"/>
                </a:lnTo>
                <a:lnTo>
                  <a:pt x="49" y="49"/>
                </a:lnTo>
                <a:lnTo>
                  <a:pt x="43" y="51"/>
                </a:lnTo>
                <a:lnTo>
                  <a:pt x="38" y="54"/>
                </a:lnTo>
                <a:lnTo>
                  <a:pt x="33" y="56"/>
                </a:lnTo>
                <a:lnTo>
                  <a:pt x="30" y="56"/>
                </a:lnTo>
                <a:lnTo>
                  <a:pt x="28" y="56"/>
                </a:lnTo>
                <a:lnTo>
                  <a:pt x="28" y="57"/>
                </a:lnTo>
                <a:lnTo>
                  <a:pt x="17" y="54"/>
                </a:lnTo>
                <a:lnTo>
                  <a:pt x="8" y="49"/>
                </a:lnTo>
                <a:lnTo>
                  <a:pt x="1" y="38"/>
                </a:lnTo>
                <a:lnTo>
                  <a:pt x="0" y="28"/>
                </a:lnTo>
                <a:lnTo>
                  <a:pt x="1" y="17"/>
                </a:lnTo>
                <a:lnTo>
                  <a:pt x="8" y="8"/>
                </a:lnTo>
                <a:lnTo>
                  <a:pt x="17" y="1"/>
                </a:lnTo>
                <a:lnTo>
                  <a:pt x="28" y="0"/>
                </a:lnTo>
                <a:lnTo>
                  <a:pt x="38"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 name="Freeform 19"/>
          <p:cNvSpPr>
            <a:spLocks/>
          </p:cNvSpPr>
          <p:nvPr/>
        </p:nvSpPr>
        <p:spPr bwMode="auto">
          <a:xfrm>
            <a:off x="6540500" y="2090738"/>
            <a:ext cx="30163" cy="30162"/>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7"/>
              </a:cxn>
              <a:cxn ang="0">
                <a:pos x="17" y="55"/>
              </a:cxn>
              <a:cxn ang="0">
                <a:pos x="8" y="49"/>
              </a:cxn>
              <a:cxn ang="0">
                <a:pos x="1" y="39"/>
              </a:cxn>
              <a:cxn ang="0">
                <a:pos x="0" y="29"/>
              </a:cxn>
              <a:cxn ang="0">
                <a:pos x="1" y="17"/>
              </a:cxn>
              <a:cxn ang="0">
                <a:pos x="8" y="8"/>
              </a:cxn>
              <a:cxn ang="0">
                <a:pos x="17" y="1"/>
              </a:cxn>
              <a:cxn ang="0">
                <a:pos x="29" y="0"/>
              </a:cxn>
              <a:cxn ang="0">
                <a:pos x="39" y="1"/>
              </a:cxn>
              <a:cxn ang="0">
                <a:pos x="49" y="8"/>
              </a:cxn>
              <a:cxn ang="0">
                <a:pos x="54" y="17"/>
              </a:cxn>
              <a:cxn ang="0">
                <a:pos x="57" y="29"/>
              </a:cxn>
            </a:cxnLst>
            <a:rect l="0" t="0" r="r" b="b"/>
            <a:pathLst>
              <a:path w="57" h="57">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7"/>
                </a:lnTo>
                <a:lnTo>
                  <a:pt x="17" y="55"/>
                </a:lnTo>
                <a:lnTo>
                  <a:pt x="8" y="49"/>
                </a:lnTo>
                <a:lnTo>
                  <a:pt x="1" y="39"/>
                </a:lnTo>
                <a:lnTo>
                  <a:pt x="0" y="29"/>
                </a:lnTo>
                <a:lnTo>
                  <a:pt x="1" y="17"/>
                </a:lnTo>
                <a:lnTo>
                  <a:pt x="8" y="8"/>
                </a:lnTo>
                <a:lnTo>
                  <a:pt x="17" y="1"/>
                </a:lnTo>
                <a:lnTo>
                  <a:pt x="29" y="0"/>
                </a:lnTo>
                <a:lnTo>
                  <a:pt x="39" y="1"/>
                </a:lnTo>
                <a:lnTo>
                  <a:pt x="49" y="8"/>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 name="Freeform 20"/>
          <p:cNvSpPr>
            <a:spLocks/>
          </p:cNvSpPr>
          <p:nvPr/>
        </p:nvSpPr>
        <p:spPr bwMode="auto">
          <a:xfrm>
            <a:off x="6599238" y="2070100"/>
            <a:ext cx="30162"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 name="Freeform 21"/>
          <p:cNvSpPr>
            <a:spLocks/>
          </p:cNvSpPr>
          <p:nvPr/>
        </p:nvSpPr>
        <p:spPr bwMode="auto">
          <a:xfrm>
            <a:off x="6656388" y="2051050"/>
            <a:ext cx="30162" cy="30163"/>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7"/>
              </a:cxn>
              <a:cxn ang="0">
                <a:pos x="30"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7"/>
                </a:lnTo>
                <a:lnTo>
                  <a:pt x="30"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 name="Freeform 22"/>
          <p:cNvSpPr>
            <a:spLocks/>
          </p:cNvSpPr>
          <p:nvPr/>
        </p:nvSpPr>
        <p:spPr bwMode="auto">
          <a:xfrm>
            <a:off x="6715125" y="2035175"/>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2"/>
              </a:cxn>
              <a:cxn ang="0">
                <a:pos x="29" y="0"/>
              </a:cxn>
              <a:cxn ang="0">
                <a:pos x="39" y="2"/>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2"/>
                </a:lnTo>
                <a:lnTo>
                  <a:pt x="29" y="0"/>
                </a:lnTo>
                <a:lnTo>
                  <a:pt x="39" y="2"/>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 name="Freeform 23"/>
          <p:cNvSpPr>
            <a:spLocks/>
          </p:cNvSpPr>
          <p:nvPr/>
        </p:nvSpPr>
        <p:spPr bwMode="auto">
          <a:xfrm>
            <a:off x="6775450" y="2020888"/>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9"/>
              </a:cxn>
              <a:cxn ang="0">
                <a:pos x="2"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9"/>
                </a:lnTo>
                <a:lnTo>
                  <a:pt x="2"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 name="Freeform 24"/>
          <p:cNvSpPr>
            <a:spLocks/>
          </p:cNvSpPr>
          <p:nvPr/>
        </p:nvSpPr>
        <p:spPr bwMode="auto">
          <a:xfrm>
            <a:off x="6837363" y="2008188"/>
            <a:ext cx="30162" cy="30162"/>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2"/>
              </a:cxn>
              <a:cxn ang="0">
                <a:pos x="29" y="0"/>
              </a:cxn>
              <a:cxn ang="0">
                <a:pos x="39" y="2"/>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2"/>
                </a:lnTo>
                <a:lnTo>
                  <a:pt x="29" y="0"/>
                </a:lnTo>
                <a:lnTo>
                  <a:pt x="39" y="2"/>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 name="Rectangle 25"/>
          <p:cNvSpPr>
            <a:spLocks noChangeArrowheads="1"/>
          </p:cNvSpPr>
          <p:nvPr/>
        </p:nvSpPr>
        <p:spPr bwMode="auto">
          <a:xfrm>
            <a:off x="3798888" y="1878013"/>
            <a:ext cx="997709"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chemeClr val="bg1"/>
                </a:solidFill>
                <a:latin typeface="Calibri" pitchFamily="34" charset="0"/>
                <a:cs typeface="Calibri" pitchFamily="34" charset="0"/>
              </a:rPr>
              <a:t> File System</a:t>
            </a:r>
            <a:endParaRPr lang="en-US" sz="2000" dirty="0">
              <a:solidFill>
                <a:schemeClr val="bg1"/>
              </a:solidFill>
              <a:latin typeface="Calibri" pitchFamily="34" charset="0"/>
              <a:cs typeface="Calibri" pitchFamily="34" charset="0"/>
            </a:endParaRPr>
          </a:p>
        </p:txBody>
      </p:sp>
      <p:sp>
        <p:nvSpPr>
          <p:cNvPr id="28" name="Rectangle 26"/>
          <p:cNvSpPr>
            <a:spLocks noChangeArrowheads="1"/>
          </p:cNvSpPr>
          <p:nvPr/>
        </p:nvSpPr>
        <p:spPr bwMode="auto">
          <a:xfrm>
            <a:off x="3795713" y="1343025"/>
            <a:ext cx="971484"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chemeClr val="bg1"/>
                </a:solidFill>
                <a:latin typeface="Calibri" pitchFamily="34" charset="0"/>
                <a:cs typeface="Calibri" pitchFamily="34" charset="0"/>
              </a:rPr>
              <a:t>Application</a:t>
            </a:r>
            <a:endParaRPr lang="en-US" sz="2000" dirty="0">
              <a:solidFill>
                <a:schemeClr val="bg1"/>
              </a:solidFill>
              <a:latin typeface="Calibri" pitchFamily="34" charset="0"/>
              <a:cs typeface="Calibri" pitchFamily="34" charset="0"/>
            </a:endParaRPr>
          </a:p>
        </p:txBody>
      </p:sp>
      <p:sp>
        <p:nvSpPr>
          <p:cNvPr id="29" name="Rectangle 27"/>
          <p:cNvSpPr>
            <a:spLocks noChangeArrowheads="1"/>
          </p:cNvSpPr>
          <p:nvPr/>
        </p:nvSpPr>
        <p:spPr bwMode="auto">
          <a:xfrm>
            <a:off x="3803650" y="2395538"/>
            <a:ext cx="1387816"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chemeClr val="bg1"/>
                </a:solidFill>
                <a:latin typeface="Calibri" pitchFamily="34" charset="0"/>
                <a:cs typeface="Calibri" pitchFamily="34" charset="0"/>
              </a:rPr>
              <a:t>Memory Buffers</a:t>
            </a:r>
            <a:endParaRPr lang="en-US" sz="2000" dirty="0">
              <a:solidFill>
                <a:schemeClr val="bg1"/>
              </a:solidFill>
              <a:latin typeface="Calibri" pitchFamily="34" charset="0"/>
              <a:cs typeface="Calibri" pitchFamily="34" charset="0"/>
            </a:endParaRPr>
          </a:p>
        </p:txBody>
      </p:sp>
      <p:sp>
        <p:nvSpPr>
          <p:cNvPr id="30" name="Rectangle 28"/>
          <p:cNvSpPr>
            <a:spLocks noChangeArrowheads="1"/>
          </p:cNvSpPr>
          <p:nvPr/>
        </p:nvSpPr>
        <p:spPr bwMode="auto">
          <a:xfrm>
            <a:off x="3814763" y="2914650"/>
            <a:ext cx="2090252"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chemeClr val="bg1"/>
                </a:solidFill>
                <a:latin typeface="Calibri" pitchFamily="34" charset="0"/>
                <a:cs typeface="Calibri" pitchFamily="34" charset="0"/>
              </a:rPr>
              <a:t>Logical Volume Manager</a:t>
            </a:r>
            <a:endParaRPr lang="en-US" sz="2000" dirty="0">
              <a:solidFill>
                <a:schemeClr val="bg1"/>
              </a:solidFill>
              <a:latin typeface="Calibri" pitchFamily="34" charset="0"/>
              <a:cs typeface="Calibri" pitchFamily="34" charset="0"/>
            </a:endParaRPr>
          </a:p>
        </p:txBody>
      </p:sp>
      <p:sp>
        <p:nvSpPr>
          <p:cNvPr id="31" name="Rectangle 29"/>
          <p:cNvSpPr>
            <a:spLocks noChangeArrowheads="1"/>
          </p:cNvSpPr>
          <p:nvPr/>
        </p:nvSpPr>
        <p:spPr bwMode="auto">
          <a:xfrm>
            <a:off x="3811588" y="3433763"/>
            <a:ext cx="1657377"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chemeClr val="bg1"/>
                </a:solidFill>
                <a:latin typeface="Calibri" pitchFamily="34" charset="0"/>
                <a:cs typeface="Calibri" pitchFamily="34" charset="0"/>
              </a:rPr>
              <a:t>Physical Disk Driver</a:t>
            </a:r>
            <a:endParaRPr lang="en-US" sz="2000" dirty="0">
              <a:solidFill>
                <a:schemeClr val="bg1"/>
              </a:solidFill>
              <a:latin typeface="Calibri" pitchFamily="34" charset="0"/>
              <a:cs typeface="Calibri" pitchFamily="34" charset="0"/>
            </a:endParaRPr>
          </a:p>
        </p:txBody>
      </p:sp>
      <p:sp>
        <p:nvSpPr>
          <p:cNvPr id="32" name="Rectangle 30"/>
          <p:cNvSpPr>
            <a:spLocks noChangeArrowheads="1"/>
          </p:cNvSpPr>
          <p:nvPr/>
        </p:nvSpPr>
        <p:spPr bwMode="auto">
          <a:xfrm>
            <a:off x="55927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33" name="Rectangle 31"/>
          <p:cNvSpPr>
            <a:spLocks noChangeArrowheads="1"/>
          </p:cNvSpPr>
          <p:nvPr/>
        </p:nvSpPr>
        <p:spPr bwMode="auto">
          <a:xfrm>
            <a:off x="56689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34" name="Rectangle 32"/>
          <p:cNvSpPr>
            <a:spLocks noChangeArrowheads="1"/>
          </p:cNvSpPr>
          <p:nvPr/>
        </p:nvSpPr>
        <p:spPr bwMode="auto">
          <a:xfrm>
            <a:off x="55927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35" name="Rectangle 33"/>
          <p:cNvSpPr>
            <a:spLocks noChangeArrowheads="1"/>
          </p:cNvSpPr>
          <p:nvPr/>
        </p:nvSpPr>
        <p:spPr bwMode="auto">
          <a:xfrm>
            <a:off x="55165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36" name="Rectangle 34"/>
          <p:cNvSpPr>
            <a:spLocks noChangeArrowheads="1"/>
          </p:cNvSpPr>
          <p:nvPr/>
        </p:nvSpPr>
        <p:spPr bwMode="auto">
          <a:xfrm>
            <a:off x="55165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37" name="Rectangle 35"/>
          <p:cNvSpPr>
            <a:spLocks noChangeArrowheads="1"/>
          </p:cNvSpPr>
          <p:nvPr/>
        </p:nvSpPr>
        <p:spPr bwMode="auto">
          <a:xfrm>
            <a:off x="55165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38" name="Rectangle 36"/>
          <p:cNvSpPr>
            <a:spLocks noChangeArrowheads="1"/>
          </p:cNvSpPr>
          <p:nvPr/>
        </p:nvSpPr>
        <p:spPr bwMode="auto">
          <a:xfrm>
            <a:off x="55927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39" name="Rectangle 37"/>
          <p:cNvSpPr>
            <a:spLocks noChangeArrowheads="1"/>
          </p:cNvSpPr>
          <p:nvPr/>
        </p:nvSpPr>
        <p:spPr bwMode="auto">
          <a:xfrm>
            <a:off x="56689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0" name="Rectangle 38"/>
          <p:cNvSpPr>
            <a:spLocks noChangeArrowheads="1"/>
          </p:cNvSpPr>
          <p:nvPr/>
        </p:nvSpPr>
        <p:spPr bwMode="auto">
          <a:xfrm>
            <a:off x="55927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1" name="Rectangle 39"/>
          <p:cNvSpPr>
            <a:spLocks noChangeArrowheads="1"/>
          </p:cNvSpPr>
          <p:nvPr/>
        </p:nvSpPr>
        <p:spPr bwMode="auto">
          <a:xfrm>
            <a:off x="56689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2" name="Rectangle 40"/>
          <p:cNvSpPr>
            <a:spLocks noChangeArrowheads="1"/>
          </p:cNvSpPr>
          <p:nvPr/>
        </p:nvSpPr>
        <p:spPr bwMode="auto">
          <a:xfrm>
            <a:off x="55165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3" name="Rectangle 41"/>
          <p:cNvSpPr>
            <a:spLocks noChangeArrowheads="1"/>
          </p:cNvSpPr>
          <p:nvPr/>
        </p:nvSpPr>
        <p:spPr bwMode="auto">
          <a:xfrm>
            <a:off x="56689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4" name="Rectangle 42"/>
          <p:cNvSpPr>
            <a:spLocks noChangeArrowheads="1"/>
          </p:cNvSpPr>
          <p:nvPr/>
        </p:nvSpPr>
        <p:spPr bwMode="auto">
          <a:xfrm>
            <a:off x="58975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5" name="Rectangle 43"/>
          <p:cNvSpPr>
            <a:spLocks noChangeArrowheads="1"/>
          </p:cNvSpPr>
          <p:nvPr/>
        </p:nvSpPr>
        <p:spPr bwMode="auto">
          <a:xfrm>
            <a:off x="59737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6" name="Rectangle 44"/>
          <p:cNvSpPr>
            <a:spLocks noChangeArrowheads="1"/>
          </p:cNvSpPr>
          <p:nvPr/>
        </p:nvSpPr>
        <p:spPr bwMode="auto">
          <a:xfrm>
            <a:off x="58213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7" name="Rectangle 45"/>
          <p:cNvSpPr>
            <a:spLocks noChangeArrowheads="1"/>
          </p:cNvSpPr>
          <p:nvPr/>
        </p:nvSpPr>
        <p:spPr bwMode="auto">
          <a:xfrm>
            <a:off x="58975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 name="Rectangle 46"/>
          <p:cNvSpPr>
            <a:spLocks noChangeArrowheads="1"/>
          </p:cNvSpPr>
          <p:nvPr/>
        </p:nvSpPr>
        <p:spPr bwMode="auto">
          <a:xfrm>
            <a:off x="57451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 name="Rectangle 47"/>
          <p:cNvSpPr>
            <a:spLocks noChangeArrowheads="1"/>
          </p:cNvSpPr>
          <p:nvPr/>
        </p:nvSpPr>
        <p:spPr bwMode="auto">
          <a:xfrm>
            <a:off x="57451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 name="Rectangle 48"/>
          <p:cNvSpPr>
            <a:spLocks noChangeArrowheads="1"/>
          </p:cNvSpPr>
          <p:nvPr/>
        </p:nvSpPr>
        <p:spPr bwMode="auto">
          <a:xfrm>
            <a:off x="57451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1" name="Rectangle 49"/>
          <p:cNvSpPr>
            <a:spLocks noChangeArrowheads="1"/>
          </p:cNvSpPr>
          <p:nvPr/>
        </p:nvSpPr>
        <p:spPr bwMode="auto">
          <a:xfrm>
            <a:off x="58213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2" name="Rectangle 50"/>
          <p:cNvSpPr>
            <a:spLocks noChangeArrowheads="1"/>
          </p:cNvSpPr>
          <p:nvPr/>
        </p:nvSpPr>
        <p:spPr bwMode="auto">
          <a:xfrm>
            <a:off x="57451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3" name="Rectangle 51"/>
          <p:cNvSpPr>
            <a:spLocks noChangeArrowheads="1"/>
          </p:cNvSpPr>
          <p:nvPr/>
        </p:nvSpPr>
        <p:spPr bwMode="auto">
          <a:xfrm>
            <a:off x="58213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4" name="Rectangle 52"/>
          <p:cNvSpPr>
            <a:spLocks noChangeArrowheads="1"/>
          </p:cNvSpPr>
          <p:nvPr/>
        </p:nvSpPr>
        <p:spPr bwMode="auto">
          <a:xfrm>
            <a:off x="58975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5" name="Rectangle 53"/>
          <p:cNvSpPr>
            <a:spLocks noChangeArrowheads="1"/>
          </p:cNvSpPr>
          <p:nvPr/>
        </p:nvSpPr>
        <p:spPr bwMode="auto">
          <a:xfrm>
            <a:off x="59737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6" name="Rectangle 54"/>
          <p:cNvSpPr>
            <a:spLocks noChangeArrowheads="1"/>
          </p:cNvSpPr>
          <p:nvPr/>
        </p:nvSpPr>
        <p:spPr bwMode="auto">
          <a:xfrm>
            <a:off x="58975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7" name="Rectangle 55"/>
          <p:cNvSpPr>
            <a:spLocks noChangeArrowheads="1"/>
          </p:cNvSpPr>
          <p:nvPr/>
        </p:nvSpPr>
        <p:spPr bwMode="auto">
          <a:xfrm>
            <a:off x="59737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8" name="Rectangle 56"/>
          <p:cNvSpPr>
            <a:spLocks noChangeArrowheads="1"/>
          </p:cNvSpPr>
          <p:nvPr/>
        </p:nvSpPr>
        <p:spPr bwMode="auto">
          <a:xfrm>
            <a:off x="58213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9" name="Rectangle 57"/>
          <p:cNvSpPr>
            <a:spLocks noChangeArrowheads="1"/>
          </p:cNvSpPr>
          <p:nvPr/>
        </p:nvSpPr>
        <p:spPr bwMode="auto">
          <a:xfrm>
            <a:off x="59737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 name="Rectangle 58"/>
          <p:cNvSpPr>
            <a:spLocks noChangeArrowheads="1"/>
          </p:cNvSpPr>
          <p:nvPr/>
        </p:nvSpPr>
        <p:spPr bwMode="auto">
          <a:xfrm>
            <a:off x="61261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 name="Rectangle 59"/>
          <p:cNvSpPr>
            <a:spLocks noChangeArrowheads="1"/>
          </p:cNvSpPr>
          <p:nvPr/>
        </p:nvSpPr>
        <p:spPr bwMode="auto">
          <a:xfrm>
            <a:off x="60499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 name="Rectangle 60"/>
          <p:cNvSpPr>
            <a:spLocks noChangeArrowheads="1"/>
          </p:cNvSpPr>
          <p:nvPr/>
        </p:nvSpPr>
        <p:spPr bwMode="auto">
          <a:xfrm>
            <a:off x="6049963" y="23590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3" name="Rectangle 61"/>
          <p:cNvSpPr>
            <a:spLocks noChangeArrowheads="1"/>
          </p:cNvSpPr>
          <p:nvPr/>
        </p:nvSpPr>
        <p:spPr bwMode="auto">
          <a:xfrm>
            <a:off x="60499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4" name="Rectangle 62"/>
          <p:cNvSpPr>
            <a:spLocks noChangeArrowheads="1"/>
          </p:cNvSpPr>
          <p:nvPr/>
        </p:nvSpPr>
        <p:spPr bwMode="auto">
          <a:xfrm>
            <a:off x="6126163" y="25114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5" name="Rectangle 63"/>
          <p:cNvSpPr>
            <a:spLocks noChangeArrowheads="1"/>
          </p:cNvSpPr>
          <p:nvPr/>
        </p:nvSpPr>
        <p:spPr bwMode="auto">
          <a:xfrm>
            <a:off x="60499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6" name="Rectangle 64"/>
          <p:cNvSpPr>
            <a:spLocks noChangeArrowheads="1"/>
          </p:cNvSpPr>
          <p:nvPr/>
        </p:nvSpPr>
        <p:spPr bwMode="auto">
          <a:xfrm>
            <a:off x="6126163" y="25876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7" name="Rectangle 65"/>
          <p:cNvSpPr>
            <a:spLocks noChangeArrowheads="1"/>
          </p:cNvSpPr>
          <p:nvPr/>
        </p:nvSpPr>
        <p:spPr bwMode="auto">
          <a:xfrm>
            <a:off x="6126163" y="2435225"/>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8" name="Line 66"/>
          <p:cNvSpPr>
            <a:spLocks noChangeShapeType="1"/>
          </p:cNvSpPr>
          <p:nvPr/>
        </p:nvSpPr>
        <p:spPr bwMode="auto">
          <a:xfrm>
            <a:off x="5592763" y="23590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 name="Line 67"/>
          <p:cNvSpPr>
            <a:spLocks noChangeShapeType="1"/>
          </p:cNvSpPr>
          <p:nvPr/>
        </p:nvSpPr>
        <p:spPr bwMode="auto">
          <a:xfrm>
            <a:off x="56689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 name="Line 68"/>
          <p:cNvSpPr>
            <a:spLocks noChangeShapeType="1"/>
          </p:cNvSpPr>
          <p:nvPr/>
        </p:nvSpPr>
        <p:spPr bwMode="auto">
          <a:xfrm flipH="1">
            <a:off x="55927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1" name="Line 69"/>
          <p:cNvSpPr>
            <a:spLocks noChangeShapeType="1"/>
          </p:cNvSpPr>
          <p:nvPr/>
        </p:nvSpPr>
        <p:spPr bwMode="auto">
          <a:xfrm flipV="1">
            <a:off x="55927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2" name="Freeform 70"/>
          <p:cNvSpPr>
            <a:spLocks/>
          </p:cNvSpPr>
          <p:nvPr/>
        </p:nvSpPr>
        <p:spPr bwMode="auto">
          <a:xfrm>
            <a:off x="5516563" y="2359025"/>
            <a:ext cx="76200" cy="76200"/>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73" name="Freeform 71"/>
          <p:cNvSpPr>
            <a:spLocks/>
          </p:cNvSpPr>
          <p:nvPr/>
        </p:nvSpPr>
        <p:spPr bwMode="auto">
          <a:xfrm>
            <a:off x="5516563" y="2587625"/>
            <a:ext cx="76200" cy="76200"/>
          </a:xfrm>
          <a:custGeom>
            <a:avLst/>
            <a:gdLst/>
            <a:ahLst/>
            <a:cxnLst>
              <a:cxn ang="0">
                <a:pos x="0" y="0"/>
              </a:cxn>
              <a:cxn ang="0">
                <a:pos x="0" y="144"/>
              </a:cxn>
              <a:cxn ang="0">
                <a:pos x="144" y="144"/>
              </a:cxn>
            </a:cxnLst>
            <a:rect l="0" t="0" r="r" b="b"/>
            <a:pathLst>
              <a:path w="144" h="144">
                <a:moveTo>
                  <a:pt x="0" y="0"/>
                </a:moveTo>
                <a:lnTo>
                  <a:pt x="0" y="144"/>
                </a:lnTo>
                <a:lnTo>
                  <a:pt x="144" y="144"/>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74" name="Line 72"/>
          <p:cNvSpPr>
            <a:spLocks noChangeShapeType="1"/>
          </p:cNvSpPr>
          <p:nvPr/>
        </p:nvSpPr>
        <p:spPr bwMode="auto">
          <a:xfrm flipV="1">
            <a:off x="55165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5" name="Line 73"/>
          <p:cNvSpPr>
            <a:spLocks noChangeShapeType="1"/>
          </p:cNvSpPr>
          <p:nvPr/>
        </p:nvSpPr>
        <p:spPr bwMode="auto">
          <a:xfrm flipH="1">
            <a:off x="55927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6" name="Line 74"/>
          <p:cNvSpPr>
            <a:spLocks noChangeShapeType="1"/>
          </p:cNvSpPr>
          <p:nvPr/>
        </p:nvSpPr>
        <p:spPr bwMode="auto">
          <a:xfrm flipV="1">
            <a:off x="56689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7" name="Line 75"/>
          <p:cNvSpPr>
            <a:spLocks noChangeShapeType="1"/>
          </p:cNvSpPr>
          <p:nvPr/>
        </p:nvSpPr>
        <p:spPr bwMode="auto">
          <a:xfrm flipV="1">
            <a:off x="55927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8" name="Line 76"/>
          <p:cNvSpPr>
            <a:spLocks noChangeShapeType="1"/>
          </p:cNvSpPr>
          <p:nvPr/>
        </p:nvSpPr>
        <p:spPr bwMode="auto">
          <a:xfrm>
            <a:off x="55927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9" name="Line 77"/>
          <p:cNvSpPr>
            <a:spLocks noChangeShapeType="1"/>
          </p:cNvSpPr>
          <p:nvPr/>
        </p:nvSpPr>
        <p:spPr bwMode="auto">
          <a:xfrm>
            <a:off x="56689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0" name="Line 78"/>
          <p:cNvSpPr>
            <a:spLocks noChangeShapeType="1"/>
          </p:cNvSpPr>
          <p:nvPr/>
        </p:nvSpPr>
        <p:spPr bwMode="auto">
          <a:xfrm>
            <a:off x="5592763" y="26638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1" name="Line 79"/>
          <p:cNvSpPr>
            <a:spLocks noChangeShapeType="1"/>
          </p:cNvSpPr>
          <p:nvPr/>
        </p:nvSpPr>
        <p:spPr bwMode="auto">
          <a:xfrm>
            <a:off x="55927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2" name="Line 80"/>
          <p:cNvSpPr>
            <a:spLocks noChangeShapeType="1"/>
          </p:cNvSpPr>
          <p:nvPr/>
        </p:nvSpPr>
        <p:spPr bwMode="auto">
          <a:xfrm flipV="1">
            <a:off x="55165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3" name="Line 81"/>
          <p:cNvSpPr>
            <a:spLocks noChangeShapeType="1"/>
          </p:cNvSpPr>
          <p:nvPr/>
        </p:nvSpPr>
        <p:spPr bwMode="auto">
          <a:xfrm>
            <a:off x="56689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4" name="Line 82"/>
          <p:cNvSpPr>
            <a:spLocks noChangeShapeType="1"/>
          </p:cNvSpPr>
          <p:nvPr/>
        </p:nvSpPr>
        <p:spPr bwMode="auto">
          <a:xfrm flipV="1">
            <a:off x="55927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5" name="Line 83"/>
          <p:cNvSpPr>
            <a:spLocks noChangeShapeType="1"/>
          </p:cNvSpPr>
          <p:nvPr/>
        </p:nvSpPr>
        <p:spPr bwMode="auto">
          <a:xfrm>
            <a:off x="55165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6" name="Line 84"/>
          <p:cNvSpPr>
            <a:spLocks noChangeShapeType="1"/>
          </p:cNvSpPr>
          <p:nvPr/>
        </p:nvSpPr>
        <p:spPr bwMode="auto">
          <a:xfrm flipH="1">
            <a:off x="55165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7" name="Line 85"/>
          <p:cNvSpPr>
            <a:spLocks noChangeShapeType="1"/>
          </p:cNvSpPr>
          <p:nvPr/>
        </p:nvSpPr>
        <p:spPr bwMode="auto">
          <a:xfrm flipH="1">
            <a:off x="55165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8" name="Line 86"/>
          <p:cNvSpPr>
            <a:spLocks noChangeShapeType="1"/>
          </p:cNvSpPr>
          <p:nvPr/>
        </p:nvSpPr>
        <p:spPr bwMode="auto">
          <a:xfrm>
            <a:off x="59737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89" name="Line 87"/>
          <p:cNvSpPr>
            <a:spLocks noChangeShapeType="1"/>
          </p:cNvSpPr>
          <p:nvPr/>
        </p:nvSpPr>
        <p:spPr bwMode="auto">
          <a:xfrm flipH="1">
            <a:off x="5897563" y="23590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0" name="Line 88"/>
          <p:cNvSpPr>
            <a:spLocks noChangeShapeType="1"/>
          </p:cNvSpPr>
          <p:nvPr/>
        </p:nvSpPr>
        <p:spPr bwMode="auto">
          <a:xfrm flipV="1">
            <a:off x="58975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1" name="Line 89"/>
          <p:cNvSpPr>
            <a:spLocks noChangeShapeType="1"/>
          </p:cNvSpPr>
          <p:nvPr/>
        </p:nvSpPr>
        <p:spPr bwMode="auto">
          <a:xfrm flipH="1">
            <a:off x="58975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2" name="Line 90"/>
          <p:cNvSpPr>
            <a:spLocks noChangeShapeType="1"/>
          </p:cNvSpPr>
          <p:nvPr/>
        </p:nvSpPr>
        <p:spPr bwMode="auto">
          <a:xfrm>
            <a:off x="58213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3" name="Line 91"/>
          <p:cNvSpPr>
            <a:spLocks noChangeShapeType="1"/>
          </p:cNvSpPr>
          <p:nvPr/>
        </p:nvSpPr>
        <p:spPr bwMode="auto">
          <a:xfrm flipH="1">
            <a:off x="57451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4" name="Line 92"/>
          <p:cNvSpPr>
            <a:spLocks noChangeShapeType="1"/>
          </p:cNvSpPr>
          <p:nvPr/>
        </p:nvSpPr>
        <p:spPr bwMode="auto">
          <a:xfrm flipV="1">
            <a:off x="57451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5" name="Line 93"/>
          <p:cNvSpPr>
            <a:spLocks noChangeShapeType="1"/>
          </p:cNvSpPr>
          <p:nvPr/>
        </p:nvSpPr>
        <p:spPr bwMode="auto">
          <a:xfrm flipH="1">
            <a:off x="5745163" y="23590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6" name="Line 94"/>
          <p:cNvSpPr>
            <a:spLocks noChangeShapeType="1"/>
          </p:cNvSpPr>
          <p:nvPr/>
        </p:nvSpPr>
        <p:spPr bwMode="auto">
          <a:xfrm>
            <a:off x="57451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7" name="Line 95"/>
          <p:cNvSpPr>
            <a:spLocks noChangeShapeType="1"/>
          </p:cNvSpPr>
          <p:nvPr/>
        </p:nvSpPr>
        <p:spPr bwMode="auto">
          <a:xfrm flipV="1">
            <a:off x="58213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8" name="Line 96"/>
          <p:cNvSpPr>
            <a:spLocks noChangeShapeType="1"/>
          </p:cNvSpPr>
          <p:nvPr/>
        </p:nvSpPr>
        <p:spPr bwMode="auto">
          <a:xfrm flipV="1">
            <a:off x="57451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99" name="Line 97"/>
          <p:cNvSpPr>
            <a:spLocks noChangeShapeType="1"/>
          </p:cNvSpPr>
          <p:nvPr/>
        </p:nvSpPr>
        <p:spPr bwMode="auto">
          <a:xfrm>
            <a:off x="57451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0" name="Line 98"/>
          <p:cNvSpPr>
            <a:spLocks noChangeShapeType="1"/>
          </p:cNvSpPr>
          <p:nvPr/>
        </p:nvSpPr>
        <p:spPr bwMode="auto">
          <a:xfrm>
            <a:off x="58213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1" name="Line 99"/>
          <p:cNvSpPr>
            <a:spLocks noChangeShapeType="1"/>
          </p:cNvSpPr>
          <p:nvPr/>
        </p:nvSpPr>
        <p:spPr bwMode="auto">
          <a:xfrm>
            <a:off x="5745163" y="26638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2" name="Line 100"/>
          <p:cNvSpPr>
            <a:spLocks noChangeShapeType="1"/>
          </p:cNvSpPr>
          <p:nvPr/>
        </p:nvSpPr>
        <p:spPr bwMode="auto">
          <a:xfrm>
            <a:off x="57451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3" name="Line 101"/>
          <p:cNvSpPr>
            <a:spLocks noChangeShapeType="1"/>
          </p:cNvSpPr>
          <p:nvPr/>
        </p:nvSpPr>
        <p:spPr bwMode="auto">
          <a:xfrm flipV="1">
            <a:off x="58975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4" name="Line 102"/>
          <p:cNvSpPr>
            <a:spLocks noChangeShapeType="1"/>
          </p:cNvSpPr>
          <p:nvPr/>
        </p:nvSpPr>
        <p:spPr bwMode="auto">
          <a:xfrm>
            <a:off x="59737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5" name="Line 103"/>
          <p:cNvSpPr>
            <a:spLocks noChangeShapeType="1"/>
          </p:cNvSpPr>
          <p:nvPr/>
        </p:nvSpPr>
        <p:spPr bwMode="auto">
          <a:xfrm>
            <a:off x="58975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6" name="Line 104"/>
          <p:cNvSpPr>
            <a:spLocks noChangeShapeType="1"/>
          </p:cNvSpPr>
          <p:nvPr/>
        </p:nvSpPr>
        <p:spPr bwMode="auto">
          <a:xfrm>
            <a:off x="59737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7" name="Line 105"/>
          <p:cNvSpPr>
            <a:spLocks noChangeShapeType="1"/>
          </p:cNvSpPr>
          <p:nvPr/>
        </p:nvSpPr>
        <p:spPr bwMode="auto">
          <a:xfrm flipH="1">
            <a:off x="58975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8" name="Line 106"/>
          <p:cNvSpPr>
            <a:spLocks noChangeShapeType="1"/>
          </p:cNvSpPr>
          <p:nvPr/>
        </p:nvSpPr>
        <p:spPr bwMode="auto">
          <a:xfrm>
            <a:off x="58975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09" name="Line 107"/>
          <p:cNvSpPr>
            <a:spLocks noChangeShapeType="1"/>
          </p:cNvSpPr>
          <p:nvPr/>
        </p:nvSpPr>
        <p:spPr bwMode="auto">
          <a:xfrm>
            <a:off x="5897563" y="26638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0" name="Line 108"/>
          <p:cNvSpPr>
            <a:spLocks noChangeShapeType="1"/>
          </p:cNvSpPr>
          <p:nvPr/>
        </p:nvSpPr>
        <p:spPr bwMode="auto">
          <a:xfrm flipV="1">
            <a:off x="58213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1" name="Line 109"/>
          <p:cNvSpPr>
            <a:spLocks noChangeShapeType="1"/>
          </p:cNvSpPr>
          <p:nvPr/>
        </p:nvSpPr>
        <p:spPr bwMode="auto">
          <a:xfrm>
            <a:off x="57451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2" name="Line 110"/>
          <p:cNvSpPr>
            <a:spLocks noChangeShapeType="1"/>
          </p:cNvSpPr>
          <p:nvPr/>
        </p:nvSpPr>
        <p:spPr bwMode="auto">
          <a:xfrm flipV="1">
            <a:off x="58975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3" name="Line 111"/>
          <p:cNvSpPr>
            <a:spLocks noChangeShapeType="1"/>
          </p:cNvSpPr>
          <p:nvPr/>
        </p:nvSpPr>
        <p:spPr bwMode="auto">
          <a:xfrm flipH="1">
            <a:off x="58213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4" name="Line 112"/>
          <p:cNvSpPr>
            <a:spLocks noChangeShapeType="1"/>
          </p:cNvSpPr>
          <p:nvPr/>
        </p:nvSpPr>
        <p:spPr bwMode="auto">
          <a:xfrm flipV="1">
            <a:off x="59737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5" name="Line 113"/>
          <p:cNvSpPr>
            <a:spLocks noChangeShapeType="1"/>
          </p:cNvSpPr>
          <p:nvPr/>
        </p:nvSpPr>
        <p:spPr bwMode="auto">
          <a:xfrm>
            <a:off x="58213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6" name="Line 114"/>
          <p:cNvSpPr>
            <a:spLocks noChangeShapeType="1"/>
          </p:cNvSpPr>
          <p:nvPr/>
        </p:nvSpPr>
        <p:spPr bwMode="auto">
          <a:xfrm flipH="1">
            <a:off x="58213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7" name="Line 115"/>
          <p:cNvSpPr>
            <a:spLocks noChangeShapeType="1"/>
          </p:cNvSpPr>
          <p:nvPr/>
        </p:nvSpPr>
        <p:spPr bwMode="auto">
          <a:xfrm flipH="1">
            <a:off x="5821363" y="23590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8" name="Line 116"/>
          <p:cNvSpPr>
            <a:spLocks noChangeShapeType="1"/>
          </p:cNvSpPr>
          <p:nvPr/>
        </p:nvSpPr>
        <p:spPr bwMode="auto">
          <a:xfrm>
            <a:off x="5821363" y="26638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19" name="Line 117"/>
          <p:cNvSpPr>
            <a:spLocks noChangeShapeType="1"/>
          </p:cNvSpPr>
          <p:nvPr/>
        </p:nvSpPr>
        <p:spPr bwMode="auto">
          <a:xfrm>
            <a:off x="56689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0" name="Line 118"/>
          <p:cNvSpPr>
            <a:spLocks noChangeShapeType="1"/>
          </p:cNvSpPr>
          <p:nvPr/>
        </p:nvSpPr>
        <p:spPr bwMode="auto">
          <a:xfrm>
            <a:off x="56689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1" name="Line 119"/>
          <p:cNvSpPr>
            <a:spLocks noChangeShapeType="1"/>
          </p:cNvSpPr>
          <p:nvPr/>
        </p:nvSpPr>
        <p:spPr bwMode="auto">
          <a:xfrm flipH="1">
            <a:off x="56689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2" name="Line 120"/>
          <p:cNvSpPr>
            <a:spLocks noChangeShapeType="1"/>
          </p:cNvSpPr>
          <p:nvPr/>
        </p:nvSpPr>
        <p:spPr bwMode="auto">
          <a:xfrm>
            <a:off x="5668963" y="26638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3" name="Line 121"/>
          <p:cNvSpPr>
            <a:spLocks noChangeShapeType="1"/>
          </p:cNvSpPr>
          <p:nvPr/>
        </p:nvSpPr>
        <p:spPr bwMode="auto">
          <a:xfrm flipH="1">
            <a:off x="5668963" y="23590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4" name="Freeform 122"/>
          <p:cNvSpPr>
            <a:spLocks/>
          </p:cNvSpPr>
          <p:nvPr/>
        </p:nvSpPr>
        <p:spPr bwMode="auto">
          <a:xfrm>
            <a:off x="6126163" y="2359025"/>
            <a:ext cx="76200" cy="76200"/>
          </a:xfrm>
          <a:custGeom>
            <a:avLst/>
            <a:gdLst/>
            <a:ahLst/>
            <a:cxnLst>
              <a:cxn ang="0">
                <a:pos x="145" y="144"/>
              </a:cxn>
              <a:cxn ang="0">
                <a:pos x="145" y="0"/>
              </a:cxn>
              <a:cxn ang="0">
                <a:pos x="0" y="0"/>
              </a:cxn>
            </a:cxnLst>
            <a:rect l="0" t="0" r="r" b="b"/>
            <a:pathLst>
              <a:path w="145" h="144">
                <a:moveTo>
                  <a:pt x="145" y="144"/>
                </a:moveTo>
                <a:lnTo>
                  <a:pt x="145" y="0"/>
                </a:lnTo>
                <a:lnTo>
                  <a:pt x="0"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125" name="Line 123"/>
          <p:cNvSpPr>
            <a:spLocks noChangeShapeType="1"/>
          </p:cNvSpPr>
          <p:nvPr/>
        </p:nvSpPr>
        <p:spPr bwMode="auto">
          <a:xfrm>
            <a:off x="60499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6" name="Line 124"/>
          <p:cNvSpPr>
            <a:spLocks noChangeShapeType="1"/>
          </p:cNvSpPr>
          <p:nvPr/>
        </p:nvSpPr>
        <p:spPr bwMode="auto">
          <a:xfrm>
            <a:off x="60499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7" name="Line 125"/>
          <p:cNvSpPr>
            <a:spLocks noChangeShapeType="1"/>
          </p:cNvSpPr>
          <p:nvPr/>
        </p:nvSpPr>
        <p:spPr bwMode="auto">
          <a:xfrm flipV="1">
            <a:off x="6126163" y="23590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8" name="Line 126"/>
          <p:cNvSpPr>
            <a:spLocks noChangeShapeType="1"/>
          </p:cNvSpPr>
          <p:nvPr/>
        </p:nvSpPr>
        <p:spPr bwMode="auto">
          <a:xfrm flipH="1">
            <a:off x="6049963" y="23590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29" name="Line 127"/>
          <p:cNvSpPr>
            <a:spLocks noChangeShapeType="1"/>
          </p:cNvSpPr>
          <p:nvPr/>
        </p:nvSpPr>
        <p:spPr bwMode="auto">
          <a:xfrm flipV="1">
            <a:off x="60499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0" name="Line 128"/>
          <p:cNvSpPr>
            <a:spLocks noChangeShapeType="1"/>
          </p:cNvSpPr>
          <p:nvPr/>
        </p:nvSpPr>
        <p:spPr bwMode="auto">
          <a:xfrm>
            <a:off x="61261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1" name="Line 129"/>
          <p:cNvSpPr>
            <a:spLocks noChangeShapeType="1"/>
          </p:cNvSpPr>
          <p:nvPr/>
        </p:nvSpPr>
        <p:spPr bwMode="auto">
          <a:xfrm flipV="1">
            <a:off x="60499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2" name="Line 130"/>
          <p:cNvSpPr>
            <a:spLocks noChangeShapeType="1"/>
          </p:cNvSpPr>
          <p:nvPr/>
        </p:nvSpPr>
        <p:spPr bwMode="auto">
          <a:xfrm>
            <a:off x="60499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3" name="Line 131"/>
          <p:cNvSpPr>
            <a:spLocks noChangeShapeType="1"/>
          </p:cNvSpPr>
          <p:nvPr/>
        </p:nvSpPr>
        <p:spPr bwMode="auto">
          <a:xfrm>
            <a:off x="6126163" y="25876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4" name="Line 132"/>
          <p:cNvSpPr>
            <a:spLocks noChangeShapeType="1"/>
          </p:cNvSpPr>
          <p:nvPr/>
        </p:nvSpPr>
        <p:spPr bwMode="auto">
          <a:xfrm flipH="1">
            <a:off x="60499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5" name="Line 133"/>
          <p:cNvSpPr>
            <a:spLocks noChangeShapeType="1"/>
          </p:cNvSpPr>
          <p:nvPr/>
        </p:nvSpPr>
        <p:spPr bwMode="auto">
          <a:xfrm>
            <a:off x="6049963" y="26638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6" name="Freeform 134"/>
          <p:cNvSpPr>
            <a:spLocks/>
          </p:cNvSpPr>
          <p:nvPr/>
        </p:nvSpPr>
        <p:spPr bwMode="auto">
          <a:xfrm>
            <a:off x="6126163" y="2587625"/>
            <a:ext cx="76200" cy="76200"/>
          </a:xfrm>
          <a:custGeom>
            <a:avLst/>
            <a:gdLst/>
            <a:ahLst/>
            <a:cxnLst>
              <a:cxn ang="0">
                <a:pos x="0" y="144"/>
              </a:cxn>
              <a:cxn ang="0">
                <a:pos x="145" y="144"/>
              </a:cxn>
              <a:cxn ang="0">
                <a:pos x="145" y="0"/>
              </a:cxn>
            </a:cxnLst>
            <a:rect l="0" t="0" r="r" b="b"/>
            <a:pathLst>
              <a:path w="145" h="144">
                <a:moveTo>
                  <a:pt x="0" y="144"/>
                </a:moveTo>
                <a:lnTo>
                  <a:pt x="145" y="144"/>
                </a:lnTo>
                <a:lnTo>
                  <a:pt x="145"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137" name="Line 135"/>
          <p:cNvSpPr>
            <a:spLocks noChangeShapeType="1"/>
          </p:cNvSpPr>
          <p:nvPr/>
        </p:nvSpPr>
        <p:spPr bwMode="auto">
          <a:xfrm flipV="1">
            <a:off x="6202363" y="25114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8" name="Line 136"/>
          <p:cNvSpPr>
            <a:spLocks noChangeShapeType="1"/>
          </p:cNvSpPr>
          <p:nvPr/>
        </p:nvSpPr>
        <p:spPr bwMode="auto">
          <a:xfrm flipH="1">
            <a:off x="61261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39" name="Line 137"/>
          <p:cNvSpPr>
            <a:spLocks noChangeShapeType="1"/>
          </p:cNvSpPr>
          <p:nvPr/>
        </p:nvSpPr>
        <p:spPr bwMode="auto">
          <a:xfrm>
            <a:off x="61261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0" name="Line 138"/>
          <p:cNvSpPr>
            <a:spLocks noChangeShapeType="1"/>
          </p:cNvSpPr>
          <p:nvPr/>
        </p:nvSpPr>
        <p:spPr bwMode="auto">
          <a:xfrm>
            <a:off x="61261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1" name="Line 139"/>
          <p:cNvSpPr>
            <a:spLocks noChangeShapeType="1"/>
          </p:cNvSpPr>
          <p:nvPr/>
        </p:nvSpPr>
        <p:spPr bwMode="auto">
          <a:xfrm flipH="1">
            <a:off x="61261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2" name="Line 140"/>
          <p:cNvSpPr>
            <a:spLocks noChangeShapeType="1"/>
          </p:cNvSpPr>
          <p:nvPr/>
        </p:nvSpPr>
        <p:spPr bwMode="auto">
          <a:xfrm>
            <a:off x="60499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3" name="Line 141"/>
          <p:cNvSpPr>
            <a:spLocks noChangeShapeType="1"/>
          </p:cNvSpPr>
          <p:nvPr/>
        </p:nvSpPr>
        <p:spPr bwMode="auto">
          <a:xfrm flipV="1">
            <a:off x="6202363" y="2435225"/>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4" name="Line 142"/>
          <p:cNvSpPr>
            <a:spLocks noChangeShapeType="1"/>
          </p:cNvSpPr>
          <p:nvPr/>
        </p:nvSpPr>
        <p:spPr bwMode="auto">
          <a:xfrm flipH="1">
            <a:off x="5973763" y="25876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5" name="Line 143"/>
          <p:cNvSpPr>
            <a:spLocks noChangeShapeType="1"/>
          </p:cNvSpPr>
          <p:nvPr/>
        </p:nvSpPr>
        <p:spPr bwMode="auto">
          <a:xfrm>
            <a:off x="5973763" y="24352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6" name="Line 144"/>
          <p:cNvSpPr>
            <a:spLocks noChangeShapeType="1"/>
          </p:cNvSpPr>
          <p:nvPr/>
        </p:nvSpPr>
        <p:spPr bwMode="auto">
          <a:xfrm flipH="1">
            <a:off x="5973763" y="25114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7" name="Line 145"/>
          <p:cNvSpPr>
            <a:spLocks noChangeShapeType="1"/>
          </p:cNvSpPr>
          <p:nvPr/>
        </p:nvSpPr>
        <p:spPr bwMode="auto">
          <a:xfrm>
            <a:off x="5973763" y="26638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8" name="Line 146"/>
          <p:cNvSpPr>
            <a:spLocks noChangeShapeType="1"/>
          </p:cNvSpPr>
          <p:nvPr/>
        </p:nvSpPr>
        <p:spPr bwMode="auto">
          <a:xfrm flipH="1">
            <a:off x="5973763" y="2359025"/>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149" name="Freeform 147"/>
          <p:cNvSpPr>
            <a:spLocks/>
          </p:cNvSpPr>
          <p:nvPr/>
        </p:nvSpPr>
        <p:spPr bwMode="auto">
          <a:xfrm>
            <a:off x="6145213" y="2174875"/>
            <a:ext cx="227012" cy="227013"/>
          </a:xfrm>
          <a:custGeom>
            <a:avLst/>
            <a:gdLst/>
            <a:ahLst/>
            <a:cxnLst>
              <a:cxn ang="0">
                <a:pos x="237" y="194"/>
              </a:cxn>
              <a:cxn ang="0">
                <a:pos x="430" y="264"/>
              </a:cxn>
              <a:cxn ang="0">
                <a:pos x="0" y="429"/>
              </a:cxn>
              <a:cxn ang="0">
                <a:pos x="166" y="0"/>
              </a:cxn>
              <a:cxn ang="0">
                <a:pos x="237" y="194"/>
              </a:cxn>
            </a:cxnLst>
            <a:rect l="0" t="0" r="r" b="b"/>
            <a:pathLst>
              <a:path w="430" h="429">
                <a:moveTo>
                  <a:pt x="237" y="194"/>
                </a:moveTo>
                <a:lnTo>
                  <a:pt x="430" y="264"/>
                </a:lnTo>
                <a:lnTo>
                  <a:pt x="0" y="429"/>
                </a:lnTo>
                <a:lnTo>
                  <a:pt x="166" y="0"/>
                </a:lnTo>
                <a:lnTo>
                  <a:pt x="237" y="194"/>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0" name="Rectangle 148"/>
          <p:cNvSpPr>
            <a:spLocks noChangeArrowheads="1"/>
          </p:cNvSpPr>
          <p:nvPr/>
        </p:nvSpPr>
        <p:spPr bwMode="auto">
          <a:xfrm>
            <a:off x="6970713" y="1905000"/>
            <a:ext cx="398442"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rgbClr val="000000"/>
                </a:solidFill>
                <a:latin typeface="Calibri" pitchFamily="34" charset="0"/>
                <a:cs typeface="Calibri" pitchFamily="34" charset="0"/>
              </a:rPr>
              <a:t>Data</a:t>
            </a:r>
            <a:endParaRPr lang="en-US" sz="2000" dirty="0">
              <a:latin typeface="Calibri" pitchFamily="34" charset="0"/>
              <a:cs typeface="Calibri" pitchFamily="34" charset="0"/>
            </a:endParaRPr>
          </a:p>
        </p:txBody>
      </p:sp>
      <p:sp>
        <p:nvSpPr>
          <p:cNvPr id="151" name="Freeform 149"/>
          <p:cNvSpPr>
            <a:spLocks/>
          </p:cNvSpPr>
          <p:nvPr/>
        </p:nvSpPr>
        <p:spPr bwMode="auto">
          <a:xfrm>
            <a:off x="7578725" y="1325563"/>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2" name="Freeform 150"/>
          <p:cNvSpPr>
            <a:spLocks/>
          </p:cNvSpPr>
          <p:nvPr/>
        </p:nvSpPr>
        <p:spPr bwMode="auto">
          <a:xfrm>
            <a:off x="7578725" y="1387475"/>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3" name="Freeform 151"/>
          <p:cNvSpPr>
            <a:spLocks/>
          </p:cNvSpPr>
          <p:nvPr/>
        </p:nvSpPr>
        <p:spPr bwMode="auto">
          <a:xfrm>
            <a:off x="7578725" y="1447800"/>
            <a:ext cx="30163" cy="30163"/>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4" name="Freeform 152"/>
          <p:cNvSpPr>
            <a:spLocks/>
          </p:cNvSpPr>
          <p:nvPr/>
        </p:nvSpPr>
        <p:spPr bwMode="auto">
          <a:xfrm>
            <a:off x="7578725" y="1509713"/>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5" name="Freeform 153"/>
          <p:cNvSpPr>
            <a:spLocks/>
          </p:cNvSpPr>
          <p:nvPr/>
        </p:nvSpPr>
        <p:spPr bwMode="auto">
          <a:xfrm>
            <a:off x="7578725" y="1570038"/>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6" name="Freeform 154"/>
          <p:cNvSpPr>
            <a:spLocks/>
          </p:cNvSpPr>
          <p:nvPr/>
        </p:nvSpPr>
        <p:spPr bwMode="auto">
          <a:xfrm>
            <a:off x="7578725" y="1630363"/>
            <a:ext cx="30163" cy="31750"/>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7" name="Freeform 155"/>
          <p:cNvSpPr>
            <a:spLocks/>
          </p:cNvSpPr>
          <p:nvPr/>
        </p:nvSpPr>
        <p:spPr bwMode="auto">
          <a:xfrm>
            <a:off x="7578725" y="1692275"/>
            <a:ext cx="30163"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1" y="38"/>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0" y="56"/>
                </a:lnTo>
                <a:lnTo>
                  <a:pt x="29" y="56"/>
                </a:lnTo>
                <a:lnTo>
                  <a:pt x="29" y="57"/>
                </a:lnTo>
                <a:lnTo>
                  <a:pt x="17" y="54"/>
                </a:lnTo>
                <a:lnTo>
                  <a:pt x="9" y="49"/>
                </a:lnTo>
                <a:lnTo>
                  <a:pt x="1" y="38"/>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8" name="Freeform 156"/>
          <p:cNvSpPr>
            <a:spLocks/>
          </p:cNvSpPr>
          <p:nvPr/>
        </p:nvSpPr>
        <p:spPr bwMode="auto">
          <a:xfrm>
            <a:off x="7578725" y="1752600"/>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59" name="Freeform 157"/>
          <p:cNvSpPr>
            <a:spLocks/>
          </p:cNvSpPr>
          <p:nvPr/>
        </p:nvSpPr>
        <p:spPr bwMode="auto">
          <a:xfrm>
            <a:off x="7578725" y="1814513"/>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0" name="Freeform 158"/>
          <p:cNvSpPr>
            <a:spLocks/>
          </p:cNvSpPr>
          <p:nvPr/>
        </p:nvSpPr>
        <p:spPr bwMode="auto">
          <a:xfrm>
            <a:off x="7578725" y="1874838"/>
            <a:ext cx="30163" cy="30162"/>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1" name="Freeform 159"/>
          <p:cNvSpPr>
            <a:spLocks/>
          </p:cNvSpPr>
          <p:nvPr/>
        </p:nvSpPr>
        <p:spPr bwMode="auto">
          <a:xfrm>
            <a:off x="7578725" y="193675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2" name="Freeform 160"/>
          <p:cNvSpPr>
            <a:spLocks/>
          </p:cNvSpPr>
          <p:nvPr/>
        </p:nvSpPr>
        <p:spPr bwMode="auto">
          <a:xfrm>
            <a:off x="7578725" y="1997075"/>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3" name="Freeform 161"/>
          <p:cNvSpPr>
            <a:spLocks/>
          </p:cNvSpPr>
          <p:nvPr/>
        </p:nvSpPr>
        <p:spPr bwMode="auto">
          <a:xfrm>
            <a:off x="7578725" y="2057400"/>
            <a:ext cx="30163" cy="31750"/>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4" name="Freeform 162"/>
          <p:cNvSpPr>
            <a:spLocks/>
          </p:cNvSpPr>
          <p:nvPr/>
        </p:nvSpPr>
        <p:spPr bwMode="auto">
          <a:xfrm>
            <a:off x="7578725" y="211931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1"/>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5" name="Freeform 163"/>
          <p:cNvSpPr>
            <a:spLocks/>
          </p:cNvSpPr>
          <p:nvPr/>
        </p:nvSpPr>
        <p:spPr bwMode="auto">
          <a:xfrm>
            <a:off x="7578725" y="2179638"/>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6" name="Freeform 164"/>
          <p:cNvSpPr>
            <a:spLocks/>
          </p:cNvSpPr>
          <p:nvPr/>
        </p:nvSpPr>
        <p:spPr bwMode="auto">
          <a:xfrm>
            <a:off x="7578725" y="224155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7" name="Freeform 165"/>
          <p:cNvSpPr>
            <a:spLocks/>
          </p:cNvSpPr>
          <p:nvPr/>
        </p:nvSpPr>
        <p:spPr bwMode="auto">
          <a:xfrm>
            <a:off x="7578725" y="2301875"/>
            <a:ext cx="30163" cy="30163"/>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8" name="Freeform 166"/>
          <p:cNvSpPr>
            <a:spLocks/>
          </p:cNvSpPr>
          <p:nvPr/>
        </p:nvSpPr>
        <p:spPr bwMode="auto">
          <a:xfrm>
            <a:off x="7578725" y="2363788"/>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69" name="Freeform 167"/>
          <p:cNvSpPr>
            <a:spLocks/>
          </p:cNvSpPr>
          <p:nvPr/>
        </p:nvSpPr>
        <p:spPr bwMode="auto">
          <a:xfrm>
            <a:off x="7578725" y="2424113"/>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0" name="Freeform 168"/>
          <p:cNvSpPr>
            <a:spLocks/>
          </p:cNvSpPr>
          <p:nvPr/>
        </p:nvSpPr>
        <p:spPr bwMode="auto">
          <a:xfrm>
            <a:off x="7578725" y="2484438"/>
            <a:ext cx="30163" cy="31750"/>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1" name="Freeform 169"/>
          <p:cNvSpPr>
            <a:spLocks/>
          </p:cNvSpPr>
          <p:nvPr/>
        </p:nvSpPr>
        <p:spPr bwMode="auto">
          <a:xfrm>
            <a:off x="7578725" y="2546350"/>
            <a:ext cx="30163" cy="30163"/>
          </a:xfrm>
          <a:custGeom>
            <a:avLst/>
            <a:gdLst/>
            <a:ahLst/>
            <a:cxnLst>
              <a:cxn ang="0">
                <a:pos x="58" y="28"/>
              </a:cxn>
              <a:cxn ang="0">
                <a:pos x="56" y="28"/>
              </a:cxn>
              <a:cxn ang="0">
                <a:pos x="56" y="30"/>
              </a:cxn>
              <a:cxn ang="0">
                <a:pos x="56" y="33"/>
              </a:cxn>
              <a:cxn ang="0">
                <a:pos x="55" y="39"/>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1"/>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2" name="Freeform 170"/>
          <p:cNvSpPr>
            <a:spLocks/>
          </p:cNvSpPr>
          <p:nvPr/>
        </p:nvSpPr>
        <p:spPr bwMode="auto">
          <a:xfrm>
            <a:off x="7578725" y="2606675"/>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3" name="Freeform 171"/>
          <p:cNvSpPr>
            <a:spLocks/>
          </p:cNvSpPr>
          <p:nvPr/>
        </p:nvSpPr>
        <p:spPr bwMode="auto">
          <a:xfrm>
            <a:off x="7578725" y="2668588"/>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4" name="Freeform 172"/>
          <p:cNvSpPr>
            <a:spLocks/>
          </p:cNvSpPr>
          <p:nvPr/>
        </p:nvSpPr>
        <p:spPr bwMode="auto">
          <a:xfrm>
            <a:off x="7578725" y="2728913"/>
            <a:ext cx="30163" cy="30162"/>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5" name="Freeform 173"/>
          <p:cNvSpPr>
            <a:spLocks/>
          </p:cNvSpPr>
          <p:nvPr/>
        </p:nvSpPr>
        <p:spPr bwMode="auto">
          <a:xfrm>
            <a:off x="7578725" y="2790825"/>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6" name="Freeform 174"/>
          <p:cNvSpPr>
            <a:spLocks/>
          </p:cNvSpPr>
          <p:nvPr/>
        </p:nvSpPr>
        <p:spPr bwMode="auto">
          <a:xfrm>
            <a:off x="7578725" y="285115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7" name="Freeform 175"/>
          <p:cNvSpPr>
            <a:spLocks/>
          </p:cNvSpPr>
          <p:nvPr/>
        </p:nvSpPr>
        <p:spPr bwMode="auto">
          <a:xfrm>
            <a:off x="7578725" y="2911475"/>
            <a:ext cx="30163" cy="31750"/>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8" name="Freeform 176"/>
          <p:cNvSpPr>
            <a:spLocks/>
          </p:cNvSpPr>
          <p:nvPr/>
        </p:nvSpPr>
        <p:spPr bwMode="auto">
          <a:xfrm>
            <a:off x="7578725" y="2973388"/>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79" name="Freeform 177"/>
          <p:cNvSpPr>
            <a:spLocks/>
          </p:cNvSpPr>
          <p:nvPr/>
        </p:nvSpPr>
        <p:spPr bwMode="auto">
          <a:xfrm>
            <a:off x="7578725" y="3033713"/>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0" name="Freeform 178"/>
          <p:cNvSpPr>
            <a:spLocks/>
          </p:cNvSpPr>
          <p:nvPr/>
        </p:nvSpPr>
        <p:spPr bwMode="auto">
          <a:xfrm>
            <a:off x="7578725" y="3095625"/>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1" name="Freeform 179"/>
          <p:cNvSpPr>
            <a:spLocks/>
          </p:cNvSpPr>
          <p:nvPr/>
        </p:nvSpPr>
        <p:spPr bwMode="auto">
          <a:xfrm>
            <a:off x="7578725" y="3155950"/>
            <a:ext cx="30163" cy="30163"/>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2" name="Freeform 180"/>
          <p:cNvSpPr>
            <a:spLocks/>
          </p:cNvSpPr>
          <p:nvPr/>
        </p:nvSpPr>
        <p:spPr bwMode="auto">
          <a:xfrm>
            <a:off x="7578725" y="3217863"/>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3" name="Freeform 181"/>
          <p:cNvSpPr>
            <a:spLocks/>
          </p:cNvSpPr>
          <p:nvPr/>
        </p:nvSpPr>
        <p:spPr bwMode="auto">
          <a:xfrm>
            <a:off x="7578725" y="3278188"/>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4" name="Freeform 182"/>
          <p:cNvSpPr>
            <a:spLocks/>
          </p:cNvSpPr>
          <p:nvPr/>
        </p:nvSpPr>
        <p:spPr bwMode="auto">
          <a:xfrm>
            <a:off x="7578725" y="3338513"/>
            <a:ext cx="30163"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5" name="Freeform 183"/>
          <p:cNvSpPr>
            <a:spLocks/>
          </p:cNvSpPr>
          <p:nvPr/>
        </p:nvSpPr>
        <p:spPr bwMode="auto">
          <a:xfrm>
            <a:off x="7578725" y="3400425"/>
            <a:ext cx="30163" cy="30163"/>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6" name="Freeform 184"/>
          <p:cNvSpPr>
            <a:spLocks/>
          </p:cNvSpPr>
          <p:nvPr/>
        </p:nvSpPr>
        <p:spPr bwMode="auto">
          <a:xfrm>
            <a:off x="7578725" y="3460750"/>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7" name="Freeform 185"/>
          <p:cNvSpPr>
            <a:spLocks/>
          </p:cNvSpPr>
          <p:nvPr/>
        </p:nvSpPr>
        <p:spPr bwMode="auto">
          <a:xfrm>
            <a:off x="7578725" y="3522663"/>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8" name="Freeform 186"/>
          <p:cNvSpPr>
            <a:spLocks/>
          </p:cNvSpPr>
          <p:nvPr/>
        </p:nvSpPr>
        <p:spPr bwMode="auto">
          <a:xfrm>
            <a:off x="7578725" y="3582988"/>
            <a:ext cx="30163" cy="30162"/>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1" y="38"/>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0" y="56"/>
                </a:lnTo>
                <a:lnTo>
                  <a:pt x="29" y="56"/>
                </a:lnTo>
                <a:lnTo>
                  <a:pt x="29" y="57"/>
                </a:lnTo>
                <a:lnTo>
                  <a:pt x="17" y="54"/>
                </a:lnTo>
                <a:lnTo>
                  <a:pt x="9" y="49"/>
                </a:lnTo>
                <a:lnTo>
                  <a:pt x="1" y="38"/>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89" name="Freeform 187"/>
          <p:cNvSpPr>
            <a:spLocks/>
          </p:cNvSpPr>
          <p:nvPr/>
        </p:nvSpPr>
        <p:spPr bwMode="auto">
          <a:xfrm>
            <a:off x="7578725" y="36449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0" name="Freeform 188"/>
          <p:cNvSpPr>
            <a:spLocks/>
          </p:cNvSpPr>
          <p:nvPr/>
        </p:nvSpPr>
        <p:spPr bwMode="auto">
          <a:xfrm>
            <a:off x="7572375" y="3703638"/>
            <a:ext cx="30163" cy="30162"/>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1" name="Freeform 189"/>
          <p:cNvSpPr>
            <a:spLocks/>
          </p:cNvSpPr>
          <p:nvPr/>
        </p:nvSpPr>
        <p:spPr bwMode="auto">
          <a:xfrm>
            <a:off x="7550150" y="3759200"/>
            <a:ext cx="30163" cy="30163"/>
          </a:xfrm>
          <a:custGeom>
            <a:avLst/>
            <a:gdLst/>
            <a:ahLst/>
            <a:cxnLst>
              <a:cxn ang="0">
                <a:pos x="57" y="29"/>
              </a:cxn>
              <a:cxn ang="0">
                <a:pos x="56" y="29"/>
              </a:cxn>
              <a:cxn ang="0">
                <a:pos x="56" y="31"/>
              </a:cxn>
              <a:cxn ang="0">
                <a:pos x="56" y="34"/>
              </a:cxn>
              <a:cxn ang="0">
                <a:pos x="54" y="39"/>
              </a:cxn>
              <a:cxn ang="0">
                <a:pos x="51" y="44"/>
              </a:cxn>
              <a:cxn ang="0">
                <a:pos x="49" y="49"/>
              </a:cxn>
              <a:cxn ang="0">
                <a:pos x="43" y="52"/>
              </a:cxn>
              <a:cxn ang="0">
                <a:pos x="39" y="55"/>
              </a:cxn>
              <a:cxn ang="0">
                <a:pos x="33" y="57"/>
              </a:cxn>
              <a:cxn ang="0">
                <a:pos x="30" y="57"/>
              </a:cxn>
              <a:cxn ang="0">
                <a:pos x="28" y="57"/>
              </a:cxn>
              <a:cxn ang="0">
                <a:pos x="28" y="58"/>
              </a:cxn>
              <a:cxn ang="0">
                <a:pos x="17" y="55"/>
              </a:cxn>
              <a:cxn ang="0">
                <a:pos x="8" y="49"/>
              </a:cxn>
              <a:cxn ang="0">
                <a:pos x="1" y="39"/>
              </a:cxn>
              <a:cxn ang="0">
                <a:pos x="0" y="29"/>
              </a:cxn>
              <a:cxn ang="0">
                <a:pos x="1" y="18"/>
              </a:cxn>
              <a:cxn ang="0">
                <a:pos x="8" y="9"/>
              </a:cxn>
              <a:cxn ang="0">
                <a:pos x="17" y="2"/>
              </a:cxn>
              <a:cxn ang="0">
                <a:pos x="28" y="0"/>
              </a:cxn>
              <a:cxn ang="0">
                <a:pos x="39" y="2"/>
              </a:cxn>
              <a:cxn ang="0">
                <a:pos x="49" y="9"/>
              </a:cxn>
              <a:cxn ang="0">
                <a:pos x="54" y="18"/>
              </a:cxn>
              <a:cxn ang="0">
                <a:pos x="57" y="29"/>
              </a:cxn>
            </a:cxnLst>
            <a:rect l="0" t="0" r="r" b="b"/>
            <a:pathLst>
              <a:path w="57" h="58">
                <a:moveTo>
                  <a:pt x="57" y="29"/>
                </a:moveTo>
                <a:lnTo>
                  <a:pt x="56" y="29"/>
                </a:lnTo>
                <a:lnTo>
                  <a:pt x="56" y="31"/>
                </a:lnTo>
                <a:lnTo>
                  <a:pt x="56" y="34"/>
                </a:lnTo>
                <a:lnTo>
                  <a:pt x="54" y="39"/>
                </a:lnTo>
                <a:lnTo>
                  <a:pt x="51" y="44"/>
                </a:lnTo>
                <a:lnTo>
                  <a:pt x="49" y="49"/>
                </a:lnTo>
                <a:lnTo>
                  <a:pt x="43" y="52"/>
                </a:lnTo>
                <a:lnTo>
                  <a:pt x="39" y="55"/>
                </a:lnTo>
                <a:lnTo>
                  <a:pt x="33" y="57"/>
                </a:lnTo>
                <a:lnTo>
                  <a:pt x="30" y="57"/>
                </a:lnTo>
                <a:lnTo>
                  <a:pt x="28" y="57"/>
                </a:lnTo>
                <a:lnTo>
                  <a:pt x="28" y="58"/>
                </a:lnTo>
                <a:lnTo>
                  <a:pt x="17" y="55"/>
                </a:lnTo>
                <a:lnTo>
                  <a:pt x="8" y="49"/>
                </a:lnTo>
                <a:lnTo>
                  <a:pt x="1" y="39"/>
                </a:lnTo>
                <a:lnTo>
                  <a:pt x="0" y="29"/>
                </a:lnTo>
                <a:lnTo>
                  <a:pt x="1" y="18"/>
                </a:lnTo>
                <a:lnTo>
                  <a:pt x="8" y="9"/>
                </a:lnTo>
                <a:lnTo>
                  <a:pt x="17" y="2"/>
                </a:lnTo>
                <a:lnTo>
                  <a:pt x="28" y="0"/>
                </a:lnTo>
                <a:lnTo>
                  <a:pt x="39" y="2"/>
                </a:lnTo>
                <a:lnTo>
                  <a:pt x="49" y="9"/>
                </a:lnTo>
                <a:lnTo>
                  <a:pt x="54"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2" name="Freeform 190"/>
          <p:cNvSpPr>
            <a:spLocks/>
          </p:cNvSpPr>
          <p:nvPr/>
        </p:nvSpPr>
        <p:spPr bwMode="auto">
          <a:xfrm>
            <a:off x="7507288" y="38020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3" name="Freeform 191"/>
          <p:cNvSpPr>
            <a:spLocks/>
          </p:cNvSpPr>
          <p:nvPr/>
        </p:nvSpPr>
        <p:spPr bwMode="auto">
          <a:xfrm>
            <a:off x="7450138" y="3822700"/>
            <a:ext cx="30162"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4" name="Freeform 192"/>
          <p:cNvSpPr>
            <a:spLocks/>
          </p:cNvSpPr>
          <p:nvPr/>
        </p:nvSpPr>
        <p:spPr bwMode="auto">
          <a:xfrm>
            <a:off x="7391400" y="3827463"/>
            <a:ext cx="30163"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5" name="Freeform 193"/>
          <p:cNvSpPr>
            <a:spLocks/>
          </p:cNvSpPr>
          <p:nvPr/>
        </p:nvSpPr>
        <p:spPr bwMode="auto">
          <a:xfrm>
            <a:off x="7329488"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6" name="Freeform 194"/>
          <p:cNvSpPr>
            <a:spLocks/>
          </p:cNvSpPr>
          <p:nvPr/>
        </p:nvSpPr>
        <p:spPr bwMode="auto">
          <a:xfrm>
            <a:off x="7269163" y="3827463"/>
            <a:ext cx="30162" cy="30162"/>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7" name="Freeform 195"/>
          <p:cNvSpPr>
            <a:spLocks/>
          </p:cNvSpPr>
          <p:nvPr/>
        </p:nvSpPr>
        <p:spPr bwMode="auto">
          <a:xfrm>
            <a:off x="7207250" y="3827463"/>
            <a:ext cx="31750"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8" name="Freeform 196"/>
          <p:cNvSpPr>
            <a:spLocks/>
          </p:cNvSpPr>
          <p:nvPr/>
        </p:nvSpPr>
        <p:spPr bwMode="auto">
          <a:xfrm>
            <a:off x="7146925"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199" name="Freeform 197"/>
          <p:cNvSpPr>
            <a:spLocks/>
          </p:cNvSpPr>
          <p:nvPr/>
        </p:nvSpPr>
        <p:spPr bwMode="auto">
          <a:xfrm>
            <a:off x="7086600" y="3827463"/>
            <a:ext cx="30163" cy="30162"/>
          </a:xfrm>
          <a:custGeom>
            <a:avLst/>
            <a:gdLst/>
            <a:ahLst/>
            <a:cxnLst>
              <a:cxn ang="0">
                <a:pos x="57"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5" y="17"/>
              </a:cxn>
              <a:cxn ang="0">
                <a:pos x="57" y="28"/>
              </a:cxn>
            </a:cxnLst>
            <a:rect l="0" t="0" r="r" b="b"/>
            <a:pathLst>
              <a:path w="57" h="57">
                <a:moveTo>
                  <a:pt x="57"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5"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0" name="Freeform 198"/>
          <p:cNvSpPr>
            <a:spLocks/>
          </p:cNvSpPr>
          <p:nvPr/>
        </p:nvSpPr>
        <p:spPr bwMode="auto">
          <a:xfrm>
            <a:off x="7024688" y="3827463"/>
            <a:ext cx="30162"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1" name="Freeform 199"/>
          <p:cNvSpPr>
            <a:spLocks/>
          </p:cNvSpPr>
          <p:nvPr/>
        </p:nvSpPr>
        <p:spPr bwMode="auto">
          <a:xfrm>
            <a:off x="6964363"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2" name="Freeform 200"/>
          <p:cNvSpPr>
            <a:spLocks/>
          </p:cNvSpPr>
          <p:nvPr/>
        </p:nvSpPr>
        <p:spPr bwMode="auto">
          <a:xfrm>
            <a:off x="6902450" y="3827463"/>
            <a:ext cx="30163" cy="30162"/>
          </a:xfrm>
          <a:custGeom>
            <a:avLst/>
            <a:gdLst/>
            <a:ahLst/>
            <a:cxnLst>
              <a:cxn ang="0">
                <a:pos x="57"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5" y="17"/>
              </a:cxn>
              <a:cxn ang="0">
                <a:pos x="57" y="28"/>
              </a:cxn>
            </a:cxnLst>
            <a:rect l="0" t="0" r="r" b="b"/>
            <a:pathLst>
              <a:path w="57" h="57">
                <a:moveTo>
                  <a:pt x="57"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5"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3" name="Freeform 201"/>
          <p:cNvSpPr>
            <a:spLocks/>
          </p:cNvSpPr>
          <p:nvPr/>
        </p:nvSpPr>
        <p:spPr bwMode="auto">
          <a:xfrm>
            <a:off x="6842125" y="3827463"/>
            <a:ext cx="30163"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4" name="Freeform 202"/>
          <p:cNvSpPr>
            <a:spLocks/>
          </p:cNvSpPr>
          <p:nvPr/>
        </p:nvSpPr>
        <p:spPr bwMode="auto">
          <a:xfrm>
            <a:off x="6780213"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5" name="Freeform 203"/>
          <p:cNvSpPr>
            <a:spLocks/>
          </p:cNvSpPr>
          <p:nvPr/>
        </p:nvSpPr>
        <p:spPr bwMode="auto">
          <a:xfrm>
            <a:off x="6719888"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6" name="Freeform 204"/>
          <p:cNvSpPr>
            <a:spLocks/>
          </p:cNvSpPr>
          <p:nvPr/>
        </p:nvSpPr>
        <p:spPr bwMode="auto">
          <a:xfrm>
            <a:off x="6659563" y="3827463"/>
            <a:ext cx="30162" cy="30162"/>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8"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8"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8"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8"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7" name="Freeform 205"/>
          <p:cNvSpPr>
            <a:spLocks/>
          </p:cNvSpPr>
          <p:nvPr/>
        </p:nvSpPr>
        <p:spPr bwMode="auto">
          <a:xfrm>
            <a:off x="6597650"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8" name="Freeform 206"/>
          <p:cNvSpPr>
            <a:spLocks/>
          </p:cNvSpPr>
          <p:nvPr/>
        </p:nvSpPr>
        <p:spPr bwMode="auto">
          <a:xfrm>
            <a:off x="6537325"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09" name="Freeform 207"/>
          <p:cNvSpPr>
            <a:spLocks/>
          </p:cNvSpPr>
          <p:nvPr/>
        </p:nvSpPr>
        <p:spPr bwMode="auto">
          <a:xfrm>
            <a:off x="6475413" y="3827463"/>
            <a:ext cx="30162" cy="30162"/>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9"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9"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0" name="Freeform 209"/>
          <p:cNvSpPr>
            <a:spLocks/>
          </p:cNvSpPr>
          <p:nvPr/>
        </p:nvSpPr>
        <p:spPr bwMode="auto">
          <a:xfrm>
            <a:off x="6415088"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4"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4"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1" name="Freeform 210"/>
          <p:cNvSpPr>
            <a:spLocks/>
          </p:cNvSpPr>
          <p:nvPr/>
        </p:nvSpPr>
        <p:spPr bwMode="auto">
          <a:xfrm>
            <a:off x="6353175"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2" name="Freeform 211"/>
          <p:cNvSpPr>
            <a:spLocks/>
          </p:cNvSpPr>
          <p:nvPr/>
        </p:nvSpPr>
        <p:spPr bwMode="auto">
          <a:xfrm>
            <a:off x="6292850" y="3827463"/>
            <a:ext cx="30163" cy="30162"/>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3" name="Freeform 212"/>
          <p:cNvSpPr>
            <a:spLocks/>
          </p:cNvSpPr>
          <p:nvPr/>
        </p:nvSpPr>
        <p:spPr bwMode="auto">
          <a:xfrm>
            <a:off x="6230938" y="3827463"/>
            <a:ext cx="31750"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4" name="Freeform 213"/>
          <p:cNvSpPr>
            <a:spLocks/>
          </p:cNvSpPr>
          <p:nvPr/>
        </p:nvSpPr>
        <p:spPr bwMode="auto">
          <a:xfrm>
            <a:off x="6170613"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5" name="Freeform 214"/>
          <p:cNvSpPr>
            <a:spLocks/>
          </p:cNvSpPr>
          <p:nvPr/>
        </p:nvSpPr>
        <p:spPr bwMode="auto">
          <a:xfrm>
            <a:off x="6110288" y="3827463"/>
            <a:ext cx="30162" cy="30162"/>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6" name="Freeform 215"/>
          <p:cNvSpPr>
            <a:spLocks/>
          </p:cNvSpPr>
          <p:nvPr/>
        </p:nvSpPr>
        <p:spPr bwMode="auto">
          <a:xfrm>
            <a:off x="6048375" y="3827463"/>
            <a:ext cx="30163"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7" name="Freeform 216"/>
          <p:cNvSpPr>
            <a:spLocks/>
          </p:cNvSpPr>
          <p:nvPr/>
        </p:nvSpPr>
        <p:spPr bwMode="auto">
          <a:xfrm>
            <a:off x="5988050"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8" name="Freeform 217"/>
          <p:cNvSpPr>
            <a:spLocks/>
          </p:cNvSpPr>
          <p:nvPr/>
        </p:nvSpPr>
        <p:spPr bwMode="auto">
          <a:xfrm>
            <a:off x="5926138" y="3827463"/>
            <a:ext cx="30162" cy="30162"/>
          </a:xfrm>
          <a:custGeom>
            <a:avLst/>
            <a:gdLst/>
            <a:ahLst/>
            <a:cxnLst>
              <a:cxn ang="0">
                <a:pos x="57"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5" y="17"/>
              </a:cxn>
              <a:cxn ang="0">
                <a:pos x="57" y="28"/>
              </a:cxn>
            </a:cxnLst>
            <a:rect l="0" t="0" r="r" b="b"/>
            <a:pathLst>
              <a:path w="57" h="57">
                <a:moveTo>
                  <a:pt x="57"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5"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19" name="Freeform 218"/>
          <p:cNvSpPr>
            <a:spLocks/>
          </p:cNvSpPr>
          <p:nvPr/>
        </p:nvSpPr>
        <p:spPr bwMode="auto">
          <a:xfrm>
            <a:off x="5865813" y="3827463"/>
            <a:ext cx="30162"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0" name="Freeform 219"/>
          <p:cNvSpPr>
            <a:spLocks/>
          </p:cNvSpPr>
          <p:nvPr/>
        </p:nvSpPr>
        <p:spPr bwMode="auto">
          <a:xfrm>
            <a:off x="5803900"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1" name="Freeform 220"/>
          <p:cNvSpPr>
            <a:spLocks/>
          </p:cNvSpPr>
          <p:nvPr/>
        </p:nvSpPr>
        <p:spPr bwMode="auto">
          <a:xfrm>
            <a:off x="5743575" y="3827463"/>
            <a:ext cx="30163" cy="30162"/>
          </a:xfrm>
          <a:custGeom>
            <a:avLst/>
            <a:gdLst/>
            <a:ahLst/>
            <a:cxnLst>
              <a:cxn ang="0">
                <a:pos x="57"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5" y="17"/>
              </a:cxn>
              <a:cxn ang="0">
                <a:pos x="57" y="28"/>
              </a:cxn>
            </a:cxnLst>
            <a:rect l="0" t="0" r="r" b="b"/>
            <a:pathLst>
              <a:path w="57" h="57">
                <a:moveTo>
                  <a:pt x="57"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5"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2" name="Freeform 221"/>
          <p:cNvSpPr>
            <a:spLocks/>
          </p:cNvSpPr>
          <p:nvPr/>
        </p:nvSpPr>
        <p:spPr bwMode="auto">
          <a:xfrm>
            <a:off x="5681663" y="3827463"/>
            <a:ext cx="31750"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3" name="Freeform 222"/>
          <p:cNvSpPr>
            <a:spLocks/>
          </p:cNvSpPr>
          <p:nvPr/>
        </p:nvSpPr>
        <p:spPr bwMode="auto">
          <a:xfrm>
            <a:off x="5621338"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4" name="Freeform 223"/>
          <p:cNvSpPr>
            <a:spLocks/>
          </p:cNvSpPr>
          <p:nvPr/>
        </p:nvSpPr>
        <p:spPr bwMode="auto">
          <a:xfrm>
            <a:off x="5561013"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5" name="Freeform 224"/>
          <p:cNvSpPr>
            <a:spLocks/>
          </p:cNvSpPr>
          <p:nvPr/>
        </p:nvSpPr>
        <p:spPr bwMode="auto">
          <a:xfrm>
            <a:off x="5499100" y="3827463"/>
            <a:ext cx="30163" cy="30162"/>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8"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8"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8"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8"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6" name="Freeform 225"/>
          <p:cNvSpPr>
            <a:spLocks/>
          </p:cNvSpPr>
          <p:nvPr/>
        </p:nvSpPr>
        <p:spPr bwMode="auto">
          <a:xfrm>
            <a:off x="5438775"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7" name="Freeform 226"/>
          <p:cNvSpPr>
            <a:spLocks/>
          </p:cNvSpPr>
          <p:nvPr/>
        </p:nvSpPr>
        <p:spPr bwMode="auto">
          <a:xfrm>
            <a:off x="5376863"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8" name="Freeform 227"/>
          <p:cNvSpPr>
            <a:spLocks/>
          </p:cNvSpPr>
          <p:nvPr/>
        </p:nvSpPr>
        <p:spPr bwMode="auto">
          <a:xfrm>
            <a:off x="5316538" y="3827463"/>
            <a:ext cx="30162" cy="30162"/>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9"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9"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29" name="Freeform 228"/>
          <p:cNvSpPr>
            <a:spLocks/>
          </p:cNvSpPr>
          <p:nvPr/>
        </p:nvSpPr>
        <p:spPr bwMode="auto">
          <a:xfrm>
            <a:off x="5254625"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4"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4"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0" name="Freeform 229"/>
          <p:cNvSpPr>
            <a:spLocks/>
          </p:cNvSpPr>
          <p:nvPr/>
        </p:nvSpPr>
        <p:spPr bwMode="auto">
          <a:xfrm>
            <a:off x="5194300"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1" name="Freeform 230"/>
          <p:cNvSpPr>
            <a:spLocks/>
          </p:cNvSpPr>
          <p:nvPr/>
        </p:nvSpPr>
        <p:spPr bwMode="auto">
          <a:xfrm>
            <a:off x="5133975" y="3827463"/>
            <a:ext cx="30163" cy="30162"/>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2" name="Freeform 231"/>
          <p:cNvSpPr>
            <a:spLocks/>
          </p:cNvSpPr>
          <p:nvPr/>
        </p:nvSpPr>
        <p:spPr bwMode="auto">
          <a:xfrm>
            <a:off x="5072063" y="3827463"/>
            <a:ext cx="30162"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3" name="Freeform 232"/>
          <p:cNvSpPr>
            <a:spLocks/>
          </p:cNvSpPr>
          <p:nvPr/>
        </p:nvSpPr>
        <p:spPr bwMode="auto">
          <a:xfrm>
            <a:off x="5011738"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4" name="Freeform 233"/>
          <p:cNvSpPr>
            <a:spLocks/>
          </p:cNvSpPr>
          <p:nvPr/>
        </p:nvSpPr>
        <p:spPr bwMode="auto">
          <a:xfrm>
            <a:off x="4949825" y="3827463"/>
            <a:ext cx="30163" cy="30162"/>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5" name="Freeform 234"/>
          <p:cNvSpPr>
            <a:spLocks/>
          </p:cNvSpPr>
          <p:nvPr/>
        </p:nvSpPr>
        <p:spPr bwMode="auto">
          <a:xfrm>
            <a:off x="4889500" y="3827463"/>
            <a:ext cx="30163"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6" name="Freeform 235"/>
          <p:cNvSpPr>
            <a:spLocks/>
          </p:cNvSpPr>
          <p:nvPr/>
        </p:nvSpPr>
        <p:spPr bwMode="auto">
          <a:xfrm>
            <a:off x="4827588"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7" name="Freeform 236"/>
          <p:cNvSpPr>
            <a:spLocks/>
          </p:cNvSpPr>
          <p:nvPr/>
        </p:nvSpPr>
        <p:spPr bwMode="auto">
          <a:xfrm>
            <a:off x="4767263" y="3827463"/>
            <a:ext cx="30162" cy="30162"/>
          </a:xfrm>
          <a:custGeom>
            <a:avLst/>
            <a:gdLst/>
            <a:ahLst/>
            <a:cxnLst>
              <a:cxn ang="0">
                <a:pos x="57"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5" y="17"/>
              </a:cxn>
              <a:cxn ang="0">
                <a:pos x="57" y="28"/>
              </a:cxn>
            </a:cxnLst>
            <a:rect l="0" t="0" r="r" b="b"/>
            <a:pathLst>
              <a:path w="57" h="57">
                <a:moveTo>
                  <a:pt x="57"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5"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8" name="Freeform 237"/>
          <p:cNvSpPr>
            <a:spLocks/>
          </p:cNvSpPr>
          <p:nvPr/>
        </p:nvSpPr>
        <p:spPr bwMode="auto">
          <a:xfrm>
            <a:off x="4705350" y="3827463"/>
            <a:ext cx="31750"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39" name="Freeform 238"/>
          <p:cNvSpPr>
            <a:spLocks/>
          </p:cNvSpPr>
          <p:nvPr/>
        </p:nvSpPr>
        <p:spPr bwMode="auto">
          <a:xfrm>
            <a:off x="4645025"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0" name="Freeform 239"/>
          <p:cNvSpPr>
            <a:spLocks/>
          </p:cNvSpPr>
          <p:nvPr/>
        </p:nvSpPr>
        <p:spPr bwMode="auto">
          <a:xfrm>
            <a:off x="4584700" y="3827463"/>
            <a:ext cx="30163" cy="30162"/>
          </a:xfrm>
          <a:custGeom>
            <a:avLst/>
            <a:gdLst/>
            <a:ahLst/>
            <a:cxnLst>
              <a:cxn ang="0">
                <a:pos x="57"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5" y="17"/>
              </a:cxn>
              <a:cxn ang="0">
                <a:pos x="57" y="28"/>
              </a:cxn>
            </a:cxnLst>
            <a:rect l="0" t="0" r="r" b="b"/>
            <a:pathLst>
              <a:path w="57" h="57">
                <a:moveTo>
                  <a:pt x="57"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5"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1" name="Freeform 240"/>
          <p:cNvSpPr>
            <a:spLocks/>
          </p:cNvSpPr>
          <p:nvPr/>
        </p:nvSpPr>
        <p:spPr bwMode="auto">
          <a:xfrm>
            <a:off x="4522788" y="3827463"/>
            <a:ext cx="30162"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2" name="Freeform 241"/>
          <p:cNvSpPr>
            <a:spLocks/>
          </p:cNvSpPr>
          <p:nvPr/>
        </p:nvSpPr>
        <p:spPr bwMode="auto">
          <a:xfrm>
            <a:off x="4462463"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3" name="Freeform 242"/>
          <p:cNvSpPr>
            <a:spLocks/>
          </p:cNvSpPr>
          <p:nvPr/>
        </p:nvSpPr>
        <p:spPr bwMode="auto">
          <a:xfrm>
            <a:off x="4400550"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4" name="Freeform 243"/>
          <p:cNvSpPr>
            <a:spLocks/>
          </p:cNvSpPr>
          <p:nvPr/>
        </p:nvSpPr>
        <p:spPr bwMode="auto">
          <a:xfrm>
            <a:off x="4340225" y="3827463"/>
            <a:ext cx="30163" cy="30162"/>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8"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8"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8"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8"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5" name="Freeform 244"/>
          <p:cNvSpPr>
            <a:spLocks/>
          </p:cNvSpPr>
          <p:nvPr/>
        </p:nvSpPr>
        <p:spPr bwMode="auto">
          <a:xfrm>
            <a:off x="4278313"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6" name="Freeform 245"/>
          <p:cNvSpPr>
            <a:spLocks/>
          </p:cNvSpPr>
          <p:nvPr/>
        </p:nvSpPr>
        <p:spPr bwMode="auto">
          <a:xfrm>
            <a:off x="4217988"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7" name="Freeform 246"/>
          <p:cNvSpPr>
            <a:spLocks/>
          </p:cNvSpPr>
          <p:nvPr/>
        </p:nvSpPr>
        <p:spPr bwMode="auto">
          <a:xfrm>
            <a:off x="4157663" y="3827463"/>
            <a:ext cx="30162" cy="30162"/>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9"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9"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8" name="Freeform 247"/>
          <p:cNvSpPr>
            <a:spLocks/>
          </p:cNvSpPr>
          <p:nvPr/>
        </p:nvSpPr>
        <p:spPr bwMode="auto">
          <a:xfrm>
            <a:off x="4095750"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4"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4"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49" name="Freeform 248"/>
          <p:cNvSpPr>
            <a:spLocks/>
          </p:cNvSpPr>
          <p:nvPr/>
        </p:nvSpPr>
        <p:spPr bwMode="auto">
          <a:xfrm>
            <a:off x="4035425" y="382746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0" name="Freeform 249"/>
          <p:cNvSpPr>
            <a:spLocks/>
          </p:cNvSpPr>
          <p:nvPr/>
        </p:nvSpPr>
        <p:spPr bwMode="auto">
          <a:xfrm>
            <a:off x="3973513" y="3827463"/>
            <a:ext cx="30162" cy="30162"/>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1" name="Freeform 250"/>
          <p:cNvSpPr>
            <a:spLocks/>
          </p:cNvSpPr>
          <p:nvPr/>
        </p:nvSpPr>
        <p:spPr bwMode="auto">
          <a:xfrm>
            <a:off x="3913188" y="3827463"/>
            <a:ext cx="30162"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2" name="Freeform 251"/>
          <p:cNvSpPr>
            <a:spLocks/>
          </p:cNvSpPr>
          <p:nvPr/>
        </p:nvSpPr>
        <p:spPr bwMode="auto">
          <a:xfrm>
            <a:off x="3851275" y="382746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3" name="Freeform 252"/>
          <p:cNvSpPr>
            <a:spLocks/>
          </p:cNvSpPr>
          <p:nvPr/>
        </p:nvSpPr>
        <p:spPr bwMode="auto">
          <a:xfrm>
            <a:off x="3790950" y="3827463"/>
            <a:ext cx="30163" cy="30162"/>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4" name="Freeform 253"/>
          <p:cNvSpPr>
            <a:spLocks/>
          </p:cNvSpPr>
          <p:nvPr/>
        </p:nvSpPr>
        <p:spPr bwMode="auto">
          <a:xfrm>
            <a:off x="3729038" y="3827463"/>
            <a:ext cx="31750"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5" name="Freeform 254"/>
          <p:cNvSpPr>
            <a:spLocks/>
          </p:cNvSpPr>
          <p:nvPr/>
        </p:nvSpPr>
        <p:spPr bwMode="auto">
          <a:xfrm>
            <a:off x="3668713" y="3827463"/>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6" name="Freeform 255"/>
          <p:cNvSpPr>
            <a:spLocks/>
          </p:cNvSpPr>
          <p:nvPr/>
        </p:nvSpPr>
        <p:spPr bwMode="auto">
          <a:xfrm>
            <a:off x="3608388" y="3827463"/>
            <a:ext cx="30162" cy="30162"/>
          </a:xfrm>
          <a:custGeom>
            <a:avLst/>
            <a:gdLst/>
            <a:ahLst/>
            <a:cxnLst>
              <a:cxn ang="0">
                <a:pos x="57" y="28"/>
              </a:cxn>
              <a:cxn ang="0">
                <a:pos x="56" y="28"/>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5" y="17"/>
              </a:cxn>
              <a:cxn ang="0">
                <a:pos x="57" y="28"/>
              </a:cxn>
            </a:cxnLst>
            <a:rect l="0" t="0" r="r" b="b"/>
            <a:pathLst>
              <a:path w="57" h="57">
                <a:moveTo>
                  <a:pt x="57" y="28"/>
                </a:moveTo>
                <a:lnTo>
                  <a:pt x="56" y="28"/>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5"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7" name="Freeform 256"/>
          <p:cNvSpPr>
            <a:spLocks/>
          </p:cNvSpPr>
          <p:nvPr/>
        </p:nvSpPr>
        <p:spPr bwMode="auto">
          <a:xfrm>
            <a:off x="3548063" y="3825875"/>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3" y="56"/>
              </a:cxn>
              <a:cxn ang="0">
                <a:pos x="31" y="56"/>
              </a:cxn>
              <a:cxn ang="0">
                <a:pos x="29" y="56"/>
              </a:cxn>
              <a:cxn ang="0">
                <a:pos x="29" y="57"/>
              </a:cxn>
              <a:cxn ang="0">
                <a:pos x="18" y="55"/>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7" y="29"/>
                </a:lnTo>
                <a:lnTo>
                  <a:pt x="57" y="30"/>
                </a:lnTo>
                <a:lnTo>
                  <a:pt x="57" y="33"/>
                </a:lnTo>
                <a:lnTo>
                  <a:pt x="55" y="39"/>
                </a:lnTo>
                <a:lnTo>
                  <a:pt x="52" y="43"/>
                </a:lnTo>
                <a:lnTo>
                  <a:pt x="49" y="49"/>
                </a:lnTo>
                <a:lnTo>
                  <a:pt x="44" y="52"/>
                </a:lnTo>
                <a:lnTo>
                  <a:pt x="39" y="55"/>
                </a:lnTo>
                <a:lnTo>
                  <a:pt x="33" y="56"/>
                </a:lnTo>
                <a:lnTo>
                  <a:pt x="31" y="56"/>
                </a:lnTo>
                <a:lnTo>
                  <a:pt x="29" y="56"/>
                </a:lnTo>
                <a:lnTo>
                  <a:pt x="29" y="57"/>
                </a:lnTo>
                <a:lnTo>
                  <a:pt x="18" y="55"/>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8" name="Freeform 257"/>
          <p:cNvSpPr>
            <a:spLocks/>
          </p:cNvSpPr>
          <p:nvPr/>
        </p:nvSpPr>
        <p:spPr bwMode="auto">
          <a:xfrm>
            <a:off x="3490913" y="3811588"/>
            <a:ext cx="30162" cy="30162"/>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59" name="Freeform 258"/>
          <p:cNvSpPr>
            <a:spLocks/>
          </p:cNvSpPr>
          <p:nvPr/>
        </p:nvSpPr>
        <p:spPr bwMode="auto">
          <a:xfrm>
            <a:off x="3441700" y="377825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0" name="Freeform 259"/>
          <p:cNvSpPr>
            <a:spLocks/>
          </p:cNvSpPr>
          <p:nvPr/>
        </p:nvSpPr>
        <p:spPr bwMode="auto">
          <a:xfrm>
            <a:off x="3411538" y="3725863"/>
            <a:ext cx="30162" cy="31750"/>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1" name="Freeform 260"/>
          <p:cNvSpPr>
            <a:spLocks/>
          </p:cNvSpPr>
          <p:nvPr/>
        </p:nvSpPr>
        <p:spPr bwMode="auto">
          <a:xfrm>
            <a:off x="3400425" y="3665538"/>
            <a:ext cx="30163" cy="30162"/>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2"/>
              </a:cxn>
              <a:cxn ang="0">
                <a:pos x="29" y="0"/>
              </a:cxn>
              <a:cxn ang="0">
                <a:pos x="39" y="2"/>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2"/>
                </a:lnTo>
                <a:lnTo>
                  <a:pt x="29" y="0"/>
                </a:lnTo>
                <a:lnTo>
                  <a:pt x="39" y="2"/>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2" name="Freeform 261"/>
          <p:cNvSpPr>
            <a:spLocks/>
          </p:cNvSpPr>
          <p:nvPr/>
        </p:nvSpPr>
        <p:spPr bwMode="auto">
          <a:xfrm>
            <a:off x="3398838" y="3605213"/>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3" name="Freeform 262"/>
          <p:cNvSpPr>
            <a:spLocks/>
          </p:cNvSpPr>
          <p:nvPr/>
        </p:nvSpPr>
        <p:spPr bwMode="auto">
          <a:xfrm>
            <a:off x="3398838" y="3543300"/>
            <a:ext cx="31750"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1" y="56"/>
              </a:cxn>
              <a:cxn ang="0">
                <a:pos x="29" y="56"/>
              </a:cxn>
              <a:cxn ang="0">
                <a:pos x="29" y="57"/>
              </a:cxn>
              <a:cxn ang="0">
                <a:pos x="18" y="54"/>
              </a:cxn>
              <a:cxn ang="0">
                <a:pos x="9" y="49"/>
              </a:cxn>
              <a:cxn ang="0">
                <a:pos x="2" y="38"/>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1" y="56"/>
                </a:lnTo>
                <a:lnTo>
                  <a:pt x="29" y="56"/>
                </a:lnTo>
                <a:lnTo>
                  <a:pt x="29" y="57"/>
                </a:lnTo>
                <a:lnTo>
                  <a:pt x="18" y="54"/>
                </a:lnTo>
                <a:lnTo>
                  <a:pt x="9" y="49"/>
                </a:lnTo>
                <a:lnTo>
                  <a:pt x="2" y="38"/>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4" name="Freeform 263"/>
          <p:cNvSpPr>
            <a:spLocks/>
          </p:cNvSpPr>
          <p:nvPr/>
        </p:nvSpPr>
        <p:spPr bwMode="auto">
          <a:xfrm>
            <a:off x="3398838" y="3482975"/>
            <a:ext cx="31750" cy="30163"/>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5" name="Freeform 264"/>
          <p:cNvSpPr>
            <a:spLocks/>
          </p:cNvSpPr>
          <p:nvPr/>
        </p:nvSpPr>
        <p:spPr bwMode="auto">
          <a:xfrm>
            <a:off x="3398838" y="3421063"/>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6" name="Freeform 265"/>
          <p:cNvSpPr>
            <a:spLocks/>
          </p:cNvSpPr>
          <p:nvPr/>
        </p:nvSpPr>
        <p:spPr bwMode="auto">
          <a:xfrm>
            <a:off x="3398838" y="336073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1" y="56"/>
              </a:cxn>
              <a:cxn ang="0">
                <a:pos x="29" y="56"/>
              </a:cxn>
              <a:cxn ang="0">
                <a:pos x="29" y="57"/>
              </a:cxn>
              <a:cxn ang="0">
                <a:pos x="18" y="54"/>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1" y="56"/>
                </a:lnTo>
                <a:lnTo>
                  <a:pt x="29" y="56"/>
                </a:lnTo>
                <a:lnTo>
                  <a:pt x="29" y="57"/>
                </a:lnTo>
                <a:lnTo>
                  <a:pt x="18" y="54"/>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7" name="Freeform 266"/>
          <p:cNvSpPr>
            <a:spLocks/>
          </p:cNvSpPr>
          <p:nvPr/>
        </p:nvSpPr>
        <p:spPr bwMode="auto">
          <a:xfrm>
            <a:off x="3398838" y="3298825"/>
            <a:ext cx="31750"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8" name="Freeform 267"/>
          <p:cNvSpPr>
            <a:spLocks/>
          </p:cNvSpPr>
          <p:nvPr/>
        </p:nvSpPr>
        <p:spPr bwMode="auto">
          <a:xfrm>
            <a:off x="3398838" y="32385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69" name="Freeform 268"/>
          <p:cNvSpPr>
            <a:spLocks/>
          </p:cNvSpPr>
          <p:nvPr/>
        </p:nvSpPr>
        <p:spPr bwMode="auto">
          <a:xfrm>
            <a:off x="3398838" y="3178175"/>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7"/>
              </a:cxn>
              <a:cxn ang="0">
                <a:pos x="18" y="55"/>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7"/>
                </a:lnTo>
                <a:lnTo>
                  <a:pt x="18" y="55"/>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0" name="Freeform 269"/>
          <p:cNvSpPr>
            <a:spLocks/>
          </p:cNvSpPr>
          <p:nvPr/>
        </p:nvSpPr>
        <p:spPr bwMode="auto">
          <a:xfrm>
            <a:off x="3398838" y="3116263"/>
            <a:ext cx="31750" cy="30162"/>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1" y="56"/>
              </a:cxn>
              <a:cxn ang="0">
                <a:pos x="29" y="56"/>
              </a:cxn>
              <a:cxn ang="0">
                <a:pos x="29" y="57"/>
              </a:cxn>
              <a:cxn ang="0">
                <a:pos x="18" y="54"/>
              </a:cxn>
              <a:cxn ang="0">
                <a:pos x="9" y="49"/>
              </a:cxn>
              <a:cxn ang="0">
                <a:pos x="2" y="38"/>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1" y="56"/>
                </a:lnTo>
                <a:lnTo>
                  <a:pt x="29" y="56"/>
                </a:lnTo>
                <a:lnTo>
                  <a:pt x="29" y="57"/>
                </a:lnTo>
                <a:lnTo>
                  <a:pt x="18" y="54"/>
                </a:lnTo>
                <a:lnTo>
                  <a:pt x="9" y="49"/>
                </a:lnTo>
                <a:lnTo>
                  <a:pt x="2" y="38"/>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1" name="Freeform 270"/>
          <p:cNvSpPr>
            <a:spLocks/>
          </p:cNvSpPr>
          <p:nvPr/>
        </p:nvSpPr>
        <p:spPr bwMode="auto">
          <a:xfrm>
            <a:off x="3398838" y="3055938"/>
            <a:ext cx="31750" cy="30162"/>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2" name="Freeform 271"/>
          <p:cNvSpPr>
            <a:spLocks/>
          </p:cNvSpPr>
          <p:nvPr/>
        </p:nvSpPr>
        <p:spPr bwMode="auto">
          <a:xfrm>
            <a:off x="3398838" y="2994025"/>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3" name="Freeform 272"/>
          <p:cNvSpPr>
            <a:spLocks/>
          </p:cNvSpPr>
          <p:nvPr/>
        </p:nvSpPr>
        <p:spPr bwMode="auto">
          <a:xfrm>
            <a:off x="3398838" y="29337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1" y="56"/>
              </a:cxn>
              <a:cxn ang="0">
                <a:pos x="29" y="56"/>
              </a:cxn>
              <a:cxn ang="0">
                <a:pos x="29" y="57"/>
              </a:cxn>
              <a:cxn ang="0">
                <a:pos x="18" y="54"/>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1" y="56"/>
                </a:lnTo>
                <a:lnTo>
                  <a:pt x="29" y="56"/>
                </a:lnTo>
                <a:lnTo>
                  <a:pt x="29" y="57"/>
                </a:lnTo>
                <a:lnTo>
                  <a:pt x="18" y="54"/>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4" name="Freeform 273"/>
          <p:cNvSpPr>
            <a:spLocks/>
          </p:cNvSpPr>
          <p:nvPr/>
        </p:nvSpPr>
        <p:spPr bwMode="auto">
          <a:xfrm>
            <a:off x="3398838" y="2871788"/>
            <a:ext cx="31750"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5" name="Freeform 274"/>
          <p:cNvSpPr>
            <a:spLocks/>
          </p:cNvSpPr>
          <p:nvPr/>
        </p:nvSpPr>
        <p:spPr bwMode="auto">
          <a:xfrm>
            <a:off x="3398838" y="2811463"/>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6" name="Freeform 275"/>
          <p:cNvSpPr>
            <a:spLocks/>
          </p:cNvSpPr>
          <p:nvPr/>
        </p:nvSpPr>
        <p:spPr bwMode="auto">
          <a:xfrm>
            <a:off x="3398838" y="275113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7"/>
              </a:cxn>
              <a:cxn ang="0">
                <a:pos x="18" y="55"/>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7"/>
                </a:lnTo>
                <a:lnTo>
                  <a:pt x="18" y="55"/>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7" name="Freeform 276"/>
          <p:cNvSpPr>
            <a:spLocks/>
          </p:cNvSpPr>
          <p:nvPr/>
        </p:nvSpPr>
        <p:spPr bwMode="auto">
          <a:xfrm>
            <a:off x="3398838" y="2689225"/>
            <a:ext cx="31750"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1" y="56"/>
              </a:cxn>
              <a:cxn ang="0">
                <a:pos x="29" y="56"/>
              </a:cxn>
              <a:cxn ang="0">
                <a:pos x="29" y="57"/>
              </a:cxn>
              <a:cxn ang="0">
                <a:pos x="18" y="54"/>
              </a:cxn>
              <a:cxn ang="0">
                <a:pos x="9" y="49"/>
              </a:cxn>
              <a:cxn ang="0">
                <a:pos x="2" y="38"/>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1" y="56"/>
                </a:lnTo>
                <a:lnTo>
                  <a:pt x="29" y="56"/>
                </a:lnTo>
                <a:lnTo>
                  <a:pt x="29" y="57"/>
                </a:lnTo>
                <a:lnTo>
                  <a:pt x="18" y="54"/>
                </a:lnTo>
                <a:lnTo>
                  <a:pt x="9" y="49"/>
                </a:lnTo>
                <a:lnTo>
                  <a:pt x="2" y="38"/>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8" name="Freeform 277"/>
          <p:cNvSpPr>
            <a:spLocks/>
          </p:cNvSpPr>
          <p:nvPr/>
        </p:nvSpPr>
        <p:spPr bwMode="auto">
          <a:xfrm>
            <a:off x="3398838" y="2628900"/>
            <a:ext cx="31750" cy="30163"/>
          </a:xfrm>
          <a:custGeom>
            <a:avLst/>
            <a:gdLst/>
            <a:ahLst/>
            <a:cxnLst>
              <a:cxn ang="0">
                <a:pos x="58" y="29"/>
              </a:cxn>
              <a:cxn ang="0">
                <a:pos x="56" y="29"/>
              </a:cxn>
              <a:cxn ang="0">
                <a:pos x="56" y="31"/>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79" name="Freeform 278"/>
          <p:cNvSpPr>
            <a:spLocks/>
          </p:cNvSpPr>
          <p:nvPr/>
        </p:nvSpPr>
        <p:spPr bwMode="auto">
          <a:xfrm>
            <a:off x="3398838" y="2566988"/>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0" name="Freeform 279"/>
          <p:cNvSpPr>
            <a:spLocks/>
          </p:cNvSpPr>
          <p:nvPr/>
        </p:nvSpPr>
        <p:spPr bwMode="auto">
          <a:xfrm>
            <a:off x="3398838" y="2506663"/>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1" y="56"/>
              </a:cxn>
              <a:cxn ang="0">
                <a:pos x="29" y="56"/>
              </a:cxn>
              <a:cxn ang="0">
                <a:pos x="29" y="57"/>
              </a:cxn>
              <a:cxn ang="0">
                <a:pos x="18" y="54"/>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1" y="56"/>
                </a:lnTo>
                <a:lnTo>
                  <a:pt x="29" y="56"/>
                </a:lnTo>
                <a:lnTo>
                  <a:pt x="29" y="57"/>
                </a:lnTo>
                <a:lnTo>
                  <a:pt x="18" y="54"/>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1" name="Freeform 280"/>
          <p:cNvSpPr>
            <a:spLocks/>
          </p:cNvSpPr>
          <p:nvPr/>
        </p:nvSpPr>
        <p:spPr bwMode="auto">
          <a:xfrm>
            <a:off x="3398838" y="2444750"/>
            <a:ext cx="31750"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2" name="Freeform 281"/>
          <p:cNvSpPr>
            <a:spLocks/>
          </p:cNvSpPr>
          <p:nvPr/>
        </p:nvSpPr>
        <p:spPr bwMode="auto">
          <a:xfrm>
            <a:off x="3398838" y="2384425"/>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3" name="Freeform 282"/>
          <p:cNvSpPr>
            <a:spLocks/>
          </p:cNvSpPr>
          <p:nvPr/>
        </p:nvSpPr>
        <p:spPr bwMode="auto">
          <a:xfrm>
            <a:off x="3398838" y="23241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7"/>
              </a:cxn>
              <a:cxn ang="0">
                <a:pos x="18" y="55"/>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7"/>
                </a:lnTo>
                <a:lnTo>
                  <a:pt x="18" y="55"/>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4" name="Freeform 283"/>
          <p:cNvSpPr>
            <a:spLocks/>
          </p:cNvSpPr>
          <p:nvPr/>
        </p:nvSpPr>
        <p:spPr bwMode="auto">
          <a:xfrm>
            <a:off x="3398838" y="2262188"/>
            <a:ext cx="31750" cy="30162"/>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1" y="56"/>
              </a:cxn>
              <a:cxn ang="0">
                <a:pos x="29" y="56"/>
              </a:cxn>
              <a:cxn ang="0">
                <a:pos x="29" y="57"/>
              </a:cxn>
              <a:cxn ang="0">
                <a:pos x="18" y="54"/>
              </a:cxn>
              <a:cxn ang="0">
                <a:pos x="9" y="49"/>
              </a:cxn>
              <a:cxn ang="0">
                <a:pos x="2" y="38"/>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1" y="56"/>
                </a:lnTo>
                <a:lnTo>
                  <a:pt x="29" y="56"/>
                </a:lnTo>
                <a:lnTo>
                  <a:pt x="29" y="57"/>
                </a:lnTo>
                <a:lnTo>
                  <a:pt x="18" y="54"/>
                </a:lnTo>
                <a:lnTo>
                  <a:pt x="9" y="49"/>
                </a:lnTo>
                <a:lnTo>
                  <a:pt x="2" y="38"/>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5" name="Freeform 284"/>
          <p:cNvSpPr>
            <a:spLocks/>
          </p:cNvSpPr>
          <p:nvPr/>
        </p:nvSpPr>
        <p:spPr bwMode="auto">
          <a:xfrm>
            <a:off x="3398838" y="2201863"/>
            <a:ext cx="31750" cy="30162"/>
          </a:xfrm>
          <a:custGeom>
            <a:avLst/>
            <a:gdLst/>
            <a:ahLst/>
            <a:cxnLst>
              <a:cxn ang="0">
                <a:pos x="58" y="29"/>
              </a:cxn>
              <a:cxn ang="0">
                <a:pos x="56" y="29"/>
              </a:cxn>
              <a:cxn ang="0">
                <a:pos x="56" y="31"/>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6" name="Freeform 285"/>
          <p:cNvSpPr>
            <a:spLocks/>
          </p:cNvSpPr>
          <p:nvPr/>
        </p:nvSpPr>
        <p:spPr bwMode="auto">
          <a:xfrm>
            <a:off x="3398838" y="2139950"/>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7" name="Freeform 286"/>
          <p:cNvSpPr>
            <a:spLocks/>
          </p:cNvSpPr>
          <p:nvPr/>
        </p:nvSpPr>
        <p:spPr bwMode="auto">
          <a:xfrm>
            <a:off x="3398838" y="2079625"/>
            <a:ext cx="31750" cy="30163"/>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8" name="Freeform 287"/>
          <p:cNvSpPr>
            <a:spLocks/>
          </p:cNvSpPr>
          <p:nvPr/>
        </p:nvSpPr>
        <p:spPr bwMode="auto">
          <a:xfrm>
            <a:off x="3398838" y="2017713"/>
            <a:ext cx="31750"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89" name="Freeform 288"/>
          <p:cNvSpPr>
            <a:spLocks/>
          </p:cNvSpPr>
          <p:nvPr/>
        </p:nvSpPr>
        <p:spPr bwMode="auto">
          <a:xfrm>
            <a:off x="3398838" y="195738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0" name="Freeform 289"/>
          <p:cNvSpPr>
            <a:spLocks/>
          </p:cNvSpPr>
          <p:nvPr/>
        </p:nvSpPr>
        <p:spPr bwMode="auto">
          <a:xfrm>
            <a:off x="3398838" y="1897063"/>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7"/>
              </a:cxn>
              <a:cxn ang="0">
                <a:pos x="18" y="55"/>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7"/>
                </a:lnTo>
                <a:lnTo>
                  <a:pt x="18" y="55"/>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1" name="Freeform 290"/>
          <p:cNvSpPr>
            <a:spLocks/>
          </p:cNvSpPr>
          <p:nvPr/>
        </p:nvSpPr>
        <p:spPr bwMode="auto">
          <a:xfrm>
            <a:off x="3398838" y="1835150"/>
            <a:ext cx="31750"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1" y="56"/>
              </a:cxn>
              <a:cxn ang="0">
                <a:pos x="29" y="56"/>
              </a:cxn>
              <a:cxn ang="0">
                <a:pos x="29" y="57"/>
              </a:cxn>
              <a:cxn ang="0">
                <a:pos x="18" y="54"/>
              </a:cxn>
              <a:cxn ang="0">
                <a:pos x="9" y="49"/>
              </a:cxn>
              <a:cxn ang="0">
                <a:pos x="2" y="38"/>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1" y="56"/>
                </a:lnTo>
                <a:lnTo>
                  <a:pt x="29" y="56"/>
                </a:lnTo>
                <a:lnTo>
                  <a:pt x="29" y="57"/>
                </a:lnTo>
                <a:lnTo>
                  <a:pt x="18" y="54"/>
                </a:lnTo>
                <a:lnTo>
                  <a:pt x="9" y="49"/>
                </a:lnTo>
                <a:lnTo>
                  <a:pt x="2" y="38"/>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2" name="Freeform 291"/>
          <p:cNvSpPr>
            <a:spLocks/>
          </p:cNvSpPr>
          <p:nvPr/>
        </p:nvSpPr>
        <p:spPr bwMode="auto">
          <a:xfrm>
            <a:off x="3398838" y="1774825"/>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3" name="Freeform 292"/>
          <p:cNvSpPr>
            <a:spLocks/>
          </p:cNvSpPr>
          <p:nvPr/>
        </p:nvSpPr>
        <p:spPr bwMode="auto">
          <a:xfrm>
            <a:off x="3398838" y="1712913"/>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4" name="Freeform 293"/>
          <p:cNvSpPr>
            <a:spLocks/>
          </p:cNvSpPr>
          <p:nvPr/>
        </p:nvSpPr>
        <p:spPr bwMode="auto">
          <a:xfrm>
            <a:off x="3398838" y="1652588"/>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2"/>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2"/>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5" name="Freeform 294"/>
          <p:cNvSpPr>
            <a:spLocks/>
          </p:cNvSpPr>
          <p:nvPr/>
        </p:nvSpPr>
        <p:spPr bwMode="auto">
          <a:xfrm>
            <a:off x="3398838" y="1590675"/>
            <a:ext cx="31750"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6" name="Freeform 295"/>
          <p:cNvSpPr>
            <a:spLocks/>
          </p:cNvSpPr>
          <p:nvPr/>
        </p:nvSpPr>
        <p:spPr bwMode="auto">
          <a:xfrm>
            <a:off x="3398838" y="153035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7" name="Freeform 296"/>
          <p:cNvSpPr>
            <a:spLocks/>
          </p:cNvSpPr>
          <p:nvPr/>
        </p:nvSpPr>
        <p:spPr bwMode="auto">
          <a:xfrm>
            <a:off x="3398838" y="1470025"/>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7"/>
              </a:cxn>
              <a:cxn ang="0">
                <a:pos x="18" y="55"/>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7"/>
                </a:lnTo>
                <a:lnTo>
                  <a:pt x="18" y="55"/>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8" name="Freeform 297"/>
          <p:cNvSpPr>
            <a:spLocks/>
          </p:cNvSpPr>
          <p:nvPr/>
        </p:nvSpPr>
        <p:spPr bwMode="auto">
          <a:xfrm>
            <a:off x="3398838" y="1408113"/>
            <a:ext cx="31750" cy="30162"/>
          </a:xfrm>
          <a:custGeom>
            <a:avLst/>
            <a:gdLst/>
            <a:ahLst/>
            <a:cxnLst>
              <a:cxn ang="0">
                <a:pos x="58" y="28"/>
              </a:cxn>
              <a:cxn ang="0">
                <a:pos x="56" y="28"/>
              </a:cxn>
              <a:cxn ang="0">
                <a:pos x="56" y="30"/>
              </a:cxn>
              <a:cxn ang="0">
                <a:pos x="56" y="33"/>
              </a:cxn>
              <a:cxn ang="0">
                <a:pos x="55" y="38"/>
              </a:cxn>
              <a:cxn ang="0">
                <a:pos x="52" y="43"/>
              </a:cxn>
              <a:cxn ang="0">
                <a:pos x="49" y="48"/>
              </a:cxn>
              <a:cxn ang="0">
                <a:pos x="43" y="51"/>
              </a:cxn>
              <a:cxn ang="0">
                <a:pos x="39" y="54"/>
              </a:cxn>
              <a:cxn ang="0">
                <a:pos x="33" y="56"/>
              </a:cxn>
              <a:cxn ang="0">
                <a:pos x="31" y="56"/>
              </a:cxn>
              <a:cxn ang="0">
                <a:pos x="29" y="56"/>
              </a:cxn>
              <a:cxn ang="0">
                <a:pos x="29" y="57"/>
              </a:cxn>
              <a:cxn ang="0">
                <a:pos x="18" y="54"/>
              </a:cxn>
              <a:cxn ang="0">
                <a:pos x="9" y="48"/>
              </a:cxn>
              <a:cxn ang="0">
                <a:pos x="2" y="38"/>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8"/>
                </a:lnTo>
                <a:lnTo>
                  <a:pt x="43" y="51"/>
                </a:lnTo>
                <a:lnTo>
                  <a:pt x="39" y="54"/>
                </a:lnTo>
                <a:lnTo>
                  <a:pt x="33" y="56"/>
                </a:lnTo>
                <a:lnTo>
                  <a:pt x="31" y="56"/>
                </a:lnTo>
                <a:lnTo>
                  <a:pt x="29" y="56"/>
                </a:lnTo>
                <a:lnTo>
                  <a:pt x="29" y="57"/>
                </a:lnTo>
                <a:lnTo>
                  <a:pt x="18" y="54"/>
                </a:lnTo>
                <a:lnTo>
                  <a:pt x="9" y="48"/>
                </a:lnTo>
                <a:lnTo>
                  <a:pt x="2" y="38"/>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299" name="Freeform 298"/>
          <p:cNvSpPr>
            <a:spLocks/>
          </p:cNvSpPr>
          <p:nvPr/>
        </p:nvSpPr>
        <p:spPr bwMode="auto">
          <a:xfrm>
            <a:off x="3398838" y="134778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0" name="Freeform 299"/>
          <p:cNvSpPr>
            <a:spLocks/>
          </p:cNvSpPr>
          <p:nvPr/>
        </p:nvSpPr>
        <p:spPr bwMode="auto">
          <a:xfrm>
            <a:off x="3402013" y="1287463"/>
            <a:ext cx="30162" cy="30162"/>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7"/>
              </a:cxn>
              <a:cxn ang="0">
                <a:pos x="17" y="55"/>
              </a:cxn>
              <a:cxn ang="0">
                <a:pos x="8" y="49"/>
              </a:cxn>
              <a:cxn ang="0">
                <a:pos x="1" y="39"/>
              </a:cxn>
              <a:cxn ang="0">
                <a:pos x="0" y="29"/>
              </a:cxn>
              <a:cxn ang="0">
                <a:pos x="1" y="17"/>
              </a:cxn>
              <a:cxn ang="0">
                <a:pos x="8" y="8"/>
              </a:cxn>
              <a:cxn ang="0">
                <a:pos x="17" y="1"/>
              </a:cxn>
              <a:cxn ang="0">
                <a:pos x="28" y="0"/>
              </a:cxn>
              <a:cxn ang="0">
                <a:pos x="38" y="1"/>
              </a:cxn>
              <a:cxn ang="0">
                <a:pos x="49" y="8"/>
              </a:cxn>
              <a:cxn ang="0">
                <a:pos x="54" y="17"/>
              </a:cxn>
              <a:cxn ang="0">
                <a:pos x="57" y="29"/>
              </a:cxn>
            </a:cxnLst>
            <a:rect l="0" t="0" r="r" b="b"/>
            <a:pathLst>
              <a:path w="57" h="57">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7"/>
                </a:lnTo>
                <a:lnTo>
                  <a:pt x="17" y="55"/>
                </a:lnTo>
                <a:lnTo>
                  <a:pt x="8" y="49"/>
                </a:lnTo>
                <a:lnTo>
                  <a:pt x="1" y="39"/>
                </a:lnTo>
                <a:lnTo>
                  <a:pt x="0" y="29"/>
                </a:lnTo>
                <a:lnTo>
                  <a:pt x="1" y="17"/>
                </a:lnTo>
                <a:lnTo>
                  <a:pt x="8" y="8"/>
                </a:lnTo>
                <a:lnTo>
                  <a:pt x="17" y="1"/>
                </a:lnTo>
                <a:lnTo>
                  <a:pt x="28" y="0"/>
                </a:lnTo>
                <a:lnTo>
                  <a:pt x="38" y="1"/>
                </a:lnTo>
                <a:lnTo>
                  <a:pt x="49" y="8"/>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1" name="Freeform 300"/>
          <p:cNvSpPr>
            <a:spLocks/>
          </p:cNvSpPr>
          <p:nvPr/>
        </p:nvSpPr>
        <p:spPr bwMode="auto">
          <a:xfrm>
            <a:off x="3416300" y="1230313"/>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2" name="Freeform 301"/>
          <p:cNvSpPr>
            <a:spLocks/>
          </p:cNvSpPr>
          <p:nvPr/>
        </p:nvSpPr>
        <p:spPr bwMode="auto">
          <a:xfrm>
            <a:off x="3451225" y="1182688"/>
            <a:ext cx="30163"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3" name="Freeform 302"/>
          <p:cNvSpPr>
            <a:spLocks/>
          </p:cNvSpPr>
          <p:nvPr/>
        </p:nvSpPr>
        <p:spPr bwMode="auto">
          <a:xfrm>
            <a:off x="3505200" y="1154113"/>
            <a:ext cx="30163" cy="30162"/>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2"/>
              </a:cxn>
              <a:cxn ang="0">
                <a:pos x="28" y="0"/>
              </a:cxn>
              <a:cxn ang="0">
                <a:pos x="39" y="2"/>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2"/>
                </a:lnTo>
                <a:lnTo>
                  <a:pt x="28" y="0"/>
                </a:lnTo>
                <a:lnTo>
                  <a:pt x="39" y="2"/>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4" name="Freeform 303"/>
          <p:cNvSpPr>
            <a:spLocks/>
          </p:cNvSpPr>
          <p:nvPr/>
        </p:nvSpPr>
        <p:spPr bwMode="auto">
          <a:xfrm>
            <a:off x="3567113" y="1143000"/>
            <a:ext cx="30162" cy="31750"/>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5" name="Freeform 304"/>
          <p:cNvSpPr>
            <a:spLocks/>
          </p:cNvSpPr>
          <p:nvPr/>
        </p:nvSpPr>
        <p:spPr bwMode="auto">
          <a:xfrm>
            <a:off x="3629025" y="1143000"/>
            <a:ext cx="30163"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6" name="Freeform 305"/>
          <p:cNvSpPr>
            <a:spLocks/>
          </p:cNvSpPr>
          <p:nvPr/>
        </p:nvSpPr>
        <p:spPr bwMode="auto">
          <a:xfrm>
            <a:off x="3689350"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7" name="Freeform 306"/>
          <p:cNvSpPr>
            <a:spLocks/>
          </p:cNvSpPr>
          <p:nvPr/>
        </p:nvSpPr>
        <p:spPr bwMode="auto">
          <a:xfrm>
            <a:off x="3749675" y="1143000"/>
            <a:ext cx="31750"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8" name="Freeform 307"/>
          <p:cNvSpPr>
            <a:spLocks/>
          </p:cNvSpPr>
          <p:nvPr/>
        </p:nvSpPr>
        <p:spPr bwMode="auto">
          <a:xfrm>
            <a:off x="3811588" y="1143000"/>
            <a:ext cx="30162"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09" name="Freeform 308"/>
          <p:cNvSpPr>
            <a:spLocks/>
          </p:cNvSpPr>
          <p:nvPr/>
        </p:nvSpPr>
        <p:spPr bwMode="auto">
          <a:xfrm>
            <a:off x="3871913"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0" name="Freeform 309"/>
          <p:cNvSpPr>
            <a:spLocks/>
          </p:cNvSpPr>
          <p:nvPr/>
        </p:nvSpPr>
        <p:spPr bwMode="auto">
          <a:xfrm>
            <a:off x="3933825"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1" name="Freeform 310"/>
          <p:cNvSpPr>
            <a:spLocks/>
          </p:cNvSpPr>
          <p:nvPr/>
        </p:nvSpPr>
        <p:spPr bwMode="auto">
          <a:xfrm>
            <a:off x="3994150" y="1143000"/>
            <a:ext cx="30163"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2" name="Freeform 311"/>
          <p:cNvSpPr>
            <a:spLocks/>
          </p:cNvSpPr>
          <p:nvPr/>
        </p:nvSpPr>
        <p:spPr bwMode="auto">
          <a:xfrm>
            <a:off x="4056063"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3" name="Freeform 312"/>
          <p:cNvSpPr>
            <a:spLocks/>
          </p:cNvSpPr>
          <p:nvPr/>
        </p:nvSpPr>
        <p:spPr bwMode="auto">
          <a:xfrm>
            <a:off x="4116388"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4" name="Freeform 313"/>
          <p:cNvSpPr>
            <a:spLocks/>
          </p:cNvSpPr>
          <p:nvPr/>
        </p:nvSpPr>
        <p:spPr bwMode="auto">
          <a:xfrm>
            <a:off x="4178300" y="1143000"/>
            <a:ext cx="30163"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5" name="Freeform 314"/>
          <p:cNvSpPr>
            <a:spLocks/>
          </p:cNvSpPr>
          <p:nvPr/>
        </p:nvSpPr>
        <p:spPr bwMode="auto">
          <a:xfrm>
            <a:off x="4238625" y="114300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6" name="Freeform 315"/>
          <p:cNvSpPr>
            <a:spLocks/>
          </p:cNvSpPr>
          <p:nvPr/>
        </p:nvSpPr>
        <p:spPr bwMode="auto">
          <a:xfrm>
            <a:off x="4298950"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7" name="Freeform 316"/>
          <p:cNvSpPr>
            <a:spLocks/>
          </p:cNvSpPr>
          <p:nvPr/>
        </p:nvSpPr>
        <p:spPr bwMode="auto">
          <a:xfrm>
            <a:off x="4360863" y="1143000"/>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8" name="Freeform 317"/>
          <p:cNvSpPr>
            <a:spLocks/>
          </p:cNvSpPr>
          <p:nvPr/>
        </p:nvSpPr>
        <p:spPr bwMode="auto">
          <a:xfrm>
            <a:off x="4421188" y="1143000"/>
            <a:ext cx="30162"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19" name="Freeform 318"/>
          <p:cNvSpPr>
            <a:spLocks/>
          </p:cNvSpPr>
          <p:nvPr/>
        </p:nvSpPr>
        <p:spPr bwMode="auto">
          <a:xfrm>
            <a:off x="4483100"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0" name="Freeform 319"/>
          <p:cNvSpPr>
            <a:spLocks/>
          </p:cNvSpPr>
          <p:nvPr/>
        </p:nvSpPr>
        <p:spPr bwMode="auto">
          <a:xfrm>
            <a:off x="4543425" y="1143000"/>
            <a:ext cx="30163"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1" name="Freeform 320"/>
          <p:cNvSpPr>
            <a:spLocks/>
          </p:cNvSpPr>
          <p:nvPr/>
        </p:nvSpPr>
        <p:spPr bwMode="auto">
          <a:xfrm>
            <a:off x="4605338" y="1143000"/>
            <a:ext cx="30162"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2" name="Freeform 321"/>
          <p:cNvSpPr>
            <a:spLocks/>
          </p:cNvSpPr>
          <p:nvPr/>
        </p:nvSpPr>
        <p:spPr bwMode="auto">
          <a:xfrm>
            <a:off x="4665663"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3" name="Freeform 322"/>
          <p:cNvSpPr>
            <a:spLocks/>
          </p:cNvSpPr>
          <p:nvPr/>
        </p:nvSpPr>
        <p:spPr bwMode="auto">
          <a:xfrm>
            <a:off x="4725988" y="1143000"/>
            <a:ext cx="31750"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4" name="Freeform 323"/>
          <p:cNvSpPr>
            <a:spLocks/>
          </p:cNvSpPr>
          <p:nvPr/>
        </p:nvSpPr>
        <p:spPr bwMode="auto">
          <a:xfrm>
            <a:off x="4787900" y="1143000"/>
            <a:ext cx="30163"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5" name="Freeform 324"/>
          <p:cNvSpPr>
            <a:spLocks/>
          </p:cNvSpPr>
          <p:nvPr/>
        </p:nvSpPr>
        <p:spPr bwMode="auto">
          <a:xfrm>
            <a:off x="4848225"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6" name="Freeform 325"/>
          <p:cNvSpPr>
            <a:spLocks/>
          </p:cNvSpPr>
          <p:nvPr/>
        </p:nvSpPr>
        <p:spPr bwMode="auto">
          <a:xfrm>
            <a:off x="4910138" y="1143000"/>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7" name="Freeform 326"/>
          <p:cNvSpPr>
            <a:spLocks/>
          </p:cNvSpPr>
          <p:nvPr/>
        </p:nvSpPr>
        <p:spPr bwMode="auto">
          <a:xfrm>
            <a:off x="4970463" y="1143000"/>
            <a:ext cx="30162"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8" name="Freeform 327"/>
          <p:cNvSpPr>
            <a:spLocks/>
          </p:cNvSpPr>
          <p:nvPr/>
        </p:nvSpPr>
        <p:spPr bwMode="auto">
          <a:xfrm>
            <a:off x="5032375"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29" name="Freeform 328"/>
          <p:cNvSpPr>
            <a:spLocks/>
          </p:cNvSpPr>
          <p:nvPr/>
        </p:nvSpPr>
        <p:spPr bwMode="auto">
          <a:xfrm>
            <a:off x="5092700"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0" name="Freeform 329"/>
          <p:cNvSpPr>
            <a:spLocks/>
          </p:cNvSpPr>
          <p:nvPr/>
        </p:nvSpPr>
        <p:spPr bwMode="auto">
          <a:xfrm>
            <a:off x="5154613" y="1143000"/>
            <a:ext cx="30162"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1" name="Freeform 330"/>
          <p:cNvSpPr>
            <a:spLocks/>
          </p:cNvSpPr>
          <p:nvPr/>
        </p:nvSpPr>
        <p:spPr bwMode="auto">
          <a:xfrm>
            <a:off x="5214938"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2" name="Freeform 331"/>
          <p:cNvSpPr>
            <a:spLocks/>
          </p:cNvSpPr>
          <p:nvPr/>
        </p:nvSpPr>
        <p:spPr bwMode="auto">
          <a:xfrm>
            <a:off x="5275263"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3" name="Freeform 332"/>
          <p:cNvSpPr>
            <a:spLocks/>
          </p:cNvSpPr>
          <p:nvPr/>
        </p:nvSpPr>
        <p:spPr bwMode="auto">
          <a:xfrm>
            <a:off x="5337175" y="1143000"/>
            <a:ext cx="30163"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4" name="Freeform 333"/>
          <p:cNvSpPr>
            <a:spLocks/>
          </p:cNvSpPr>
          <p:nvPr/>
        </p:nvSpPr>
        <p:spPr bwMode="auto">
          <a:xfrm>
            <a:off x="5397500" y="114300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5" name="Freeform 334"/>
          <p:cNvSpPr>
            <a:spLocks/>
          </p:cNvSpPr>
          <p:nvPr/>
        </p:nvSpPr>
        <p:spPr bwMode="auto">
          <a:xfrm>
            <a:off x="5459413"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6" name="Freeform 335"/>
          <p:cNvSpPr>
            <a:spLocks/>
          </p:cNvSpPr>
          <p:nvPr/>
        </p:nvSpPr>
        <p:spPr bwMode="auto">
          <a:xfrm>
            <a:off x="5519738" y="1143000"/>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7" name="Freeform 336"/>
          <p:cNvSpPr>
            <a:spLocks/>
          </p:cNvSpPr>
          <p:nvPr/>
        </p:nvSpPr>
        <p:spPr bwMode="auto">
          <a:xfrm>
            <a:off x="5581650" y="114300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8" name="Freeform 337"/>
          <p:cNvSpPr>
            <a:spLocks/>
          </p:cNvSpPr>
          <p:nvPr/>
        </p:nvSpPr>
        <p:spPr bwMode="auto">
          <a:xfrm>
            <a:off x="5641975"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39" name="Freeform 338"/>
          <p:cNvSpPr>
            <a:spLocks/>
          </p:cNvSpPr>
          <p:nvPr/>
        </p:nvSpPr>
        <p:spPr bwMode="auto">
          <a:xfrm>
            <a:off x="5702300" y="1143000"/>
            <a:ext cx="31750"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0" name="Freeform 339"/>
          <p:cNvSpPr>
            <a:spLocks/>
          </p:cNvSpPr>
          <p:nvPr/>
        </p:nvSpPr>
        <p:spPr bwMode="auto">
          <a:xfrm>
            <a:off x="5764213" y="1143000"/>
            <a:ext cx="30162"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1" name="Freeform 340"/>
          <p:cNvSpPr>
            <a:spLocks/>
          </p:cNvSpPr>
          <p:nvPr/>
        </p:nvSpPr>
        <p:spPr bwMode="auto">
          <a:xfrm>
            <a:off x="5824538"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2" name="Freeform 341"/>
          <p:cNvSpPr>
            <a:spLocks/>
          </p:cNvSpPr>
          <p:nvPr/>
        </p:nvSpPr>
        <p:spPr bwMode="auto">
          <a:xfrm>
            <a:off x="5886450" y="1143000"/>
            <a:ext cx="30163"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3" name="Freeform 342"/>
          <p:cNvSpPr>
            <a:spLocks/>
          </p:cNvSpPr>
          <p:nvPr/>
        </p:nvSpPr>
        <p:spPr bwMode="auto">
          <a:xfrm>
            <a:off x="5946775" y="1143000"/>
            <a:ext cx="30163"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4" name="Freeform 343"/>
          <p:cNvSpPr>
            <a:spLocks/>
          </p:cNvSpPr>
          <p:nvPr/>
        </p:nvSpPr>
        <p:spPr bwMode="auto">
          <a:xfrm>
            <a:off x="6008688"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5" name="Freeform 344"/>
          <p:cNvSpPr>
            <a:spLocks/>
          </p:cNvSpPr>
          <p:nvPr/>
        </p:nvSpPr>
        <p:spPr bwMode="auto">
          <a:xfrm>
            <a:off x="6069013" y="1143000"/>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6" name="Freeform 345"/>
          <p:cNvSpPr>
            <a:spLocks/>
          </p:cNvSpPr>
          <p:nvPr/>
        </p:nvSpPr>
        <p:spPr bwMode="auto">
          <a:xfrm>
            <a:off x="6130925" y="1143000"/>
            <a:ext cx="30163"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7" name="Freeform 346"/>
          <p:cNvSpPr>
            <a:spLocks/>
          </p:cNvSpPr>
          <p:nvPr/>
        </p:nvSpPr>
        <p:spPr bwMode="auto">
          <a:xfrm>
            <a:off x="6191250"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8" name="Freeform 347"/>
          <p:cNvSpPr>
            <a:spLocks/>
          </p:cNvSpPr>
          <p:nvPr/>
        </p:nvSpPr>
        <p:spPr bwMode="auto">
          <a:xfrm>
            <a:off x="6251575"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49" name="Freeform 348"/>
          <p:cNvSpPr>
            <a:spLocks/>
          </p:cNvSpPr>
          <p:nvPr/>
        </p:nvSpPr>
        <p:spPr bwMode="auto">
          <a:xfrm>
            <a:off x="6313488" y="1143000"/>
            <a:ext cx="30162"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0" name="Freeform 349"/>
          <p:cNvSpPr>
            <a:spLocks/>
          </p:cNvSpPr>
          <p:nvPr/>
        </p:nvSpPr>
        <p:spPr bwMode="auto">
          <a:xfrm>
            <a:off x="6373813"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1" name="Freeform 350"/>
          <p:cNvSpPr>
            <a:spLocks/>
          </p:cNvSpPr>
          <p:nvPr/>
        </p:nvSpPr>
        <p:spPr bwMode="auto">
          <a:xfrm>
            <a:off x="6435725"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2" name="Freeform 351"/>
          <p:cNvSpPr>
            <a:spLocks/>
          </p:cNvSpPr>
          <p:nvPr/>
        </p:nvSpPr>
        <p:spPr bwMode="auto">
          <a:xfrm>
            <a:off x="6496050" y="1143000"/>
            <a:ext cx="30163"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3" name="Freeform 352"/>
          <p:cNvSpPr>
            <a:spLocks/>
          </p:cNvSpPr>
          <p:nvPr/>
        </p:nvSpPr>
        <p:spPr bwMode="auto">
          <a:xfrm>
            <a:off x="6557963" y="1143000"/>
            <a:ext cx="30162"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4" name="Freeform 353"/>
          <p:cNvSpPr>
            <a:spLocks/>
          </p:cNvSpPr>
          <p:nvPr/>
        </p:nvSpPr>
        <p:spPr bwMode="auto">
          <a:xfrm>
            <a:off x="6618288"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5" name="Freeform 354"/>
          <p:cNvSpPr>
            <a:spLocks/>
          </p:cNvSpPr>
          <p:nvPr/>
        </p:nvSpPr>
        <p:spPr bwMode="auto">
          <a:xfrm>
            <a:off x="6678613" y="1143000"/>
            <a:ext cx="31750"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6" name="Freeform 355"/>
          <p:cNvSpPr>
            <a:spLocks/>
          </p:cNvSpPr>
          <p:nvPr/>
        </p:nvSpPr>
        <p:spPr bwMode="auto">
          <a:xfrm>
            <a:off x="6740525" y="114300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7" name="Freeform 356"/>
          <p:cNvSpPr>
            <a:spLocks/>
          </p:cNvSpPr>
          <p:nvPr/>
        </p:nvSpPr>
        <p:spPr bwMode="auto">
          <a:xfrm>
            <a:off x="6800850"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8" name="Freeform 357"/>
          <p:cNvSpPr>
            <a:spLocks/>
          </p:cNvSpPr>
          <p:nvPr/>
        </p:nvSpPr>
        <p:spPr bwMode="auto">
          <a:xfrm>
            <a:off x="6862763" y="1143000"/>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59" name="Freeform 358"/>
          <p:cNvSpPr>
            <a:spLocks/>
          </p:cNvSpPr>
          <p:nvPr/>
        </p:nvSpPr>
        <p:spPr bwMode="auto">
          <a:xfrm>
            <a:off x="6923088" y="1143000"/>
            <a:ext cx="30162"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0" name="Freeform 359"/>
          <p:cNvSpPr>
            <a:spLocks/>
          </p:cNvSpPr>
          <p:nvPr/>
        </p:nvSpPr>
        <p:spPr bwMode="auto">
          <a:xfrm>
            <a:off x="6985000" y="11430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1" name="Freeform 360"/>
          <p:cNvSpPr>
            <a:spLocks/>
          </p:cNvSpPr>
          <p:nvPr/>
        </p:nvSpPr>
        <p:spPr bwMode="auto">
          <a:xfrm>
            <a:off x="7045325" y="1143000"/>
            <a:ext cx="30163"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2" name="Freeform 361"/>
          <p:cNvSpPr>
            <a:spLocks/>
          </p:cNvSpPr>
          <p:nvPr/>
        </p:nvSpPr>
        <p:spPr bwMode="auto">
          <a:xfrm>
            <a:off x="7107238" y="1143000"/>
            <a:ext cx="30162"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3" name="Freeform 362"/>
          <p:cNvSpPr>
            <a:spLocks/>
          </p:cNvSpPr>
          <p:nvPr/>
        </p:nvSpPr>
        <p:spPr bwMode="auto">
          <a:xfrm>
            <a:off x="7167563" y="1143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4" name="Freeform 363"/>
          <p:cNvSpPr>
            <a:spLocks/>
          </p:cNvSpPr>
          <p:nvPr/>
        </p:nvSpPr>
        <p:spPr bwMode="auto">
          <a:xfrm>
            <a:off x="7227888" y="1143000"/>
            <a:ext cx="31750"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5" name="Freeform 364"/>
          <p:cNvSpPr>
            <a:spLocks/>
          </p:cNvSpPr>
          <p:nvPr/>
        </p:nvSpPr>
        <p:spPr bwMode="auto">
          <a:xfrm>
            <a:off x="7289800" y="1143000"/>
            <a:ext cx="30163"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6" name="Freeform 365"/>
          <p:cNvSpPr>
            <a:spLocks/>
          </p:cNvSpPr>
          <p:nvPr/>
        </p:nvSpPr>
        <p:spPr bwMode="auto">
          <a:xfrm>
            <a:off x="7350125" y="114300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7" name="Freeform 366"/>
          <p:cNvSpPr>
            <a:spLocks/>
          </p:cNvSpPr>
          <p:nvPr/>
        </p:nvSpPr>
        <p:spPr bwMode="auto">
          <a:xfrm>
            <a:off x="7410450" y="114300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8" name="Freeform 367"/>
          <p:cNvSpPr>
            <a:spLocks/>
          </p:cNvSpPr>
          <p:nvPr/>
        </p:nvSpPr>
        <p:spPr bwMode="auto">
          <a:xfrm>
            <a:off x="7469188" y="1152525"/>
            <a:ext cx="30162" cy="30163"/>
          </a:xfrm>
          <a:custGeom>
            <a:avLst/>
            <a:gdLst/>
            <a:ahLst/>
            <a:cxnLst>
              <a:cxn ang="0">
                <a:pos x="58" y="29"/>
              </a:cxn>
              <a:cxn ang="0">
                <a:pos x="57" y="29"/>
              </a:cxn>
              <a:cxn ang="0">
                <a:pos x="57" y="31"/>
              </a:cxn>
              <a:cxn ang="0">
                <a:pos x="57" y="33"/>
              </a:cxn>
              <a:cxn ang="0">
                <a:pos x="55" y="39"/>
              </a:cxn>
              <a:cxn ang="0">
                <a:pos x="52" y="44"/>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3"/>
                </a:lnTo>
                <a:lnTo>
                  <a:pt x="55" y="39"/>
                </a:lnTo>
                <a:lnTo>
                  <a:pt x="52" y="44"/>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69" name="Freeform 368"/>
          <p:cNvSpPr>
            <a:spLocks/>
          </p:cNvSpPr>
          <p:nvPr/>
        </p:nvSpPr>
        <p:spPr bwMode="auto">
          <a:xfrm>
            <a:off x="7521575" y="1179513"/>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0" name="Freeform 369"/>
          <p:cNvSpPr>
            <a:spLocks/>
          </p:cNvSpPr>
          <p:nvPr/>
        </p:nvSpPr>
        <p:spPr bwMode="auto">
          <a:xfrm>
            <a:off x="7559675" y="1228725"/>
            <a:ext cx="31750"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3" y="56"/>
              </a:cxn>
              <a:cxn ang="0">
                <a:pos x="31" y="56"/>
              </a:cxn>
              <a:cxn ang="0">
                <a:pos x="29" y="56"/>
              </a:cxn>
              <a:cxn ang="0">
                <a:pos x="29" y="57"/>
              </a:cxn>
              <a:cxn ang="0">
                <a:pos x="18" y="55"/>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7" y="29"/>
                </a:lnTo>
                <a:lnTo>
                  <a:pt x="57" y="30"/>
                </a:lnTo>
                <a:lnTo>
                  <a:pt x="57" y="33"/>
                </a:lnTo>
                <a:lnTo>
                  <a:pt x="55" y="39"/>
                </a:lnTo>
                <a:lnTo>
                  <a:pt x="52" y="43"/>
                </a:lnTo>
                <a:lnTo>
                  <a:pt x="49" y="49"/>
                </a:lnTo>
                <a:lnTo>
                  <a:pt x="44" y="52"/>
                </a:lnTo>
                <a:lnTo>
                  <a:pt x="39" y="55"/>
                </a:lnTo>
                <a:lnTo>
                  <a:pt x="33" y="56"/>
                </a:lnTo>
                <a:lnTo>
                  <a:pt x="31" y="56"/>
                </a:lnTo>
                <a:lnTo>
                  <a:pt x="29" y="56"/>
                </a:lnTo>
                <a:lnTo>
                  <a:pt x="29" y="57"/>
                </a:lnTo>
                <a:lnTo>
                  <a:pt x="18" y="55"/>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1" name="Freeform 370"/>
          <p:cNvSpPr>
            <a:spLocks/>
          </p:cNvSpPr>
          <p:nvPr/>
        </p:nvSpPr>
        <p:spPr bwMode="auto">
          <a:xfrm>
            <a:off x="7577138" y="1289050"/>
            <a:ext cx="30162" cy="30163"/>
          </a:xfrm>
          <a:custGeom>
            <a:avLst/>
            <a:gdLst/>
            <a:ahLst/>
            <a:cxnLst>
              <a:cxn ang="0">
                <a:pos x="57" y="29"/>
              </a:cxn>
              <a:cxn ang="0">
                <a:pos x="56" y="29"/>
              </a:cxn>
              <a:cxn ang="0">
                <a:pos x="56" y="31"/>
              </a:cxn>
              <a:cxn ang="0">
                <a:pos x="56" y="33"/>
              </a:cxn>
              <a:cxn ang="0">
                <a:pos x="54" y="39"/>
              </a:cxn>
              <a:cxn ang="0">
                <a:pos x="51"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8"/>
              </a:cxn>
              <a:cxn ang="0">
                <a:pos x="8" y="9"/>
              </a:cxn>
              <a:cxn ang="0">
                <a:pos x="17" y="2"/>
              </a:cxn>
              <a:cxn ang="0">
                <a:pos x="28" y="0"/>
              </a:cxn>
              <a:cxn ang="0">
                <a:pos x="39" y="2"/>
              </a:cxn>
              <a:cxn ang="0">
                <a:pos x="49" y="9"/>
              </a:cxn>
              <a:cxn ang="0">
                <a:pos x="54" y="18"/>
              </a:cxn>
              <a:cxn ang="0">
                <a:pos x="57" y="29"/>
              </a:cxn>
            </a:cxnLst>
            <a:rect l="0" t="0" r="r" b="b"/>
            <a:pathLst>
              <a:path w="57" h="58">
                <a:moveTo>
                  <a:pt x="57" y="29"/>
                </a:moveTo>
                <a:lnTo>
                  <a:pt x="56" y="29"/>
                </a:lnTo>
                <a:lnTo>
                  <a:pt x="56" y="31"/>
                </a:lnTo>
                <a:lnTo>
                  <a:pt x="56" y="33"/>
                </a:lnTo>
                <a:lnTo>
                  <a:pt x="54" y="39"/>
                </a:lnTo>
                <a:lnTo>
                  <a:pt x="51"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8"/>
                </a:lnTo>
                <a:lnTo>
                  <a:pt x="8" y="9"/>
                </a:lnTo>
                <a:lnTo>
                  <a:pt x="17" y="2"/>
                </a:lnTo>
                <a:lnTo>
                  <a:pt x="28" y="0"/>
                </a:lnTo>
                <a:lnTo>
                  <a:pt x="39" y="2"/>
                </a:lnTo>
                <a:lnTo>
                  <a:pt x="49" y="9"/>
                </a:lnTo>
                <a:lnTo>
                  <a:pt x="54"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2" name="Line 371"/>
          <p:cNvSpPr>
            <a:spLocks noChangeShapeType="1"/>
          </p:cNvSpPr>
          <p:nvPr/>
        </p:nvSpPr>
        <p:spPr bwMode="auto">
          <a:xfrm flipH="1">
            <a:off x="2509838" y="2486025"/>
            <a:ext cx="981075" cy="0"/>
          </a:xfrm>
          <a:prstGeom prst="line">
            <a:avLst/>
          </a:prstGeom>
          <a:noFill/>
          <a:ln w="30163">
            <a:solidFill>
              <a:srgbClr val="000000"/>
            </a:solidFill>
            <a:round/>
            <a:headEnd/>
            <a:tailEnd/>
          </a:ln>
        </p:spPr>
        <p:txBody>
          <a:bodyPr/>
          <a:lstStyle/>
          <a:p>
            <a:endParaRPr lang="en-US" sz="2000">
              <a:latin typeface="Calibri" pitchFamily="34" charset="0"/>
              <a:cs typeface="Calibri" pitchFamily="34" charset="0"/>
            </a:endParaRPr>
          </a:p>
        </p:txBody>
      </p:sp>
      <p:sp>
        <p:nvSpPr>
          <p:cNvPr id="373" name="Freeform 372"/>
          <p:cNvSpPr>
            <a:spLocks/>
          </p:cNvSpPr>
          <p:nvPr/>
        </p:nvSpPr>
        <p:spPr bwMode="auto">
          <a:xfrm>
            <a:off x="3333750" y="2386013"/>
            <a:ext cx="222250" cy="196850"/>
          </a:xfrm>
          <a:custGeom>
            <a:avLst/>
            <a:gdLst/>
            <a:ahLst/>
            <a:cxnLst>
              <a:cxn ang="0">
                <a:pos x="0" y="0"/>
              </a:cxn>
              <a:cxn ang="0">
                <a:pos x="87" y="187"/>
              </a:cxn>
              <a:cxn ang="0">
                <a:pos x="0" y="373"/>
              </a:cxn>
              <a:cxn ang="0">
                <a:pos x="421" y="187"/>
              </a:cxn>
              <a:cxn ang="0">
                <a:pos x="0" y="0"/>
              </a:cxn>
            </a:cxnLst>
            <a:rect l="0" t="0" r="r" b="b"/>
            <a:pathLst>
              <a:path w="421" h="373">
                <a:moveTo>
                  <a:pt x="0" y="0"/>
                </a:moveTo>
                <a:lnTo>
                  <a:pt x="87" y="187"/>
                </a:lnTo>
                <a:lnTo>
                  <a:pt x="0" y="373"/>
                </a:lnTo>
                <a:lnTo>
                  <a:pt x="421" y="187"/>
                </a:lnTo>
                <a:lnTo>
                  <a:pt x="0" y="0"/>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4" name="Freeform 373"/>
          <p:cNvSpPr>
            <a:spLocks/>
          </p:cNvSpPr>
          <p:nvPr/>
        </p:nvSpPr>
        <p:spPr bwMode="auto">
          <a:xfrm>
            <a:off x="930275" y="2011363"/>
            <a:ext cx="1658938" cy="933450"/>
          </a:xfrm>
          <a:custGeom>
            <a:avLst/>
            <a:gdLst/>
            <a:ahLst/>
            <a:cxnLst>
              <a:cxn ang="0">
                <a:pos x="3129" y="792"/>
              </a:cxn>
              <a:cxn ang="0">
                <a:pos x="3090" y="663"/>
              </a:cxn>
              <a:cxn ang="0">
                <a:pos x="3021" y="544"/>
              </a:cxn>
              <a:cxn ang="0">
                <a:pos x="2917" y="430"/>
              </a:cxn>
              <a:cxn ang="0">
                <a:pos x="2783" y="325"/>
              </a:cxn>
              <a:cxn ang="0">
                <a:pos x="2617" y="227"/>
              </a:cxn>
              <a:cxn ang="0">
                <a:pos x="2434" y="146"/>
              </a:cxn>
              <a:cxn ang="0">
                <a:pos x="2237" y="81"/>
              </a:cxn>
              <a:cxn ang="0">
                <a:pos x="2027" y="35"/>
              </a:cxn>
              <a:cxn ang="0">
                <a:pos x="1803" y="8"/>
              </a:cxn>
              <a:cxn ang="0">
                <a:pos x="1568" y="0"/>
              </a:cxn>
              <a:cxn ang="0">
                <a:pos x="1329" y="8"/>
              </a:cxn>
              <a:cxn ang="0">
                <a:pos x="1107" y="35"/>
              </a:cxn>
              <a:cxn ang="0">
                <a:pos x="896" y="81"/>
              </a:cxn>
              <a:cxn ang="0">
                <a:pos x="700" y="146"/>
              </a:cxn>
              <a:cxn ang="0">
                <a:pos x="516" y="227"/>
              </a:cxn>
              <a:cxn ang="0">
                <a:pos x="352" y="325"/>
              </a:cxn>
              <a:cxn ang="0">
                <a:pos x="216" y="430"/>
              </a:cxn>
              <a:cxn ang="0">
                <a:pos x="114" y="544"/>
              </a:cxn>
              <a:cxn ang="0">
                <a:pos x="43" y="663"/>
              </a:cxn>
              <a:cxn ang="0">
                <a:pos x="6" y="792"/>
              </a:cxn>
              <a:cxn ang="0">
                <a:pos x="1" y="926"/>
              </a:cxn>
              <a:cxn ang="0">
                <a:pos x="27" y="1057"/>
              </a:cxn>
              <a:cxn ang="0">
                <a:pos x="63" y="1139"/>
              </a:cxn>
              <a:cxn ang="0">
                <a:pos x="144" y="1257"/>
              </a:cxn>
              <a:cxn ang="0">
                <a:pos x="196" y="1313"/>
              </a:cxn>
              <a:cxn ang="0">
                <a:pos x="303" y="1404"/>
              </a:cxn>
              <a:cxn ang="0">
                <a:pos x="403" y="1472"/>
              </a:cxn>
              <a:cxn ang="0">
                <a:pos x="576" y="1565"/>
              </a:cxn>
              <a:cxn ang="0">
                <a:pos x="764" y="1640"/>
              </a:cxn>
              <a:cxn ang="0">
                <a:pos x="966" y="1699"/>
              </a:cxn>
              <a:cxn ang="0">
                <a:pos x="1179" y="1737"/>
              </a:cxn>
              <a:cxn ang="0">
                <a:pos x="1407" y="1760"/>
              </a:cxn>
              <a:cxn ang="0">
                <a:pos x="1577" y="1763"/>
              </a:cxn>
              <a:cxn ang="0">
                <a:pos x="1647" y="1763"/>
              </a:cxn>
              <a:cxn ang="0">
                <a:pos x="1841" y="1750"/>
              </a:cxn>
              <a:cxn ang="0">
                <a:pos x="1953" y="1737"/>
              </a:cxn>
              <a:cxn ang="0">
                <a:pos x="2099" y="1714"/>
              </a:cxn>
              <a:cxn ang="0">
                <a:pos x="2202" y="1689"/>
              </a:cxn>
              <a:cxn ang="0">
                <a:pos x="2270" y="1671"/>
              </a:cxn>
              <a:cxn ang="0">
                <a:pos x="2352" y="1645"/>
              </a:cxn>
              <a:cxn ang="0">
                <a:pos x="2496" y="1591"/>
              </a:cxn>
              <a:cxn ang="0">
                <a:pos x="2646" y="1521"/>
              </a:cxn>
              <a:cxn ang="0">
                <a:pos x="2756" y="1454"/>
              </a:cxn>
              <a:cxn ang="0">
                <a:pos x="2831" y="1404"/>
              </a:cxn>
              <a:cxn ang="0">
                <a:pos x="2926" y="1322"/>
              </a:cxn>
              <a:cxn ang="0">
                <a:pos x="2972" y="1276"/>
              </a:cxn>
              <a:cxn ang="0">
                <a:pos x="3047" y="1179"/>
              </a:cxn>
              <a:cxn ang="0">
                <a:pos x="3090" y="1097"/>
              </a:cxn>
              <a:cxn ang="0">
                <a:pos x="3129" y="970"/>
              </a:cxn>
              <a:cxn ang="0">
                <a:pos x="3136" y="882"/>
              </a:cxn>
            </a:cxnLst>
            <a:rect l="0" t="0" r="r" b="b"/>
            <a:pathLst>
              <a:path w="3136" h="1764">
                <a:moveTo>
                  <a:pt x="3136" y="882"/>
                </a:moveTo>
                <a:lnTo>
                  <a:pt x="3134" y="836"/>
                </a:lnTo>
                <a:lnTo>
                  <a:pt x="3129" y="792"/>
                </a:lnTo>
                <a:lnTo>
                  <a:pt x="3119" y="747"/>
                </a:lnTo>
                <a:lnTo>
                  <a:pt x="3108" y="705"/>
                </a:lnTo>
                <a:lnTo>
                  <a:pt x="3090" y="663"/>
                </a:lnTo>
                <a:lnTo>
                  <a:pt x="3072" y="623"/>
                </a:lnTo>
                <a:lnTo>
                  <a:pt x="3047" y="583"/>
                </a:lnTo>
                <a:lnTo>
                  <a:pt x="3021" y="544"/>
                </a:lnTo>
                <a:lnTo>
                  <a:pt x="2989" y="505"/>
                </a:lnTo>
                <a:lnTo>
                  <a:pt x="2956" y="467"/>
                </a:lnTo>
                <a:lnTo>
                  <a:pt x="2917" y="430"/>
                </a:lnTo>
                <a:lnTo>
                  <a:pt x="2877" y="394"/>
                </a:lnTo>
                <a:lnTo>
                  <a:pt x="2831" y="358"/>
                </a:lnTo>
                <a:lnTo>
                  <a:pt x="2783" y="325"/>
                </a:lnTo>
                <a:lnTo>
                  <a:pt x="2730" y="292"/>
                </a:lnTo>
                <a:lnTo>
                  <a:pt x="2677" y="260"/>
                </a:lnTo>
                <a:lnTo>
                  <a:pt x="2617" y="227"/>
                </a:lnTo>
                <a:lnTo>
                  <a:pt x="2558" y="198"/>
                </a:lnTo>
                <a:lnTo>
                  <a:pt x="2496" y="170"/>
                </a:lnTo>
                <a:lnTo>
                  <a:pt x="2434" y="146"/>
                </a:lnTo>
                <a:lnTo>
                  <a:pt x="2370" y="121"/>
                </a:lnTo>
                <a:lnTo>
                  <a:pt x="2305" y="101"/>
                </a:lnTo>
                <a:lnTo>
                  <a:pt x="2237" y="81"/>
                </a:lnTo>
                <a:lnTo>
                  <a:pt x="2169" y="65"/>
                </a:lnTo>
                <a:lnTo>
                  <a:pt x="2099" y="48"/>
                </a:lnTo>
                <a:lnTo>
                  <a:pt x="2027" y="35"/>
                </a:lnTo>
                <a:lnTo>
                  <a:pt x="1953" y="23"/>
                </a:lnTo>
                <a:lnTo>
                  <a:pt x="1879" y="16"/>
                </a:lnTo>
                <a:lnTo>
                  <a:pt x="1803" y="8"/>
                </a:lnTo>
                <a:lnTo>
                  <a:pt x="1727" y="3"/>
                </a:lnTo>
                <a:lnTo>
                  <a:pt x="1647" y="0"/>
                </a:lnTo>
                <a:lnTo>
                  <a:pt x="1568" y="0"/>
                </a:lnTo>
                <a:lnTo>
                  <a:pt x="1486" y="0"/>
                </a:lnTo>
                <a:lnTo>
                  <a:pt x="1407" y="3"/>
                </a:lnTo>
                <a:lnTo>
                  <a:pt x="1329" y="8"/>
                </a:lnTo>
                <a:lnTo>
                  <a:pt x="1254" y="16"/>
                </a:lnTo>
                <a:lnTo>
                  <a:pt x="1179" y="23"/>
                </a:lnTo>
                <a:lnTo>
                  <a:pt x="1107" y="35"/>
                </a:lnTo>
                <a:lnTo>
                  <a:pt x="1035" y="48"/>
                </a:lnTo>
                <a:lnTo>
                  <a:pt x="966" y="65"/>
                </a:lnTo>
                <a:lnTo>
                  <a:pt x="896" y="81"/>
                </a:lnTo>
                <a:lnTo>
                  <a:pt x="830" y="101"/>
                </a:lnTo>
                <a:lnTo>
                  <a:pt x="764" y="121"/>
                </a:lnTo>
                <a:lnTo>
                  <a:pt x="700" y="146"/>
                </a:lnTo>
                <a:lnTo>
                  <a:pt x="637" y="170"/>
                </a:lnTo>
                <a:lnTo>
                  <a:pt x="576" y="198"/>
                </a:lnTo>
                <a:lnTo>
                  <a:pt x="516" y="227"/>
                </a:lnTo>
                <a:lnTo>
                  <a:pt x="460" y="260"/>
                </a:lnTo>
                <a:lnTo>
                  <a:pt x="403" y="292"/>
                </a:lnTo>
                <a:lnTo>
                  <a:pt x="352" y="325"/>
                </a:lnTo>
                <a:lnTo>
                  <a:pt x="303" y="358"/>
                </a:lnTo>
                <a:lnTo>
                  <a:pt x="258" y="394"/>
                </a:lnTo>
                <a:lnTo>
                  <a:pt x="216" y="430"/>
                </a:lnTo>
                <a:lnTo>
                  <a:pt x="179" y="467"/>
                </a:lnTo>
                <a:lnTo>
                  <a:pt x="144" y="505"/>
                </a:lnTo>
                <a:lnTo>
                  <a:pt x="114" y="544"/>
                </a:lnTo>
                <a:lnTo>
                  <a:pt x="86" y="583"/>
                </a:lnTo>
                <a:lnTo>
                  <a:pt x="63" y="623"/>
                </a:lnTo>
                <a:lnTo>
                  <a:pt x="43" y="663"/>
                </a:lnTo>
                <a:lnTo>
                  <a:pt x="27" y="705"/>
                </a:lnTo>
                <a:lnTo>
                  <a:pt x="14" y="747"/>
                </a:lnTo>
                <a:lnTo>
                  <a:pt x="6" y="792"/>
                </a:lnTo>
                <a:lnTo>
                  <a:pt x="1" y="836"/>
                </a:lnTo>
                <a:lnTo>
                  <a:pt x="0" y="882"/>
                </a:lnTo>
                <a:lnTo>
                  <a:pt x="1" y="926"/>
                </a:lnTo>
                <a:lnTo>
                  <a:pt x="6" y="970"/>
                </a:lnTo>
                <a:lnTo>
                  <a:pt x="14" y="1014"/>
                </a:lnTo>
                <a:lnTo>
                  <a:pt x="27" y="1057"/>
                </a:lnTo>
                <a:lnTo>
                  <a:pt x="43" y="1097"/>
                </a:lnTo>
                <a:lnTo>
                  <a:pt x="52" y="1117"/>
                </a:lnTo>
                <a:lnTo>
                  <a:pt x="63" y="1139"/>
                </a:lnTo>
                <a:lnTo>
                  <a:pt x="86" y="1179"/>
                </a:lnTo>
                <a:lnTo>
                  <a:pt x="114" y="1220"/>
                </a:lnTo>
                <a:lnTo>
                  <a:pt x="144" y="1257"/>
                </a:lnTo>
                <a:lnTo>
                  <a:pt x="160" y="1276"/>
                </a:lnTo>
                <a:lnTo>
                  <a:pt x="179" y="1296"/>
                </a:lnTo>
                <a:lnTo>
                  <a:pt x="196" y="1313"/>
                </a:lnTo>
                <a:lnTo>
                  <a:pt x="216" y="1332"/>
                </a:lnTo>
                <a:lnTo>
                  <a:pt x="258" y="1369"/>
                </a:lnTo>
                <a:lnTo>
                  <a:pt x="303" y="1404"/>
                </a:lnTo>
                <a:lnTo>
                  <a:pt x="352" y="1439"/>
                </a:lnTo>
                <a:lnTo>
                  <a:pt x="376" y="1454"/>
                </a:lnTo>
                <a:lnTo>
                  <a:pt x="403" y="1472"/>
                </a:lnTo>
                <a:lnTo>
                  <a:pt x="460" y="1506"/>
                </a:lnTo>
                <a:lnTo>
                  <a:pt x="516" y="1537"/>
                </a:lnTo>
                <a:lnTo>
                  <a:pt x="576" y="1565"/>
                </a:lnTo>
                <a:lnTo>
                  <a:pt x="637" y="1591"/>
                </a:lnTo>
                <a:lnTo>
                  <a:pt x="700" y="1617"/>
                </a:lnTo>
                <a:lnTo>
                  <a:pt x="764" y="1640"/>
                </a:lnTo>
                <a:lnTo>
                  <a:pt x="830" y="1662"/>
                </a:lnTo>
                <a:lnTo>
                  <a:pt x="896" y="1681"/>
                </a:lnTo>
                <a:lnTo>
                  <a:pt x="966" y="1699"/>
                </a:lnTo>
                <a:lnTo>
                  <a:pt x="1035" y="1714"/>
                </a:lnTo>
                <a:lnTo>
                  <a:pt x="1107" y="1727"/>
                </a:lnTo>
                <a:lnTo>
                  <a:pt x="1179" y="1737"/>
                </a:lnTo>
                <a:lnTo>
                  <a:pt x="1254" y="1747"/>
                </a:lnTo>
                <a:lnTo>
                  <a:pt x="1329" y="1754"/>
                </a:lnTo>
                <a:lnTo>
                  <a:pt x="1407" y="1760"/>
                </a:lnTo>
                <a:lnTo>
                  <a:pt x="1486" y="1763"/>
                </a:lnTo>
                <a:lnTo>
                  <a:pt x="1568" y="1764"/>
                </a:lnTo>
                <a:lnTo>
                  <a:pt x="1577" y="1763"/>
                </a:lnTo>
                <a:lnTo>
                  <a:pt x="1587" y="1763"/>
                </a:lnTo>
                <a:lnTo>
                  <a:pt x="1607" y="1763"/>
                </a:lnTo>
                <a:lnTo>
                  <a:pt x="1647" y="1763"/>
                </a:lnTo>
                <a:lnTo>
                  <a:pt x="1727" y="1760"/>
                </a:lnTo>
                <a:lnTo>
                  <a:pt x="1803" y="1754"/>
                </a:lnTo>
                <a:lnTo>
                  <a:pt x="1841" y="1750"/>
                </a:lnTo>
                <a:lnTo>
                  <a:pt x="1879" y="1747"/>
                </a:lnTo>
                <a:lnTo>
                  <a:pt x="1916" y="1741"/>
                </a:lnTo>
                <a:lnTo>
                  <a:pt x="1953" y="1737"/>
                </a:lnTo>
                <a:lnTo>
                  <a:pt x="1989" y="1731"/>
                </a:lnTo>
                <a:lnTo>
                  <a:pt x="2027" y="1727"/>
                </a:lnTo>
                <a:lnTo>
                  <a:pt x="2099" y="1714"/>
                </a:lnTo>
                <a:lnTo>
                  <a:pt x="2169" y="1699"/>
                </a:lnTo>
                <a:lnTo>
                  <a:pt x="2185" y="1694"/>
                </a:lnTo>
                <a:lnTo>
                  <a:pt x="2202" y="1689"/>
                </a:lnTo>
                <a:lnTo>
                  <a:pt x="2237" y="1681"/>
                </a:lnTo>
                <a:lnTo>
                  <a:pt x="2253" y="1675"/>
                </a:lnTo>
                <a:lnTo>
                  <a:pt x="2270" y="1671"/>
                </a:lnTo>
                <a:lnTo>
                  <a:pt x="2305" y="1662"/>
                </a:lnTo>
                <a:lnTo>
                  <a:pt x="2336" y="1650"/>
                </a:lnTo>
                <a:lnTo>
                  <a:pt x="2352" y="1645"/>
                </a:lnTo>
                <a:lnTo>
                  <a:pt x="2370" y="1640"/>
                </a:lnTo>
                <a:lnTo>
                  <a:pt x="2434" y="1617"/>
                </a:lnTo>
                <a:lnTo>
                  <a:pt x="2496" y="1591"/>
                </a:lnTo>
                <a:lnTo>
                  <a:pt x="2558" y="1565"/>
                </a:lnTo>
                <a:lnTo>
                  <a:pt x="2617" y="1537"/>
                </a:lnTo>
                <a:lnTo>
                  <a:pt x="2646" y="1521"/>
                </a:lnTo>
                <a:lnTo>
                  <a:pt x="2677" y="1506"/>
                </a:lnTo>
                <a:lnTo>
                  <a:pt x="2730" y="1472"/>
                </a:lnTo>
                <a:lnTo>
                  <a:pt x="2756" y="1454"/>
                </a:lnTo>
                <a:lnTo>
                  <a:pt x="2769" y="1446"/>
                </a:lnTo>
                <a:lnTo>
                  <a:pt x="2783" y="1439"/>
                </a:lnTo>
                <a:lnTo>
                  <a:pt x="2831" y="1404"/>
                </a:lnTo>
                <a:lnTo>
                  <a:pt x="2877" y="1369"/>
                </a:lnTo>
                <a:lnTo>
                  <a:pt x="2917" y="1332"/>
                </a:lnTo>
                <a:lnTo>
                  <a:pt x="2926" y="1322"/>
                </a:lnTo>
                <a:lnTo>
                  <a:pt x="2936" y="1313"/>
                </a:lnTo>
                <a:lnTo>
                  <a:pt x="2956" y="1296"/>
                </a:lnTo>
                <a:lnTo>
                  <a:pt x="2972" y="1276"/>
                </a:lnTo>
                <a:lnTo>
                  <a:pt x="2989" y="1257"/>
                </a:lnTo>
                <a:lnTo>
                  <a:pt x="3021" y="1220"/>
                </a:lnTo>
                <a:lnTo>
                  <a:pt x="3047" y="1179"/>
                </a:lnTo>
                <a:lnTo>
                  <a:pt x="3072" y="1139"/>
                </a:lnTo>
                <a:lnTo>
                  <a:pt x="3080" y="1117"/>
                </a:lnTo>
                <a:lnTo>
                  <a:pt x="3090" y="1097"/>
                </a:lnTo>
                <a:lnTo>
                  <a:pt x="3108" y="1057"/>
                </a:lnTo>
                <a:lnTo>
                  <a:pt x="3119" y="1014"/>
                </a:lnTo>
                <a:lnTo>
                  <a:pt x="3129" y="970"/>
                </a:lnTo>
                <a:lnTo>
                  <a:pt x="3131" y="947"/>
                </a:lnTo>
                <a:lnTo>
                  <a:pt x="3134" y="926"/>
                </a:lnTo>
                <a:lnTo>
                  <a:pt x="3136" y="882"/>
                </a:lnTo>
                <a:close/>
              </a:path>
            </a:pathLst>
          </a:custGeom>
          <a:solidFill>
            <a:srgbClr val="99CCFF"/>
          </a:solidFill>
          <a:ln w="9525">
            <a:noFill/>
            <a:round/>
            <a:headEnd/>
            <a:tailEnd/>
          </a:ln>
        </p:spPr>
        <p:txBody>
          <a:bodyPr/>
          <a:lstStyle/>
          <a:p>
            <a:endParaRPr lang="en-US" sz="2000">
              <a:latin typeface="Calibri" pitchFamily="34" charset="0"/>
              <a:cs typeface="Calibri" pitchFamily="34" charset="0"/>
            </a:endParaRPr>
          </a:p>
        </p:txBody>
      </p:sp>
      <p:sp>
        <p:nvSpPr>
          <p:cNvPr id="375" name="Freeform 374"/>
          <p:cNvSpPr>
            <a:spLocks/>
          </p:cNvSpPr>
          <p:nvPr/>
        </p:nvSpPr>
        <p:spPr bwMode="auto">
          <a:xfrm>
            <a:off x="2330450" y="213360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6" name="Freeform 375"/>
          <p:cNvSpPr>
            <a:spLocks/>
          </p:cNvSpPr>
          <p:nvPr/>
        </p:nvSpPr>
        <p:spPr bwMode="auto">
          <a:xfrm>
            <a:off x="2290763" y="2112963"/>
            <a:ext cx="30162" cy="30162"/>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7" name="Freeform 376"/>
          <p:cNvSpPr>
            <a:spLocks/>
          </p:cNvSpPr>
          <p:nvPr/>
        </p:nvSpPr>
        <p:spPr bwMode="auto">
          <a:xfrm>
            <a:off x="2247900" y="2093913"/>
            <a:ext cx="31750" cy="30162"/>
          </a:xfrm>
          <a:custGeom>
            <a:avLst/>
            <a:gdLst/>
            <a:ahLst/>
            <a:cxnLst>
              <a:cxn ang="0">
                <a:pos x="58" y="28"/>
              </a:cxn>
              <a:cxn ang="0">
                <a:pos x="56" y="28"/>
              </a:cxn>
              <a:cxn ang="0">
                <a:pos x="56" y="30"/>
              </a:cxn>
              <a:cxn ang="0">
                <a:pos x="56" y="33"/>
              </a:cxn>
              <a:cxn ang="0">
                <a:pos x="55" y="39"/>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2" y="39"/>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1"/>
                </a:lnTo>
                <a:lnTo>
                  <a:pt x="39" y="54"/>
                </a:lnTo>
                <a:lnTo>
                  <a:pt x="33" y="56"/>
                </a:lnTo>
                <a:lnTo>
                  <a:pt x="30" y="56"/>
                </a:lnTo>
                <a:lnTo>
                  <a:pt x="29" y="56"/>
                </a:lnTo>
                <a:lnTo>
                  <a:pt x="29" y="57"/>
                </a:lnTo>
                <a:lnTo>
                  <a:pt x="17" y="54"/>
                </a:lnTo>
                <a:lnTo>
                  <a:pt x="9" y="49"/>
                </a:lnTo>
                <a:lnTo>
                  <a:pt x="2" y="39"/>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8" name="Freeform 377"/>
          <p:cNvSpPr>
            <a:spLocks/>
          </p:cNvSpPr>
          <p:nvPr/>
        </p:nvSpPr>
        <p:spPr bwMode="auto">
          <a:xfrm>
            <a:off x="2206625" y="2074863"/>
            <a:ext cx="30163" cy="31750"/>
          </a:xfrm>
          <a:custGeom>
            <a:avLst/>
            <a:gdLst/>
            <a:ahLst/>
            <a:cxnLst>
              <a:cxn ang="0">
                <a:pos x="57"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8" y="49"/>
              </a:cxn>
              <a:cxn ang="0">
                <a:pos x="1" y="39"/>
              </a:cxn>
              <a:cxn ang="0">
                <a:pos x="0" y="29"/>
              </a:cxn>
              <a:cxn ang="0">
                <a:pos x="1" y="18"/>
              </a:cxn>
              <a:cxn ang="0">
                <a:pos x="8" y="9"/>
              </a:cxn>
              <a:cxn ang="0">
                <a:pos x="17" y="2"/>
              </a:cxn>
              <a:cxn ang="0">
                <a:pos x="29" y="0"/>
              </a:cxn>
              <a:cxn ang="0">
                <a:pos x="39" y="2"/>
              </a:cxn>
              <a:cxn ang="0">
                <a:pos x="49" y="9"/>
              </a:cxn>
              <a:cxn ang="0">
                <a:pos x="55" y="18"/>
              </a:cxn>
              <a:cxn ang="0">
                <a:pos x="57" y="29"/>
              </a:cxn>
            </a:cxnLst>
            <a:rect l="0" t="0" r="r" b="b"/>
            <a:pathLst>
              <a:path w="57" h="58">
                <a:moveTo>
                  <a:pt x="57"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8" y="49"/>
                </a:lnTo>
                <a:lnTo>
                  <a:pt x="1" y="39"/>
                </a:lnTo>
                <a:lnTo>
                  <a:pt x="0" y="29"/>
                </a:lnTo>
                <a:lnTo>
                  <a:pt x="1" y="18"/>
                </a:lnTo>
                <a:lnTo>
                  <a:pt x="8" y="9"/>
                </a:lnTo>
                <a:lnTo>
                  <a:pt x="17" y="2"/>
                </a:lnTo>
                <a:lnTo>
                  <a:pt x="29" y="0"/>
                </a:lnTo>
                <a:lnTo>
                  <a:pt x="39" y="2"/>
                </a:lnTo>
                <a:lnTo>
                  <a:pt x="49" y="9"/>
                </a:lnTo>
                <a:lnTo>
                  <a:pt x="55"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79" name="Freeform 378"/>
          <p:cNvSpPr>
            <a:spLocks/>
          </p:cNvSpPr>
          <p:nvPr/>
        </p:nvSpPr>
        <p:spPr bwMode="auto">
          <a:xfrm>
            <a:off x="2163763" y="2058988"/>
            <a:ext cx="30162"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0" name="Freeform 379"/>
          <p:cNvSpPr>
            <a:spLocks/>
          </p:cNvSpPr>
          <p:nvPr/>
        </p:nvSpPr>
        <p:spPr bwMode="auto">
          <a:xfrm>
            <a:off x="2120900" y="2046288"/>
            <a:ext cx="30163"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1" name="Freeform 380"/>
          <p:cNvSpPr>
            <a:spLocks/>
          </p:cNvSpPr>
          <p:nvPr/>
        </p:nvSpPr>
        <p:spPr bwMode="auto">
          <a:xfrm>
            <a:off x="2076450" y="2035175"/>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2"/>
              </a:cxn>
              <a:cxn ang="0">
                <a:pos x="29" y="0"/>
              </a:cxn>
              <a:cxn ang="0">
                <a:pos x="39" y="2"/>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2"/>
                </a:lnTo>
                <a:lnTo>
                  <a:pt x="29" y="0"/>
                </a:lnTo>
                <a:lnTo>
                  <a:pt x="39" y="2"/>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2" name="Freeform 381"/>
          <p:cNvSpPr>
            <a:spLocks/>
          </p:cNvSpPr>
          <p:nvPr/>
        </p:nvSpPr>
        <p:spPr bwMode="auto">
          <a:xfrm>
            <a:off x="2032000" y="2025650"/>
            <a:ext cx="31750" cy="30163"/>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2" y="39"/>
              </a:cxn>
              <a:cxn ang="0">
                <a:pos x="0" y="29"/>
              </a:cxn>
              <a:cxn ang="0">
                <a:pos x="2"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2" y="39"/>
                </a:lnTo>
                <a:lnTo>
                  <a:pt x="0" y="29"/>
                </a:lnTo>
                <a:lnTo>
                  <a:pt x="2"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3" name="Freeform 382"/>
          <p:cNvSpPr>
            <a:spLocks/>
          </p:cNvSpPr>
          <p:nvPr/>
        </p:nvSpPr>
        <p:spPr bwMode="auto">
          <a:xfrm>
            <a:off x="1989138" y="2016125"/>
            <a:ext cx="30162"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4" name="Freeform 383"/>
          <p:cNvSpPr>
            <a:spLocks/>
          </p:cNvSpPr>
          <p:nvPr/>
        </p:nvSpPr>
        <p:spPr bwMode="auto">
          <a:xfrm>
            <a:off x="1944688" y="2009775"/>
            <a:ext cx="30162"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1" y="38"/>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0" y="56"/>
                </a:lnTo>
                <a:lnTo>
                  <a:pt x="29" y="56"/>
                </a:lnTo>
                <a:lnTo>
                  <a:pt x="29" y="57"/>
                </a:lnTo>
                <a:lnTo>
                  <a:pt x="17" y="54"/>
                </a:lnTo>
                <a:lnTo>
                  <a:pt x="9" y="49"/>
                </a:lnTo>
                <a:lnTo>
                  <a:pt x="1" y="38"/>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5" name="Freeform 384"/>
          <p:cNvSpPr>
            <a:spLocks/>
          </p:cNvSpPr>
          <p:nvPr/>
        </p:nvSpPr>
        <p:spPr bwMode="auto">
          <a:xfrm>
            <a:off x="1898650" y="2005013"/>
            <a:ext cx="30163" cy="30162"/>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6" name="Freeform 385"/>
          <p:cNvSpPr>
            <a:spLocks/>
          </p:cNvSpPr>
          <p:nvPr/>
        </p:nvSpPr>
        <p:spPr bwMode="auto">
          <a:xfrm>
            <a:off x="1852613" y="2000250"/>
            <a:ext cx="30162"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7" name="Freeform 386"/>
          <p:cNvSpPr>
            <a:spLocks/>
          </p:cNvSpPr>
          <p:nvPr/>
        </p:nvSpPr>
        <p:spPr bwMode="auto">
          <a:xfrm>
            <a:off x="1806575" y="1997075"/>
            <a:ext cx="30163" cy="31750"/>
          </a:xfrm>
          <a:custGeom>
            <a:avLst/>
            <a:gdLst/>
            <a:ahLst/>
            <a:cxnLst>
              <a:cxn ang="0">
                <a:pos x="58" y="29"/>
              </a:cxn>
              <a:cxn ang="0">
                <a:pos x="57" y="29"/>
              </a:cxn>
              <a:cxn ang="0">
                <a:pos x="57" y="31"/>
              </a:cxn>
              <a:cxn ang="0">
                <a:pos x="57" y="34"/>
              </a:cxn>
              <a:cxn ang="0">
                <a:pos x="55" y="39"/>
              </a:cxn>
              <a:cxn ang="0">
                <a:pos x="52" y="44"/>
              </a:cxn>
              <a:cxn ang="0">
                <a:pos x="50"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50" y="9"/>
              </a:cxn>
              <a:cxn ang="0">
                <a:pos x="55" y="18"/>
              </a:cxn>
              <a:cxn ang="0">
                <a:pos x="58" y="29"/>
              </a:cxn>
            </a:cxnLst>
            <a:rect l="0" t="0" r="r" b="b"/>
            <a:pathLst>
              <a:path w="58" h="58">
                <a:moveTo>
                  <a:pt x="58" y="29"/>
                </a:moveTo>
                <a:lnTo>
                  <a:pt x="57" y="29"/>
                </a:lnTo>
                <a:lnTo>
                  <a:pt x="57" y="31"/>
                </a:lnTo>
                <a:lnTo>
                  <a:pt x="57" y="34"/>
                </a:lnTo>
                <a:lnTo>
                  <a:pt x="55" y="39"/>
                </a:lnTo>
                <a:lnTo>
                  <a:pt x="52" y="44"/>
                </a:lnTo>
                <a:lnTo>
                  <a:pt x="50"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50"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8" name="Freeform 387"/>
          <p:cNvSpPr>
            <a:spLocks/>
          </p:cNvSpPr>
          <p:nvPr/>
        </p:nvSpPr>
        <p:spPr bwMode="auto">
          <a:xfrm>
            <a:off x="1760538" y="1997075"/>
            <a:ext cx="30162" cy="30163"/>
          </a:xfrm>
          <a:custGeom>
            <a:avLst/>
            <a:gdLst/>
            <a:ahLst/>
            <a:cxnLst>
              <a:cxn ang="0">
                <a:pos x="57" y="28"/>
              </a:cxn>
              <a:cxn ang="0">
                <a:pos x="56" y="28"/>
              </a:cxn>
              <a:cxn ang="0">
                <a:pos x="56" y="30"/>
              </a:cxn>
              <a:cxn ang="0">
                <a:pos x="56" y="33"/>
              </a:cxn>
              <a:cxn ang="0">
                <a:pos x="54" y="38"/>
              </a:cxn>
              <a:cxn ang="0">
                <a:pos x="51" y="43"/>
              </a:cxn>
              <a:cxn ang="0">
                <a:pos x="49" y="49"/>
              </a:cxn>
              <a:cxn ang="0">
                <a:pos x="43" y="51"/>
              </a:cxn>
              <a:cxn ang="0">
                <a:pos x="38" y="54"/>
              </a:cxn>
              <a:cxn ang="0">
                <a:pos x="33" y="56"/>
              </a:cxn>
              <a:cxn ang="0">
                <a:pos x="30" y="56"/>
              </a:cxn>
              <a:cxn ang="0">
                <a:pos x="28" y="56"/>
              </a:cxn>
              <a:cxn ang="0">
                <a:pos x="28" y="57"/>
              </a:cxn>
              <a:cxn ang="0">
                <a:pos x="17" y="54"/>
              </a:cxn>
              <a:cxn ang="0">
                <a:pos x="8" y="49"/>
              </a:cxn>
              <a:cxn ang="0">
                <a:pos x="1" y="38"/>
              </a:cxn>
              <a:cxn ang="0">
                <a:pos x="0" y="28"/>
              </a:cxn>
              <a:cxn ang="0">
                <a:pos x="1" y="17"/>
              </a:cxn>
              <a:cxn ang="0">
                <a:pos x="8" y="8"/>
              </a:cxn>
              <a:cxn ang="0">
                <a:pos x="17" y="1"/>
              </a:cxn>
              <a:cxn ang="0">
                <a:pos x="28" y="0"/>
              </a:cxn>
              <a:cxn ang="0">
                <a:pos x="38" y="1"/>
              </a:cxn>
              <a:cxn ang="0">
                <a:pos x="49" y="8"/>
              </a:cxn>
              <a:cxn ang="0">
                <a:pos x="54" y="17"/>
              </a:cxn>
              <a:cxn ang="0">
                <a:pos x="57" y="28"/>
              </a:cxn>
            </a:cxnLst>
            <a:rect l="0" t="0" r="r" b="b"/>
            <a:pathLst>
              <a:path w="57" h="57">
                <a:moveTo>
                  <a:pt x="57" y="28"/>
                </a:moveTo>
                <a:lnTo>
                  <a:pt x="56" y="28"/>
                </a:lnTo>
                <a:lnTo>
                  <a:pt x="56" y="30"/>
                </a:lnTo>
                <a:lnTo>
                  <a:pt x="56" y="33"/>
                </a:lnTo>
                <a:lnTo>
                  <a:pt x="54" y="38"/>
                </a:lnTo>
                <a:lnTo>
                  <a:pt x="51" y="43"/>
                </a:lnTo>
                <a:lnTo>
                  <a:pt x="49" y="49"/>
                </a:lnTo>
                <a:lnTo>
                  <a:pt x="43" y="51"/>
                </a:lnTo>
                <a:lnTo>
                  <a:pt x="38" y="54"/>
                </a:lnTo>
                <a:lnTo>
                  <a:pt x="33" y="56"/>
                </a:lnTo>
                <a:lnTo>
                  <a:pt x="30" y="56"/>
                </a:lnTo>
                <a:lnTo>
                  <a:pt x="28" y="56"/>
                </a:lnTo>
                <a:lnTo>
                  <a:pt x="28" y="57"/>
                </a:lnTo>
                <a:lnTo>
                  <a:pt x="17" y="54"/>
                </a:lnTo>
                <a:lnTo>
                  <a:pt x="8" y="49"/>
                </a:lnTo>
                <a:lnTo>
                  <a:pt x="1" y="38"/>
                </a:lnTo>
                <a:lnTo>
                  <a:pt x="0" y="28"/>
                </a:lnTo>
                <a:lnTo>
                  <a:pt x="1" y="17"/>
                </a:lnTo>
                <a:lnTo>
                  <a:pt x="8" y="8"/>
                </a:lnTo>
                <a:lnTo>
                  <a:pt x="17" y="1"/>
                </a:lnTo>
                <a:lnTo>
                  <a:pt x="28" y="0"/>
                </a:lnTo>
                <a:lnTo>
                  <a:pt x="38"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89" name="Freeform 388"/>
          <p:cNvSpPr>
            <a:spLocks/>
          </p:cNvSpPr>
          <p:nvPr/>
        </p:nvSpPr>
        <p:spPr bwMode="auto">
          <a:xfrm>
            <a:off x="1714500" y="1997075"/>
            <a:ext cx="30163" cy="30163"/>
          </a:xfrm>
          <a:custGeom>
            <a:avLst/>
            <a:gdLst/>
            <a:ahLst/>
            <a:cxnLst>
              <a:cxn ang="0">
                <a:pos x="57" y="28"/>
              </a:cxn>
              <a:cxn ang="0">
                <a:pos x="56" y="28"/>
              </a:cxn>
              <a:cxn ang="0">
                <a:pos x="56" y="30"/>
              </a:cxn>
              <a:cxn ang="0">
                <a:pos x="56" y="33"/>
              </a:cxn>
              <a:cxn ang="0">
                <a:pos x="54" y="38"/>
              </a:cxn>
              <a:cxn ang="0">
                <a:pos x="52" y="43"/>
              </a:cxn>
              <a:cxn ang="0">
                <a:pos x="49" y="49"/>
              </a:cxn>
              <a:cxn ang="0">
                <a:pos x="43" y="51"/>
              </a:cxn>
              <a:cxn ang="0">
                <a:pos x="39" y="54"/>
              </a:cxn>
              <a:cxn ang="0">
                <a:pos x="33" y="56"/>
              </a:cxn>
              <a:cxn ang="0">
                <a:pos x="30" y="56"/>
              </a:cxn>
              <a:cxn ang="0">
                <a:pos x="28" y="56"/>
              </a:cxn>
              <a:cxn ang="0">
                <a:pos x="28" y="57"/>
              </a:cxn>
              <a:cxn ang="0">
                <a:pos x="17" y="54"/>
              </a:cxn>
              <a:cxn ang="0">
                <a:pos x="8" y="49"/>
              </a:cxn>
              <a:cxn ang="0">
                <a:pos x="1" y="38"/>
              </a:cxn>
              <a:cxn ang="0">
                <a:pos x="0" y="28"/>
              </a:cxn>
              <a:cxn ang="0">
                <a:pos x="1" y="17"/>
              </a:cxn>
              <a:cxn ang="0">
                <a:pos x="8" y="8"/>
              </a:cxn>
              <a:cxn ang="0">
                <a:pos x="17" y="1"/>
              </a:cxn>
              <a:cxn ang="0">
                <a:pos x="28"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8"/>
                </a:lnTo>
                <a:lnTo>
                  <a:pt x="52" y="43"/>
                </a:lnTo>
                <a:lnTo>
                  <a:pt x="49" y="49"/>
                </a:lnTo>
                <a:lnTo>
                  <a:pt x="43" y="51"/>
                </a:lnTo>
                <a:lnTo>
                  <a:pt x="39" y="54"/>
                </a:lnTo>
                <a:lnTo>
                  <a:pt x="33" y="56"/>
                </a:lnTo>
                <a:lnTo>
                  <a:pt x="30" y="56"/>
                </a:lnTo>
                <a:lnTo>
                  <a:pt x="28" y="56"/>
                </a:lnTo>
                <a:lnTo>
                  <a:pt x="28" y="57"/>
                </a:lnTo>
                <a:lnTo>
                  <a:pt x="17" y="54"/>
                </a:lnTo>
                <a:lnTo>
                  <a:pt x="8" y="49"/>
                </a:lnTo>
                <a:lnTo>
                  <a:pt x="1" y="38"/>
                </a:lnTo>
                <a:lnTo>
                  <a:pt x="0" y="28"/>
                </a:lnTo>
                <a:lnTo>
                  <a:pt x="1" y="17"/>
                </a:lnTo>
                <a:lnTo>
                  <a:pt x="8" y="8"/>
                </a:lnTo>
                <a:lnTo>
                  <a:pt x="17" y="1"/>
                </a:lnTo>
                <a:lnTo>
                  <a:pt x="28"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0" name="Freeform 389"/>
          <p:cNvSpPr>
            <a:spLocks/>
          </p:cNvSpPr>
          <p:nvPr/>
        </p:nvSpPr>
        <p:spPr bwMode="auto">
          <a:xfrm>
            <a:off x="1668463" y="1997075"/>
            <a:ext cx="30162" cy="31750"/>
          </a:xfrm>
          <a:custGeom>
            <a:avLst/>
            <a:gdLst/>
            <a:ahLst/>
            <a:cxnLst>
              <a:cxn ang="0">
                <a:pos x="57" y="29"/>
              </a:cxn>
              <a:cxn ang="0">
                <a:pos x="56" y="29"/>
              </a:cxn>
              <a:cxn ang="0">
                <a:pos x="56" y="31"/>
              </a:cxn>
              <a:cxn ang="0">
                <a:pos x="56" y="34"/>
              </a:cxn>
              <a:cxn ang="0">
                <a:pos x="54" y="39"/>
              </a:cxn>
              <a:cxn ang="0">
                <a:pos x="51" y="44"/>
              </a:cxn>
              <a:cxn ang="0">
                <a:pos x="49" y="49"/>
              </a:cxn>
              <a:cxn ang="0">
                <a:pos x="43" y="52"/>
              </a:cxn>
              <a:cxn ang="0">
                <a:pos x="39" y="55"/>
              </a:cxn>
              <a:cxn ang="0">
                <a:pos x="33" y="57"/>
              </a:cxn>
              <a:cxn ang="0">
                <a:pos x="30" y="57"/>
              </a:cxn>
              <a:cxn ang="0">
                <a:pos x="28" y="57"/>
              </a:cxn>
              <a:cxn ang="0">
                <a:pos x="28" y="58"/>
              </a:cxn>
              <a:cxn ang="0">
                <a:pos x="17" y="55"/>
              </a:cxn>
              <a:cxn ang="0">
                <a:pos x="8" y="49"/>
              </a:cxn>
              <a:cxn ang="0">
                <a:pos x="1" y="39"/>
              </a:cxn>
              <a:cxn ang="0">
                <a:pos x="0" y="29"/>
              </a:cxn>
              <a:cxn ang="0">
                <a:pos x="1" y="18"/>
              </a:cxn>
              <a:cxn ang="0">
                <a:pos x="8" y="9"/>
              </a:cxn>
              <a:cxn ang="0">
                <a:pos x="17" y="2"/>
              </a:cxn>
              <a:cxn ang="0">
                <a:pos x="28" y="0"/>
              </a:cxn>
              <a:cxn ang="0">
                <a:pos x="39" y="2"/>
              </a:cxn>
              <a:cxn ang="0">
                <a:pos x="49" y="9"/>
              </a:cxn>
              <a:cxn ang="0">
                <a:pos x="54" y="18"/>
              </a:cxn>
              <a:cxn ang="0">
                <a:pos x="57" y="29"/>
              </a:cxn>
            </a:cxnLst>
            <a:rect l="0" t="0" r="r" b="b"/>
            <a:pathLst>
              <a:path w="57" h="58">
                <a:moveTo>
                  <a:pt x="57" y="29"/>
                </a:moveTo>
                <a:lnTo>
                  <a:pt x="56" y="29"/>
                </a:lnTo>
                <a:lnTo>
                  <a:pt x="56" y="31"/>
                </a:lnTo>
                <a:lnTo>
                  <a:pt x="56" y="34"/>
                </a:lnTo>
                <a:lnTo>
                  <a:pt x="54" y="39"/>
                </a:lnTo>
                <a:lnTo>
                  <a:pt x="51" y="44"/>
                </a:lnTo>
                <a:lnTo>
                  <a:pt x="49" y="49"/>
                </a:lnTo>
                <a:lnTo>
                  <a:pt x="43" y="52"/>
                </a:lnTo>
                <a:lnTo>
                  <a:pt x="39" y="55"/>
                </a:lnTo>
                <a:lnTo>
                  <a:pt x="33" y="57"/>
                </a:lnTo>
                <a:lnTo>
                  <a:pt x="30" y="57"/>
                </a:lnTo>
                <a:lnTo>
                  <a:pt x="28" y="57"/>
                </a:lnTo>
                <a:lnTo>
                  <a:pt x="28" y="58"/>
                </a:lnTo>
                <a:lnTo>
                  <a:pt x="17" y="55"/>
                </a:lnTo>
                <a:lnTo>
                  <a:pt x="8" y="49"/>
                </a:lnTo>
                <a:lnTo>
                  <a:pt x="1" y="39"/>
                </a:lnTo>
                <a:lnTo>
                  <a:pt x="0" y="29"/>
                </a:lnTo>
                <a:lnTo>
                  <a:pt x="1" y="18"/>
                </a:lnTo>
                <a:lnTo>
                  <a:pt x="8" y="9"/>
                </a:lnTo>
                <a:lnTo>
                  <a:pt x="17" y="2"/>
                </a:lnTo>
                <a:lnTo>
                  <a:pt x="28" y="0"/>
                </a:lnTo>
                <a:lnTo>
                  <a:pt x="39" y="2"/>
                </a:lnTo>
                <a:lnTo>
                  <a:pt x="49" y="9"/>
                </a:lnTo>
                <a:lnTo>
                  <a:pt x="54"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1" name="Freeform 390"/>
          <p:cNvSpPr>
            <a:spLocks/>
          </p:cNvSpPr>
          <p:nvPr/>
        </p:nvSpPr>
        <p:spPr bwMode="auto">
          <a:xfrm>
            <a:off x="1624013" y="2000250"/>
            <a:ext cx="30162"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7"/>
              </a:cxn>
              <a:cxn ang="0">
                <a:pos x="17" y="55"/>
              </a:cxn>
              <a:cxn ang="0">
                <a:pos x="8" y="49"/>
              </a:cxn>
              <a:cxn ang="0">
                <a:pos x="1" y="39"/>
              </a:cxn>
              <a:cxn ang="0">
                <a:pos x="0" y="29"/>
              </a:cxn>
              <a:cxn ang="0">
                <a:pos x="1" y="17"/>
              </a:cxn>
              <a:cxn ang="0">
                <a:pos x="8" y="8"/>
              </a:cxn>
              <a:cxn ang="0">
                <a:pos x="17" y="1"/>
              </a:cxn>
              <a:cxn ang="0">
                <a:pos x="28" y="0"/>
              </a:cxn>
              <a:cxn ang="0">
                <a:pos x="38" y="1"/>
              </a:cxn>
              <a:cxn ang="0">
                <a:pos x="49" y="8"/>
              </a:cxn>
              <a:cxn ang="0">
                <a:pos x="54" y="17"/>
              </a:cxn>
              <a:cxn ang="0">
                <a:pos x="57" y="29"/>
              </a:cxn>
            </a:cxnLst>
            <a:rect l="0" t="0" r="r" b="b"/>
            <a:pathLst>
              <a:path w="57" h="57">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7"/>
                </a:lnTo>
                <a:lnTo>
                  <a:pt x="17" y="55"/>
                </a:lnTo>
                <a:lnTo>
                  <a:pt x="8" y="49"/>
                </a:lnTo>
                <a:lnTo>
                  <a:pt x="1" y="39"/>
                </a:lnTo>
                <a:lnTo>
                  <a:pt x="0" y="29"/>
                </a:lnTo>
                <a:lnTo>
                  <a:pt x="1" y="17"/>
                </a:lnTo>
                <a:lnTo>
                  <a:pt x="8" y="8"/>
                </a:lnTo>
                <a:lnTo>
                  <a:pt x="17" y="1"/>
                </a:lnTo>
                <a:lnTo>
                  <a:pt x="28" y="0"/>
                </a:lnTo>
                <a:lnTo>
                  <a:pt x="38" y="1"/>
                </a:lnTo>
                <a:lnTo>
                  <a:pt x="49" y="8"/>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2" name="Freeform 391"/>
          <p:cNvSpPr>
            <a:spLocks/>
          </p:cNvSpPr>
          <p:nvPr/>
        </p:nvSpPr>
        <p:spPr bwMode="auto">
          <a:xfrm>
            <a:off x="1579563" y="2003425"/>
            <a:ext cx="30162" cy="31750"/>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3" name="Freeform 392"/>
          <p:cNvSpPr>
            <a:spLocks/>
          </p:cNvSpPr>
          <p:nvPr/>
        </p:nvSpPr>
        <p:spPr bwMode="auto">
          <a:xfrm>
            <a:off x="1533525" y="2009775"/>
            <a:ext cx="30163"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4" name="Freeform 393"/>
          <p:cNvSpPr>
            <a:spLocks/>
          </p:cNvSpPr>
          <p:nvPr/>
        </p:nvSpPr>
        <p:spPr bwMode="auto">
          <a:xfrm>
            <a:off x="1489075" y="2016125"/>
            <a:ext cx="30163"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5" name="Freeform 394"/>
          <p:cNvSpPr>
            <a:spLocks/>
          </p:cNvSpPr>
          <p:nvPr/>
        </p:nvSpPr>
        <p:spPr bwMode="auto">
          <a:xfrm>
            <a:off x="1443038" y="2025650"/>
            <a:ext cx="31750" cy="30163"/>
          </a:xfrm>
          <a:custGeom>
            <a:avLst/>
            <a:gdLst/>
            <a:ahLst/>
            <a:cxnLst>
              <a:cxn ang="0">
                <a:pos x="58" y="29"/>
              </a:cxn>
              <a:cxn ang="0">
                <a:pos x="57" y="29"/>
              </a:cxn>
              <a:cxn ang="0">
                <a:pos x="57" y="31"/>
              </a:cxn>
              <a:cxn ang="0">
                <a:pos x="57" y="33"/>
              </a:cxn>
              <a:cxn ang="0">
                <a:pos x="55" y="39"/>
              </a:cxn>
              <a:cxn ang="0">
                <a:pos x="52" y="44"/>
              </a:cxn>
              <a:cxn ang="0">
                <a:pos x="49"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3"/>
                </a:lnTo>
                <a:lnTo>
                  <a:pt x="55" y="39"/>
                </a:lnTo>
                <a:lnTo>
                  <a:pt x="52" y="44"/>
                </a:lnTo>
                <a:lnTo>
                  <a:pt x="49"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6" name="Freeform 395"/>
          <p:cNvSpPr>
            <a:spLocks/>
          </p:cNvSpPr>
          <p:nvPr/>
        </p:nvSpPr>
        <p:spPr bwMode="auto">
          <a:xfrm>
            <a:off x="1400175" y="2036763"/>
            <a:ext cx="30163" cy="30162"/>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7" name="Freeform 396"/>
          <p:cNvSpPr>
            <a:spLocks/>
          </p:cNvSpPr>
          <p:nvPr/>
        </p:nvSpPr>
        <p:spPr bwMode="auto">
          <a:xfrm>
            <a:off x="1355725" y="2049463"/>
            <a:ext cx="30163" cy="30162"/>
          </a:xfrm>
          <a:custGeom>
            <a:avLst/>
            <a:gdLst/>
            <a:ahLst/>
            <a:cxnLst>
              <a:cxn ang="0">
                <a:pos x="57" y="29"/>
              </a:cxn>
              <a:cxn ang="0">
                <a:pos x="56" y="29"/>
              </a:cxn>
              <a:cxn ang="0">
                <a:pos x="56" y="31"/>
              </a:cxn>
              <a:cxn ang="0">
                <a:pos x="56" y="34"/>
              </a:cxn>
              <a:cxn ang="0">
                <a:pos x="54" y="39"/>
              </a:cxn>
              <a:cxn ang="0">
                <a:pos x="51" y="44"/>
              </a:cxn>
              <a:cxn ang="0">
                <a:pos x="49" y="49"/>
              </a:cxn>
              <a:cxn ang="0">
                <a:pos x="43" y="52"/>
              </a:cxn>
              <a:cxn ang="0">
                <a:pos x="39" y="55"/>
              </a:cxn>
              <a:cxn ang="0">
                <a:pos x="33" y="57"/>
              </a:cxn>
              <a:cxn ang="0">
                <a:pos x="30" y="57"/>
              </a:cxn>
              <a:cxn ang="0">
                <a:pos x="28" y="57"/>
              </a:cxn>
              <a:cxn ang="0">
                <a:pos x="28" y="58"/>
              </a:cxn>
              <a:cxn ang="0">
                <a:pos x="17" y="55"/>
              </a:cxn>
              <a:cxn ang="0">
                <a:pos x="8" y="49"/>
              </a:cxn>
              <a:cxn ang="0">
                <a:pos x="1" y="39"/>
              </a:cxn>
              <a:cxn ang="0">
                <a:pos x="0" y="29"/>
              </a:cxn>
              <a:cxn ang="0">
                <a:pos x="1" y="18"/>
              </a:cxn>
              <a:cxn ang="0">
                <a:pos x="8" y="9"/>
              </a:cxn>
              <a:cxn ang="0">
                <a:pos x="17" y="2"/>
              </a:cxn>
              <a:cxn ang="0">
                <a:pos x="28" y="0"/>
              </a:cxn>
              <a:cxn ang="0">
                <a:pos x="39" y="2"/>
              </a:cxn>
              <a:cxn ang="0">
                <a:pos x="49" y="9"/>
              </a:cxn>
              <a:cxn ang="0">
                <a:pos x="54" y="18"/>
              </a:cxn>
              <a:cxn ang="0">
                <a:pos x="57" y="29"/>
              </a:cxn>
            </a:cxnLst>
            <a:rect l="0" t="0" r="r" b="b"/>
            <a:pathLst>
              <a:path w="57" h="58">
                <a:moveTo>
                  <a:pt x="57" y="29"/>
                </a:moveTo>
                <a:lnTo>
                  <a:pt x="56" y="29"/>
                </a:lnTo>
                <a:lnTo>
                  <a:pt x="56" y="31"/>
                </a:lnTo>
                <a:lnTo>
                  <a:pt x="56" y="34"/>
                </a:lnTo>
                <a:lnTo>
                  <a:pt x="54" y="39"/>
                </a:lnTo>
                <a:lnTo>
                  <a:pt x="51" y="44"/>
                </a:lnTo>
                <a:lnTo>
                  <a:pt x="49" y="49"/>
                </a:lnTo>
                <a:lnTo>
                  <a:pt x="43" y="52"/>
                </a:lnTo>
                <a:lnTo>
                  <a:pt x="39" y="55"/>
                </a:lnTo>
                <a:lnTo>
                  <a:pt x="33" y="57"/>
                </a:lnTo>
                <a:lnTo>
                  <a:pt x="30" y="57"/>
                </a:lnTo>
                <a:lnTo>
                  <a:pt x="28" y="57"/>
                </a:lnTo>
                <a:lnTo>
                  <a:pt x="28" y="58"/>
                </a:lnTo>
                <a:lnTo>
                  <a:pt x="17" y="55"/>
                </a:lnTo>
                <a:lnTo>
                  <a:pt x="8" y="49"/>
                </a:lnTo>
                <a:lnTo>
                  <a:pt x="1" y="39"/>
                </a:lnTo>
                <a:lnTo>
                  <a:pt x="0" y="29"/>
                </a:lnTo>
                <a:lnTo>
                  <a:pt x="1" y="18"/>
                </a:lnTo>
                <a:lnTo>
                  <a:pt x="8" y="9"/>
                </a:lnTo>
                <a:lnTo>
                  <a:pt x="17" y="2"/>
                </a:lnTo>
                <a:lnTo>
                  <a:pt x="28" y="0"/>
                </a:lnTo>
                <a:lnTo>
                  <a:pt x="39" y="2"/>
                </a:lnTo>
                <a:lnTo>
                  <a:pt x="49" y="9"/>
                </a:lnTo>
                <a:lnTo>
                  <a:pt x="54"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8" name="Freeform 397"/>
          <p:cNvSpPr>
            <a:spLocks/>
          </p:cNvSpPr>
          <p:nvPr/>
        </p:nvSpPr>
        <p:spPr bwMode="auto">
          <a:xfrm>
            <a:off x="1312863" y="2063750"/>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399" name="Freeform 398"/>
          <p:cNvSpPr>
            <a:spLocks/>
          </p:cNvSpPr>
          <p:nvPr/>
        </p:nvSpPr>
        <p:spPr bwMode="auto">
          <a:xfrm>
            <a:off x="1271588" y="2079625"/>
            <a:ext cx="30162" cy="31750"/>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2"/>
              </a:cxn>
              <a:cxn ang="0">
                <a:pos x="28" y="0"/>
              </a:cxn>
              <a:cxn ang="0">
                <a:pos x="39" y="2"/>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2"/>
                </a:lnTo>
                <a:lnTo>
                  <a:pt x="28" y="0"/>
                </a:lnTo>
                <a:lnTo>
                  <a:pt x="39" y="2"/>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0" name="Freeform 399"/>
          <p:cNvSpPr>
            <a:spLocks/>
          </p:cNvSpPr>
          <p:nvPr/>
        </p:nvSpPr>
        <p:spPr bwMode="auto">
          <a:xfrm>
            <a:off x="1228725" y="2097088"/>
            <a:ext cx="31750" cy="31750"/>
          </a:xfrm>
          <a:custGeom>
            <a:avLst/>
            <a:gdLst/>
            <a:ahLst/>
            <a:cxnLst>
              <a:cxn ang="0">
                <a:pos x="58" y="29"/>
              </a:cxn>
              <a:cxn ang="0">
                <a:pos x="57" y="29"/>
              </a:cxn>
              <a:cxn ang="0">
                <a:pos x="57" y="31"/>
              </a:cxn>
              <a:cxn ang="0">
                <a:pos x="57"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1" name="Freeform 400"/>
          <p:cNvSpPr>
            <a:spLocks/>
          </p:cNvSpPr>
          <p:nvPr/>
        </p:nvSpPr>
        <p:spPr bwMode="auto">
          <a:xfrm>
            <a:off x="1189038" y="2116138"/>
            <a:ext cx="31750" cy="31750"/>
          </a:xfrm>
          <a:custGeom>
            <a:avLst/>
            <a:gdLst/>
            <a:ahLst/>
            <a:cxnLst>
              <a:cxn ang="0">
                <a:pos x="58" y="29"/>
              </a:cxn>
              <a:cxn ang="0">
                <a:pos x="57" y="29"/>
              </a:cxn>
              <a:cxn ang="0">
                <a:pos x="57" y="31"/>
              </a:cxn>
              <a:cxn ang="0">
                <a:pos x="57" y="33"/>
              </a:cxn>
              <a:cxn ang="0">
                <a:pos x="55" y="39"/>
              </a:cxn>
              <a:cxn ang="0">
                <a:pos x="52" y="44"/>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3"/>
                </a:lnTo>
                <a:lnTo>
                  <a:pt x="55" y="39"/>
                </a:lnTo>
                <a:lnTo>
                  <a:pt x="52" y="44"/>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2" name="Freeform 401"/>
          <p:cNvSpPr>
            <a:spLocks/>
          </p:cNvSpPr>
          <p:nvPr/>
        </p:nvSpPr>
        <p:spPr bwMode="auto">
          <a:xfrm>
            <a:off x="1149350" y="2138363"/>
            <a:ext cx="30163" cy="30162"/>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8"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8"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8"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8"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3" name="Freeform 402"/>
          <p:cNvSpPr>
            <a:spLocks/>
          </p:cNvSpPr>
          <p:nvPr/>
        </p:nvSpPr>
        <p:spPr bwMode="auto">
          <a:xfrm>
            <a:off x="1109663" y="2162175"/>
            <a:ext cx="31750" cy="30163"/>
          </a:xfrm>
          <a:custGeom>
            <a:avLst/>
            <a:gdLst/>
            <a:ahLst/>
            <a:cxnLst>
              <a:cxn ang="0">
                <a:pos x="58" y="29"/>
              </a:cxn>
              <a:cxn ang="0">
                <a:pos x="57" y="29"/>
              </a:cxn>
              <a:cxn ang="0">
                <a:pos x="57" y="31"/>
              </a:cxn>
              <a:cxn ang="0">
                <a:pos x="57" y="33"/>
              </a:cxn>
              <a:cxn ang="0">
                <a:pos x="55" y="39"/>
              </a:cxn>
              <a:cxn ang="0">
                <a:pos x="52" y="44"/>
              </a:cxn>
              <a:cxn ang="0">
                <a:pos x="49"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3"/>
                </a:lnTo>
                <a:lnTo>
                  <a:pt x="55" y="39"/>
                </a:lnTo>
                <a:lnTo>
                  <a:pt x="52" y="44"/>
                </a:lnTo>
                <a:lnTo>
                  <a:pt x="49"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4" name="Freeform 403"/>
          <p:cNvSpPr>
            <a:spLocks/>
          </p:cNvSpPr>
          <p:nvPr/>
        </p:nvSpPr>
        <p:spPr bwMode="auto">
          <a:xfrm>
            <a:off x="1073150" y="2187575"/>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4"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4"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5" name="Freeform 404"/>
          <p:cNvSpPr>
            <a:spLocks/>
          </p:cNvSpPr>
          <p:nvPr/>
        </p:nvSpPr>
        <p:spPr bwMode="auto">
          <a:xfrm>
            <a:off x="1038225" y="2214563"/>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6" name="Freeform 405"/>
          <p:cNvSpPr>
            <a:spLocks/>
          </p:cNvSpPr>
          <p:nvPr/>
        </p:nvSpPr>
        <p:spPr bwMode="auto">
          <a:xfrm>
            <a:off x="1006475" y="2246313"/>
            <a:ext cx="30163" cy="30162"/>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7" name="Freeform 406"/>
          <p:cNvSpPr>
            <a:spLocks/>
          </p:cNvSpPr>
          <p:nvPr/>
        </p:nvSpPr>
        <p:spPr bwMode="auto">
          <a:xfrm>
            <a:off x="976313" y="228123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8" name="Freeform 407"/>
          <p:cNvSpPr>
            <a:spLocks/>
          </p:cNvSpPr>
          <p:nvPr/>
        </p:nvSpPr>
        <p:spPr bwMode="auto">
          <a:xfrm>
            <a:off x="952500" y="231775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9"/>
              </a:cxn>
              <a:cxn ang="0">
                <a:pos x="2"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9"/>
                </a:lnTo>
                <a:lnTo>
                  <a:pt x="2"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09" name="Freeform 408"/>
          <p:cNvSpPr>
            <a:spLocks/>
          </p:cNvSpPr>
          <p:nvPr/>
        </p:nvSpPr>
        <p:spPr bwMode="auto">
          <a:xfrm>
            <a:off x="933450" y="2359025"/>
            <a:ext cx="30163"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1" y="38"/>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0" y="56"/>
                </a:lnTo>
                <a:lnTo>
                  <a:pt x="29" y="56"/>
                </a:lnTo>
                <a:lnTo>
                  <a:pt x="29" y="57"/>
                </a:lnTo>
                <a:lnTo>
                  <a:pt x="17" y="54"/>
                </a:lnTo>
                <a:lnTo>
                  <a:pt x="9" y="49"/>
                </a:lnTo>
                <a:lnTo>
                  <a:pt x="1" y="38"/>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0" name="Freeform 410"/>
          <p:cNvSpPr>
            <a:spLocks/>
          </p:cNvSpPr>
          <p:nvPr/>
        </p:nvSpPr>
        <p:spPr bwMode="auto">
          <a:xfrm>
            <a:off x="920750" y="2403475"/>
            <a:ext cx="30163"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4"/>
              </a:cxn>
              <a:cxn ang="0">
                <a:pos x="33" y="56"/>
              </a:cxn>
              <a:cxn ang="0">
                <a:pos x="30" y="56"/>
              </a:cxn>
              <a:cxn ang="0">
                <a:pos x="28" y="56"/>
              </a:cxn>
              <a:cxn ang="0">
                <a:pos x="28" y="57"/>
              </a:cxn>
              <a:cxn ang="0">
                <a:pos x="17" y="54"/>
              </a:cxn>
              <a:cxn ang="0">
                <a:pos x="8" y="49"/>
              </a:cxn>
              <a:cxn ang="0">
                <a:pos x="1" y="39"/>
              </a:cxn>
              <a:cxn ang="0">
                <a:pos x="0" y="29"/>
              </a:cxn>
              <a:cxn ang="0">
                <a:pos x="1" y="17"/>
              </a:cxn>
              <a:cxn ang="0">
                <a:pos x="8" y="8"/>
              </a:cxn>
              <a:cxn ang="0">
                <a:pos x="17" y="1"/>
              </a:cxn>
              <a:cxn ang="0">
                <a:pos x="28" y="0"/>
              </a:cxn>
              <a:cxn ang="0">
                <a:pos x="38" y="1"/>
              </a:cxn>
              <a:cxn ang="0">
                <a:pos x="49" y="8"/>
              </a:cxn>
              <a:cxn ang="0">
                <a:pos x="54" y="17"/>
              </a:cxn>
              <a:cxn ang="0">
                <a:pos x="57" y="29"/>
              </a:cxn>
            </a:cxnLst>
            <a:rect l="0" t="0" r="r" b="b"/>
            <a:pathLst>
              <a:path w="57" h="57">
                <a:moveTo>
                  <a:pt x="57" y="29"/>
                </a:moveTo>
                <a:lnTo>
                  <a:pt x="56" y="29"/>
                </a:lnTo>
                <a:lnTo>
                  <a:pt x="56" y="30"/>
                </a:lnTo>
                <a:lnTo>
                  <a:pt x="56" y="33"/>
                </a:lnTo>
                <a:lnTo>
                  <a:pt x="54" y="39"/>
                </a:lnTo>
                <a:lnTo>
                  <a:pt x="51" y="43"/>
                </a:lnTo>
                <a:lnTo>
                  <a:pt x="49" y="49"/>
                </a:lnTo>
                <a:lnTo>
                  <a:pt x="43" y="52"/>
                </a:lnTo>
                <a:lnTo>
                  <a:pt x="38" y="54"/>
                </a:lnTo>
                <a:lnTo>
                  <a:pt x="33" y="56"/>
                </a:lnTo>
                <a:lnTo>
                  <a:pt x="30" y="56"/>
                </a:lnTo>
                <a:lnTo>
                  <a:pt x="28" y="56"/>
                </a:lnTo>
                <a:lnTo>
                  <a:pt x="28" y="57"/>
                </a:lnTo>
                <a:lnTo>
                  <a:pt x="17" y="54"/>
                </a:lnTo>
                <a:lnTo>
                  <a:pt x="8" y="49"/>
                </a:lnTo>
                <a:lnTo>
                  <a:pt x="1" y="39"/>
                </a:lnTo>
                <a:lnTo>
                  <a:pt x="0" y="29"/>
                </a:lnTo>
                <a:lnTo>
                  <a:pt x="1" y="17"/>
                </a:lnTo>
                <a:lnTo>
                  <a:pt x="8" y="8"/>
                </a:lnTo>
                <a:lnTo>
                  <a:pt x="17" y="1"/>
                </a:lnTo>
                <a:lnTo>
                  <a:pt x="28" y="0"/>
                </a:lnTo>
                <a:lnTo>
                  <a:pt x="38" y="1"/>
                </a:lnTo>
                <a:lnTo>
                  <a:pt x="49" y="8"/>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1" name="Freeform 411"/>
          <p:cNvSpPr>
            <a:spLocks/>
          </p:cNvSpPr>
          <p:nvPr/>
        </p:nvSpPr>
        <p:spPr bwMode="auto">
          <a:xfrm>
            <a:off x="914400" y="2449513"/>
            <a:ext cx="30163" cy="30162"/>
          </a:xfrm>
          <a:custGeom>
            <a:avLst/>
            <a:gdLst/>
            <a:ahLst/>
            <a:cxnLst>
              <a:cxn ang="0">
                <a:pos x="58" y="28"/>
              </a:cxn>
              <a:cxn ang="0">
                <a:pos x="56" y="28"/>
              </a:cxn>
              <a:cxn ang="0">
                <a:pos x="56" y="30"/>
              </a:cxn>
              <a:cxn ang="0">
                <a:pos x="56" y="33"/>
              </a:cxn>
              <a:cxn ang="0">
                <a:pos x="55" y="39"/>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1" y="39"/>
              </a:cxn>
              <a:cxn ang="0">
                <a:pos x="0" y="28"/>
              </a:cxn>
              <a:cxn ang="0">
                <a:pos x="1"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1"/>
                </a:lnTo>
                <a:lnTo>
                  <a:pt x="39" y="54"/>
                </a:lnTo>
                <a:lnTo>
                  <a:pt x="33" y="56"/>
                </a:lnTo>
                <a:lnTo>
                  <a:pt x="30" y="56"/>
                </a:lnTo>
                <a:lnTo>
                  <a:pt x="29" y="56"/>
                </a:lnTo>
                <a:lnTo>
                  <a:pt x="29" y="57"/>
                </a:lnTo>
                <a:lnTo>
                  <a:pt x="17" y="54"/>
                </a:lnTo>
                <a:lnTo>
                  <a:pt x="9" y="49"/>
                </a:lnTo>
                <a:lnTo>
                  <a:pt x="1" y="39"/>
                </a:lnTo>
                <a:lnTo>
                  <a:pt x="0" y="28"/>
                </a:lnTo>
                <a:lnTo>
                  <a:pt x="1"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2" name="Freeform 412"/>
          <p:cNvSpPr>
            <a:spLocks/>
          </p:cNvSpPr>
          <p:nvPr/>
        </p:nvSpPr>
        <p:spPr bwMode="auto">
          <a:xfrm>
            <a:off x="915988" y="249555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3" name="Freeform 413"/>
          <p:cNvSpPr>
            <a:spLocks/>
          </p:cNvSpPr>
          <p:nvPr/>
        </p:nvSpPr>
        <p:spPr bwMode="auto">
          <a:xfrm>
            <a:off x="923925" y="254000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2"/>
              </a:cxn>
              <a:cxn ang="0">
                <a:pos x="29" y="0"/>
              </a:cxn>
              <a:cxn ang="0">
                <a:pos x="39" y="2"/>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2"/>
                </a:lnTo>
                <a:lnTo>
                  <a:pt x="29" y="0"/>
                </a:lnTo>
                <a:lnTo>
                  <a:pt x="39" y="2"/>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4" name="Freeform 414"/>
          <p:cNvSpPr>
            <a:spLocks/>
          </p:cNvSpPr>
          <p:nvPr/>
        </p:nvSpPr>
        <p:spPr bwMode="auto">
          <a:xfrm>
            <a:off x="939800" y="2582863"/>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5" name="Freeform 415"/>
          <p:cNvSpPr>
            <a:spLocks/>
          </p:cNvSpPr>
          <p:nvPr/>
        </p:nvSpPr>
        <p:spPr bwMode="auto">
          <a:xfrm>
            <a:off x="963613" y="2624138"/>
            <a:ext cx="30162" cy="30162"/>
          </a:xfrm>
          <a:custGeom>
            <a:avLst/>
            <a:gdLst/>
            <a:ahLst/>
            <a:cxnLst>
              <a:cxn ang="0">
                <a:pos x="58" y="28"/>
              </a:cxn>
              <a:cxn ang="0">
                <a:pos x="56" y="28"/>
              </a:cxn>
              <a:cxn ang="0">
                <a:pos x="56" y="30"/>
              </a:cxn>
              <a:cxn ang="0">
                <a:pos x="56" y="33"/>
              </a:cxn>
              <a:cxn ang="0">
                <a:pos x="55" y="39"/>
              </a:cxn>
              <a:cxn ang="0">
                <a:pos x="52" y="43"/>
              </a:cxn>
              <a:cxn ang="0">
                <a:pos x="49" y="49"/>
              </a:cxn>
              <a:cxn ang="0">
                <a:pos x="43" y="51"/>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3" y="51"/>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6" name="Freeform 416"/>
          <p:cNvSpPr>
            <a:spLocks/>
          </p:cNvSpPr>
          <p:nvPr/>
        </p:nvSpPr>
        <p:spPr bwMode="auto">
          <a:xfrm>
            <a:off x="990600" y="2660650"/>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7" name="Freeform 417"/>
          <p:cNvSpPr>
            <a:spLocks/>
          </p:cNvSpPr>
          <p:nvPr/>
        </p:nvSpPr>
        <p:spPr bwMode="auto">
          <a:xfrm>
            <a:off x="1022350" y="2695575"/>
            <a:ext cx="30163" cy="30163"/>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2"/>
              </a:cxn>
              <a:cxn ang="0">
                <a:pos x="29" y="0"/>
              </a:cxn>
              <a:cxn ang="0">
                <a:pos x="39" y="2"/>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2"/>
                </a:lnTo>
                <a:lnTo>
                  <a:pt x="29" y="0"/>
                </a:lnTo>
                <a:lnTo>
                  <a:pt x="39" y="2"/>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8" name="Freeform 418"/>
          <p:cNvSpPr>
            <a:spLocks/>
          </p:cNvSpPr>
          <p:nvPr/>
        </p:nvSpPr>
        <p:spPr bwMode="auto">
          <a:xfrm>
            <a:off x="1058863" y="2727325"/>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19" name="Freeform 419"/>
          <p:cNvSpPr>
            <a:spLocks/>
          </p:cNvSpPr>
          <p:nvPr/>
        </p:nvSpPr>
        <p:spPr bwMode="auto">
          <a:xfrm>
            <a:off x="1095375" y="2754313"/>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0" name="Freeform 420"/>
          <p:cNvSpPr>
            <a:spLocks/>
          </p:cNvSpPr>
          <p:nvPr/>
        </p:nvSpPr>
        <p:spPr bwMode="auto">
          <a:xfrm>
            <a:off x="1133475" y="2778125"/>
            <a:ext cx="31750"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1" name="Freeform 421"/>
          <p:cNvSpPr>
            <a:spLocks/>
          </p:cNvSpPr>
          <p:nvPr/>
        </p:nvSpPr>
        <p:spPr bwMode="auto">
          <a:xfrm>
            <a:off x="1174750" y="280193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2" name="Freeform 422"/>
          <p:cNvSpPr>
            <a:spLocks/>
          </p:cNvSpPr>
          <p:nvPr/>
        </p:nvSpPr>
        <p:spPr bwMode="auto">
          <a:xfrm>
            <a:off x="1217613" y="2822575"/>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1" y="56"/>
              </a:cxn>
              <a:cxn ang="0">
                <a:pos x="29" y="56"/>
              </a:cxn>
              <a:cxn ang="0">
                <a:pos x="29" y="57"/>
              </a:cxn>
              <a:cxn ang="0">
                <a:pos x="18" y="54"/>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1" y="56"/>
                </a:lnTo>
                <a:lnTo>
                  <a:pt x="29" y="56"/>
                </a:lnTo>
                <a:lnTo>
                  <a:pt x="29" y="57"/>
                </a:lnTo>
                <a:lnTo>
                  <a:pt x="18" y="54"/>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3" name="Freeform 423"/>
          <p:cNvSpPr>
            <a:spLocks/>
          </p:cNvSpPr>
          <p:nvPr/>
        </p:nvSpPr>
        <p:spPr bwMode="auto">
          <a:xfrm>
            <a:off x="1258888" y="2841625"/>
            <a:ext cx="30162"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7"/>
              </a:cxn>
              <a:cxn ang="0">
                <a:pos x="17" y="55"/>
              </a:cxn>
              <a:cxn ang="0">
                <a:pos x="8" y="49"/>
              </a:cxn>
              <a:cxn ang="0">
                <a:pos x="1" y="39"/>
              </a:cxn>
              <a:cxn ang="0">
                <a:pos x="0" y="29"/>
              </a:cxn>
              <a:cxn ang="0">
                <a:pos x="1" y="17"/>
              </a:cxn>
              <a:cxn ang="0">
                <a:pos x="8" y="8"/>
              </a:cxn>
              <a:cxn ang="0">
                <a:pos x="17" y="1"/>
              </a:cxn>
              <a:cxn ang="0">
                <a:pos x="28" y="0"/>
              </a:cxn>
              <a:cxn ang="0">
                <a:pos x="38" y="1"/>
              </a:cxn>
              <a:cxn ang="0">
                <a:pos x="49" y="8"/>
              </a:cxn>
              <a:cxn ang="0">
                <a:pos x="54" y="17"/>
              </a:cxn>
              <a:cxn ang="0">
                <a:pos x="57" y="29"/>
              </a:cxn>
            </a:cxnLst>
            <a:rect l="0" t="0" r="r" b="b"/>
            <a:pathLst>
              <a:path w="57" h="57">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7"/>
                </a:lnTo>
                <a:lnTo>
                  <a:pt x="17" y="55"/>
                </a:lnTo>
                <a:lnTo>
                  <a:pt x="8" y="49"/>
                </a:lnTo>
                <a:lnTo>
                  <a:pt x="1" y="39"/>
                </a:lnTo>
                <a:lnTo>
                  <a:pt x="0" y="29"/>
                </a:lnTo>
                <a:lnTo>
                  <a:pt x="1" y="17"/>
                </a:lnTo>
                <a:lnTo>
                  <a:pt x="8" y="8"/>
                </a:lnTo>
                <a:lnTo>
                  <a:pt x="17" y="1"/>
                </a:lnTo>
                <a:lnTo>
                  <a:pt x="28" y="0"/>
                </a:lnTo>
                <a:lnTo>
                  <a:pt x="38" y="1"/>
                </a:lnTo>
                <a:lnTo>
                  <a:pt x="49" y="8"/>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4" name="Freeform 424"/>
          <p:cNvSpPr>
            <a:spLocks/>
          </p:cNvSpPr>
          <p:nvPr/>
        </p:nvSpPr>
        <p:spPr bwMode="auto">
          <a:xfrm>
            <a:off x="1303338" y="2859088"/>
            <a:ext cx="30162" cy="30162"/>
          </a:xfrm>
          <a:custGeom>
            <a:avLst/>
            <a:gdLst/>
            <a:ahLst/>
            <a:cxnLst>
              <a:cxn ang="0">
                <a:pos x="57" y="29"/>
              </a:cxn>
              <a:cxn ang="0">
                <a:pos x="56" y="29"/>
              </a:cxn>
              <a:cxn ang="0">
                <a:pos x="56" y="31"/>
              </a:cxn>
              <a:cxn ang="0">
                <a:pos x="56" y="34"/>
              </a:cxn>
              <a:cxn ang="0">
                <a:pos x="54" y="39"/>
              </a:cxn>
              <a:cxn ang="0">
                <a:pos x="52" y="44"/>
              </a:cxn>
              <a:cxn ang="0">
                <a:pos x="49" y="49"/>
              </a:cxn>
              <a:cxn ang="0">
                <a:pos x="43" y="52"/>
              </a:cxn>
              <a:cxn ang="0">
                <a:pos x="39" y="55"/>
              </a:cxn>
              <a:cxn ang="0">
                <a:pos x="33" y="57"/>
              </a:cxn>
              <a:cxn ang="0">
                <a:pos x="30" y="57"/>
              </a:cxn>
              <a:cxn ang="0">
                <a:pos x="29" y="57"/>
              </a:cxn>
              <a:cxn ang="0">
                <a:pos x="29" y="58"/>
              </a:cxn>
              <a:cxn ang="0">
                <a:pos x="17" y="55"/>
              </a:cxn>
              <a:cxn ang="0">
                <a:pos x="8" y="49"/>
              </a:cxn>
              <a:cxn ang="0">
                <a:pos x="1" y="39"/>
              </a:cxn>
              <a:cxn ang="0">
                <a:pos x="0" y="29"/>
              </a:cxn>
              <a:cxn ang="0">
                <a:pos x="1" y="18"/>
              </a:cxn>
              <a:cxn ang="0">
                <a:pos x="8" y="9"/>
              </a:cxn>
              <a:cxn ang="0">
                <a:pos x="17" y="2"/>
              </a:cxn>
              <a:cxn ang="0">
                <a:pos x="29" y="0"/>
              </a:cxn>
              <a:cxn ang="0">
                <a:pos x="39" y="2"/>
              </a:cxn>
              <a:cxn ang="0">
                <a:pos x="49" y="9"/>
              </a:cxn>
              <a:cxn ang="0">
                <a:pos x="54" y="18"/>
              </a:cxn>
              <a:cxn ang="0">
                <a:pos x="57" y="29"/>
              </a:cxn>
            </a:cxnLst>
            <a:rect l="0" t="0" r="r" b="b"/>
            <a:pathLst>
              <a:path w="57" h="58">
                <a:moveTo>
                  <a:pt x="57" y="29"/>
                </a:moveTo>
                <a:lnTo>
                  <a:pt x="56" y="29"/>
                </a:lnTo>
                <a:lnTo>
                  <a:pt x="56" y="31"/>
                </a:lnTo>
                <a:lnTo>
                  <a:pt x="56" y="34"/>
                </a:lnTo>
                <a:lnTo>
                  <a:pt x="54" y="39"/>
                </a:lnTo>
                <a:lnTo>
                  <a:pt x="52" y="44"/>
                </a:lnTo>
                <a:lnTo>
                  <a:pt x="49" y="49"/>
                </a:lnTo>
                <a:lnTo>
                  <a:pt x="43" y="52"/>
                </a:lnTo>
                <a:lnTo>
                  <a:pt x="39" y="55"/>
                </a:lnTo>
                <a:lnTo>
                  <a:pt x="33" y="57"/>
                </a:lnTo>
                <a:lnTo>
                  <a:pt x="30" y="57"/>
                </a:lnTo>
                <a:lnTo>
                  <a:pt x="29" y="57"/>
                </a:lnTo>
                <a:lnTo>
                  <a:pt x="29" y="58"/>
                </a:lnTo>
                <a:lnTo>
                  <a:pt x="17" y="55"/>
                </a:lnTo>
                <a:lnTo>
                  <a:pt x="8" y="49"/>
                </a:lnTo>
                <a:lnTo>
                  <a:pt x="1" y="39"/>
                </a:lnTo>
                <a:lnTo>
                  <a:pt x="0" y="29"/>
                </a:lnTo>
                <a:lnTo>
                  <a:pt x="1" y="18"/>
                </a:lnTo>
                <a:lnTo>
                  <a:pt x="8" y="9"/>
                </a:lnTo>
                <a:lnTo>
                  <a:pt x="17" y="2"/>
                </a:lnTo>
                <a:lnTo>
                  <a:pt x="29" y="0"/>
                </a:lnTo>
                <a:lnTo>
                  <a:pt x="39" y="2"/>
                </a:lnTo>
                <a:lnTo>
                  <a:pt x="49" y="9"/>
                </a:lnTo>
                <a:lnTo>
                  <a:pt x="54"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5" name="Freeform 425"/>
          <p:cNvSpPr>
            <a:spLocks/>
          </p:cNvSpPr>
          <p:nvPr/>
        </p:nvSpPr>
        <p:spPr bwMode="auto">
          <a:xfrm>
            <a:off x="1346200" y="2873375"/>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7"/>
              </a:cxn>
              <a:cxn ang="0">
                <a:pos x="17" y="55"/>
              </a:cxn>
              <a:cxn ang="0">
                <a:pos x="9" y="49"/>
              </a:cxn>
              <a:cxn ang="0">
                <a:pos x="1" y="39"/>
              </a:cxn>
              <a:cxn ang="0">
                <a:pos x="0" y="29"/>
              </a:cxn>
              <a:cxn ang="0">
                <a:pos x="1"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7"/>
                </a:lnTo>
                <a:lnTo>
                  <a:pt x="17" y="55"/>
                </a:lnTo>
                <a:lnTo>
                  <a:pt x="9" y="49"/>
                </a:lnTo>
                <a:lnTo>
                  <a:pt x="1" y="39"/>
                </a:lnTo>
                <a:lnTo>
                  <a:pt x="0" y="29"/>
                </a:lnTo>
                <a:lnTo>
                  <a:pt x="1"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6" name="Freeform 426"/>
          <p:cNvSpPr>
            <a:spLocks/>
          </p:cNvSpPr>
          <p:nvPr/>
        </p:nvSpPr>
        <p:spPr bwMode="auto">
          <a:xfrm>
            <a:off x="1390650" y="2886075"/>
            <a:ext cx="31750" cy="30163"/>
          </a:xfrm>
          <a:custGeom>
            <a:avLst/>
            <a:gdLst/>
            <a:ahLst/>
            <a:cxnLst>
              <a:cxn ang="0">
                <a:pos x="58" y="29"/>
              </a:cxn>
              <a:cxn ang="0">
                <a:pos x="56" y="29"/>
              </a:cxn>
              <a:cxn ang="0">
                <a:pos x="56" y="31"/>
              </a:cxn>
              <a:cxn ang="0">
                <a:pos x="56" y="33"/>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3"/>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7" name="Freeform 427"/>
          <p:cNvSpPr>
            <a:spLocks/>
          </p:cNvSpPr>
          <p:nvPr/>
        </p:nvSpPr>
        <p:spPr bwMode="auto">
          <a:xfrm>
            <a:off x="1435100" y="2897188"/>
            <a:ext cx="30163" cy="31750"/>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8" name="Freeform 428"/>
          <p:cNvSpPr>
            <a:spLocks/>
          </p:cNvSpPr>
          <p:nvPr/>
        </p:nvSpPr>
        <p:spPr bwMode="auto">
          <a:xfrm>
            <a:off x="1481138" y="2906713"/>
            <a:ext cx="30162" cy="30162"/>
          </a:xfrm>
          <a:custGeom>
            <a:avLst/>
            <a:gdLst/>
            <a:ahLst/>
            <a:cxnLst>
              <a:cxn ang="0">
                <a:pos x="57" y="29"/>
              </a:cxn>
              <a:cxn ang="0">
                <a:pos x="56" y="29"/>
              </a:cxn>
              <a:cxn ang="0">
                <a:pos x="56" y="31"/>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8"/>
              </a:cxn>
              <a:cxn ang="0">
                <a:pos x="8" y="9"/>
              </a:cxn>
              <a:cxn ang="0">
                <a:pos x="17" y="2"/>
              </a:cxn>
              <a:cxn ang="0">
                <a:pos x="28" y="0"/>
              </a:cxn>
              <a:cxn ang="0">
                <a:pos x="38" y="2"/>
              </a:cxn>
              <a:cxn ang="0">
                <a:pos x="49" y="9"/>
              </a:cxn>
              <a:cxn ang="0">
                <a:pos x="54" y="18"/>
              </a:cxn>
              <a:cxn ang="0">
                <a:pos x="57" y="29"/>
              </a:cxn>
            </a:cxnLst>
            <a:rect l="0" t="0" r="r" b="b"/>
            <a:pathLst>
              <a:path w="57" h="58">
                <a:moveTo>
                  <a:pt x="57" y="29"/>
                </a:moveTo>
                <a:lnTo>
                  <a:pt x="56" y="29"/>
                </a:lnTo>
                <a:lnTo>
                  <a:pt x="56" y="31"/>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8"/>
                </a:lnTo>
                <a:lnTo>
                  <a:pt x="8" y="9"/>
                </a:lnTo>
                <a:lnTo>
                  <a:pt x="17" y="2"/>
                </a:lnTo>
                <a:lnTo>
                  <a:pt x="28" y="0"/>
                </a:lnTo>
                <a:lnTo>
                  <a:pt x="38" y="2"/>
                </a:lnTo>
                <a:lnTo>
                  <a:pt x="49" y="9"/>
                </a:lnTo>
                <a:lnTo>
                  <a:pt x="54"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29" name="Freeform 429"/>
          <p:cNvSpPr>
            <a:spLocks/>
          </p:cNvSpPr>
          <p:nvPr/>
        </p:nvSpPr>
        <p:spPr bwMode="auto">
          <a:xfrm>
            <a:off x="1527175" y="2914650"/>
            <a:ext cx="30163" cy="30163"/>
          </a:xfrm>
          <a:custGeom>
            <a:avLst/>
            <a:gdLst/>
            <a:ahLst/>
            <a:cxnLst>
              <a:cxn ang="0">
                <a:pos x="58" y="28"/>
              </a:cxn>
              <a:cxn ang="0">
                <a:pos x="57" y="28"/>
              </a:cxn>
              <a:cxn ang="0">
                <a:pos x="57" y="30"/>
              </a:cxn>
              <a:cxn ang="0">
                <a:pos x="57" y="33"/>
              </a:cxn>
              <a:cxn ang="0">
                <a:pos x="55" y="39"/>
              </a:cxn>
              <a:cxn ang="0">
                <a:pos x="52" y="43"/>
              </a:cxn>
              <a:cxn ang="0">
                <a:pos x="49" y="49"/>
              </a:cxn>
              <a:cxn ang="0">
                <a:pos x="44" y="52"/>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2"/>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0" name="Freeform 430"/>
          <p:cNvSpPr>
            <a:spLocks/>
          </p:cNvSpPr>
          <p:nvPr/>
        </p:nvSpPr>
        <p:spPr bwMode="auto">
          <a:xfrm>
            <a:off x="1573213" y="292100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1" name="Freeform 431"/>
          <p:cNvSpPr>
            <a:spLocks/>
          </p:cNvSpPr>
          <p:nvPr/>
        </p:nvSpPr>
        <p:spPr bwMode="auto">
          <a:xfrm>
            <a:off x="1617663" y="2924175"/>
            <a:ext cx="31750" cy="30163"/>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2" name="Freeform 432"/>
          <p:cNvSpPr>
            <a:spLocks/>
          </p:cNvSpPr>
          <p:nvPr/>
        </p:nvSpPr>
        <p:spPr bwMode="auto">
          <a:xfrm>
            <a:off x="1665288" y="2928938"/>
            <a:ext cx="30162" cy="30162"/>
          </a:xfrm>
          <a:custGeom>
            <a:avLst/>
            <a:gdLst/>
            <a:ahLst/>
            <a:cxnLst>
              <a:cxn ang="0">
                <a:pos x="58" y="28"/>
              </a:cxn>
              <a:cxn ang="0">
                <a:pos x="57" y="28"/>
              </a:cxn>
              <a:cxn ang="0">
                <a:pos x="57" y="30"/>
              </a:cxn>
              <a:cxn ang="0">
                <a:pos x="57" y="33"/>
              </a:cxn>
              <a:cxn ang="0">
                <a:pos x="55" y="39"/>
              </a:cxn>
              <a:cxn ang="0">
                <a:pos x="52" y="43"/>
              </a:cxn>
              <a:cxn ang="0">
                <a:pos x="49" y="49"/>
              </a:cxn>
              <a:cxn ang="0">
                <a:pos x="44" y="51"/>
              </a:cxn>
              <a:cxn ang="0">
                <a:pos x="39" y="54"/>
              </a:cxn>
              <a:cxn ang="0">
                <a:pos x="34"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9"/>
                </a:lnTo>
                <a:lnTo>
                  <a:pt x="52" y="43"/>
                </a:lnTo>
                <a:lnTo>
                  <a:pt x="49" y="49"/>
                </a:lnTo>
                <a:lnTo>
                  <a:pt x="44" y="51"/>
                </a:lnTo>
                <a:lnTo>
                  <a:pt x="39" y="54"/>
                </a:lnTo>
                <a:lnTo>
                  <a:pt x="34"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3" name="Freeform 433"/>
          <p:cNvSpPr>
            <a:spLocks/>
          </p:cNvSpPr>
          <p:nvPr/>
        </p:nvSpPr>
        <p:spPr bwMode="auto">
          <a:xfrm>
            <a:off x="1711325" y="2928938"/>
            <a:ext cx="30163" cy="31750"/>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4" name="Freeform 434"/>
          <p:cNvSpPr>
            <a:spLocks/>
          </p:cNvSpPr>
          <p:nvPr/>
        </p:nvSpPr>
        <p:spPr bwMode="auto">
          <a:xfrm>
            <a:off x="1757363" y="2928938"/>
            <a:ext cx="31750"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5" name="Freeform 435"/>
          <p:cNvSpPr>
            <a:spLocks/>
          </p:cNvSpPr>
          <p:nvPr/>
        </p:nvSpPr>
        <p:spPr bwMode="auto">
          <a:xfrm>
            <a:off x="1803400" y="2928938"/>
            <a:ext cx="30163" cy="30162"/>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6" name="Freeform 436"/>
          <p:cNvSpPr>
            <a:spLocks/>
          </p:cNvSpPr>
          <p:nvPr/>
        </p:nvSpPr>
        <p:spPr bwMode="auto">
          <a:xfrm>
            <a:off x="1849438" y="2927350"/>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8" y="54"/>
              </a:cxn>
              <a:cxn ang="0">
                <a:pos x="9" y="49"/>
              </a:cxn>
              <a:cxn ang="0">
                <a:pos x="2" y="39"/>
              </a:cxn>
              <a:cxn ang="0">
                <a:pos x="0" y="29"/>
              </a:cxn>
              <a:cxn ang="0">
                <a:pos x="2" y="17"/>
              </a:cxn>
              <a:cxn ang="0">
                <a:pos x="9" y="8"/>
              </a:cxn>
              <a:cxn ang="0">
                <a:pos x="18"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8" y="54"/>
                </a:lnTo>
                <a:lnTo>
                  <a:pt x="9" y="49"/>
                </a:lnTo>
                <a:lnTo>
                  <a:pt x="2" y="39"/>
                </a:lnTo>
                <a:lnTo>
                  <a:pt x="0" y="29"/>
                </a:lnTo>
                <a:lnTo>
                  <a:pt x="2" y="17"/>
                </a:lnTo>
                <a:lnTo>
                  <a:pt x="9" y="8"/>
                </a:lnTo>
                <a:lnTo>
                  <a:pt x="18"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7" name="Freeform 437"/>
          <p:cNvSpPr>
            <a:spLocks/>
          </p:cNvSpPr>
          <p:nvPr/>
        </p:nvSpPr>
        <p:spPr bwMode="auto">
          <a:xfrm>
            <a:off x="1895475" y="2922588"/>
            <a:ext cx="30163" cy="30162"/>
          </a:xfrm>
          <a:custGeom>
            <a:avLst/>
            <a:gdLst/>
            <a:ahLst/>
            <a:cxnLst>
              <a:cxn ang="0">
                <a:pos x="57" y="28"/>
              </a:cxn>
              <a:cxn ang="0">
                <a:pos x="56" y="28"/>
              </a:cxn>
              <a:cxn ang="0">
                <a:pos x="56" y="30"/>
              </a:cxn>
              <a:cxn ang="0">
                <a:pos x="56" y="33"/>
              </a:cxn>
              <a:cxn ang="0">
                <a:pos x="54" y="38"/>
              </a:cxn>
              <a:cxn ang="0">
                <a:pos x="52" y="43"/>
              </a:cxn>
              <a:cxn ang="0">
                <a:pos x="49" y="49"/>
              </a:cxn>
              <a:cxn ang="0">
                <a:pos x="43" y="51"/>
              </a:cxn>
              <a:cxn ang="0">
                <a:pos x="39" y="54"/>
              </a:cxn>
              <a:cxn ang="0">
                <a:pos x="33" y="56"/>
              </a:cxn>
              <a:cxn ang="0">
                <a:pos x="30" y="56"/>
              </a:cxn>
              <a:cxn ang="0">
                <a:pos x="29" y="56"/>
              </a:cxn>
              <a:cxn ang="0">
                <a:pos x="29" y="57"/>
              </a:cxn>
              <a:cxn ang="0">
                <a:pos x="17" y="54"/>
              </a:cxn>
              <a:cxn ang="0">
                <a:pos x="8" y="49"/>
              </a:cxn>
              <a:cxn ang="0">
                <a:pos x="1" y="38"/>
              </a:cxn>
              <a:cxn ang="0">
                <a:pos x="0" y="28"/>
              </a:cxn>
              <a:cxn ang="0">
                <a:pos x="1" y="17"/>
              </a:cxn>
              <a:cxn ang="0">
                <a:pos x="8" y="8"/>
              </a:cxn>
              <a:cxn ang="0">
                <a:pos x="17" y="1"/>
              </a:cxn>
              <a:cxn ang="0">
                <a:pos x="29"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8"/>
                </a:lnTo>
                <a:lnTo>
                  <a:pt x="52" y="43"/>
                </a:lnTo>
                <a:lnTo>
                  <a:pt x="49" y="49"/>
                </a:lnTo>
                <a:lnTo>
                  <a:pt x="43" y="51"/>
                </a:lnTo>
                <a:lnTo>
                  <a:pt x="39" y="54"/>
                </a:lnTo>
                <a:lnTo>
                  <a:pt x="33" y="56"/>
                </a:lnTo>
                <a:lnTo>
                  <a:pt x="30" y="56"/>
                </a:lnTo>
                <a:lnTo>
                  <a:pt x="29" y="56"/>
                </a:lnTo>
                <a:lnTo>
                  <a:pt x="29" y="57"/>
                </a:lnTo>
                <a:lnTo>
                  <a:pt x="17" y="54"/>
                </a:lnTo>
                <a:lnTo>
                  <a:pt x="8" y="49"/>
                </a:lnTo>
                <a:lnTo>
                  <a:pt x="1" y="38"/>
                </a:lnTo>
                <a:lnTo>
                  <a:pt x="0" y="28"/>
                </a:lnTo>
                <a:lnTo>
                  <a:pt x="1" y="17"/>
                </a:lnTo>
                <a:lnTo>
                  <a:pt x="8" y="8"/>
                </a:lnTo>
                <a:lnTo>
                  <a:pt x="17" y="1"/>
                </a:lnTo>
                <a:lnTo>
                  <a:pt x="29"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8" name="Freeform 438"/>
          <p:cNvSpPr>
            <a:spLocks/>
          </p:cNvSpPr>
          <p:nvPr/>
        </p:nvSpPr>
        <p:spPr bwMode="auto">
          <a:xfrm>
            <a:off x="1941513" y="2917825"/>
            <a:ext cx="30162" cy="30163"/>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2" y="39"/>
              </a:cxn>
              <a:cxn ang="0">
                <a:pos x="0" y="29"/>
              </a:cxn>
              <a:cxn ang="0">
                <a:pos x="2"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2" y="39"/>
                </a:lnTo>
                <a:lnTo>
                  <a:pt x="0" y="29"/>
                </a:lnTo>
                <a:lnTo>
                  <a:pt x="2"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39" name="Freeform 439"/>
          <p:cNvSpPr>
            <a:spLocks/>
          </p:cNvSpPr>
          <p:nvPr/>
        </p:nvSpPr>
        <p:spPr bwMode="auto">
          <a:xfrm>
            <a:off x="1985963" y="2909888"/>
            <a:ext cx="30162"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0" name="Freeform 440"/>
          <p:cNvSpPr>
            <a:spLocks/>
          </p:cNvSpPr>
          <p:nvPr/>
        </p:nvSpPr>
        <p:spPr bwMode="auto">
          <a:xfrm>
            <a:off x="2030413" y="2901950"/>
            <a:ext cx="31750" cy="30163"/>
          </a:xfrm>
          <a:custGeom>
            <a:avLst/>
            <a:gdLst/>
            <a:ahLst/>
            <a:cxnLst>
              <a:cxn ang="0">
                <a:pos x="58" y="28"/>
              </a:cxn>
              <a:cxn ang="0">
                <a:pos x="56" y="28"/>
              </a:cxn>
              <a:cxn ang="0">
                <a:pos x="56" y="30"/>
              </a:cxn>
              <a:cxn ang="0">
                <a:pos x="56" y="33"/>
              </a:cxn>
              <a:cxn ang="0">
                <a:pos x="55" y="39"/>
              </a:cxn>
              <a:cxn ang="0">
                <a:pos x="52" y="43"/>
              </a:cxn>
              <a:cxn ang="0">
                <a:pos x="49" y="49"/>
              </a:cxn>
              <a:cxn ang="0">
                <a:pos x="44" y="51"/>
              </a:cxn>
              <a:cxn ang="0">
                <a:pos x="39" y="54"/>
              </a:cxn>
              <a:cxn ang="0">
                <a:pos x="33" y="56"/>
              </a:cxn>
              <a:cxn ang="0">
                <a:pos x="31" y="56"/>
              </a:cxn>
              <a:cxn ang="0">
                <a:pos x="29" y="56"/>
              </a:cxn>
              <a:cxn ang="0">
                <a:pos x="29" y="57"/>
              </a:cxn>
              <a:cxn ang="0">
                <a:pos x="18" y="54"/>
              </a:cxn>
              <a:cxn ang="0">
                <a:pos x="9" y="49"/>
              </a:cxn>
              <a:cxn ang="0">
                <a:pos x="2" y="39"/>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9"/>
                </a:lnTo>
                <a:lnTo>
                  <a:pt x="52" y="43"/>
                </a:lnTo>
                <a:lnTo>
                  <a:pt x="49" y="49"/>
                </a:lnTo>
                <a:lnTo>
                  <a:pt x="44" y="51"/>
                </a:lnTo>
                <a:lnTo>
                  <a:pt x="39" y="54"/>
                </a:lnTo>
                <a:lnTo>
                  <a:pt x="33" y="56"/>
                </a:lnTo>
                <a:lnTo>
                  <a:pt x="31" y="56"/>
                </a:lnTo>
                <a:lnTo>
                  <a:pt x="29" y="56"/>
                </a:lnTo>
                <a:lnTo>
                  <a:pt x="29" y="57"/>
                </a:lnTo>
                <a:lnTo>
                  <a:pt x="18" y="54"/>
                </a:lnTo>
                <a:lnTo>
                  <a:pt x="9" y="49"/>
                </a:lnTo>
                <a:lnTo>
                  <a:pt x="2" y="39"/>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1" name="Freeform 441"/>
          <p:cNvSpPr>
            <a:spLocks/>
          </p:cNvSpPr>
          <p:nvPr/>
        </p:nvSpPr>
        <p:spPr bwMode="auto">
          <a:xfrm>
            <a:off x="2074863" y="2892425"/>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1" y="39"/>
              </a:cxn>
              <a:cxn ang="0">
                <a:pos x="0" y="29"/>
              </a:cxn>
              <a:cxn ang="0">
                <a:pos x="1"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1" y="39"/>
                </a:lnTo>
                <a:lnTo>
                  <a:pt x="0" y="29"/>
                </a:lnTo>
                <a:lnTo>
                  <a:pt x="1"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2" name="Freeform 442"/>
          <p:cNvSpPr>
            <a:spLocks/>
          </p:cNvSpPr>
          <p:nvPr/>
        </p:nvSpPr>
        <p:spPr bwMode="auto">
          <a:xfrm>
            <a:off x="2119313" y="2881313"/>
            <a:ext cx="30162" cy="30162"/>
          </a:xfrm>
          <a:custGeom>
            <a:avLst/>
            <a:gdLst/>
            <a:ahLst/>
            <a:cxnLst>
              <a:cxn ang="0">
                <a:pos x="58" y="29"/>
              </a:cxn>
              <a:cxn ang="0">
                <a:pos x="57" y="29"/>
              </a:cxn>
              <a:cxn ang="0">
                <a:pos x="57" y="31"/>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3" name="Freeform 443"/>
          <p:cNvSpPr>
            <a:spLocks/>
          </p:cNvSpPr>
          <p:nvPr/>
        </p:nvSpPr>
        <p:spPr bwMode="auto">
          <a:xfrm>
            <a:off x="2163763" y="2867025"/>
            <a:ext cx="30162" cy="30163"/>
          </a:xfrm>
          <a:custGeom>
            <a:avLst/>
            <a:gdLst/>
            <a:ahLst/>
            <a:cxnLst>
              <a:cxn ang="0">
                <a:pos x="57" y="29"/>
              </a:cxn>
              <a:cxn ang="0">
                <a:pos x="56" y="29"/>
              </a:cxn>
              <a:cxn ang="0">
                <a:pos x="56" y="31"/>
              </a:cxn>
              <a:cxn ang="0">
                <a:pos x="56" y="33"/>
              </a:cxn>
              <a:cxn ang="0">
                <a:pos x="54" y="39"/>
              </a:cxn>
              <a:cxn ang="0">
                <a:pos x="52" y="44"/>
              </a:cxn>
              <a:cxn ang="0">
                <a:pos x="49" y="49"/>
              </a:cxn>
              <a:cxn ang="0">
                <a:pos x="43" y="52"/>
              </a:cxn>
              <a:cxn ang="0">
                <a:pos x="39" y="55"/>
              </a:cxn>
              <a:cxn ang="0">
                <a:pos x="33" y="57"/>
              </a:cxn>
              <a:cxn ang="0">
                <a:pos x="30" y="57"/>
              </a:cxn>
              <a:cxn ang="0">
                <a:pos x="28" y="57"/>
              </a:cxn>
              <a:cxn ang="0">
                <a:pos x="28" y="58"/>
              </a:cxn>
              <a:cxn ang="0">
                <a:pos x="17" y="55"/>
              </a:cxn>
              <a:cxn ang="0">
                <a:pos x="8" y="49"/>
              </a:cxn>
              <a:cxn ang="0">
                <a:pos x="1" y="39"/>
              </a:cxn>
              <a:cxn ang="0">
                <a:pos x="0" y="29"/>
              </a:cxn>
              <a:cxn ang="0">
                <a:pos x="1" y="18"/>
              </a:cxn>
              <a:cxn ang="0">
                <a:pos x="8" y="9"/>
              </a:cxn>
              <a:cxn ang="0">
                <a:pos x="17" y="2"/>
              </a:cxn>
              <a:cxn ang="0">
                <a:pos x="28" y="0"/>
              </a:cxn>
              <a:cxn ang="0">
                <a:pos x="39" y="2"/>
              </a:cxn>
              <a:cxn ang="0">
                <a:pos x="49" y="9"/>
              </a:cxn>
              <a:cxn ang="0">
                <a:pos x="54" y="18"/>
              </a:cxn>
              <a:cxn ang="0">
                <a:pos x="57" y="29"/>
              </a:cxn>
            </a:cxnLst>
            <a:rect l="0" t="0" r="r" b="b"/>
            <a:pathLst>
              <a:path w="57" h="58">
                <a:moveTo>
                  <a:pt x="57" y="29"/>
                </a:moveTo>
                <a:lnTo>
                  <a:pt x="56" y="29"/>
                </a:lnTo>
                <a:lnTo>
                  <a:pt x="56" y="31"/>
                </a:lnTo>
                <a:lnTo>
                  <a:pt x="56" y="33"/>
                </a:lnTo>
                <a:lnTo>
                  <a:pt x="54" y="39"/>
                </a:lnTo>
                <a:lnTo>
                  <a:pt x="52" y="44"/>
                </a:lnTo>
                <a:lnTo>
                  <a:pt x="49" y="49"/>
                </a:lnTo>
                <a:lnTo>
                  <a:pt x="43" y="52"/>
                </a:lnTo>
                <a:lnTo>
                  <a:pt x="39" y="55"/>
                </a:lnTo>
                <a:lnTo>
                  <a:pt x="33" y="57"/>
                </a:lnTo>
                <a:lnTo>
                  <a:pt x="30" y="57"/>
                </a:lnTo>
                <a:lnTo>
                  <a:pt x="28" y="57"/>
                </a:lnTo>
                <a:lnTo>
                  <a:pt x="28" y="58"/>
                </a:lnTo>
                <a:lnTo>
                  <a:pt x="17" y="55"/>
                </a:lnTo>
                <a:lnTo>
                  <a:pt x="8" y="49"/>
                </a:lnTo>
                <a:lnTo>
                  <a:pt x="1" y="39"/>
                </a:lnTo>
                <a:lnTo>
                  <a:pt x="0" y="29"/>
                </a:lnTo>
                <a:lnTo>
                  <a:pt x="1" y="18"/>
                </a:lnTo>
                <a:lnTo>
                  <a:pt x="8" y="9"/>
                </a:lnTo>
                <a:lnTo>
                  <a:pt x="17" y="2"/>
                </a:lnTo>
                <a:lnTo>
                  <a:pt x="28" y="0"/>
                </a:lnTo>
                <a:lnTo>
                  <a:pt x="39" y="2"/>
                </a:lnTo>
                <a:lnTo>
                  <a:pt x="49" y="9"/>
                </a:lnTo>
                <a:lnTo>
                  <a:pt x="54" y="18"/>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4" name="Freeform 444"/>
          <p:cNvSpPr>
            <a:spLocks/>
          </p:cNvSpPr>
          <p:nvPr/>
        </p:nvSpPr>
        <p:spPr bwMode="auto">
          <a:xfrm>
            <a:off x="2206625" y="2851150"/>
            <a:ext cx="30163" cy="30163"/>
          </a:xfrm>
          <a:custGeom>
            <a:avLst/>
            <a:gdLst/>
            <a:ahLst/>
            <a:cxnLst>
              <a:cxn ang="0">
                <a:pos x="57"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8" y="49"/>
              </a:cxn>
              <a:cxn ang="0">
                <a:pos x="1" y="39"/>
              </a:cxn>
              <a:cxn ang="0">
                <a:pos x="0" y="29"/>
              </a:cxn>
              <a:cxn ang="0">
                <a:pos x="1" y="17"/>
              </a:cxn>
              <a:cxn ang="0">
                <a:pos x="8" y="9"/>
              </a:cxn>
              <a:cxn ang="0">
                <a:pos x="17" y="1"/>
              </a:cxn>
              <a:cxn ang="0">
                <a:pos x="29" y="0"/>
              </a:cxn>
              <a:cxn ang="0">
                <a:pos x="39" y="1"/>
              </a:cxn>
              <a:cxn ang="0">
                <a:pos x="49" y="9"/>
              </a:cxn>
              <a:cxn ang="0">
                <a:pos x="55" y="17"/>
              </a:cxn>
              <a:cxn ang="0">
                <a:pos x="57" y="29"/>
              </a:cxn>
            </a:cxnLst>
            <a:rect l="0" t="0" r="r" b="b"/>
            <a:pathLst>
              <a:path w="57" h="58">
                <a:moveTo>
                  <a:pt x="57"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8" y="49"/>
                </a:lnTo>
                <a:lnTo>
                  <a:pt x="1" y="39"/>
                </a:lnTo>
                <a:lnTo>
                  <a:pt x="0" y="29"/>
                </a:lnTo>
                <a:lnTo>
                  <a:pt x="1" y="17"/>
                </a:lnTo>
                <a:lnTo>
                  <a:pt x="8" y="9"/>
                </a:lnTo>
                <a:lnTo>
                  <a:pt x="17" y="1"/>
                </a:lnTo>
                <a:lnTo>
                  <a:pt x="29" y="0"/>
                </a:lnTo>
                <a:lnTo>
                  <a:pt x="39" y="1"/>
                </a:lnTo>
                <a:lnTo>
                  <a:pt x="49" y="9"/>
                </a:lnTo>
                <a:lnTo>
                  <a:pt x="55"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5" name="Freeform 445"/>
          <p:cNvSpPr>
            <a:spLocks/>
          </p:cNvSpPr>
          <p:nvPr/>
        </p:nvSpPr>
        <p:spPr bwMode="auto">
          <a:xfrm>
            <a:off x="2247900" y="283368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6" name="Freeform 446"/>
          <p:cNvSpPr>
            <a:spLocks/>
          </p:cNvSpPr>
          <p:nvPr/>
        </p:nvSpPr>
        <p:spPr bwMode="auto">
          <a:xfrm>
            <a:off x="2287588" y="2816225"/>
            <a:ext cx="30162" cy="30163"/>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9" y="55"/>
              </a:cxn>
              <a:cxn ang="0">
                <a:pos x="33" y="56"/>
              </a:cxn>
              <a:cxn ang="0">
                <a:pos x="30" y="56"/>
              </a:cxn>
              <a:cxn ang="0">
                <a:pos x="28" y="56"/>
              </a:cxn>
              <a:cxn ang="0">
                <a:pos x="28" y="57"/>
              </a:cxn>
              <a:cxn ang="0">
                <a:pos x="17" y="55"/>
              </a:cxn>
              <a:cxn ang="0">
                <a:pos x="8" y="49"/>
              </a:cxn>
              <a:cxn ang="0">
                <a:pos x="1" y="39"/>
              </a:cxn>
              <a:cxn ang="0">
                <a:pos x="0" y="29"/>
              </a:cxn>
              <a:cxn ang="0">
                <a:pos x="1" y="17"/>
              </a:cxn>
              <a:cxn ang="0">
                <a:pos x="8" y="8"/>
              </a:cxn>
              <a:cxn ang="0">
                <a:pos x="17" y="1"/>
              </a:cxn>
              <a:cxn ang="0">
                <a:pos x="28" y="0"/>
              </a:cxn>
              <a:cxn ang="0">
                <a:pos x="39" y="1"/>
              </a:cxn>
              <a:cxn ang="0">
                <a:pos x="49" y="8"/>
              </a:cxn>
              <a:cxn ang="0">
                <a:pos x="54" y="17"/>
              </a:cxn>
              <a:cxn ang="0">
                <a:pos x="57" y="29"/>
              </a:cxn>
            </a:cxnLst>
            <a:rect l="0" t="0" r="r" b="b"/>
            <a:pathLst>
              <a:path w="57" h="57">
                <a:moveTo>
                  <a:pt x="57" y="29"/>
                </a:moveTo>
                <a:lnTo>
                  <a:pt x="56" y="29"/>
                </a:lnTo>
                <a:lnTo>
                  <a:pt x="56" y="30"/>
                </a:lnTo>
                <a:lnTo>
                  <a:pt x="56" y="33"/>
                </a:lnTo>
                <a:lnTo>
                  <a:pt x="54" y="39"/>
                </a:lnTo>
                <a:lnTo>
                  <a:pt x="51" y="43"/>
                </a:lnTo>
                <a:lnTo>
                  <a:pt x="49" y="49"/>
                </a:lnTo>
                <a:lnTo>
                  <a:pt x="43" y="52"/>
                </a:lnTo>
                <a:lnTo>
                  <a:pt x="39" y="55"/>
                </a:lnTo>
                <a:lnTo>
                  <a:pt x="33" y="56"/>
                </a:lnTo>
                <a:lnTo>
                  <a:pt x="30" y="56"/>
                </a:lnTo>
                <a:lnTo>
                  <a:pt x="28" y="56"/>
                </a:lnTo>
                <a:lnTo>
                  <a:pt x="28" y="57"/>
                </a:lnTo>
                <a:lnTo>
                  <a:pt x="17" y="55"/>
                </a:lnTo>
                <a:lnTo>
                  <a:pt x="8" y="49"/>
                </a:lnTo>
                <a:lnTo>
                  <a:pt x="1" y="39"/>
                </a:lnTo>
                <a:lnTo>
                  <a:pt x="0" y="29"/>
                </a:lnTo>
                <a:lnTo>
                  <a:pt x="1" y="17"/>
                </a:lnTo>
                <a:lnTo>
                  <a:pt x="8" y="8"/>
                </a:lnTo>
                <a:lnTo>
                  <a:pt x="17" y="1"/>
                </a:lnTo>
                <a:lnTo>
                  <a:pt x="28" y="0"/>
                </a:lnTo>
                <a:lnTo>
                  <a:pt x="39" y="1"/>
                </a:lnTo>
                <a:lnTo>
                  <a:pt x="49" y="8"/>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7" name="Freeform 447"/>
          <p:cNvSpPr>
            <a:spLocks/>
          </p:cNvSpPr>
          <p:nvPr/>
        </p:nvSpPr>
        <p:spPr bwMode="auto">
          <a:xfrm>
            <a:off x="2327275" y="2794000"/>
            <a:ext cx="31750" cy="31750"/>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1" y="39"/>
              </a:cxn>
              <a:cxn ang="0">
                <a:pos x="0" y="29"/>
              </a:cxn>
              <a:cxn ang="0">
                <a:pos x="1"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1" y="39"/>
                </a:lnTo>
                <a:lnTo>
                  <a:pt x="0" y="29"/>
                </a:lnTo>
                <a:lnTo>
                  <a:pt x="1"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8" name="Freeform 448"/>
          <p:cNvSpPr>
            <a:spLocks/>
          </p:cNvSpPr>
          <p:nvPr/>
        </p:nvSpPr>
        <p:spPr bwMode="auto">
          <a:xfrm>
            <a:off x="2365375" y="2771775"/>
            <a:ext cx="31750"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49" name="Freeform 449"/>
          <p:cNvSpPr>
            <a:spLocks/>
          </p:cNvSpPr>
          <p:nvPr/>
        </p:nvSpPr>
        <p:spPr bwMode="auto">
          <a:xfrm>
            <a:off x="2403475" y="2746375"/>
            <a:ext cx="30163" cy="30163"/>
          </a:xfrm>
          <a:custGeom>
            <a:avLst/>
            <a:gdLst/>
            <a:ahLst/>
            <a:cxnLst>
              <a:cxn ang="0">
                <a:pos x="57" y="28"/>
              </a:cxn>
              <a:cxn ang="0">
                <a:pos x="56" y="28"/>
              </a:cxn>
              <a:cxn ang="0">
                <a:pos x="56" y="30"/>
              </a:cxn>
              <a:cxn ang="0">
                <a:pos x="56" y="33"/>
              </a:cxn>
              <a:cxn ang="0">
                <a:pos x="54" y="39"/>
              </a:cxn>
              <a:cxn ang="0">
                <a:pos x="52" y="43"/>
              </a:cxn>
              <a:cxn ang="0">
                <a:pos x="49" y="49"/>
              </a:cxn>
              <a:cxn ang="0">
                <a:pos x="43" y="52"/>
              </a:cxn>
              <a:cxn ang="0">
                <a:pos x="39" y="54"/>
              </a:cxn>
              <a:cxn ang="0">
                <a:pos x="33" y="56"/>
              </a:cxn>
              <a:cxn ang="0">
                <a:pos x="30" y="56"/>
              </a:cxn>
              <a:cxn ang="0">
                <a:pos x="29" y="56"/>
              </a:cxn>
              <a:cxn ang="0">
                <a:pos x="29" y="57"/>
              </a:cxn>
              <a:cxn ang="0">
                <a:pos x="17" y="54"/>
              </a:cxn>
              <a:cxn ang="0">
                <a:pos x="8" y="49"/>
              </a:cxn>
              <a:cxn ang="0">
                <a:pos x="1" y="39"/>
              </a:cxn>
              <a:cxn ang="0">
                <a:pos x="0" y="28"/>
              </a:cxn>
              <a:cxn ang="0">
                <a:pos x="1" y="17"/>
              </a:cxn>
              <a:cxn ang="0">
                <a:pos x="8" y="8"/>
              </a:cxn>
              <a:cxn ang="0">
                <a:pos x="17" y="1"/>
              </a:cxn>
              <a:cxn ang="0">
                <a:pos x="29" y="0"/>
              </a:cxn>
              <a:cxn ang="0">
                <a:pos x="39" y="1"/>
              </a:cxn>
              <a:cxn ang="0">
                <a:pos x="49" y="8"/>
              </a:cxn>
              <a:cxn ang="0">
                <a:pos x="54" y="17"/>
              </a:cxn>
              <a:cxn ang="0">
                <a:pos x="57" y="28"/>
              </a:cxn>
            </a:cxnLst>
            <a:rect l="0" t="0" r="r" b="b"/>
            <a:pathLst>
              <a:path w="57" h="57">
                <a:moveTo>
                  <a:pt x="57" y="28"/>
                </a:moveTo>
                <a:lnTo>
                  <a:pt x="56" y="28"/>
                </a:lnTo>
                <a:lnTo>
                  <a:pt x="56" y="30"/>
                </a:lnTo>
                <a:lnTo>
                  <a:pt x="56" y="33"/>
                </a:lnTo>
                <a:lnTo>
                  <a:pt x="54" y="39"/>
                </a:lnTo>
                <a:lnTo>
                  <a:pt x="52" y="43"/>
                </a:lnTo>
                <a:lnTo>
                  <a:pt x="49" y="49"/>
                </a:lnTo>
                <a:lnTo>
                  <a:pt x="43" y="52"/>
                </a:lnTo>
                <a:lnTo>
                  <a:pt x="39" y="54"/>
                </a:lnTo>
                <a:lnTo>
                  <a:pt x="33" y="56"/>
                </a:lnTo>
                <a:lnTo>
                  <a:pt x="30" y="56"/>
                </a:lnTo>
                <a:lnTo>
                  <a:pt x="29" y="56"/>
                </a:lnTo>
                <a:lnTo>
                  <a:pt x="29" y="57"/>
                </a:lnTo>
                <a:lnTo>
                  <a:pt x="17" y="54"/>
                </a:lnTo>
                <a:lnTo>
                  <a:pt x="8" y="49"/>
                </a:lnTo>
                <a:lnTo>
                  <a:pt x="1" y="39"/>
                </a:lnTo>
                <a:lnTo>
                  <a:pt x="0" y="28"/>
                </a:lnTo>
                <a:lnTo>
                  <a:pt x="1" y="17"/>
                </a:lnTo>
                <a:lnTo>
                  <a:pt x="8" y="8"/>
                </a:lnTo>
                <a:lnTo>
                  <a:pt x="17" y="1"/>
                </a:lnTo>
                <a:lnTo>
                  <a:pt x="29" y="0"/>
                </a:lnTo>
                <a:lnTo>
                  <a:pt x="39"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0" name="Freeform 450"/>
          <p:cNvSpPr>
            <a:spLocks/>
          </p:cNvSpPr>
          <p:nvPr/>
        </p:nvSpPr>
        <p:spPr bwMode="auto">
          <a:xfrm>
            <a:off x="2438400" y="2717800"/>
            <a:ext cx="31750" cy="31750"/>
          </a:xfrm>
          <a:custGeom>
            <a:avLst/>
            <a:gdLst/>
            <a:ahLst/>
            <a:cxnLst>
              <a:cxn ang="0">
                <a:pos x="58" y="29"/>
              </a:cxn>
              <a:cxn ang="0">
                <a:pos x="57" y="29"/>
              </a:cxn>
              <a:cxn ang="0">
                <a:pos x="57" y="31"/>
              </a:cxn>
              <a:cxn ang="0">
                <a:pos x="57" y="33"/>
              </a:cxn>
              <a:cxn ang="0">
                <a:pos x="55" y="39"/>
              </a:cxn>
              <a:cxn ang="0">
                <a:pos x="52" y="44"/>
              </a:cxn>
              <a:cxn ang="0">
                <a:pos x="49" y="49"/>
              </a:cxn>
              <a:cxn ang="0">
                <a:pos x="44" y="52"/>
              </a:cxn>
              <a:cxn ang="0">
                <a:pos x="39" y="55"/>
              </a:cxn>
              <a:cxn ang="0">
                <a:pos x="34"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3"/>
                </a:lnTo>
                <a:lnTo>
                  <a:pt x="55" y="39"/>
                </a:lnTo>
                <a:lnTo>
                  <a:pt x="52" y="44"/>
                </a:lnTo>
                <a:lnTo>
                  <a:pt x="49" y="49"/>
                </a:lnTo>
                <a:lnTo>
                  <a:pt x="44" y="52"/>
                </a:lnTo>
                <a:lnTo>
                  <a:pt x="39" y="55"/>
                </a:lnTo>
                <a:lnTo>
                  <a:pt x="34"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1" name="Freeform 451"/>
          <p:cNvSpPr>
            <a:spLocks/>
          </p:cNvSpPr>
          <p:nvPr/>
        </p:nvSpPr>
        <p:spPr bwMode="auto">
          <a:xfrm>
            <a:off x="2471738" y="2689225"/>
            <a:ext cx="30162" cy="30163"/>
          </a:xfrm>
          <a:custGeom>
            <a:avLst/>
            <a:gdLst/>
            <a:ahLst/>
            <a:cxnLst>
              <a:cxn ang="0">
                <a:pos x="58" y="29"/>
              </a:cxn>
              <a:cxn ang="0">
                <a:pos x="57" y="29"/>
              </a:cxn>
              <a:cxn ang="0">
                <a:pos x="57" y="30"/>
              </a:cxn>
              <a:cxn ang="0">
                <a:pos x="57" y="33"/>
              </a:cxn>
              <a:cxn ang="0">
                <a:pos x="55" y="39"/>
              </a:cxn>
              <a:cxn ang="0">
                <a:pos x="52" y="43"/>
              </a:cxn>
              <a:cxn ang="0">
                <a:pos x="49" y="49"/>
              </a:cxn>
              <a:cxn ang="0">
                <a:pos x="44" y="52"/>
              </a:cxn>
              <a:cxn ang="0">
                <a:pos x="39" y="55"/>
              </a:cxn>
              <a:cxn ang="0">
                <a:pos x="34"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7" y="29"/>
                </a:lnTo>
                <a:lnTo>
                  <a:pt x="57" y="30"/>
                </a:lnTo>
                <a:lnTo>
                  <a:pt x="57" y="33"/>
                </a:lnTo>
                <a:lnTo>
                  <a:pt x="55" y="39"/>
                </a:lnTo>
                <a:lnTo>
                  <a:pt x="52" y="43"/>
                </a:lnTo>
                <a:lnTo>
                  <a:pt x="49" y="49"/>
                </a:lnTo>
                <a:lnTo>
                  <a:pt x="44" y="52"/>
                </a:lnTo>
                <a:lnTo>
                  <a:pt x="39" y="55"/>
                </a:lnTo>
                <a:lnTo>
                  <a:pt x="34"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2" name="Freeform 452"/>
          <p:cNvSpPr>
            <a:spLocks/>
          </p:cNvSpPr>
          <p:nvPr/>
        </p:nvSpPr>
        <p:spPr bwMode="auto">
          <a:xfrm>
            <a:off x="2501900" y="2655888"/>
            <a:ext cx="31750"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4"/>
              </a:cxn>
              <a:cxn ang="0">
                <a:pos x="33" y="56"/>
              </a:cxn>
              <a:cxn ang="0">
                <a:pos x="30" y="56"/>
              </a:cxn>
              <a:cxn ang="0">
                <a:pos x="29" y="56"/>
              </a:cxn>
              <a:cxn ang="0">
                <a:pos x="29" y="57"/>
              </a:cxn>
              <a:cxn ang="0">
                <a:pos x="17" y="54"/>
              </a:cxn>
              <a:cxn ang="0">
                <a:pos x="9" y="49"/>
              </a:cxn>
              <a:cxn ang="0">
                <a:pos x="2" y="39"/>
              </a:cxn>
              <a:cxn ang="0">
                <a:pos x="0" y="29"/>
              </a:cxn>
              <a:cxn ang="0">
                <a:pos x="2" y="17"/>
              </a:cxn>
              <a:cxn ang="0">
                <a:pos x="9" y="8"/>
              </a:cxn>
              <a:cxn ang="0">
                <a:pos x="17" y="1"/>
              </a:cxn>
              <a:cxn ang="0">
                <a:pos x="29" y="0"/>
              </a:cxn>
              <a:cxn ang="0">
                <a:pos x="39" y="1"/>
              </a:cxn>
              <a:cxn ang="0">
                <a:pos x="49" y="8"/>
              </a:cxn>
              <a:cxn ang="0">
                <a:pos x="55" y="17"/>
              </a:cxn>
              <a:cxn ang="0">
                <a:pos x="58" y="29"/>
              </a:cxn>
            </a:cxnLst>
            <a:rect l="0" t="0" r="r" b="b"/>
            <a:pathLst>
              <a:path w="58" h="57">
                <a:moveTo>
                  <a:pt x="58" y="29"/>
                </a:moveTo>
                <a:lnTo>
                  <a:pt x="56" y="29"/>
                </a:lnTo>
                <a:lnTo>
                  <a:pt x="56" y="30"/>
                </a:lnTo>
                <a:lnTo>
                  <a:pt x="56" y="33"/>
                </a:lnTo>
                <a:lnTo>
                  <a:pt x="55" y="39"/>
                </a:lnTo>
                <a:lnTo>
                  <a:pt x="52" y="43"/>
                </a:lnTo>
                <a:lnTo>
                  <a:pt x="49" y="49"/>
                </a:lnTo>
                <a:lnTo>
                  <a:pt x="43" y="52"/>
                </a:lnTo>
                <a:lnTo>
                  <a:pt x="39" y="54"/>
                </a:lnTo>
                <a:lnTo>
                  <a:pt x="33" y="56"/>
                </a:lnTo>
                <a:lnTo>
                  <a:pt x="30" y="56"/>
                </a:lnTo>
                <a:lnTo>
                  <a:pt x="29" y="56"/>
                </a:lnTo>
                <a:lnTo>
                  <a:pt x="29" y="57"/>
                </a:lnTo>
                <a:lnTo>
                  <a:pt x="17" y="54"/>
                </a:lnTo>
                <a:lnTo>
                  <a:pt x="9" y="49"/>
                </a:lnTo>
                <a:lnTo>
                  <a:pt x="2" y="39"/>
                </a:lnTo>
                <a:lnTo>
                  <a:pt x="0" y="29"/>
                </a:lnTo>
                <a:lnTo>
                  <a:pt x="2" y="17"/>
                </a:lnTo>
                <a:lnTo>
                  <a:pt x="9" y="8"/>
                </a:lnTo>
                <a:lnTo>
                  <a:pt x="17" y="1"/>
                </a:lnTo>
                <a:lnTo>
                  <a:pt x="29" y="0"/>
                </a:lnTo>
                <a:lnTo>
                  <a:pt x="39" y="1"/>
                </a:lnTo>
                <a:lnTo>
                  <a:pt x="49" y="8"/>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3" name="Freeform 453"/>
          <p:cNvSpPr>
            <a:spLocks/>
          </p:cNvSpPr>
          <p:nvPr/>
        </p:nvSpPr>
        <p:spPr bwMode="auto">
          <a:xfrm>
            <a:off x="2528888" y="2619375"/>
            <a:ext cx="30162"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4" name="Freeform 454"/>
          <p:cNvSpPr>
            <a:spLocks/>
          </p:cNvSpPr>
          <p:nvPr/>
        </p:nvSpPr>
        <p:spPr bwMode="auto">
          <a:xfrm>
            <a:off x="2549525" y="2579688"/>
            <a:ext cx="30163" cy="30162"/>
          </a:xfrm>
          <a:custGeom>
            <a:avLst/>
            <a:gdLst/>
            <a:ahLst/>
            <a:cxnLst>
              <a:cxn ang="0">
                <a:pos x="58" y="28"/>
              </a:cxn>
              <a:cxn ang="0">
                <a:pos x="57" y="28"/>
              </a:cxn>
              <a:cxn ang="0">
                <a:pos x="57" y="30"/>
              </a:cxn>
              <a:cxn ang="0">
                <a:pos x="57" y="33"/>
              </a:cxn>
              <a:cxn ang="0">
                <a:pos x="55" y="38"/>
              </a:cxn>
              <a:cxn ang="0">
                <a:pos x="52" y="43"/>
              </a:cxn>
              <a:cxn ang="0">
                <a:pos x="49" y="49"/>
              </a:cxn>
              <a:cxn ang="0">
                <a:pos x="44" y="51"/>
              </a:cxn>
              <a:cxn ang="0">
                <a:pos x="39" y="54"/>
              </a:cxn>
              <a:cxn ang="0">
                <a:pos x="34" y="56"/>
              </a:cxn>
              <a:cxn ang="0">
                <a:pos x="31" y="56"/>
              </a:cxn>
              <a:cxn ang="0">
                <a:pos x="29" y="56"/>
              </a:cxn>
              <a:cxn ang="0">
                <a:pos x="29" y="57"/>
              </a:cxn>
              <a:cxn ang="0">
                <a:pos x="18" y="54"/>
              </a:cxn>
              <a:cxn ang="0">
                <a:pos x="9" y="49"/>
              </a:cxn>
              <a:cxn ang="0">
                <a:pos x="2" y="38"/>
              </a:cxn>
              <a:cxn ang="0">
                <a:pos x="0" y="28"/>
              </a:cxn>
              <a:cxn ang="0">
                <a:pos x="2" y="17"/>
              </a:cxn>
              <a:cxn ang="0">
                <a:pos x="9" y="8"/>
              </a:cxn>
              <a:cxn ang="0">
                <a:pos x="18" y="1"/>
              </a:cxn>
              <a:cxn ang="0">
                <a:pos x="29" y="0"/>
              </a:cxn>
              <a:cxn ang="0">
                <a:pos x="39" y="1"/>
              </a:cxn>
              <a:cxn ang="0">
                <a:pos x="49" y="8"/>
              </a:cxn>
              <a:cxn ang="0">
                <a:pos x="55" y="17"/>
              </a:cxn>
              <a:cxn ang="0">
                <a:pos x="58" y="28"/>
              </a:cxn>
            </a:cxnLst>
            <a:rect l="0" t="0" r="r" b="b"/>
            <a:pathLst>
              <a:path w="58" h="57">
                <a:moveTo>
                  <a:pt x="58" y="28"/>
                </a:moveTo>
                <a:lnTo>
                  <a:pt x="57" y="28"/>
                </a:lnTo>
                <a:lnTo>
                  <a:pt x="57" y="30"/>
                </a:lnTo>
                <a:lnTo>
                  <a:pt x="57" y="33"/>
                </a:lnTo>
                <a:lnTo>
                  <a:pt x="55" y="38"/>
                </a:lnTo>
                <a:lnTo>
                  <a:pt x="52" y="43"/>
                </a:lnTo>
                <a:lnTo>
                  <a:pt x="49" y="49"/>
                </a:lnTo>
                <a:lnTo>
                  <a:pt x="44" y="51"/>
                </a:lnTo>
                <a:lnTo>
                  <a:pt x="39" y="54"/>
                </a:lnTo>
                <a:lnTo>
                  <a:pt x="34" y="56"/>
                </a:lnTo>
                <a:lnTo>
                  <a:pt x="31" y="56"/>
                </a:lnTo>
                <a:lnTo>
                  <a:pt x="29" y="56"/>
                </a:lnTo>
                <a:lnTo>
                  <a:pt x="29" y="57"/>
                </a:lnTo>
                <a:lnTo>
                  <a:pt x="18" y="54"/>
                </a:lnTo>
                <a:lnTo>
                  <a:pt x="9" y="49"/>
                </a:lnTo>
                <a:lnTo>
                  <a:pt x="2" y="38"/>
                </a:lnTo>
                <a:lnTo>
                  <a:pt x="0" y="28"/>
                </a:lnTo>
                <a:lnTo>
                  <a:pt x="2" y="17"/>
                </a:lnTo>
                <a:lnTo>
                  <a:pt x="9" y="8"/>
                </a:lnTo>
                <a:lnTo>
                  <a:pt x="18"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5" name="Freeform 455"/>
          <p:cNvSpPr>
            <a:spLocks/>
          </p:cNvSpPr>
          <p:nvPr/>
        </p:nvSpPr>
        <p:spPr bwMode="auto">
          <a:xfrm>
            <a:off x="2565400" y="2535238"/>
            <a:ext cx="30163" cy="30162"/>
          </a:xfrm>
          <a:custGeom>
            <a:avLst/>
            <a:gdLst/>
            <a:ahLst/>
            <a:cxnLst>
              <a:cxn ang="0">
                <a:pos x="58" y="29"/>
              </a:cxn>
              <a:cxn ang="0">
                <a:pos x="57" y="29"/>
              </a:cxn>
              <a:cxn ang="0">
                <a:pos x="57" y="31"/>
              </a:cxn>
              <a:cxn ang="0">
                <a:pos x="57" y="34"/>
              </a:cxn>
              <a:cxn ang="0">
                <a:pos x="55" y="39"/>
              </a:cxn>
              <a:cxn ang="0">
                <a:pos x="52" y="44"/>
              </a:cxn>
              <a:cxn ang="0">
                <a:pos x="49" y="49"/>
              </a:cxn>
              <a:cxn ang="0">
                <a:pos x="44" y="52"/>
              </a:cxn>
              <a:cxn ang="0">
                <a:pos x="39" y="55"/>
              </a:cxn>
              <a:cxn ang="0">
                <a:pos x="33" y="57"/>
              </a:cxn>
              <a:cxn ang="0">
                <a:pos x="31" y="57"/>
              </a:cxn>
              <a:cxn ang="0">
                <a:pos x="29" y="57"/>
              </a:cxn>
              <a:cxn ang="0">
                <a:pos x="29" y="58"/>
              </a:cxn>
              <a:cxn ang="0">
                <a:pos x="18" y="55"/>
              </a:cxn>
              <a:cxn ang="0">
                <a:pos x="9" y="49"/>
              </a:cxn>
              <a:cxn ang="0">
                <a:pos x="2" y="39"/>
              </a:cxn>
              <a:cxn ang="0">
                <a:pos x="0" y="29"/>
              </a:cxn>
              <a:cxn ang="0">
                <a:pos x="2" y="18"/>
              </a:cxn>
              <a:cxn ang="0">
                <a:pos x="9" y="9"/>
              </a:cxn>
              <a:cxn ang="0">
                <a:pos x="18" y="2"/>
              </a:cxn>
              <a:cxn ang="0">
                <a:pos x="29" y="0"/>
              </a:cxn>
              <a:cxn ang="0">
                <a:pos x="39" y="2"/>
              </a:cxn>
              <a:cxn ang="0">
                <a:pos x="49" y="9"/>
              </a:cxn>
              <a:cxn ang="0">
                <a:pos x="55" y="18"/>
              </a:cxn>
              <a:cxn ang="0">
                <a:pos x="58" y="29"/>
              </a:cxn>
            </a:cxnLst>
            <a:rect l="0" t="0" r="r" b="b"/>
            <a:pathLst>
              <a:path w="58" h="58">
                <a:moveTo>
                  <a:pt x="58" y="29"/>
                </a:moveTo>
                <a:lnTo>
                  <a:pt x="57" y="29"/>
                </a:lnTo>
                <a:lnTo>
                  <a:pt x="57" y="31"/>
                </a:lnTo>
                <a:lnTo>
                  <a:pt x="57" y="34"/>
                </a:lnTo>
                <a:lnTo>
                  <a:pt x="55" y="39"/>
                </a:lnTo>
                <a:lnTo>
                  <a:pt x="52" y="44"/>
                </a:lnTo>
                <a:lnTo>
                  <a:pt x="49" y="49"/>
                </a:lnTo>
                <a:lnTo>
                  <a:pt x="44" y="52"/>
                </a:lnTo>
                <a:lnTo>
                  <a:pt x="39" y="55"/>
                </a:lnTo>
                <a:lnTo>
                  <a:pt x="33" y="57"/>
                </a:lnTo>
                <a:lnTo>
                  <a:pt x="31" y="57"/>
                </a:lnTo>
                <a:lnTo>
                  <a:pt x="29" y="57"/>
                </a:lnTo>
                <a:lnTo>
                  <a:pt x="29" y="58"/>
                </a:lnTo>
                <a:lnTo>
                  <a:pt x="18" y="55"/>
                </a:lnTo>
                <a:lnTo>
                  <a:pt x="9" y="49"/>
                </a:lnTo>
                <a:lnTo>
                  <a:pt x="2" y="39"/>
                </a:lnTo>
                <a:lnTo>
                  <a:pt x="0" y="29"/>
                </a:lnTo>
                <a:lnTo>
                  <a:pt x="2" y="18"/>
                </a:lnTo>
                <a:lnTo>
                  <a:pt x="9" y="9"/>
                </a:lnTo>
                <a:lnTo>
                  <a:pt x="18"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6" name="Freeform 456"/>
          <p:cNvSpPr>
            <a:spLocks/>
          </p:cNvSpPr>
          <p:nvPr/>
        </p:nvSpPr>
        <p:spPr bwMode="auto">
          <a:xfrm>
            <a:off x="2573338" y="2489200"/>
            <a:ext cx="30162"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2" y="38"/>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0" y="56"/>
                </a:lnTo>
                <a:lnTo>
                  <a:pt x="29" y="56"/>
                </a:lnTo>
                <a:lnTo>
                  <a:pt x="29" y="57"/>
                </a:lnTo>
                <a:lnTo>
                  <a:pt x="17" y="54"/>
                </a:lnTo>
                <a:lnTo>
                  <a:pt x="9" y="49"/>
                </a:lnTo>
                <a:lnTo>
                  <a:pt x="2" y="38"/>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7" name="Freeform 457"/>
          <p:cNvSpPr>
            <a:spLocks/>
          </p:cNvSpPr>
          <p:nvPr/>
        </p:nvSpPr>
        <p:spPr bwMode="auto">
          <a:xfrm>
            <a:off x="2573338" y="2443163"/>
            <a:ext cx="30162"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8" name="Freeform 458"/>
          <p:cNvSpPr>
            <a:spLocks/>
          </p:cNvSpPr>
          <p:nvPr/>
        </p:nvSpPr>
        <p:spPr bwMode="auto">
          <a:xfrm>
            <a:off x="2566988" y="2398713"/>
            <a:ext cx="30162" cy="30162"/>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1"/>
              </a:cxn>
              <a:cxn ang="0">
                <a:pos x="29" y="0"/>
              </a:cxn>
              <a:cxn ang="0">
                <a:pos x="39" y="1"/>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1"/>
                </a:lnTo>
                <a:lnTo>
                  <a:pt x="29" y="0"/>
                </a:lnTo>
                <a:lnTo>
                  <a:pt x="39" y="1"/>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59" name="Freeform 459"/>
          <p:cNvSpPr>
            <a:spLocks/>
          </p:cNvSpPr>
          <p:nvPr/>
        </p:nvSpPr>
        <p:spPr bwMode="auto">
          <a:xfrm>
            <a:off x="2554288" y="2354263"/>
            <a:ext cx="30162" cy="31750"/>
          </a:xfrm>
          <a:custGeom>
            <a:avLst/>
            <a:gdLst/>
            <a:ahLst/>
            <a:cxnLst>
              <a:cxn ang="0">
                <a:pos x="57" y="29"/>
              </a:cxn>
              <a:cxn ang="0">
                <a:pos x="56" y="29"/>
              </a:cxn>
              <a:cxn ang="0">
                <a:pos x="56" y="30"/>
              </a:cxn>
              <a:cxn ang="0">
                <a:pos x="56" y="33"/>
              </a:cxn>
              <a:cxn ang="0">
                <a:pos x="54" y="39"/>
              </a:cxn>
              <a:cxn ang="0">
                <a:pos x="52" y="43"/>
              </a:cxn>
              <a:cxn ang="0">
                <a:pos x="49" y="49"/>
              </a:cxn>
              <a:cxn ang="0">
                <a:pos x="43" y="52"/>
              </a:cxn>
              <a:cxn ang="0">
                <a:pos x="39"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9" y="1"/>
              </a:cxn>
              <a:cxn ang="0">
                <a:pos x="49" y="9"/>
              </a:cxn>
              <a:cxn ang="0">
                <a:pos x="54" y="17"/>
              </a:cxn>
              <a:cxn ang="0">
                <a:pos x="57" y="29"/>
              </a:cxn>
            </a:cxnLst>
            <a:rect l="0" t="0" r="r" b="b"/>
            <a:pathLst>
              <a:path w="57" h="58">
                <a:moveTo>
                  <a:pt x="57" y="29"/>
                </a:moveTo>
                <a:lnTo>
                  <a:pt x="56" y="29"/>
                </a:lnTo>
                <a:lnTo>
                  <a:pt x="56" y="30"/>
                </a:lnTo>
                <a:lnTo>
                  <a:pt x="56" y="33"/>
                </a:lnTo>
                <a:lnTo>
                  <a:pt x="54" y="39"/>
                </a:lnTo>
                <a:lnTo>
                  <a:pt x="52" y="43"/>
                </a:lnTo>
                <a:lnTo>
                  <a:pt x="49" y="49"/>
                </a:lnTo>
                <a:lnTo>
                  <a:pt x="43" y="52"/>
                </a:lnTo>
                <a:lnTo>
                  <a:pt x="39"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9"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0" name="Freeform 460"/>
          <p:cNvSpPr>
            <a:spLocks/>
          </p:cNvSpPr>
          <p:nvPr/>
        </p:nvSpPr>
        <p:spPr bwMode="auto">
          <a:xfrm>
            <a:off x="2533650" y="2314575"/>
            <a:ext cx="30163" cy="30163"/>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2" y="38"/>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0" y="56"/>
                </a:lnTo>
                <a:lnTo>
                  <a:pt x="29" y="56"/>
                </a:lnTo>
                <a:lnTo>
                  <a:pt x="29" y="57"/>
                </a:lnTo>
                <a:lnTo>
                  <a:pt x="17" y="54"/>
                </a:lnTo>
                <a:lnTo>
                  <a:pt x="9" y="49"/>
                </a:lnTo>
                <a:lnTo>
                  <a:pt x="2" y="38"/>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1" name="Freeform 461"/>
          <p:cNvSpPr>
            <a:spLocks/>
          </p:cNvSpPr>
          <p:nvPr/>
        </p:nvSpPr>
        <p:spPr bwMode="auto">
          <a:xfrm>
            <a:off x="2508250" y="2276475"/>
            <a:ext cx="30163" cy="30163"/>
          </a:xfrm>
          <a:custGeom>
            <a:avLst/>
            <a:gdLst/>
            <a:ahLst/>
            <a:cxnLst>
              <a:cxn ang="0">
                <a:pos x="58" y="29"/>
              </a:cxn>
              <a:cxn ang="0">
                <a:pos x="56" y="29"/>
              </a:cxn>
              <a:cxn ang="0">
                <a:pos x="56" y="31"/>
              </a:cxn>
              <a:cxn ang="0">
                <a:pos x="56" y="34"/>
              </a:cxn>
              <a:cxn ang="0">
                <a:pos x="55" y="39"/>
              </a:cxn>
              <a:cxn ang="0">
                <a:pos x="52" y="44"/>
              </a:cxn>
              <a:cxn ang="0">
                <a:pos x="49" y="49"/>
              </a:cxn>
              <a:cxn ang="0">
                <a:pos x="43" y="52"/>
              </a:cxn>
              <a:cxn ang="0">
                <a:pos x="39" y="55"/>
              </a:cxn>
              <a:cxn ang="0">
                <a:pos x="33" y="57"/>
              </a:cxn>
              <a:cxn ang="0">
                <a:pos x="30" y="57"/>
              </a:cxn>
              <a:cxn ang="0">
                <a:pos x="29" y="57"/>
              </a:cxn>
              <a:cxn ang="0">
                <a:pos x="29" y="58"/>
              </a:cxn>
              <a:cxn ang="0">
                <a:pos x="17" y="55"/>
              </a:cxn>
              <a:cxn ang="0">
                <a:pos x="9" y="49"/>
              </a:cxn>
              <a:cxn ang="0">
                <a:pos x="2" y="39"/>
              </a:cxn>
              <a:cxn ang="0">
                <a:pos x="0" y="29"/>
              </a:cxn>
              <a:cxn ang="0">
                <a:pos x="2" y="18"/>
              </a:cxn>
              <a:cxn ang="0">
                <a:pos x="9" y="9"/>
              </a:cxn>
              <a:cxn ang="0">
                <a:pos x="17" y="2"/>
              </a:cxn>
              <a:cxn ang="0">
                <a:pos x="29" y="0"/>
              </a:cxn>
              <a:cxn ang="0">
                <a:pos x="39" y="2"/>
              </a:cxn>
              <a:cxn ang="0">
                <a:pos x="49" y="9"/>
              </a:cxn>
              <a:cxn ang="0">
                <a:pos x="55" y="18"/>
              </a:cxn>
              <a:cxn ang="0">
                <a:pos x="58" y="29"/>
              </a:cxn>
            </a:cxnLst>
            <a:rect l="0" t="0" r="r" b="b"/>
            <a:pathLst>
              <a:path w="58" h="58">
                <a:moveTo>
                  <a:pt x="58" y="29"/>
                </a:moveTo>
                <a:lnTo>
                  <a:pt x="56" y="29"/>
                </a:lnTo>
                <a:lnTo>
                  <a:pt x="56" y="31"/>
                </a:lnTo>
                <a:lnTo>
                  <a:pt x="56" y="34"/>
                </a:lnTo>
                <a:lnTo>
                  <a:pt x="55" y="39"/>
                </a:lnTo>
                <a:lnTo>
                  <a:pt x="52" y="44"/>
                </a:lnTo>
                <a:lnTo>
                  <a:pt x="49" y="49"/>
                </a:lnTo>
                <a:lnTo>
                  <a:pt x="43" y="52"/>
                </a:lnTo>
                <a:lnTo>
                  <a:pt x="39" y="55"/>
                </a:lnTo>
                <a:lnTo>
                  <a:pt x="33" y="57"/>
                </a:lnTo>
                <a:lnTo>
                  <a:pt x="30" y="57"/>
                </a:lnTo>
                <a:lnTo>
                  <a:pt x="29" y="57"/>
                </a:lnTo>
                <a:lnTo>
                  <a:pt x="29" y="58"/>
                </a:lnTo>
                <a:lnTo>
                  <a:pt x="17" y="55"/>
                </a:lnTo>
                <a:lnTo>
                  <a:pt x="9" y="49"/>
                </a:lnTo>
                <a:lnTo>
                  <a:pt x="2" y="39"/>
                </a:lnTo>
                <a:lnTo>
                  <a:pt x="0" y="29"/>
                </a:lnTo>
                <a:lnTo>
                  <a:pt x="2" y="18"/>
                </a:lnTo>
                <a:lnTo>
                  <a:pt x="9" y="9"/>
                </a:lnTo>
                <a:lnTo>
                  <a:pt x="17" y="2"/>
                </a:lnTo>
                <a:lnTo>
                  <a:pt x="29" y="0"/>
                </a:lnTo>
                <a:lnTo>
                  <a:pt x="39" y="2"/>
                </a:lnTo>
                <a:lnTo>
                  <a:pt x="49" y="9"/>
                </a:lnTo>
                <a:lnTo>
                  <a:pt x="55" y="18"/>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2" name="Freeform 462"/>
          <p:cNvSpPr>
            <a:spLocks/>
          </p:cNvSpPr>
          <p:nvPr/>
        </p:nvSpPr>
        <p:spPr bwMode="auto">
          <a:xfrm>
            <a:off x="2478088" y="2241550"/>
            <a:ext cx="30162" cy="30163"/>
          </a:xfrm>
          <a:custGeom>
            <a:avLst/>
            <a:gdLst/>
            <a:ahLst/>
            <a:cxnLst>
              <a:cxn ang="0">
                <a:pos x="57" y="28"/>
              </a:cxn>
              <a:cxn ang="0">
                <a:pos x="56" y="28"/>
              </a:cxn>
              <a:cxn ang="0">
                <a:pos x="56" y="30"/>
              </a:cxn>
              <a:cxn ang="0">
                <a:pos x="56" y="33"/>
              </a:cxn>
              <a:cxn ang="0">
                <a:pos x="54" y="39"/>
              </a:cxn>
              <a:cxn ang="0">
                <a:pos x="51" y="43"/>
              </a:cxn>
              <a:cxn ang="0">
                <a:pos x="49" y="49"/>
              </a:cxn>
              <a:cxn ang="0">
                <a:pos x="43" y="52"/>
              </a:cxn>
              <a:cxn ang="0">
                <a:pos x="38" y="54"/>
              </a:cxn>
              <a:cxn ang="0">
                <a:pos x="33" y="56"/>
              </a:cxn>
              <a:cxn ang="0">
                <a:pos x="30" y="56"/>
              </a:cxn>
              <a:cxn ang="0">
                <a:pos x="28" y="56"/>
              </a:cxn>
              <a:cxn ang="0">
                <a:pos x="28" y="57"/>
              </a:cxn>
              <a:cxn ang="0">
                <a:pos x="17" y="54"/>
              </a:cxn>
              <a:cxn ang="0">
                <a:pos x="8" y="49"/>
              </a:cxn>
              <a:cxn ang="0">
                <a:pos x="1" y="39"/>
              </a:cxn>
              <a:cxn ang="0">
                <a:pos x="0" y="28"/>
              </a:cxn>
              <a:cxn ang="0">
                <a:pos x="1" y="17"/>
              </a:cxn>
              <a:cxn ang="0">
                <a:pos x="8" y="8"/>
              </a:cxn>
              <a:cxn ang="0">
                <a:pos x="17" y="1"/>
              </a:cxn>
              <a:cxn ang="0">
                <a:pos x="28" y="0"/>
              </a:cxn>
              <a:cxn ang="0">
                <a:pos x="38" y="1"/>
              </a:cxn>
              <a:cxn ang="0">
                <a:pos x="49" y="8"/>
              </a:cxn>
              <a:cxn ang="0">
                <a:pos x="54" y="17"/>
              </a:cxn>
              <a:cxn ang="0">
                <a:pos x="57" y="28"/>
              </a:cxn>
            </a:cxnLst>
            <a:rect l="0" t="0" r="r" b="b"/>
            <a:pathLst>
              <a:path w="57" h="57">
                <a:moveTo>
                  <a:pt x="57" y="28"/>
                </a:moveTo>
                <a:lnTo>
                  <a:pt x="56" y="28"/>
                </a:lnTo>
                <a:lnTo>
                  <a:pt x="56" y="30"/>
                </a:lnTo>
                <a:lnTo>
                  <a:pt x="56" y="33"/>
                </a:lnTo>
                <a:lnTo>
                  <a:pt x="54" y="39"/>
                </a:lnTo>
                <a:lnTo>
                  <a:pt x="51" y="43"/>
                </a:lnTo>
                <a:lnTo>
                  <a:pt x="49" y="49"/>
                </a:lnTo>
                <a:lnTo>
                  <a:pt x="43" y="52"/>
                </a:lnTo>
                <a:lnTo>
                  <a:pt x="38" y="54"/>
                </a:lnTo>
                <a:lnTo>
                  <a:pt x="33" y="56"/>
                </a:lnTo>
                <a:lnTo>
                  <a:pt x="30" y="56"/>
                </a:lnTo>
                <a:lnTo>
                  <a:pt x="28" y="56"/>
                </a:lnTo>
                <a:lnTo>
                  <a:pt x="28" y="57"/>
                </a:lnTo>
                <a:lnTo>
                  <a:pt x="17" y="54"/>
                </a:lnTo>
                <a:lnTo>
                  <a:pt x="8" y="49"/>
                </a:lnTo>
                <a:lnTo>
                  <a:pt x="1" y="39"/>
                </a:lnTo>
                <a:lnTo>
                  <a:pt x="0" y="28"/>
                </a:lnTo>
                <a:lnTo>
                  <a:pt x="1" y="17"/>
                </a:lnTo>
                <a:lnTo>
                  <a:pt x="8" y="8"/>
                </a:lnTo>
                <a:lnTo>
                  <a:pt x="17" y="1"/>
                </a:lnTo>
                <a:lnTo>
                  <a:pt x="28" y="0"/>
                </a:lnTo>
                <a:lnTo>
                  <a:pt x="38" y="1"/>
                </a:lnTo>
                <a:lnTo>
                  <a:pt x="49" y="8"/>
                </a:lnTo>
                <a:lnTo>
                  <a:pt x="54" y="17"/>
                </a:lnTo>
                <a:lnTo>
                  <a:pt x="57"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3" name="Freeform 463"/>
          <p:cNvSpPr>
            <a:spLocks/>
          </p:cNvSpPr>
          <p:nvPr/>
        </p:nvSpPr>
        <p:spPr bwMode="auto">
          <a:xfrm>
            <a:off x="2443163" y="2211388"/>
            <a:ext cx="31750" cy="30162"/>
          </a:xfrm>
          <a:custGeom>
            <a:avLst/>
            <a:gdLst/>
            <a:ahLst/>
            <a:cxnLst>
              <a:cxn ang="0">
                <a:pos x="58" y="28"/>
              </a:cxn>
              <a:cxn ang="0">
                <a:pos x="56" y="28"/>
              </a:cxn>
              <a:cxn ang="0">
                <a:pos x="56" y="30"/>
              </a:cxn>
              <a:cxn ang="0">
                <a:pos x="56" y="33"/>
              </a:cxn>
              <a:cxn ang="0">
                <a:pos x="55" y="38"/>
              </a:cxn>
              <a:cxn ang="0">
                <a:pos x="52" y="43"/>
              </a:cxn>
              <a:cxn ang="0">
                <a:pos x="49" y="49"/>
              </a:cxn>
              <a:cxn ang="0">
                <a:pos x="43" y="51"/>
              </a:cxn>
              <a:cxn ang="0">
                <a:pos x="39" y="54"/>
              </a:cxn>
              <a:cxn ang="0">
                <a:pos x="33" y="56"/>
              </a:cxn>
              <a:cxn ang="0">
                <a:pos x="30" y="56"/>
              </a:cxn>
              <a:cxn ang="0">
                <a:pos x="29" y="56"/>
              </a:cxn>
              <a:cxn ang="0">
                <a:pos x="29" y="57"/>
              </a:cxn>
              <a:cxn ang="0">
                <a:pos x="17" y="54"/>
              </a:cxn>
              <a:cxn ang="0">
                <a:pos x="9" y="49"/>
              </a:cxn>
              <a:cxn ang="0">
                <a:pos x="2" y="38"/>
              </a:cxn>
              <a:cxn ang="0">
                <a:pos x="0" y="28"/>
              </a:cxn>
              <a:cxn ang="0">
                <a:pos x="2" y="17"/>
              </a:cxn>
              <a:cxn ang="0">
                <a:pos x="9" y="8"/>
              </a:cxn>
              <a:cxn ang="0">
                <a:pos x="17" y="1"/>
              </a:cxn>
              <a:cxn ang="0">
                <a:pos x="29" y="0"/>
              </a:cxn>
              <a:cxn ang="0">
                <a:pos x="39" y="1"/>
              </a:cxn>
              <a:cxn ang="0">
                <a:pos x="49" y="8"/>
              </a:cxn>
              <a:cxn ang="0">
                <a:pos x="55" y="17"/>
              </a:cxn>
              <a:cxn ang="0">
                <a:pos x="58" y="28"/>
              </a:cxn>
            </a:cxnLst>
            <a:rect l="0" t="0" r="r" b="b"/>
            <a:pathLst>
              <a:path w="58" h="57">
                <a:moveTo>
                  <a:pt x="58" y="28"/>
                </a:moveTo>
                <a:lnTo>
                  <a:pt x="56" y="28"/>
                </a:lnTo>
                <a:lnTo>
                  <a:pt x="56" y="30"/>
                </a:lnTo>
                <a:lnTo>
                  <a:pt x="56" y="33"/>
                </a:lnTo>
                <a:lnTo>
                  <a:pt x="55" y="38"/>
                </a:lnTo>
                <a:lnTo>
                  <a:pt x="52" y="43"/>
                </a:lnTo>
                <a:lnTo>
                  <a:pt x="49" y="49"/>
                </a:lnTo>
                <a:lnTo>
                  <a:pt x="43" y="51"/>
                </a:lnTo>
                <a:lnTo>
                  <a:pt x="39" y="54"/>
                </a:lnTo>
                <a:lnTo>
                  <a:pt x="33" y="56"/>
                </a:lnTo>
                <a:lnTo>
                  <a:pt x="30" y="56"/>
                </a:lnTo>
                <a:lnTo>
                  <a:pt x="29" y="56"/>
                </a:lnTo>
                <a:lnTo>
                  <a:pt x="29" y="57"/>
                </a:lnTo>
                <a:lnTo>
                  <a:pt x="17" y="54"/>
                </a:lnTo>
                <a:lnTo>
                  <a:pt x="9" y="49"/>
                </a:lnTo>
                <a:lnTo>
                  <a:pt x="2" y="38"/>
                </a:lnTo>
                <a:lnTo>
                  <a:pt x="0" y="28"/>
                </a:lnTo>
                <a:lnTo>
                  <a:pt x="2" y="17"/>
                </a:lnTo>
                <a:lnTo>
                  <a:pt x="9" y="8"/>
                </a:lnTo>
                <a:lnTo>
                  <a:pt x="17" y="1"/>
                </a:lnTo>
                <a:lnTo>
                  <a:pt x="29" y="0"/>
                </a:lnTo>
                <a:lnTo>
                  <a:pt x="39" y="1"/>
                </a:lnTo>
                <a:lnTo>
                  <a:pt x="49" y="8"/>
                </a:lnTo>
                <a:lnTo>
                  <a:pt x="55" y="17"/>
                </a:lnTo>
                <a:lnTo>
                  <a:pt x="58" y="28"/>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4" name="Freeform 464"/>
          <p:cNvSpPr>
            <a:spLocks/>
          </p:cNvSpPr>
          <p:nvPr/>
        </p:nvSpPr>
        <p:spPr bwMode="auto">
          <a:xfrm>
            <a:off x="2409825" y="2184400"/>
            <a:ext cx="30163" cy="30163"/>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1" y="56"/>
              </a:cxn>
              <a:cxn ang="0">
                <a:pos x="29" y="56"/>
              </a:cxn>
              <a:cxn ang="0">
                <a:pos x="29" y="58"/>
              </a:cxn>
              <a:cxn ang="0">
                <a:pos x="18" y="55"/>
              </a:cxn>
              <a:cxn ang="0">
                <a:pos x="9" y="49"/>
              </a:cxn>
              <a:cxn ang="0">
                <a:pos x="2" y="39"/>
              </a:cxn>
              <a:cxn ang="0">
                <a:pos x="0" y="29"/>
              </a:cxn>
              <a:cxn ang="0">
                <a:pos x="2" y="17"/>
              </a:cxn>
              <a:cxn ang="0">
                <a:pos x="9" y="9"/>
              </a:cxn>
              <a:cxn ang="0">
                <a:pos x="18"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1" y="56"/>
                </a:lnTo>
                <a:lnTo>
                  <a:pt x="29" y="56"/>
                </a:lnTo>
                <a:lnTo>
                  <a:pt x="29" y="58"/>
                </a:lnTo>
                <a:lnTo>
                  <a:pt x="18" y="55"/>
                </a:lnTo>
                <a:lnTo>
                  <a:pt x="9" y="49"/>
                </a:lnTo>
                <a:lnTo>
                  <a:pt x="2" y="39"/>
                </a:lnTo>
                <a:lnTo>
                  <a:pt x="0" y="29"/>
                </a:lnTo>
                <a:lnTo>
                  <a:pt x="2" y="17"/>
                </a:lnTo>
                <a:lnTo>
                  <a:pt x="9" y="9"/>
                </a:lnTo>
                <a:lnTo>
                  <a:pt x="18"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5" name="Freeform 465"/>
          <p:cNvSpPr>
            <a:spLocks/>
          </p:cNvSpPr>
          <p:nvPr/>
        </p:nvSpPr>
        <p:spPr bwMode="auto">
          <a:xfrm>
            <a:off x="2371725" y="2157413"/>
            <a:ext cx="30163" cy="31750"/>
          </a:xfrm>
          <a:custGeom>
            <a:avLst/>
            <a:gdLst/>
            <a:ahLst/>
            <a:cxnLst>
              <a:cxn ang="0">
                <a:pos x="58" y="29"/>
              </a:cxn>
              <a:cxn ang="0">
                <a:pos x="56" y="29"/>
              </a:cxn>
              <a:cxn ang="0">
                <a:pos x="56" y="30"/>
              </a:cxn>
              <a:cxn ang="0">
                <a:pos x="56" y="33"/>
              </a:cxn>
              <a:cxn ang="0">
                <a:pos x="55" y="39"/>
              </a:cxn>
              <a:cxn ang="0">
                <a:pos x="52" y="43"/>
              </a:cxn>
              <a:cxn ang="0">
                <a:pos x="49" y="49"/>
              </a:cxn>
              <a:cxn ang="0">
                <a:pos x="43" y="52"/>
              </a:cxn>
              <a:cxn ang="0">
                <a:pos x="39" y="55"/>
              </a:cxn>
              <a:cxn ang="0">
                <a:pos x="33" y="56"/>
              </a:cxn>
              <a:cxn ang="0">
                <a:pos x="30" y="56"/>
              </a:cxn>
              <a:cxn ang="0">
                <a:pos x="29" y="56"/>
              </a:cxn>
              <a:cxn ang="0">
                <a:pos x="29" y="58"/>
              </a:cxn>
              <a:cxn ang="0">
                <a:pos x="17" y="55"/>
              </a:cxn>
              <a:cxn ang="0">
                <a:pos x="9" y="49"/>
              </a:cxn>
              <a:cxn ang="0">
                <a:pos x="2" y="39"/>
              </a:cxn>
              <a:cxn ang="0">
                <a:pos x="0" y="29"/>
              </a:cxn>
              <a:cxn ang="0">
                <a:pos x="2" y="17"/>
              </a:cxn>
              <a:cxn ang="0">
                <a:pos x="9" y="9"/>
              </a:cxn>
              <a:cxn ang="0">
                <a:pos x="17" y="2"/>
              </a:cxn>
              <a:cxn ang="0">
                <a:pos x="29" y="0"/>
              </a:cxn>
              <a:cxn ang="0">
                <a:pos x="39" y="2"/>
              </a:cxn>
              <a:cxn ang="0">
                <a:pos x="49" y="9"/>
              </a:cxn>
              <a:cxn ang="0">
                <a:pos x="55" y="17"/>
              </a:cxn>
              <a:cxn ang="0">
                <a:pos x="58" y="29"/>
              </a:cxn>
            </a:cxnLst>
            <a:rect l="0" t="0" r="r" b="b"/>
            <a:pathLst>
              <a:path w="58" h="58">
                <a:moveTo>
                  <a:pt x="58" y="29"/>
                </a:moveTo>
                <a:lnTo>
                  <a:pt x="56" y="29"/>
                </a:lnTo>
                <a:lnTo>
                  <a:pt x="56" y="30"/>
                </a:lnTo>
                <a:lnTo>
                  <a:pt x="56" y="33"/>
                </a:lnTo>
                <a:lnTo>
                  <a:pt x="55" y="39"/>
                </a:lnTo>
                <a:lnTo>
                  <a:pt x="52" y="43"/>
                </a:lnTo>
                <a:lnTo>
                  <a:pt x="49" y="49"/>
                </a:lnTo>
                <a:lnTo>
                  <a:pt x="43" y="52"/>
                </a:lnTo>
                <a:lnTo>
                  <a:pt x="39" y="55"/>
                </a:lnTo>
                <a:lnTo>
                  <a:pt x="33" y="56"/>
                </a:lnTo>
                <a:lnTo>
                  <a:pt x="30" y="56"/>
                </a:lnTo>
                <a:lnTo>
                  <a:pt x="29" y="56"/>
                </a:lnTo>
                <a:lnTo>
                  <a:pt x="29" y="58"/>
                </a:lnTo>
                <a:lnTo>
                  <a:pt x="17" y="55"/>
                </a:lnTo>
                <a:lnTo>
                  <a:pt x="9" y="49"/>
                </a:lnTo>
                <a:lnTo>
                  <a:pt x="2" y="39"/>
                </a:lnTo>
                <a:lnTo>
                  <a:pt x="0" y="29"/>
                </a:lnTo>
                <a:lnTo>
                  <a:pt x="2" y="17"/>
                </a:lnTo>
                <a:lnTo>
                  <a:pt x="9" y="9"/>
                </a:lnTo>
                <a:lnTo>
                  <a:pt x="17" y="2"/>
                </a:lnTo>
                <a:lnTo>
                  <a:pt x="29" y="0"/>
                </a:lnTo>
                <a:lnTo>
                  <a:pt x="39" y="2"/>
                </a:lnTo>
                <a:lnTo>
                  <a:pt x="49" y="9"/>
                </a:lnTo>
                <a:lnTo>
                  <a:pt x="55" y="17"/>
                </a:lnTo>
                <a:lnTo>
                  <a:pt x="58"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6" name="Freeform 466"/>
          <p:cNvSpPr>
            <a:spLocks/>
          </p:cNvSpPr>
          <p:nvPr/>
        </p:nvSpPr>
        <p:spPr bwMode="auto">
          <a:xfrm>
            <a:off x="2333625" y="2135188"/>
            <a:ext cx="30163" cy="30162"/>
          </a:xfrm>
          <a:custGeom>
            <a:avLst/>
            <a:gdLst/>
            <a:ahLst/>
            <a:cxnLst>
              <a:cxn ang="0">
                <a:pos x="57" y="29"/>
              </a:cxn>
              <a:cxn ang="0">
                <a:pos x="56" y="29"/>
              </a:cxn>
              <a:cxn ang="0">
                <a:pos x="56" y="30"/>
              </a:cxn>
              <a:cxn ang="0">
                <a:pos x="56" y="33"/>
              </a:cxn>
              <a:cxn ang="0">
                <a:pos x="54" y="39"/>
              </a:cxn>
              <a:cxn ang="0">
                <a:pos x="51" y="43"/>
              </a:cxn>
              <a:cxn ang="0">
                <a:pos x="49" y="49"/>
              </a:cxn>
              <a:cxn ang="0">
                <a:pos x="43" y="52"/>
              </a:cxn>
              <a:cxn ang="0">
                <a:pos x="38" y="55"/>
              </a:cxn>
              <a:cxn ang="0">
                <a:pos x="33" y="56"/>
              </a:cxn>
              <a:cxn ang="0">
                <a:pos x="30" y="56"/>
              </a:cxn>
              <a:cxn ang="0">
                <a:pos x="28" y="56"/>
              </a:cxn>
              <a:cxn ang="0">
                <a:pos x="28" y="58"/>
              </a:cxn>
              <a:cxn ang="0">
                <a:pos x="17" y="55"/>
              </a:cxn>
              <a:cxn ang="0">
                <a:pos x="8" y="49"/>
              </a:cxn>
              <a:cxn ang="0">
                <a:pos x="1" y="39"/>
              </a:cxn>
              <a:cxn ang="0">
                <a:pos x="0" y="29"/>
              </a:cxn>
              <a:cxn ang="0">
                <a:pos x="1" y="17"/>
              </a:cxn>
              <a:cxn ang="0">
                <a:pos x="8" y="9"/>
              </a:cxn>
              <a:cxn ang="0">
                <a:pos x="17" y="1"/>
              </a:cxn>
              <a:cxn ang="0">
                <a:pos x="28" y="0"/>
              </a:cxn>
              <a:cxn ang="0">
                <a:pos x="38" y="1"/>
              </a:cxn>
              <a:cxn ang="0">
                <a:pos x="49" y="9"/>
              </a:cxn>
              <a:cxn ang="0">
                <a:pos x="54" y="17"/>
              </a:cxn>
              <a:cxn ang="0">
                <a:pos x="57" y="29"/>
              </a:cxn>
            </a:cxnLst>
            <a:rect l="0" t="0" r="r" b="b"/>
            <a:pathLst>
              <a:path w="57" h="58">
                <a:moveTo>
                  <a:pt x="57" y="29"/>
                </a:moveTo>
                <a:lnTo>
                  <a:pt x="56" y="29"/>
                </a:lnTo>
                <a:lnTo>
                  <a:pt x="56" y="30"/>
                </a:lnTo>
                <a:lnTo>
                  <a:pt x="56" y="33"/>
                </a:lnTo>
                <a:lnTo>
                  <a:pt x="54" y="39"/>
                </a:lnTo>
                <a:lnTo>
                  <a:pt x="51" y="43"/>
                </a:lnTo>
                <a:lnTo>
                  <a:pt x="49" y="49"/>
                </a:lnTo>
                <a:lnTo>
                  <a:pt x="43" y="52"/>
                </a:lnTo>
                <a:lnTo>
                  <a:pt x="38" y="55"/>
                </a:lnTo>
                <a:lnTo>
                  <a:pt x="33" y="56"/>
                </a:lnTo>
                <a:lnTo>
                  <a:pt x="30" y="56"/>
                </a:lnTo>
                <a:lnTo>
                  <a:pt x="28" y="56"/>
                </a:lnTo>
                <a:lnTo>
                  <a:pt x="28" y="58"/>
                </a:lnTo>
                <a:lnTo>
                  <a:pt x="17" y="55"/>
                </a:lnTo>
                <a:lnTo>
                  <a:pt x="8" y="49"/>
                </a:lnTo>
                <a:lnTo>
                  <a:pt x="1" y="39"/>
                </a:lnTo>
                <a:lnTo>
                  <a:pt x="0" y="29"/>
                </a:lnTo>
                <a:lnTo>
                  <a:pt x="1" y="17"/>
                </a:lnTo>
                <a:lnTo>
                  <a:pt x="8" y="9"/>
                </a:lnTo>
                <a:lnTo>
                  <a:pt x="17" y="1"/>
                </a:lnTo>
                <a:lnTo>
                  <a:pt x="28" y="0"/>
                </a:lnTo>
                <a:lnTo>
                  <a:pt x="38" y="1"/>
                </a:lnTo>
                <a:lnTo>
                  <a:pt x="49" y="9"/>
                </a:lnTo>
                <a:lnTo>
                  <a:pt x="54" y="17"/>
                </a:lnTo>
                <a:lnTo>
                  <a:pt x="57" y="29"/>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68" name="Rectangle 468"/>
          <p:cNvSpPr>
            <a:spLocks noChangeArrowheads="1"/>
          </p:cNvSpPr>
          <p:nvPr/>
        </p:nvSpPr>
        <p:spPr bwMode="auto">
          <a:xfrm>
            <a:off x="1215283" y="2362200"/>
            <a:ext cx="1146917" cy="276999"/>
          </a:xfrm>
          <a:prstGeom prst="rect">
            <a:avLst/>
          </a:prstGeom>
          <a:noFill/>
          <a:ln w="9525">
            <a:noFill/>
            <a:miter lim="800000"/>
            <a:headEnd/>
            <a:tailEnd/>
          </a:ln>
        </p:spPr>
        <p:txBody>
          <a:bodyPr wrap="none" lIns="0" tIns="0" rIns="0" bIns="0">
            <a:spAutoFit/>
          </a:bodyPr>
          <a:lstStyle/>
          <a:p>
            <a:pPr marL="354013" indent="-354013" defTabSz="941388"/>
            <a:r>
              <a:rPr lang="en-US" b="1" dirty="0">
                <a:latin typeface="Calibri" pitchFamily="34" charset="0"/>
                <a:cs typeface="Calibri" pitchFamily="34" charset="0"/>
              </a:rPr>
              <a:t>Flush Buffer</a:t>
            </a:r>
          </a:p>
        </p:txBody>
      </p:sp>
      <p:sp>
        <p:nvSpPr>
          <p:cNvPr id="469" name="Freeform 469"/>
          <p:cNvSpPr>
            <a:spLocks/>
          </p:cNvSpPr>
          <p:nvPr/>
        </p:nvSpPr>
        <p:spPr bwMode="auto">
          <a:xfrm>
            <a:off x="4673600" y="5183188"/>
            <a:ext cx="1866900" cy="276225"/>
          </a:xfrm>
          <a:custGeom>
            <a:avLst/>
            <a:gdLst/>
            <a:ahLst/>
            <a:cxnLst>
              <a:cxn ang="0">
                <a:pos x="3265" y="0"/>
              </a:cxn>
              <a:cxn ang="0">
                <a:pos x="3265" y="24"/>
              </a:cxn>
              <a:cxn ang="0">
                <a:pos x="3264" y="23"/>
              </a:cxn>
              <a:cxn ang="0">
                <a:pos x="3264" y="111"/>
              </a:cxn>
              <a:cxn ang="0">
                <a:pos x="0" y="111"/>
              </a:cxn>
              <a:cxn ang="0">
                <a:pos x="0" y="414"/>
              </a:cxn>
              <a:cxn ang="0">
                <a:pos x="3264" y="414"/>
              </a:cxn>
              <a:cxn ang="0">
                <a:pos x="3264" y="500"/>
              </a:cxn>
              <a:cxn ang="0">
                <a:pos x="3265" y="500"/>
              </a:cxn>
              <a:cxn ang="0">
                <a:pos x="3265" y="522"/>
              </a:cxn>
              <a:cxn ang="0">
                <a:pos x="3528" y="262"/>
              </a:cxn>
              <a:cxn ang="0">
                <a:pos x="3265" y="0"/>
              </a:cxn>
            </a:cxnLst>
            <a:rect l="0" t="0" r="r" b="b"/>
            <a:pathLst>
              <a:path w="3528" h="522">
                <a:moveTo>
                  <a:pt x="3265" y="0"/>
                </a:moveTo>
                <a:lnTo>
                  <a:pt x="3265" y="24"/>
                </a:lnTo>
                <a:lnTo>
                  <a:pt x="3264" y="23"/>
                </a:lnTo>
                <a:lnTo>
                  <a:pt x="3264" y="111"/>
                </a:lnTo>
                <a:lnTo>
                  <a:pt x="0" y="111"/>
                </a:lnTo>
                <a:lnTo>
                  <a:pt x="0" y="414"/>
                </a:lnTo>
                <a:lnTo>
                  <a:pt x="3264" y="414"/>
                </a:lnTo>
                <a:lnTo>
                  <a:pt x="3264" y="500"/>
                </a:lnTo>
                <a:lnTo>
                  <a:pt x="3265" y="500"/>
                </a:lnTo>
                <a:lnTo>
                  <a:pt x="3265" y="522"/>
                </a:lnTo>
                <a:lnTo>
                  <a:pt x="3528" y="262"/>
                </a:lnTo>
                <a:lnTo>
                  <a:pt x="3265" y="0"/>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470" name="Freeform 472"/>
          <p:cNvSpPr>
            <a:spLocks/>
          </p:cNvSpPr>
          <p:nvPr/>
        </p:nvSpPr>
        <p:spPr bwMode="auto">
          <a:xfrm>
            <a:off x="3684588" y="5143500"/>
            <a:ext cx="3175" cy="0"/>
          </a:xfrm>
          <a:custGeom>
            <a:avLst/>
            <a:gdLst/>
            <a:ahLst/>
            <a:cxnLst>
              <a:cxn ang="0">
                <a:pos x="0" y="0"/>
              </a:cxn>
              <a:cxn ang="0">
                <a:pos x="8" y="1"/>
              </a:cxn>
              <a:cxn ang="0">
                <a:pos x="6" y="1"/>
              </a:cxn>
              <a:cxn ang="0">
                <a:pos x="2" y="0"/>
              </a:cxn>
              <a:cxn ang="0">
                <a:pos x="0" y="0"/>
              </a:cxn>
            </a:cxnLst>
            <a:rect l="0" t="0" r="r" b="b"/>
            <a:pathLst>
              <a:path w="8" h="1">
                <a:moveTo>
                  <a:pt x="0" y="0"/>
                </a:moveTo>
                <a:lnTo>
                  <a:pt x="8" y="1"/>
                </a:lnTo>
                <a:lnTo>
                  <a:pt x="6" y="1"/>
                </a:lnTo>
                <a:lnTo>
                  <a:pt x="2" y="0"/>
                </a:lnTo>
                <a:lnTo>
                  <a:pt x="0" y="0"/>
                </a:lnTo>
                <a:close/>
              </a:path>
            </a:pathLst>
          </a:custGeom>
          <a:solidFill>
            <a:srgbClr val="A4A4A4"/>
          </a:solidFill>
          <a:ln w="9525">
            <a:noFill/>
            <a:round/>
            <a:headEnd/>
            <a:tailEnd/>
          </a:ln>
        </p:spPr>
        <p:txBody>
          <a:bodyPr/>
          <a:lstStyle/>
          <a:p>
            <a:endParaRPr lang="en-US" sz="2000">
              <a:latin typeface="Calibri" pitchFamily="34" charset="0"/>
              <a:cs typeface="Calibri" pitchFamily="34" charset="0"/>
            </a:endParaRPr>
          </a:p>
        </p:txBody>
      </p:sp>
      <p:sp>
        <p:nvSpPr>
          <p:cNvPr id="471" name="Freeform 476"/>
          <p:cNvSpPr>
            <a:spLocks/>
          </p:cNvSpPr>
          <p:nvPr/>
        </p:nvSpPr>
        <p:spPr bwMode="auto">
          <a:xfrm>
            <a:off x="4475163" y="5145088"/>
            <a:ext cx="3175" cy="1587"/>
          </a:xfrm>
          <a:custGeom>
            <a:avLst/>
            <a:gdLst/>
            <a:ahLst/>
            <a:cxnLst>
              <a:cxn ang="0">
                <a:pos x="0" y="2"/>
              </a:cxn>
              <a:cxn ang="0">
                <a:pos x="7" y="0"/>
              </a:cxn>
              <a:cxn ang="0">
                <a:pos x="4" y="0"/>
              </a:cxn>
              <a:cxn ang="0">
                <a:pos x="1" y="2"/>
              </a:cxn>
              <a:cxn ang="0">
                <a:pos x="0" y="2"/>
              </a:cxn>
            </a:cxnLst>
            <a:rect l="0" t="0" r="r" b="b"/>
            <a:pathLst>
              <a:path w="7" h="2">
                <a:moveTo>
                  <a:pt x="0" y="2"/>
                </a:moveTo>
                <a:lnTo>
                  <a:pt x="7" y="0"/>
                </a:lnTo>
                <a:lnTo>
                  <a:pt x="4" y="0"/>
                </a:lnTo>
                <a:lnTo>
                  <a:pt x="1" y="2"/>
                </a:lnTo>
                <a:lnTo>
                  <a:pt x="0" y="2"/>
                </a:lnTo>
                <a:close/>
              </a:path>
            </a:pathLst>
          </a:custGeom>
          <a:solidFill>
            <a:srgbClr val="A4A4A4"/>
          </a:solidFill>
          <a:ln w="9525">
            <a:noFill/>
            <a:round/>
            <a:headEnd/>
            <a:tailEnd/>
          </a:ln>
        </p:spPr>
        <p:txBody>
          <a:bodyPr/>
          <a:lstStyle/>
          <a:p>
            <a:endParaRPr lang="en-US" sz="2000">
              <a:latin typeface="Calibri" pitchFamily="34" charset="0"/>
              <a:cs typeface="Calibri" pitchFamily="34" charset="0"/>
            </a:endParaRPr>
          </a:p>
        </p:txBody>
      </p:sp>
      <p:grpSp>
        <p:nvGrpSpPr>
          <p:cNvPr id="472" name="Group 729"/>
          <p:cNvGrpSpPr>
            <a:grpSpLocks/>
          </p:cNvGrpSpPr>
          <p:nvPr/>
        </p:nvGrpSpPr>
        <p:grpSpPr bwMode="auto">
          <a:xfrm>
            <a:off x="3735388" y="5562600"/>
            <a:ext cx="685800" cy="304800"/>
            <a:chOff x="2529" y="3760"/>
            <a:chExt cx="432" cy="192"/>
          </a:xfrm>
        </p:grpSpPr>
        <p:sp>
          <p:nvSpPr>
            <p:cNvPr id="473" name="Rectangle 479"/>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74" name="Rectangle 480"/>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75" name="Rectangle 481"/>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76" name="Rectangle 482"/>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77" name="Rectangle 483"/>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78" name="Rectangle 484"/>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79" name="Rectangle 485"/>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0" name="Rectangle 486"/>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1" name="Rectangle 487"/>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2" name="Rectangle 488"/>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3" name="Rectangle 489"/>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4" name="Rectangle 490"/>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5" name="Rectangle 491"/>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6" name="Rectangle 492"/>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7" name="Rectangle 493"/>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8" name="Rectangle 494"/>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89" name="Rectangle 495"/>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0" name="Rectangle 496"/>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1" name="Rectangle 497"/>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2" name="Rectangle 498"/>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3" name="Rectangle 499"/>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4" name="Rectangle 500"/>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5" name="Rectangle 501"/>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6" name="Rectangle 502"/>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7" name="Rectangle 503"/>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8" name="Rectangle 504"/>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499" name="Rectangle 505"/>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0" name="Rectangle 506"/>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1" name="Rectangle 507"/>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2" name="Rectangle 508"/>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3" name="Rectangle 509"/>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4" name="Rectangle 510"/>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5" name="Rectangle 511"/>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6" name="Rectangle 512"/>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7" name="Rectangle 513"/>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8" name="Rectangle 514"/>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09" name="Line 515"/>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0" name="Line 516"/>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1" name="Line 517"/>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2" name="Line 518"/>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3" name="Freeform 519"/>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514" name="Freeform 520"/>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515" name="Line 521"/>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6" name="Line 522"/>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7" name="Line 523"/>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8" name="Line 524"/>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19" name="Line 525"/>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0" name="Line 526"/>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1" name="Line 527"/>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2" name="Line 528"/>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3" name="Line 529"/>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4" name="Line 530"/>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5" name="Line 531"/>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6" name="Line 532"/>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7" name="Line 533"/>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8" name="Line 534"/>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29" name="Line 535"/>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0" name="Line 536"/>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1" name="Line 537"/>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2" name="Line 538"/>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3" name="Line 539"/>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4" name="Line 540"/>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5" name="Line 541"/>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6" name="Line 542"/>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7" name="Line 543"/>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8" name="Line 544"/>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39" name="Line 545"/>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0" name="Line 546"/>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1" name="Line 547"/>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2" name="Line 548"/>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3" name="Line 549"/>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4" name="Line 550"/>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5" name="Line 551"/>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6" name="Line 552"/>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7" name="Line 553"/>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8" name="Line 554"/>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49" name="Line 555"/>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0" name="Line 556"/>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1" name="Line 557"/>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2" name="Line 558"/>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3" name="Line 559"/>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4" name="Line 560"/>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5" name="Line 561"/>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6" name="Line 562"/>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7" name="Line 563"/>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8" name="Line 564"/>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59" name="Line 565"/>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0" name="Line 566"/>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1" name="Line 567"/>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2" name="Line 568"/>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3" name="Line 569"/>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4" name="Line 570"/>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5" name="Freeform 571"/>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566" name="Line 572"/>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7" name="Line 573"/>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8" name="Line 574"/>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69" name="Line 575"/>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0" name="Line 576"/>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1" name="Line 577"/>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2" name="Line 578"/>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3" name="Line 579"/>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4" name="Line 580"/>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5" name="Line 581"/>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6" name="Line 582"/>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7" name="Freeform 583"/>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578" name="Line 584"/>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79" name="Line 585"/>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0" name="Line 586"/>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1" name="Line 587"/>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2" name="Line 588"/>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3" name="Line 589"/>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4" name="Line 590"/>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5" name="Line 591"/>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6" name="Line 592"/>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7" name="Line 593"/>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8" name="Line 594"/>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589" name="Line 595"/>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grpSp>
      <p:sp>
        <p:nvSpPr>
          <p:cNvPr id="590" name="Rectangle 596"/>
          <p:cNvSpPr>
            <a:spLocks noChangeArrowheads="1"/>
          </p:cNvSpPr>
          <p:nvPr/>
        </p:nvSpPr>
        <p:spPr bwMode="auto">
          <a:xfrm>
            <a:off x="3764395" y="5250415"/>
            <a:ext cx="579005"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rgbClr val="000000"/>
                </a:solidFill>
                <a:latin typeface="Calibri" pitchFamily="34" charset="0"/>
                <a:cs typeface="Calibri" pitchFamily="34" charset="0"/>
              </a:rPr>
              <a:t>Source</a:t>
            </a:r>
            <a:endParaRPr lang="en-US" sz="2000" dirty="0">
              <a:latin typeface="Calibri" pitchFamily="34" charset="0"/>
              <a:cs typeface="Calibri" pitchFamily="34" charset="0"/>
            </a:endParaRPr>
          </a:p>
        </p:txBody>
      </p:sp>
      <p:sp>
        <p:nvSpPr>
          <p:cNvPr id="591" name="Freeform 597"/>
          <p:cNvSpPr>
            <a:spLocks/>
          </p:cNvSpPr>
          <p:nvPr/>
        </p:nvSpPr>
        <p:spPr bwMode="auto">
          <a:xfrm>
            <a:off x="3895725" y="3883025"/>
            <a:ext cx="276225" cy="976313"/>
          </a:xfrm>
          <a:custGeom>
            <a:avLst/>
            <a:gdLst/>
            <a:ahLst/>
            <a:cxnLst>
              <a:cxn ang="0">
                <a:pos x="414" y="262"/>
              </a:cxn>
              <a:cxn ang="0">
                <a:pos x="500" y="262"/>
              </a:cxn>
              <a:cxn ang="0">
                <a:pos x="500" y="260"/>
              </a:cxn>
              <a:cxn ang="0">
                <a:pos x="522" y="260"/>
              </a:cxn>
              <a:cxn ang="0">
                <a:pos x="263" y="0"/>
              </a:cxn>
              <a:cxn ang="0">
                <a:pos x="0" y="260"/>
              </a:cxn>
              <a:cxn ang="0">
                <a:pos x="25" y="260"/>
              </a:cxn>
              <a:cxn ang="0">
                <a:pos x="23" y="262"/>
              </a:cxn>
              <a:cxn ang="0">
                <a:pos x="111" y="262"/>
              </a:cxn>
              <a:cxn ang="0">
                <a:pos x="111" y="1579"/>
              </a:cxn>
              <a:cxn ang="0">
                <a:pos x="23" y="1579"/>
              </a:cxn>
              <a:cxn ang="0">
                <a:pos x="25" y="1580"/>
              </a:cxn>
              <a:cxn ang="0">
                <a:pos x="0" y="1580"/>
              </a:cxn>
              <a:cxn ang="0">
                <a:pos x="263" y="1843"/>
              </a:cxn>
              <a:cxn ang="0">
                <a:pos x="522" y="1580"/>
              </a:cxn>
              <a:cxn ang="0">
                <a:pos x="500" y="1580"/>
              </a:cxn>
              <a:cxn ang="0">
                <a:pos x="500" y="1579"/>
              </a:cxn>
              <a:cxn ang="0">
                <a:pos x="414" y="1579"/>
              </a:cxn>
              <a:cxn ang="0">
                <a:pos x="414" y="262"/>
              </a:cxn>
            </a:cxnLst>
            <a:rect l="0" t="0" r="r" b="b"/>
            <a:pathLst>
              <a:path w="522" h="1843">
                <a:moveTo>
                  <a:pt x="414" y="262"/>
                </a:moveTo>
                <a:lnTo>
                  <a:pt x="500" y="262"/>
                </a:lnTo>
                <a:lnTo>
                  <a:pt x="500" y="260"/>
                </a:lnTo>
                <a:lnTo>
                  <a:pt x="522" y="260"/>
                </a:lnTo>
                <a:lnTo>
                  <a:pt x="263" y="0"/>
                </a:lnTo>
                <a:lnTo>
                  <a:pt x="0" y="260"/>
                </a:lnTo>
                <a:lnTo>
                  <a:pt x="25" y="260"/>
                </a:lnTo>
                <a:lnTo>
                  <a:pt x="23" y="262"/>
                </a:lnTo>
                <a:lnTo>
                  <a:pt x="111" y="262"/>
                </a:lnTo>
                <a:lnTo>
                  <a:pt x="111" y="1579"/>
                </a:lnTo>
                <a:lnTo>
                  <a:pt x="23" y="1579"/>
                </a:lnTo>
                <a:lnTo>
                  <a:pt x="25" y="1580"/>
                </a:lnTo>
                <a:lnTo>
                  <a:pt x="0" y="1580"/>
                </a:lnTo>
                <a:lnTo>
                  <a:pt x="263" y="1843"/>
                </a:lnTo>
                <a:lnTo>
                  <a:pt x="522" y="1580"/>
                </a:lnTo>
                <a:lnTo>
                  <a:pt x="500" y="1580"/>
                </a:lnTo>
                <a:lnTo>
                  <a:pt x="500" y="1579"/>
                </a:lnTo>
                <a:lnTo>
                  <a:pt x="414" y="1579"/>
                </a:lnTo>
                <a:lnTo>
                  <a:pt x="414" y="262"/>
                </a:lnTo>
                <a:close/>
              </a:path>
            </a:pathLst>
          </a:custGeom>
          <a:solidFill>
            <a:srgbClr val="000000"/>
          </a:solidFill>
          <a:ln w="9525">
            <a:noFill/>
            <a:round/>
            <a:headEnd/>
            <a:tailEnd/>
          </a:ln>
        </p:spPr>
        <p:txBody>
          <a:bodyPr/>
          <a:lstStyle/>
          <a:p>
            <a:endParaRPr lang="en-US" sz="2000">
              <a:latin typeface="Calibri" pitchFamily="34" charset="0"/>
              <a:cs typeface="Calibri" pitchFamily="34" charset="0"/>
            </a:endParaRPr>
          </a:p>
        </p:txBody>
      </p:sp>
      <p:sp>
        <p:nvSpPr>
          <p:cNvPr id="592" name="Freeform 602"/>
          <p:cNvSpPr>
            <a:spLocks/>
          </p:cNvSpPr>
          <p:nvPr/>
        </p:nvSpPr>
        <p:spPr bwMode="auto">
          <a:xfrm>
            <a:off x="6735763" y="5143500"/>
            <a:ext cx="3175" cy="0"/>
          </a:xfrm>
          <a:custGeom>
            <a:avLst/>
            <a:gdLst/>
            <a:ahLst/>
            <a:cxnLst>
              <a:cxn ang="0">
                <a:pos x="0" y="0"/>
              </a:cxn>
              <a:cxn ang="0">
                <a:pos x="7" y="1"/>
              </a:cxn>
              <a:cxn ang="0">
                <a:pos x="6" y="1"/>
              </a:cxn>
              <a:cxn ang="0">
                <a:pos x="2" y="0"/>
              </a:cxn>
              <a:cxn ang="0">
                <a:pos x="0" y="0"/>
              </a:cxn>
            </a:cxnLst>
            <a:rect l="0" t="0" r="r" b="b"/>
            <a:pathLst>
              <a:path w="7" h="1">
                <a:moveTo>
                  <a:pt x="0" y="0"/>
                </a:moveTo>
                <a:lnTo>
                  <a:pt x="7" y="1"/>
                </a:lnTo>
                <a:lnTo>
                  <a:pt x="6" y="1"/>
                </a:lnTo>
                <a:lnTo>
                  <a:pt x="2" y="0"/>
                </a:lnTo>
                <a:lnTo>
                  <a:pt x="0" y="0"/>
                </a:lnTo>
                <a:close/>
              </a:path>
            </a:pathLst>
          </a:custGeom>
          <a:solidFill>
            <a:srgbClr val="A4A4A4"/>
          </a:solidFill>
          <a:ln w="9525">
            <a:noFill/>
            <a:round/>
            <a:headEnd/>
            <a:tailEnd/>
          </a:ln>
        </p:spPr>
        <p:txBody>
          <a:bodyPr/>
          <a:lstStyle/>
          <a:p>
            <a:endParaRPr lang="en-US" sz="2000">
              <a:latin typeface="Calibri" pitchFamily="34" charset="0"/>
              <a:cs typeface="Calibri" pitchFamily="34" charset="0"/>
            </a:endParaRPr>
          </a:p>
        </p:txBody>
      </p:sp>
      <p:sp>
        <p:nvSpPr>
          <p:cNvPr id="593" name="Freeform 604"/>
          <p:cNvSpPr>
            <a:spLocks/>
          </p:cNvSpPr>
          <p:nvPr/>
        </p:nvSpPr>
        <p:spPr bwMode="auto">
          <a:xfrm>
            <a:off x="7526338" y="5145088"/>
            <a:ext cx="3175" cy="1587"/>
          </a:xfrm>
          <a:custGeom>
            <a:avLst/>
            <a:gdLst/>
            <a:ahLst/>
            <a:cxnLst>
              <a:cxn ang="0">
                <a:pos x="0" y="2"/>
              </a:cxn>
              <a:cxn ang="0">
                <a:pos x="7" y="0"/>
              </a:cxn>
              <a:cxn ang="0">
                <a:pos x="4" y="0"/>
              </a:cxn>
              <a:cxn ang="0">
                <a:pos x="1" y="2"/>
              </a:cxn>
              <a:cxn ang="0">
                <a:pos x="0" y="2"/>
              </a:cxn>
            </a:cxnLst>
            <a:rect l="0" t="0" r="r" b="b"/>
            <a:pathLst>
              <a:path w="7" h="2">
                <a:moveTo>
                  <a:pt x="0" y="2"/>
                </a:moveTo>
                <a:lnTo>
                  <a:pt x="7" y="0"/>
                </a:lnTo>
                <a:lnTo>
                  <a:pt x="4" y="0"/>
                </a:lnTo>
                <a:lnTo>
                  <a:pt x="1" y="2"/>
                </a:lnTo>
                <a:lnTo>
                  <a:pt x="0" y="2"/>
                </a:lnTo>
                <a:close/>
              </a:path>
            </a:pathLst>
          </a:custGeom>
          <a:solidFill>
            <a:srgbClr val="A4A4A4"/>
          </a:solidFill>
          <a:ln w="9525">
            <a:noFill/>
            <a:round/>
            <a:headEnd/>
            <a:tailEnd/>
          </a:ln>
        </p:spPr>
        <p:txBody>
          <a:bodyPr/>
          <a:lstStyle/>
          <a:p>
            <a:endParaRPr lang="en-US" sz="2000">
              <a:latin typeface="Calibri" pitchFamily="34" charset="0"/>
              <a:cs typeface="Calibri" pitchFamily="34" charset="0"/>
            </a:endParaRPr>
          </a:p>
        </p:txBody>
      </p:sp>
      <p:sp>
        <p:nvSpPr>
          <p:cNvPr id="594" name="Rectangle 607"/>
          <p:cNvSpPr>
            <a:spLocks noChangeArrowheads="1"/>
          </p:cNvSpPr>
          <p:nvPr/>
        </p:nvSpPr>
        <p:spPr bwMode="auto">
          <a:xfrm>
            <a:off x="68627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95" name="Rectangle 608"/>
          <p:cNvSpPr>
            <a:spLocks noChangeArrowheads="1"/>
          </p:cNvSpPr>
          <p:nvPr/>
        </p:nvSpPr>
        <p:spPr bwMode="auto">
          <a:xfrm>
            <a:off x="69389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96" name="Rectangle 609"/>
          <p:cNvSpPr>
            <a:spLocks noChangeArrowheads="1"/>
          </p:cNvSpPr>
          <p:nvPr/>
        </p:nvSpPr>
        <p:spPr bwMode="auto">
          <a:xfrm>
            <a:off x="68627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97" name="Rectangle 611"/>
          <p:cNvSpPr>
            <a:spLocks noChangeArrowheads="1"/>
          </p:cNvSpPr>
          <p:nvPr/>
        </p:nvSpPr>
        <p:spPr bwMode="auto">
          <a:xfrm>
            <a:off x="67865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98" name="Rectangle 612"/>
          <p:cNvSpPr>
            <a:spLocks noChangeArrowheads="1"/>
          </p:cNvSpPr>
          <p:nvPr/>
        </p:nvSpPr>
        <p:spPr bwMode="auto">
          <a:xfrm>
            <a:off x="67865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599" name="Rectangle 613"/>
          <p:cNvSpPr>
            <a:spLocks noChangeArrowheads="1"/>
          </p:cNvSpPr>
          <p:nvPr/>
        </p:nvSpPr>
        <p:spPr bwMode="auto">
          <a:xfrm>
            <a:off x="67865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0" name="Rectangle 614"/>
          <p:cNvSpPr>
            <a:spLocks noChangeArrowheads="1"/>
          </p:cNvSpPr>
          <p:nvPr/>
        </p:nvSpPr>
        <p:spPr bwMode="auto">
          <a:xfrm>
            <a:off x="68627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1" name="Rectangle 615"/>
          <p:cNvSpPr>
            <a:spLocks noChangeArrowheads="1"/>
          </p:cNvSpPr>
          <p:nvPr/>
        </p:nvSpPr>
        <p:spPr bwMode="auto">
          <a:xfrm>
            <a:off x="69389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2" name="Rectangle 616"/>
          <p:cNvSpPr>
            <a:spLocks noChangeArrowheads="1"/>
          </p:cNvSpPr>
          <p:nvPr/>
        </p:nvSpPr>
        <p:spPr bwMode="auto">
          <a:xfrm>
            <a:off x="68627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3" name="Rectangle 617"/>
          <p:cNvSpPr>
            <a:spLocks noChangeArrowheads="1"/>
          </p:cNvSpPr>
          <p:nvPr/>
        </p:nvSpPr>
        <p:spPr bwMode="auto">
          <a:xfrm>
            <a:off x="69389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4" name="Rectangle 618"/>
          <p:cNvSpPr>
            <a:spLocks noChangeArrowheads="1"/>
          </p:cNvSpPr>
          <p:nvPr/>
        </p:nvSpPr>
        <p:spPr bwMode="auto">
          <a:xfrm>
            <a:off x="67865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5" name="Rectangle 619"/>
          <p:cNvSpPr>
            <a:spLocks noChangeArrowheads="1"/>
          </p:cNvSpPr>
          <p:nvPr/>
        </p:nvSpPr>
        <p:spPr bwMode="auto">
          <a:xfrm>
            <a:off x="69389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6" name="Rectangle 620"/>
          <p:cNvSpPr>
            <a:spLocks noChangeArrowheads="1"/>
          </p:cNvSpPr>
          <p:nvPr/>
        </p:nvSpPr>
        <p:spPr bwMode="auto">
          <a:xfrm>
            <a:off x="71675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7" name="Rectangle 621"/>
          <p:cNvSpPr>
            <a:spLocks noChangeArrowheads="1"/>
          </p:cNvSpPr>
          <p:nvPr/>
        </p:nvSpPr>
        <p:spPr bwMode="auto">
          <a:xfrm>
            <a:off x="70913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8" name="Rectangle 622"/>
          <p:cNvSpPr>
            <a:spLocks noChangeArrowheads="1"/>
          </p:cNvSpPr>
          <p:nvPr/>
        </p:nvSpPr>
        <p:spPr bwMode="auto">
          <a:xfrm>
            <a:off x="71675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09" name="Rectangle 623"/>
          <p:cNvSpPr>
            <a:spLocks noChangeArrowheads="1"/>
          </p:cNvSpPr>
          <p:nvPr/>
        </p:nvSpPr>
        <p:spPr bwMode="auto">
          <a:xfrm>
            <a:off x="72437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0" name="Rectangle 624"/>
          <p:cNvSpPr>
            <a:spLocks noChangeArrowheads="1"/>
          </p:cNvSpPr>
          <p:nvPr/>
        </p:nvSpPr>
        <p:spPr bwMode="auto">
          <a:xfrm>
            <a:off x="70151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1" name="Rectangle 625"/>
          <p:cNvSpPr>
            <a:spLocks noChangeArrowheads="1"/>
          </p:cNvSpPr>
          <p:nvPr/>
        </p:nvSpPr>
        <p:spPr bwMode="auto">
          <a:xfrm>
            <a:off x="70151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2" name="Rectangle 626"/>
          <p:cNvSpPr>
            <a:spLocks noChangeArrowheads="1"/>
          </p:cNvSpPr>
          <p:nvPr/>
        </p:nvSpPr>
        <p:spPr bwMode="auto">
          <a:xfrm>
            <a:off x="70151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3" name="Rectangle 627"/>
          <p:cNvSpPr>
            <a:spLocks noChangeArrowheads="1"/>
          </p:cNvSpPr>
          <p:nvPr/>
        </p:nvSpPr>
        <p:spPr bwMode="auto">
          <a:xfrm>
            <a:off x="70913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4" name="Rectangle 628"/>
          <p:cNvSpPr>
            <a:spLocks noChangeArrowheads="1"/>
          </p:cNvSpPr>
          <p:nvPr/>
        </p:nvSpPr>
        <p:spPr bwMode="auto">
          <a:xfrm>
            <a:off x="70151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5" name="Rectangle 629"/>
          <p:cNvSpPr>
            <a:spLocks noChangeArrowheads="1"/>
          </p:cNvSpPr>
          <p:nvPr/>
        </p:nvSpPr>
        <p:spPr bwMode="auto">
          <a:xfrm>
            <a:off x="70913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6" name="Rectangle 630"/>
          <p:cNvSpPr>
            <a:spLocks noChangeArrowheads="1"/>
          </p:cNvSpPr>
          <p:nvPr/>
        </p:nvSpPr>
        <p:spPr bwMode="auto">
          <a:xfrm>
            <a:off x="71675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7" name="Rectangle 631"/>
          <p:cNvSpPr>
            <a:spLocks noChangeArrowheads="1"/>
          </p:cNvSpPr>
          <p:nvPr/>
        </p:nvSpPr>
        <p:spPr bwMode="auto">
          <a:xfrm>
            <a:off x="71675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8" name="Rectangle 632"/>
          <p:cNvSpPr>
            <a:spLocks noChangeArrowheads="1"/>
          </p:cNvSpPr>
          <p:nvPr/>
        </p:nvSpPr>
        <p:spPr bwMode="auto">
          <a:xfrm>
            <a:off x="72437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19" name="Rectangle 633"/>
          <p:cNvSpPr>
            <a:spLocks noChangeArrowheads="1"/>
          </p:cNvSpPr>
          <p:nvPr/>
        </p:nvSpPr>
        <p:spPr bwMode="auto">
          <a:xfrm>
            <a:off x="72437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0" name="Rectangle 634"/>
          <p:cNvSpPr>
            <a:spLocks noChangeArrowheads="1"/>
          </p:cNvSpPr>
          <p:nvPr/>
        </p:nvSpPr>
        <p:spPr bwMode="auto">
          <a:xfrm>
            <a:off x="72437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1" name="Rectangle 635"/>
          <p:cNvSpPr>
            <a:spLocks noChangeArrowheads="1"/>
          </p:cNvSpPr>
          <p:nvPr/>
        </p:nvSpPr>
        <p:spPr bwMode="auto">
          <a:xfrm>
            <a:off x="70913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2" name="Rectangle 636"/>
          <p:cNvSpPr>
            <a:spLocks noChangeArrowheads="1"/>
          </p:cNvSpPr>
          <p:nvPr/>
        </p:nvSpPr>
        <p:spPr bwMode="auto">
          <a:xfrm>
            <a:off x="73961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3" name="Rectangle 637"/>
          <p:cNvSpPr>
            <a:spLocks noChangeArrowheads="1"/>
          </p:cNvSpPr>
          <p:nvPr/>
        </p:nvSpPr>
        <p:spPr bwMode="auto">
          <a:xfrm>
            <a:off x="7319963" y="55626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4" name="Rectangle 638"/>
          <p:cNvSpPr>
            <a:spLocks noChangeArrowheads="1"/>
          </p:cNvSpPr>
          <p:nvPr/>
        </p:nvSpPr>
        <p:spPr bwMode="auto">
          <a:xfrm>
            <a:off x="73199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5" name="Rectangle 639"/>
          <p:cNvSpPr>
            <a:spLocks noChangeArrowheads="1"/>
          </p:cNvSpPr>
          <p:nvPr/>
        </p:nvSpPr>
        <p:spPr bwMode="auto">
          <a:xfrm>
            <a:off x="73199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6" name="Rectangle 640"/>
          <p:cNvSpPr>
            <a:spLocks noChangeArrowheads="1"/>
          </p:cNvSpPr>
          <p:nvPr/>
        </p:nvSpPr>
        <p:spPr bwMode="auto">
          <a:xfrm>
            <a:off x="7396163" y="57912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7" name="Rectangle 641"/>
          <p:cNvSpPr>
            <a:spLocks noChangeArrowheads="1"/>
          </p:cNvSpPr>
          <p:nvPr/>
        </p:nvSpPr>
        <p:spPr bwMode="auto">
          <a:xfrm>
            <a:off x="73199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8" name="Rectangle 642"/>
          <p:cNvSpPr>
            <a:spLocks noChangeArrowheads="1"/>
          </p:cNvSpPr>
          <p:nvPr/>
        </p:nvSpPr>
        <p:spPr bwMode="auto">
          <a:xfrm>
            <a:off x="7396163" y="57150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29" name="Rectangle 643"/>
          <p:cNvSpPr>
            <a:spLocks noChangeArrowheads="1"/>
          </p:cNvSpPr>
          <p:nvPr/>
        </p:nvSpPr>
        <p:spPr bwMode="auto">
          <a:xfrm>
            <a:off x="7396163" y="5638800"/>
            <a:ext cx="76200" cy="76200"/>
          </a:xfrm>
          <a:prstGeom prst="rect">
            <a:avLst/>
          </a:prstGeom>
          <a:solidFill>
            <a:srgbClr val="EAEAEA"/>
          </a:solidFill>
          <a:ln w="9525">
            <a:noFill/>
            <a:miter lim="800000"/>
            <a:headEnd/>
            <a:tailEnd/>
          </a:ln>
        </p:spPr>
        <p:txBody>
          <a:bodyPr/>
          <a:lstStyle/>
          <a:p>
            <a:endParaRPr lang="en-US" sz="2000">
              <a:latin typeface="Calibri" pitchFamily="34" charset="0"/>
              <a:cs typeface="Calibri" pitchFamily="34" charset="0"/>
            </a:endParaRPr>
          </a:p>
        </p:txBody>
      </p:sp>
      <p:sp>
        <p:nvSpPr>
          <p:cNvPr id="630" name="Line 644"/>
          <p:cNvSpPr>
            <a:spLocks noChangeShapeType="1"/>
          </p:cNvSpPr>
          <p:nvPr/>
        </p:nvSpPr>
        <p:spPr bwMode="auto">
          <a:xfrm>
            <a:off x="6862763" y="55626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31" name="Line 645"/>
          <p:cNvSpPr>
            <a:spLocks noChangeShapeType="1"/>
          </p:cNvSpPr>
          <p:nvPr/>
        </p:nvSpPr>
        <p:spPr bwMode="auto">
          <a:xfrm>
            <a:off x="69389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32" name="Line 646"/>
          <p:cNvSpPr>
            <a:spLocks noChangeShapeType="1"/>
          </p:cNvSpPr>
          <p:nvPr/>
        </p:nvSpPr>
        <p:spPr bwMode="auto">
          <a:xfrm flipH="1">
            <a:off x="68627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33" name="Line 647"/>
          <p:cNvSpPr>
            <a:spLocks noChangeShapeType="1"/>
          </p:cNvSpPr>
          <p:nvPr/>
        </p:nvSpPr>
        <p:spPr bwMode="auto">
          <a:xfrm flipV="1">
            <a:off x="68627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34" name="Freeform 648"/>
          <p:cNvSpPr>
            <a:spLocks/>
          </p:cNvSpPr>
          <p:nvPr/>
        </p:nvSpPr>
        <p:spPr bwMode="auto">
          <a:xfrm>
            <a:off x="6786563" y="5562600"/>
            <a:ext cx="76200" cy="76200"/>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635" name="Line 649"/>
          <p:cNvSpPr>
            <a:spLocks noChangeShapeType="1"/>
          </p:cNvSpPr>
          <p:nvPr/>
        </p:nvSpPr>
        <p:spPr bwMode="auto">
          <a:xfrm>
            <a:off x="67865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36" name="Freeform 650"/>
          <p:cNvSpPr>
            <a:spLocks/>
          </p:cNvSpPr>
          <p:nvPr/>
        </p:nvSpPr>
        <p:spPr bwMode="auto">
          <a:xfrm>
            <a:off x="6786563" y="5791200"/>
            <a:ext cx="76200" cy="76200"/>
          </a:xfrm>
          <a:custGeom>
            <a:avLst/>
            <a:gdLst/>
            <a:ahLst/>
            <a:cxnLst>
              <a:cxn ang="0">
                <a:pos x="144" y="145"/>
              </a:cxn>
              <a:cxn ang="0">
                <a:pos x="0" y="145"/>
              </a:cxn>
              <a:cxn ang="0">
                <a:pos x="0" y="0"/>
              </a:cxn>
            </a:cxnLst>
            <a:rect l="0" t="0" r="r" b="b"/>
            <a:pathLst>
              <a:path w="144" h="145">
                <a:moveTo>
                  <a:pt x="144" y="145"/>
                </a:moveTo>
                <a:lnTo>
                  <a:pt x="0" y="145"/>
                </a:lnTo>
                <a:lnTo>
                  <a:pt x="0"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637" name="Line 651"/>
          <p:cNvSpPr>
            <a:spLocks noChangeShapeType="1"/>
          </p:cNvSpPr>
          <p:nvPr/>
        </p:nvSpPr>
        <p:spPr bwMode="auto">
          <a:xfrm flipH="1">
            <a:off x="6862763" y="58674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38" name="Line 652"/>
          <p:cNvSpPr>
            <a:spLocks noChangeShapeType="1"/>
          </p:cNvSpPr>
          <p:nvPr/>
        </p:nvSpPr>
        <p:spPr bwMode="auto">
          <a:xfrm>
            <a:off x="69389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39" name="Line 653"/>
          <p:cNvSpPr>
            <a:spLocks noChangeShapeType="1"/>
          </p:cNvSpPr>
          <p:nvPr/>
        </p:nvSpPr>
        <p:spPr bwMode="auto">
          <a:xfrm>
            <a:off x="69389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0" name="Line 654"/>
          <p:cNvSpPr>
            <a:spLocks noChangeShapeType="1"/>
          </p:cNvSpPr>
          <p:nvPr/>
        </p:nvSpPr>
        <p:spPr bwMode="auto">
          <a:xfrm flipH="1">
            <a:off x="68627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1" name="Line 655"/>
          <p:cNvSpPr>
            <a:spLocks noChangeShapeType="1"/>
          </p:cNvSpPr>
          <p:nvPr/>
        </p:nvSpPr>
        <p:spPr bwMode="auto">
          <a:xfrm flipV="1">
            <a:off x="68627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2" name="Line 656"/>
          <p:cNvSpPr>
            <a:spLocks noChangeShapeType="1"/>
          </p:cNvSpPr>
          <p:nvPr/>
        </p:nvSpPr>
        <p:spPr bwMode="auto">
          <a:xfrm flipH="1">
            <a:off x="68627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3" name="Line 657"/>
          <p:cNvSpPr>
            <a:spLocks noChangeShapeType="1"/>
          </p:cNvSpPr>
          <p:nvPr/>
        </p:nvSpPr>
        <p:spPr bwMode="auto">
          <a:xfrm>
            <a:off x="68627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4" name="Line 658"/>
          <p:cNvSpPr>
            <a:spLocks noChangeShapeType="1"/>
          </p:cNvSpPr>
          <p:nvPr/>
        </p:nvSpPr>
        <p:spPr bwMode="auto">
          <a:xfrm flipH="1">
            <a:off x="67865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5" name="Line 659"/>
          <p:cNvSpPr>
            <a:spLocks noChangeShapeType="1"/>
          </p:cNvSpPr>
          <p:nvPr/>
        </p:nvSpPr>
        <p:spPr bwMode="auto">
          <a:xfrm>
            <a:off x="69389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6" name="Line 660"/>
          <p:cNvSpPr>
            <a:spLocks noChangeShapeType="1"/>
          </p:cNvSpPr>
          <p:nvPr/>
        </p:nvSpPr>
        <p:spPr bwMode="auto">
          <a:xfrm flipV="1">
            <a:off x="68627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7" name="Line 661"/>
          <p:cNvSpPr>
            <a:spLocks noChangeShapeType="1"/>
          </p:cNvSpPr>
          <p:nvPr/>
        </p:nvSpPr>
        <p:spPr bwMode="auto">
          <a:xfrm>
            <a:off x="67865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8" name="Line 662"/>
          <p:cNvSpPr>
            <a:spLocks noChangeShapeType="1"/>
          </p:cNvSpPr>
          <p:nvPr/>
        </p:nvSpPr>
        <p:spPr bwMode="auto">
          <a:xfrm>
            <a:off x="67865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49" name="Line 663"/>
          <p:cNvSpPr>
            <a:spLocks noChangeShapeType="1"/>
          </p:cNvSpPr>
          <p:nvPr/>
        </p:nvSpPr>
        <p:spPr bwMode="auto">
          <a:xfrm flipH="1">
            <a:off x="67865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0" name="Line 664"/>
          <p:cNvSpPr>
            <a:spLocks noChangeShapeType="1"/>
          </p:cNvSpPr>
          <p:nvPr/>
        </p:nvSpPr>
        <p:spPr bwMode="auto">
          <a:xfrm>
            <a:off x="7167563" y="55626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1" name="Line 665"/>
          <p:cNvSpPr>
            <a:spLocks noChangeShapeType="1"/>
          </p:cNvSpPr>
          <p:nvPr/>
        </p:nvSpPr>
        <p:spPr bwMode="auto">
          <a:xfrm flipV="1">
            <a:off x="71675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2" name="Line 666"/>
          <p:cNvSpPr>
            <a:spLocks noChangeShapeType="1"/>
          </p:cNvSpPr>
          <p:nvPr/>
        </p:nvSpPr>
        <p:spPr bwMode="auto">
          <a:xfrm flipH="1">
            <a:off x="71675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3" name="Line 667"/>
          <p:cNvSpPr>
            <a:spLocks noChangeShapeType="1"/>
          </p:cNvSpPr>
          <p:nvPr/>
        </p:nvSpPr>
        <p:spPr bwMode="auto">
          <a:xfrm>
            <a:off x="72437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4" name="Line 668"/>
          <p:cNvSpPr>
            <a:spLocks noChangeShapeType="1"/>
          </p:cNvSpPr>
          <p:nvPr/>
        </p:nvSpPr>
        <p:spPr bwMode="auto">
          <a:xfrm>
            <a:off x="7015163" y="55626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5" name="Line 669"/>
          <p:cNvSpPr>
            <a:spLocks noChangeShapeType="1"/>
          </p:cNvSpPr>
          <p:nvPr/>
        </p:nvSpPr>
        <p:spPr bwMode="auto">
          <a:xfrm flipV="1">
            <a:off x="70151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6" name="Line 670"/>
          <p:cNvSpPr>
            <a:spLocks noChangeShapeType="1"/>
          </p:cNvSpPr>
          <p:nvPr/>
        </p:nvSpPr>
        <p:spPr bwMode="auto">
          <a:xfrm flipH="1">
            <a:off x="70151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7" name="Line 671"/>
          <p:cNvSpPr>
            <a:spLocks noChangeShapeType="1"/>
          </p:cNvSpPr>
          <p:nvPr/>
        </p:nvSpPr>
        <p:spPr bwMode="auto">
          <a:xfrm>
            <a:off x="70913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8" name="Line 672"/>
          <p:cNvSpPr>
            <a:spLocks noChangeShapeType="1"/>
          </p:cNvSpPr>
          <p:nvPr/>
        </p:nvSpPr>
        <p:spPr bwMode="auto">
          <a:xfrm>
            <a:off x="7015163" y="58674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59" name="Line 673"/>
          <p:cNvSpPr>
            <a:spLocks noChangeShapeType="1"/>
          </p:cNvSpPr>
          <p:nvPr/>
        </p:nvSpPr>
        <p:spPr bwMode="auto">
          <a:xfrm flipV="1">
            <a:off x="70913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0" name="Line 674"/>
          <p:cNvSpPr>
            <a:spLocks noChangeShapeType="1"/>
          </p:cNvSpPr>
          <p:nvPr/>
        </p:nvSpPr>
        <p:spPr bwMode="auto">
          <a:xfrm>
            <a:off x="70151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1" name="Line 675"/>
          <p:cNvSpPr>
            <a:spLocks noChangeShapeType="1"/>
          </p:cNvSpPr>
          <p:nvPr/>
        </p:nvSpPr>
        <p:spPr bwMode="auto">
          <a:xfrm flipH="1">
            <a:off x="70151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2" name="Line 676"/>
          <p:cNvSpPr>
            <a:spLocks noChangeShapeType="1"/>
          </p:cNvSpPr>
          <p:nvPr/>
        </p:nvSpPr>
        <p:spPr bwMode="auto">
          <a:xfrm flipV="1">
            <a:off x="70151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3" name="Line 677"/>
          <p:cNvSpPr>
            <a:spLocks noChangeShapeType="1"/>
          </p:cNvSpPr>
          <p:nvPr/>
        </p:nvSpPr>
        <p:spPr bwMode="auto">
          <a:xfrm>
            <a:off x="70151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4" name="Line 678"/>
          <p:cNvSpPr>
            <a:spLocks noChangeShapeType="1"/>
          </p:cNvSpPr>
          <p:nvPr/>
        </p:nvSpPr>
        <p:spPr bwMode="auto">
          <a:xfrm flipV="1">
            <a:off x="70913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5" name="Line 679"/>
          <p:cNvSpPr>
            <a:spLocks noChangeShapeType="1"/>
          </p:cNvSpPr>
          <p:nvPr/>
        </p:nvSpPr>
        <p:spPr bwMode="auto">
          <a:xfrm flipH="1">
            <a:off x="7167563" y="58674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6" name="Line 680"/>
          <p:cNvSpPr>
            <a:spLocks noChangeShapeType="1"/>
          </p:cNvSpPr>
          <p:nvPr/>
        </p:nvSpPr>
        <p:spPr bwMode="auto">
          <a:xfrm>
            <a:off x="71675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7" name="Line 681"/>
          <p:cNvSpPr>
            <a:spLocks noChangeShapeType="1"/>
          </p:cNvSpPr>
          <p:nvPr/>
        </p:nvSpPr>
        <p:spPr bwMode="auto">
          <a:xfrm>
            <a:off x="72437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8" name="Line 682"/>
          <p:cNvSpPr>
            <a:spLocks noChangeShapeType="1"/>
          </p:cNvSpPr>
          <p:nvPr/>
        </p:nvSpPr>
        <p:spPr bwMode="auto">
          <a:xfrm>
            <a:off x="71675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69" name="Line 683"/>
          <p:cNvSpPr>
            <a:spLocks noChangeShapeType="1"/>
          </p:cNvSpPr>
          <p:nvPr/>
        </p:nvSpPr>
        <p:spPr bwMode="auto">
          <a:xfrm>
            <a:off x="72437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0" name="Line 684"/>
          <p:cNvSpPr>
            <a:spLocks noChangeShapeType="1"/>
          </p:cNvSpPr>
          <p:nvPr/>
        </p:nvSpPr>
        <p:spPr bwMode="auto">
          <a:xfrm>
            <a:off x="71675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1" name="Line 685"/>
          <p:cNvSpPr>
            <a:spLocks noChangeShapeType="1"/>
          </p:cNvSpPr>
          <p:nvPr/>
        </p:nvSpPr>
        <p:spPr bwMode="auto">
          <a:xfrm>
            <a:off x="71675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2" name="Line 686"/>
          <p:cNvSpPr>
            <a:spLocks noChangeShapeType="1"/>
          </p:cNvSpPr>
          <p:nvPr/>
        </p:nvSpPr>
        <p:spPr bwMode="auto">
          <a:xfrm flipV="1">
            <a:off x="70151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3" name="Line 687"/>
          <p:cNvSpPr>
            <a:spLocks noChangeShapeType="1"/>
          </p:cNvSpPr>
          <p:nvPr/>
        </p:nvSpPr>
        <p:spPr bwMode="auto">
          <a:xfrm flipV="1">
            <a:off x="72437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4" name="Line 688"/>
          <p:cNvSpPr>
            <a:spLocks noChangeShapeType="1"/>
          </p:cNvSpPr>
          <p:nvPr/>
        </p:nvSpPr>
        <p:spPr bwMode="auto">
          <a:xfrm flipV="1">
            <a:off x="70913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5" name="Line 689"/>
          <p:cNvSpPr>
            <a:spLocks noChangeShapeType="1"/>
          </p:cNvSpPr>
          <p:nvPr/>
        </p:nvSpPr>
        <p:spPr bwMode="auto">
          <a:xfrm>
            <a:off x="70913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6" name="Line 690"/>
          <p:cNvSpPr>
            <a:spLocks noChangeShapeType="1"/>
          </p:cNvSpPr>
          <p:nvPr/>
        </p:nvSpPr>
        <p:spPr bwMode="auto">
          <a:xfrm>
            <a:off x="71675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7" name="Line 691"/>
          <p:cNvSpPr>
            <a:spLocks noChangeShapeType="1"/>
          </p:cNvSpPr>
          <p:nvPr/>
        </p:nvSpPr>
        <p:spPr bwMode="auto">
          <a:xfrm flipH="1">
            <a:off x="7091363" y="55626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8" name="Line 692"/>
          <p:cNvSpPr>
            <a:spLocks noChangeShapeType="1"/>
          </p:cNvSpPr>
          <p:nvPr/>
        </p:nvSpPr>
        <p:spPr bwMode="auto">
          <a:xfrm flipH="1">
            <a:off x="7091363" y="58674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79" name="Line 693"/>
          <p:cNvSpPr>
            <a:spLocks noChangeShapeType="1"/>
          </p:cNvSpPr>
          <p:nvPr/>
        </p:nvSpPr>
        <p:spPr bwMode="auto">
          <a:xfrm>
            <a:off x="70913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0" name="Line 694"/>
          <p:cNvSpPr>
            <a:spLocks noChangeShapeType="1"/>
          </p:cNvSpPr>
          <p:nvPr/>
        </p:nvSpPr>
        <p:spPr bwMode="auto">
          <a:xfrm flipH="1">
            <a:off x="70913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1" name="Line 695"/>
          <p:cNvSpPr>
            <a:spLocks noChangeShapeType="1"/>
          </p:cNvSpPr>
          <p:nvPr/>
        </p:nvSpPr>
        <p:spPr bwMode="auto">
          <a:xfrm>
            <a:off x="69389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2" name="Line 696"/>
          <p:cNvSpPr>
            <a:spLocks noChangeShapeType="1"/>
          </p:cNvSpPr>
          <p:nvPr/>
        </p:nvSpPr>
        <p:spPr bwMode="auto">
          <a:xfrm flipH="1">
            <a:off x="69389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3" name="Line 697"/>
          <p:cNvSpPr>
            <a:spLocks noChangeShapeType="1"/>
          </p:cNvSpPr>
          <p:nvPr/>
        </p:nvSpPr>
        <p:spPr bwMode="auto">
          <a:xfrm>
            <a:off x="6938963" y="55626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4" name="Line 698"/>
          <p:cNvSpPr>
            <a:spLocks noChangeShapeType="1"/>
          </p:cNvSpPr>
          <p:nvPr/>
        </p:nvSpPr>
        <p:spPr bwMode="auto">
          <a:xfrm>
            <a:off x="6938963" y="58674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5" name="Line 699"/>
          <p:cNvSpPr>
            <a:spLocks noChangeShapeType="1"/>
          </p:cNvSpPr>
          <p:nvPr/>
        </p:nvSpPr>
        <p:spPr bwMode="auto">
          <a:xfrm>
            <a:off x="69389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6" name="Freeform 700"/>
          <p:cNvSpPr>
            <a:spLocks/>
          </p:cNvSpPr>
          <p:nvPr/>
        </p:nvSpPr>
        <p:spPr bwMode="auto">
          <a:xfrm>
            <a:off x="7396163" y="5562600"/>
            <a:ext cx="76200" cy="76200"/>
          </a:xfrm>
          <a:custGeom>
            <a:avLst/>
            <a:gdLst/>
            <a:ahLst/>
            <a:cxnLst>
              <a:cxn ang="0">
                <a:pos x="0" y="0"/>
              </a:cxn>
              <a:cxn ang="0">
                <a:pos x="144" y="0"/>
              </a:cxn>
              <a:cxn ang="0">
                <a:pos x="144" y="144"/>
              </a:cxn>
            </a:cxnLst>
            <a:rect l="0" t="0" r="r" b="b"/>
            <a:pathLst>
              <a:path w="144" h="144">
                <a:moveTo>
                  <a:pt x="0" y="0"/>
                </a:moveTo>
                <a:lnTo>
                  <a:pt x="144" y="0"/>
                </a:lnTo>
                <a:lnTo>
                  <a:pt x="144" y="144"/>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687" name="Line 701"/>
          <p:cNvSpPr>
            <a:spLocks noChangeShapeType="1"/>
          </p:cNvSpPr>
          <p:nvPr/>
        </p:nvSpPr>
        <p:spPr bwMode="auto">
          <a:xfrm>
            <a:off x="7319963" y="55626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8" name="Line 702"/>
          <p:cNvSpPr>
            <a:spLocks noChangeShapeType="1"/>
          </p:cNvSpPr>
          <p:nvPr/>
        </p:nvSpPr>
        <p:spPr bwMode="auto">
          <a:xfrm flipH="1">
            <a:off x="73199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89" name="Line 703"/>
          <p:cNvSpPr>
            <a:spLocks noChangeShapeType="1"/>
          </p:cNvSpPr>
          <p:nvPr/>
        </p:nvSpPr>
        <p:spPr bwMode="auto">
          <a:xfrm flipV="1">
            <a:off x="73199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0" name="Line 704"/>
          <p:cNvSpPr>
            <a:spLocks noChangeShapeType="1"/>
          </p:cNvSpPr>
          <p:nvPr/>
        </p:nvSpPr>
        <p:spPr bwMode="auto">
          <a:xfrm flipV="1">
            <a:off x="7396163" y="55626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1" name="Line 705"/>
          <p:cNvSpPr>
            <a:spLocks noChangeShapeType="1"/>
          </p:cNvSpPr>
          <p:nvPr/>
        </p:nvSpPr>
        <p:spPr bwMode="auto">
          <a:xfrm>
            <a:off x="73199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2" name="Line 706"/>
          <p:cNvSpPr>
            <a:spLocks noChangeShapeType="1"/>
          </p:cNvSpPr>
          <p:nvPr/>
        </p:nvSpPr>
        <p:spPr bwMode="auto">
          <a:xfrm flipV="1">
            <a:off x="7396163" y="57912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3" name="Line 707"/>
          <p:cNvSpPr>
            <a:spLocks noChangeShapeType="1"/>
          </p:cNvSpPr>
          <p:nvPr/>
        </p:nvSpPr>
        <p:spPr bwMode="auto">
          <a:xfrm>
            <a:off x="7319963" y="58674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4" name="Line 708"/>
          <p:cNvSpPr>
            <a:spLocks noChangeShapeType="1"/>
          </p:cNvSpPr>
          <p:nvPr/>
        </p:nvSpPr>
        <p:spPr bwMode="auto">
          <a:xfrm flipH="1">
            <a:off x="73199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5" name="Line 709"/>
          <p:cNvSpPr>
            <a:spLocks noChangeShapeType="1"/>
          </p:cNvSpPr>
          <p:nvPr/>
        </p:nvSpPr>
        <p:spPr bwMode="auto">
          <a:xfrm flipV="1">
            <a:off x="73199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6" name="Line 710"/>
          <p:cNvSpPr>
            <a:spLocks noChangeShapeType="1"/>
          </p:cNvSpPr>
          <p:nvPr/>
        </p:nvSpPr>
        <p:spPr bwMode="auto">
          <a:xfrm>
            <a:off x="73199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7" name="Line 711"/>
          <p:cNvSpPr>
            <a:spLocks noChangeShapeType="1"/>
          </p:cNvSpPr>
          <p:nvPr/>
        </p:nvSpPr>
        <p:spPr bwMode="auto">
          <a:xfrm flipV="1">
            <a:off x="73961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698" name="Freeform 712"/>
          <p:cNvSpPr>
            <a:spLocks/>
          </p:cNvSpPr>
          <p:nvPr/>
        </p:nvSpPr>
        <p:spPr bwMode="auto">
          <a:xfrm>
            <a:off x="7396163" y="5791200"/>
            <a:ext cx="76200" cy="76200"/>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sz="2000">
              <a:latin typeface="Calibri" pitchFamily="34" charset="0"/>
              <a:cs typeface="Calibri" pitchFamily="34" charset="0"/>
            </a:endParaRPr>
          </a:p>
        </p:txBody>
      </p:sp>
      <p:sp>
        <p:nvSpPr>
          <p:cNvPr id="699" name="Line 713"/>
          <p:cNvSpPr>
            <a:spLocks noChangeShapeType="1"/>
          </p:cNvSpPr>
          <p:nvPr/>
        </p:nvSpPr>
        <p:spPr bwMode="auto">
          <a:xfrm>
            <a:off x="7472363" y="57150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0" name="Line 714"/>
          <p:cNvSpPr>
            <a:spLocks noChangeShapeType="1"/>
          </p:cNvSpPr>
          <p:nvPr/>
        </p:nvSpPr>
        <p:spPr bwMode="auto">
          <a:xfrm flipV="1">
            <a:off x="73961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1" name="Line 715"/>
          <p:cNvSpPr>
            <a:spLocks noChangeShapeType="1"/>
          </p:cNvSpPr>
          <p:nvPr/>
        </p:nvSpPr>
        <p:spPr bwMode="auto">
          <a:xfrm>
            <a:off x="74723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2" name="Line 716"/>
          <p:cNvSpPr>
            <a:spLocks noChangeShapeType="1"/>
          </p:cNvSpPr>
          <p:nvPr/>
        </p:nvSpPr>
        <p:spPr bwMode="auto">
          <a:xfrm flipH="1">
            <a:off x="73961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3" name="Line 717"/>
          <p:cNvSpPr>
            <a:spLocks noChangeShapeType="1"/>
          </p:cNvSpPr>
          <p:nvPr/>
        </p:nvSpPr>
        <p:spPr bwMode="auto">
          <a:xfrm>
            <a:off x="73961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4" name="Line 718"/>
          <p:cNvSpPr>
            <a:spLocks noChangeShapeType="1"/>
          </p:cNvSpPr>
          <p:nvPr/>
        </p:nvSpPr>
        <p:spPr bwMode="auto">
          <a:xfrm flipH="1">
            <a:off x="73961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5" name="Line 719"/>
          <p:cNvSpPr>
            <a:spLocks noChangeShapeType="1"/>
          </p:cNvSpPr>
          <p:nvPr/>
        </p:nvSpPr>
        <p:spPr bwMode="auto">
          <a:xfrm>
            <a:off x="7319963" y="5638800"/>
            <a:ext cx="0" cy="7620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6" name="Line 720"/>
          <p:cNvSpPr>
            <a:spLocks noChangeShapeType="1"/>
          </p:cNvSpPr>
          <p:nvPr/>
        </p:nvSpPr>
        <p:spPr bwMode="auto">
          <a:xfrm flipH="1">
            <a:off x="7243763" y="55626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7" name="Line 721"/>
          <p:cNvSpPr>
            <a:spLocks noChangeShapeType="1"/>
          </p:cNvSpPr>
          <p:nvPr/>
        </p:nvSpPr>
        <p:spPr bwMode="auto">
          <a:xfrm>
            <a:off x="7243763" y="57912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8" name="Line 722"/>
          <p:cNvSpPr>
            <a:spLocks noChangeShapeType="1"/>
          </p:cNvSpPr>
          <p:nvPr/>
        </p:nvSpPr>
        <p:spPr bwMode="auto">
          <a:xfrm>
            <a:off x="7243763" y="58674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09" name="Line 723"/>
          <p:cNvSpPr>
            <a:spLocks noChangeShapeType="1"/>
          </p:cNvSpPr>
          <p:nvPr/>
        </p:nvSpPr>
        <p:spPr bwMode="auto">
          <a:xfrm>
            <a:off x="7243763" y="56388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10" name="Line 724"/>
          <p:cNvSpPr>
            <a:spLocks noChangeShapeType="1"/>
          </p:cNvSpPr>
          <p:nvPr/>
        </p:nvSpPr>
        <p:spPr bwMode="auto">
          <a:xfrm flipH="1">
            <a:off x="7243763" y="5715000"/>
            <a:ext cx="76200" cy="0"/>
          </a:xfrm>
          <a:prstGeom prst="line">
            <a:avLst/>
          </a:prstGeom>
          <a:noFill/>
          <a:ln w="15875">
            <a:solidFill>
              <a:srgbClr val="000000"/>
            </a:solidFill>
            <a:round/>
            <a:headEnd/>
            <a:tailEnd/>
          </a:ln>
        </p:spPr>
        <p:txBody>
          <a:bodyPr/>
          <a:lstStyle/>
          <a:p>
            <a:endParaRPr lang="en-US" sz="2000">
              <a:latin typeface="Calibri" pitchFamily="34" charset="0"/>
              <a:cs typeface="Calibri" pitchFamily="34" charset="0"/>
            </a:endParaRPr>
          </a:p>
        </p:txBody>
      </p:sp>
      <p:sp>
        <p:nvSpPr>
          <p:cNvPr id="711" name="Rectangle 725"/>
          <p:cNvSpPr>
            <a:spLocks noChangeArrowheads="1"/>
          </p:cNvSpPr>
          <p:nvPr/>
        </p:nvSpPr>
        <p:spPr bwMode="auto">
          <a:xfrm>
            <a:off x="6856279" y="5263667"/>
            <a:ext cx="611321" cy="246221"/>
          </a:xfrm>
          <a:prstGeom prst="rect">
            <a:avLst/>
          </a:prstGeom>
          <a:noFill/>
          <a:ln w="9525">
            <a:noFill/>
            <a:miter lim="800000"/>
            <a:headEnd/>
            <a:tailEnd/>
          </a:ln>
        </p:spPr>
        <p:txBody>
          <a:bodyPr wrap="none" lIns="0" tIns="0" rIns="0" bIns="0">
            <a:spAutoFit/>
          </a:bodyPr>
          <a:lstStyle/>
          <a:p>
            <a:pPr marL="354013" indent="-354013" defTabSz="941388"/>
            <a:r>
              <a:rPr lang="en-US" sz="1600" b="1" dirty="0">
                <a:solidFill>
                  <a:srgbClr val="000000"/>
                </a:solidFill>
                <a:latin typeface="Calibri" pitchFamily="34" charset="0"/>
                <a:cs typeface="Calibri" pitchFamily="34" charset="0"/>
              </a:rPr>
              <a:t>Replica</a:t>
            </a:r>
            <a:endParaRPr lang="en-US" sz="2000" dirty="0">
              <a:latin typeface="Calibri" pitchFamily="34" charset="0"/>
              <a:cs typeface="Calibri"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BA2B640-31B8-9C39-BC8B-34BE8FA7B237}"/>
              </a:ext>
            </a:extLst>
          </p:cNvPr>
          <p:cNvSpPr>
            <a:spLocks noGrp="1"/>
          </p:cNvSpPr>
          <p:nvPr>
            <p:ph type="sldNum" sz="quarter" idx="10"/>
          </p:nvPr>
        </p:nvSpPr>
        <p:spPr/>
        <p:txBody>
          <a:bodyPr/>
          <a:lstStyle/>
          <a:p>
            <a:pPr>
              <a:defRPr/>
            </a:pPr>
            <a:fld id="{2F0FE6C8-51A2-4AA8-BE8B-722D435E963D}" type="slidenum">
              <a:rPr lang="en-US" smtClean="0"/>
              <a:pPr>
                <a:defRPr/>
              </a:pPr>
              <a:t>55</a:t>
            </a:fld>
            <a:endParaRPr lang="en-US"/>
          </a:p>
        </p:txBody>
      </p:sp>
      <p:sp>
        <p:nvSpPr>
          <p:cNvPr id="4" name="Footer Placeholder 3">
            <a:extLst>
              <a:ext uri="{FF2B5EF4-FFF2-40B4-BE49-F238E27FC236}">
                <a16:creationId xmlns:a16="http://schemas.microsoft.com/office/drawing/2014/main" id="{FB1B1E4F-AB8C-D815-A116-32BE07B14480}"/>
              </a:ext>
            </a:extLst>
          </p:cNvPr>
          <p:cNvSpPr>
            <a:spLocks noGrp="1"/>
          </p:cNvSpPr>
          <p:nvPr>
            <p:ph type="ftr" sz="quarter" idx="11"/>
          </p:nvPr>
        </p:nvSpPr>
        <p:spPr/>
        <p:txBody>
          <a:bodyPr/>
          <a:lstStyle/>
          <a:p>
            <a:pPr>
              <a:defRPr/>
            </a:pPr>
            <a:r>
              <a:rPr lang="en-US"/>
              <a:t>Module 11: Local Replication</a:t>
            </a:r>
            <a:endParaRPr lang="en-US" dirty="0"/>
          </a:p>
        </p:txBody>
      </p:sp>
      <p:sp>
        <p:nvSpPr>
          <p:cNvPr id="6" name="TextBox 5">
            <a:extLst>
              <a:ext uri="{FF2B5EF4-FFF2-40B4-BE49-F238E27FC236}">
                <a16:creationId xmlns:a16="http://schemas.microsoft.com/office/drawing/2014/main" id="{73D9837E-DDA0-5C64-939F-9377581127BF}"/>
              </a:ext>
            </a:extLst>
          </p:cNvPr>
          <p:cNvSpPr txBox="1"/>
          <p:nvPr/>
        </p:nvSpPr>
        <p:spPr>
          <a:xfrm>
            <a:off x="1752600" y="128548"/>
            <a:ext cx="6400800" cy="415498"/>
          </a:xfrm>
          <a:prstGeom prst="rect">
            <a:avLst/>
          </a:prstGeom>
          <a:noFill/>
        </p:spPr>
        <p:txBody>
          <a:bodyPr wrap="square">
            <a:spAutoFit/>
          </a:bodyPr>
          <a:lstStyle/>
          <a:p>
            <a:pPr algn="ctr"/>
            <a:r>
              <a:rPr lang="en-GB" sz="2100" b="1" i="0" u="none" strike="noStrike" baseline="0" dirty="0">
                <a:solidFill>
                  <a:srgbClr val="C00000"/>
                </a:solidFill>
                <a:latin typeface="Book Antiqua" panose="02040602050305030304" pitchFamily="18" charset="0"/>
              </a:rPr>
              <a:t>Consistency of a Replicated Database</a:t>
            </a:r>
            <a:endParaRPr lang="en-IN" sz="2100" dirty="0">
              <a:solidFill>
                <a:srgbClr val="C00000"/>
              </a:solidFill>
              <a:latin typeface="Book Antiqua" panose="02040602050305030304" pitchFamily="18" charset="0"/>
            </a:endParaRPr>
          </a:p>
        </p:txBody>
      </p:sp>
      <p:sp>
        <p:nvSpPr>
          <p:cNvPr id="8" name="TextBox 7">
            <a:extLst>
              <a:ext uri="{FF2B5EF4-FFF2-40B4-BE49-F238E27FC236}">
                <a16:creationId xmlns:a16="http://schemas.microsoft.com/office/drawing/2014/main" id="{AC3E4A30-809D-A481-BD0C-4BAFBBB55130}"/>
              </a:ext>
            </a:extLst>
          </p:cNvPr>
          <p:cNvSpPr txBox="1"/>
          <p:nvPr/>
        </p:nvSpPr>
        <p:spPr>
          <a:xfrm>
            <a:off x="342900" y="544046"/>
            <a:ext cx="8305800" cy="532799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200" b="0" i="0" u="none" strike="noStrike" baseline="0" dirty="0">
                <a:latin typeface="Book Antiqua" panose="02040602050305030304" pitchFamily="18" charset="0"/>
              </a:rPr>
              <a:t>A database may be spread over numerous files, file systems, and devices. </a:t>
            </a:r>
          </a:p>
          <a:p>
            <a:pPr marL="285750" indent="-285750" algn="just">
              <a:lnSpc>
                <a:spcPct val="150000"/>
              </a:lnSpc>
              <a:buFont typeface="Arial" panose="020B0604020202020204" pitchFamily="34" charset="0"/>
              <a:buChar char="•"/>
            </a:pPr>
            <a:r>
              <a:rPr lang="en-GB" sz="1200" b="0" i="0" u="none" strike="noStrike" baseline="0" dirty="0">
                <a:latin typeface="Book Antiqua" panose="02040602050305030304" pitchFamily="18" charset="0"/>
              </a:rPr>
              <a:t>All of these must be replicated consistently to ensure that the replica is restorable and </a:t>
            </a:r>
            <a:r>
              <a:rPr lang="en-GB" sz="1200" b="0" i="0" u="none" strike="noStrike" baseline="0" dirty="0" err="1">
                <a:latin typeface="Book Antiqua" panose="02040602050305030304" pitchFamily="18" charset="0"/>
              </a:rPr>
              <a:t>restartable</a:t>
            </a:r>
            <a:r>
              <a:rPr lang="en-GB" sz="1200" b="0" i="0" u="none" strike="noStrike" baseline="0" dirty="0">
                <a:latin typeface="Book Antiqua" panose="02040602050305030304" pitchFamily="18" charset="0"/>
              </a:rPr>
              <a:t>. </a:t>
            </a:r>
          </a:p>
          <a:p>
            <a:pPr marL="285750" indent="-285750" algn="just">
              <a:lnSpc>
                <a:spcPct val="150000"/>
              </a:lnSpc>
              <a:buFont typeface="Arial" panose="020B0604020202020204" pitchFamily="34" charset="0"/>
              <a:buChar char="•"/>
            </a:pPr>
            <a:r>
              <a:rPr lang="en-GB" sz="1200" b="0" i="0" u="none" strike="noStrike" baseline="0" dirty="0">
                <a:latin typeface="Book Antiqua" panose="02040602050305030304" pitchFamily="18" charset="0"/>
              </a:rPr>
              <a:t>Replication is performed with the database offline or online. If the database is offline during the creation of the replica, it is not available for I/O operations.</a:t>
            </a:r>
          </a:p>
          <a:p>
            <a:pPr marL="285750" indent="-285750" algn="just">
              <a:lnSpc>
                <a:spcPct val="150000"/>
              </a:lnSpc>
              <a:buFont typeface="Arial" panose="020B0604020202020204" pitchFamily="34" charset="0"/>
              <a:buChar char="•"/>
            </a:pPr>
            <a:r>
              <a:rPr lang="en-GB" sz="1200" b="0" i="0" u="none" strike="noStrike" baseline="0" dirty="0">
                <a:latin typeface="Book Antiqua" panose="02040602050305030304" pitchFamily="18" charset="0"/>
              </a:rPr>
              <a:t>Because no updates occur on the source, the replica is consistent. If the database is online, it is available for I/O operations, and transactions to the database update the data continuously. </a:t>
            </a:r>
          </a:p>
          <a:p>
            <a:pPr marL="285750" indent="-285750" algn="just">
              <a:lnSpc>
                <a:spcPct val="150000"/>
              </a:lnSpc>
              <a:buFont typeface="Arial" panose="020B0604020202020204" pitchFamily="34" charset="0"/>
              <a:buChar char="•"/>
            </a:pPr>
            <a:r>
              <a:rPr lang="en-GB" sz="1200" b="0" i="0" u="none" strike="noStrike" baseline="0" dirty="0">
                <a:latin typeface="Book Antiqua" panose="02040602050305030304" pitchFamily="18" charset="0"/>
              </a:rPr>
              <a:t>When a database is replicated while </a:t>
            </a:r>
            <a:r>
              <a:rPr lang="en-GB" sz="1200" dirty="0">
                <a:latin typeface="Book Antiqua" panose="02040602050305030304" pitchFamily="18" charset="0"/>
              </a:rPr>
              <a:t>it is online, changes made to the database at this time must be applied to the replica to make it consistent.</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A consistent replica of an online database is created by using the dependent write I/O principle or by holding I/</a:t>
            </a:r>
            <a:r>
              <a:rPr lang="en-GB" sz="1200" dirty="0" err="1">
                <a:latin typeface="Book Antiqua" panose="02040602050305030304" pitchFamily="18" charset="0"/>
              </a:rPr>
              <a:t>Os</a:t>
            </a:r>
            <a:r>
              <a:rPr lang="en-GB" sz="1200" dirty="0">
                <a:latin typeface="Book Antiqua" panose="02040602050305030304" pitchFamily="18" charset="0"/>
              </a:rPr>
              <a:t> momentarily to the source before creating the replica.</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A </a:t>
            </a:r>
            <a:r>
              <a:rPr lang="en-GB" sz="1200" i="1" dirty="0">
                <a:latin typeface="Book Antiqua" panose="02040602050305030304" pitchFamily="18" charset="0"/>
              </a:rPr>
              <a:t>dependent write I/O </a:t>
            </a:r>
            <a:r>
              <a:rPr lang="en-GB" sz="1200" dirty="0">
                <a:latin typeface="Book Antiqua" panose="02040602050305030304" pitchFamily="18" charset="0"/>
              </a:rPr>
              <a:t>principle is inherent in many applications and database management systems (DBMS) to ensure consistency.  According to this principle, a write I/O is not issued by an application until a prior related write I/O has completed. For example, a data write is dependent on the successful completion of the prior log write.</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For a transaction to be deemed complete, databases require a series of writes to have occurred in a particular order.  These writes will be recorded on the various devices or file systems.</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Figure 11-2, illustrates the process of flushing the buffer from the host to the source; I/</a:t>
            </a:r>
            <a:r>
              <a:rPr lang="en-GB" sz="1200" dirty="0" err="1">
                <a:latin typeface="Book Antiqua" panose="02040602050305030304" pitchFamily="18" charset="0"/>
              </a:rPr>
              <a:t>Os</a:t>
            </a:r>
            <a:r>
              <a:rPr lang="en-GB" sz="1200" dirty="0">
                <a:latin typeface="Book Antiqua" panose="02040602050305030304" pitchFamily="18" charset="0"/>
              </a:rPr>
              <a:t> 1 to 4 must complete for the transaction to be considered complete. I/O 4 is dependent on I/O 3 and occurs only if I/O 3 is complete. I/O 3 is dependent on I/O 2, which in turn depends on I/O 1.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Each I/O completes only after completion of the previous I/O(s).</a:t>
            </a:r>
            <a:endParaRPr lang="en-IN" sz="1200" dirty="0">
              <a:latin typeface="Book Antiqua" panose="02040602050305030304" pitchFamily="18" charset="0"/>
            </a:endParaRPr>
          </a:p>
        </p:txBody>
      </p:sp>
    </p:spTree>
    <p:extLst>
      <p:ext uri="{BB962C8B-B14F-4D97-AF65-F5344CB8AC3E}">
        <p14:creationId xmlns:p14="http://schemas.microsoft.com/office/powerpoint/2010/main" val="1434254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Database Consistency: Dependent Write I/O Principle</a:t>
            </a:r>
          </a:p>
        </p:txBody>
      </p:sp>
      <p:sp>
        <p:nvSpPr>
          <p:cNvPr id="4" name="Slide Number Placeholder 3"/>
          <p:cNvSpPr>
            <a:spLocks noGrp="1"/>
          </p:cNvSpPr>
          <p:nvPr>
            <p:ph type="sldNum" sz="quarter" idx="10"/>
          </p:nvPr>
        </p:nvSpPr>
        <p:spPr/>
        <p:txBody>
          <a:bodyPr/>
          <a:lstStyle/>
          <a:p>
            <a:pPr>
              <a:defRPr/>
            </a:pPr>
            <a:fld id="{6ADD0FD0-5DC7-4614-9D2E-5687F653AACB}" type="slidenum">
              <a:rPr lang="en-US" smtClean="0"/>
              <a:pPr>
                <a:defRPr/>
              </a:pPr>
              <a:t>56</a:t>
            </a:fld>
            <a:endParaRPr lang="en-US"/>
          </a:p>
        </p:txBody>
      </p:sp>
      <p:sp>
        <p:nvSpPr>
          <p:cNvPr id="3" name="Footer Placeholder 2"/>
          <p:cNvSpPr>
            <a:spLocks noGrp="1"/>
          </p:cNvSpPr>
          <p:nvPr>
            <p:ph type="ftr" sz="quarter" idx="11"/>
          </p:nvPr>
        </p:nvSpPr>
        <p:spPr/>
        <p:txBody>
          <a:bodyPr/>
          <a:lstStyle/>
          <a:p>
            <a:pPr>
              <a:defRPr/>
            </a:pPr>
            <a:r>
              <a:rPr lang="en-US"/>
              <a:t>Module 11: Local Replication</a:t>
            </a:r>
            <a:endParaRPr lang="en-US" dirty="0"/>
          </a:p>
        </p:txBody>
      </p:sp>
      <p:grpSp>
        <p:nvGrpSpPr>
          <p:cNvPr id="3467" name="Group 3466"/>
          <p:cNvGrpSpPr/>
          <p:nvPr/>
        </p:nvGrpSpPr>
        <p:grpSpPr>
          <a:xfrm>
            <a:off x="5816600" y="5063066"/>
            <a:ext cx="2462213" cy="1096962"/>
            <a:chOff x="5816600" y="5119688"/>
            <a:chExt cx="2462213" cy="1096962"/>
          </a:xfrm>
        </p:grpSpPr>
        <p:sp>
          <p:nvSpPr>
            <p:cNvPr id="8" name="Rectangle 3"/>
            <p:cNvSpPr>
              <a:spLocks noChangeArrowheads="1"/>
            </p:cNvSpPr>
            <p:nvPr/>
          </p:nvSpPr>
          <p:spPr bwMode="gray">
            <a:xfrm>
              <a:off x="6421438" y="5522913"/>
              <a:ext cx="1857375" cy="406400"/>
            </a:xfrm>
            <a:prstGeom prst="rect">
              <a:avLst/>
            </a:prstGeom>
            <a:solidFill>
              <a:srgbClr val="DDDDDD"/>
            </a:solidFill>
            <a:ln w="28575" algn="ctr">
              <a:solidFill>
                <a:srgbClr val="000000"/>
              </a:solidFill>
              <a:miter lim="800000"/>
              <a:headEnd/>
              <a:tailEnd/>
            </a:ln>
            <a:effectLst/>
          </p:spPr>
          <p:txBody>
            <a:bodyPr wrap="none" anchor="ctr"/>
            <a:lstStyle/>
            <a:p>
              <a:endParaRPr lang="en-US"/>
            </a:p>
          </p:txBody>
        </p:sp>
        <p:sp>
          <p:nvSpPr>
            <p:cNvPr id="9" name="Oval 4"/>
            <p:cNvSpPr>
              <a:spLocks noChangeArrowheads="1"/>
            </p:cNvSpPr>
            <p:nvPr/>
          </p:nvSpPr>
          <p:spPr bwMode="gray">
            <a:xfrm>
              <a:off x="5816600" y="5365750"/>
              <a:ext cx="687388" cy="687388"/>
            </a:xfrm>
            <a:prstGeom prst="ellipse">
              <a:avLst/>
            </a:prstGeom>
            <a:solidFill>
              <a:srgbClr val="000000"/>
            </a:solidFill>
            <a:ln w="12700" algn="ctr">
              <a:solidFill>
                <a:srgbClr val="000000"/>
              </a:solidFill>
              <a:round/>
              <a:headEnd/>
              <a:tailEnd/>
            </a:ln>
            <a:effectLst/>
          </p:spPr>
          <p:txBody>
            <a:bodyPr wrap="none" anchor="ctr"/>
            <a:lstStyle/>
            <a:p>
              <a:endParaRPr lang="en-US"/>
            </a:p>
          </p:txBody>
        </p:sp>
        <p:sp>
          <p:nvSpPr>
            <p:cNvPr id="10" name="Text Box 5"/>
            <p:cNvSpPr txBox="1">
              <a:spLocks noChangeArrowheads="1"/>
            </p:cNvSpPr>
            <p:nvPr/>
          </p:nvSpPr>
          <p:spPr bwMode="gray">
            <a:xfrm>
              <a:off x="5856288" y="5119688"/>
              <a:ext cx="615950" cy="1096962"/>
            </a:xfrm>
            <a:prstGeom prst="rect">
              <a:avLst/>
            </a:prstGeom>
            <a:noFill/>
            <a:ln w="12700" algn="ctr">
              <a:noFill/>
              <a:miter lim="800000"/>
              <a:headEnd/>
              <a:tailEnd type="none" w="lg" len="lg"/>
            </a:ln>
            <a:effectLst/>
          </p:spPr>
          <p:txBody>
            <a:bodyPr wrap="none" lIns="0" tIns="0" rIns="0" bIns="0">
              <a:spAutoFit/>
            </a:bodyPr>
            <a:lstStyle/>
            <a:p>
              <a:pPr defTabSz="941388"/>
              <a:r>
                <a:rPr lang="en-US" sz="7200">
                  <a:solidFill>
                    <a:schemeClr val="bg1"/>
                  </a:solidFill>
                  <a:latin typeface="Wingdings" pitchFamily="2" charset="2"/>
                </a:rPr>
                <a:t>D</a:t>
              </a:r>
            </a:p>
          </p:txBody>
        </p:sp>
        <p:sp>
          <p:nvSpPr>
            <p:cNvPr id="11" name="Text Box 6"/>
            <p:cNvSpPr txBox="1">
              <a:spLocks noChangeArrowheads="1"/>
            </p:cNvSpPr>
            <p:nvPr/>
          </p:nvSpPr>
          <p:spPr bwMode="gray">
            <a:xfrm>
              <a:off x="6618288" y="5545231"/>
              <a:ext cx="1551322" cy="369332"/>
            </a:xfrm>
            <a:prstGeom prst="rect">
              <a:avLst/>
            </a:prstGeom>
            <a:noFill/>
            <a:ln w="12700" algn="ctr">
              <a:noFill/>
              <a:miter lim="800000"/>
              <a:headEnd/>
              <a:tailEnd type="none" w="lg" len="lg"/>
            </a:ln>
            <a:effectLst/>
          </p:spPr>
          <p:txBody>
            <a:bodyPr wrap="none" lIns="0" tIns="0" rIns="0" bIns="0">
              <a:spAutoFit/>
            </a:bodyPr>
            <a:lstStyle/>
            <a:p>
              <a:pPr algn="l" defTabSz="941388"/>
              <a:r>
                <a:rPr lang="en-US" sz="2400" b="1" dirty="0">
                  <a:solidFill>
                    <a:srgbClr val="000A18"/>
                  </a:solidFill>
                  <a:latin typeface="Calibri" pitchFamily="34" charset="0"/>
                  <a:cs typeface="Calibri" pitchFamily="34" charset="0"/>
                </a:rPr>
                <a:t>Inconsistent</a:t>
              </a:r>
            </a:p>
          </p:txBody>
        </p:sp>
      </p:grpSp>
      <p:sp>
        <p:nvSpPr>
          <p:cNvPr id="14" name="Text Box 9"/>
          <p:cNvSpPr txBox="1">
            <a:spLocks noChangeArrowheads="1"/>
          </p:cNvSpPr>
          <p:nvPr/>
        </p:nvSpPr>
        <p:spPr bwMode="gray">
          <a:xfrm>
            <a:off x="1249363" y="5130800"/>
            <a:ext cx="615950" cy="1096963"/>
          </a:xfrm>
          <a:prstGeom prst="rect">
            <a:avLst/>
          </a:prstGeom>
          <a:noFill/>
          <a:ln w="12700" algn="ctr">
            <a:noFill/>
            <a:miter lim="800000"/>
            <a:headEnd/>
            <a:tailEnd type="none" w="lg" len="lg"/>
          </a:ln>
          <a:effectLst/>
        </p:spPr>
        <p:txBody>
          <a:bodyPr wrap="none" lIns="0" tIns="0" rIns="0" bIns="0">
            <a:spAutoFit/>
          </a:bodyPr>
          <a:lstStyle/>
          <a:p>
            <a:pPr defTabSz="941388"/>
            <a:r>
              <a:rPr lang="en-US" sz="7200">
                <a:solidFill>
                  <a:schemeClr val="bg1"/>
                </a:solidFill>
                <a:latin typeface="Wingdings" pitchFamily="2" charset="2"/>
              </a:rPr>
              <a:t>C</a:t>
            </a:r>
          </a:p>
        </p:txBody>
      </p:sp>
      <p:grpSp>
        <p:nvGrpSpPr>
          <p:cNvPr id="2730" name="Group 2729"/>
          <p:cNvGrpSpPr/>
          <p:nvPr/>
        </p:nvGrpSpPr>
        <p:grpSpPr>
          <a:xfrm>
            <a:off x="1423987" y="5342465"/>
            <a:ext cx="2462213" cy="687387"/>
            <a:chOff x="1209675" y="5319713"/>
            <a:chExt cx="2462213" cy="687387"/>
          </a:xfrm>
        </p:grpSpPr>
        <p:sp>
          <p:nvSpPr>
            <p:cNvPr id="12" name="Rectangle 7"/>
            <p:cNvSpPr>
              <a:spLocks noChangeArrowheads="1"/>
            </p:cNvSpPr>
            <p:nvPr/>
          </p:nvSpPr>
          <p:spPr bwMode="gray">
            <a:xfrm>
              <a:off x="1814513" y="5476875"/>
              <a:ext cx="1857375" cy="406400"/>
            </a:xfrm>
            <a:prstGeom prst="rect">
              <a:avLst/>
            </a:prstGeom>
            <a:solidFill>
              <a:srgbClr val="ACE4B3"/>
            </a:solidFill>
            <a:ln w="28575" algn="ctr">
              <a:solidFill>
                <a:srgbClr val="009612"/>
              </a:solidFill>
              <a:miter lim="800000"/>
              <a:headEnd/>
              <a:tailEnd/>
            </a:ln>
            <a:effectLst/>
          </p:spPr>
          <p:txBody>
            <a:bodyPr wrap="none" anchor="ctr"/>
            <a:lstStyle/>
            <a:p>
              <a:endParaRPr lang="en-US"/>
            </a:p>
          </p:txBody>
        </p:sp>
        <p:sp>
          <p:nvSpPr>
            <p:cNvPr id="13" name="Oval 8"/>
            <p:cNvSpPr>
              <a:spLocks noChangeArrowheads="1"/>
            </p:cNvSpPr>
            <p:nvPr/>
          </p:nvSpPr>
          <p:spPr bwMode="gray">
            <a:xfrm>
              <a:off x="1209675" y="5319713"/>
              <a:ext cx="687388" cy="687387"/>
            </a:xfrm>
            <a:prstGeom prst="ellipse">
              <a:avLst/>
            </a:prstGeom>
            <a:solidFill>
              <a:srgbClr val="009612"/>
            </a:solidFill>
            <a:ln w="12700" algn="ctr">
              <a:solidFill>
                <a:srgbClr val="009612"/>
              </a:solidFill>
              <a:round/>
              <a:headEnd/>
              <a:tailEnd/>
            </a:ln>
            <a:effectLst/>
          </p:spPr>
          <p:txBody>
            <a:bodyPr wrap="none" anchor="ctr"/>
            <a:lstStyle/>
            <a:p>
              <a:endParaRPr lang="en-US"/>
            </a:p>
          </p:txBody>
        </p:sp>
        <p:sp>
          <p:nvSpPr>
            <p:cNvPr id="15" name="Text Box 10"/>
            <p:cNvSpPr txBox="1">
              <a:spLocks noChangeArrowheads="1"/>
            </p:cNvSpPr>
            <p:nvPr/>
          </p:nvSpPr>
          <p:spPr bwMode="gray">
            <a:xfrm>
              <a:off x="2097088" y="5503989"/>
              <a:ext cx="1341201" cy="369332"/>
            </a:xfrm>
            <a:prstGeom prst="rect">
              <a:avLst/>
            </a:prstGeom>
            <a:noFill/>
            <a:ln w="12700" algn="ctr">
              <a:noFill/>
              <a:miter lim="800000"/>
              <a:headEnd/>
              <a:tailEnd type="none" w="lg" len="lg"/>
            </a:ln>
            <a:effectLst/>
          </p:spPr>
          <p:txBody>
            <a:bodyPr wrap="none" lIns="0" tIns="0" rIns="0" bIns="0">
              <a:spAutoFit/>
            </a:bodyPr>
            <a:lstStyle/>
            <a:p>
              <a:pPr algn="l" defTabSz="941388"/>
              <a:r>
                <a:rPr lang="en-US" sz="2400" b="1" dirty="0">
                  <a:solidFill>
                    <a:srgbClr val="000A18"/>
                  </a:solidFill>
                  <a:latin typeface="Calibri" pitchFamily="34" charset="0"/>
                  <a:cs typeface="Calibri" pitchFamily="34" charset="0"/>
                </a:rPr>
                <a:t>Consistent</a:t>
              </a:r>
            </a:p>
          </p:txBody>
        </p:sp>
      </p:grpSp>
      <p:sp>
        <p:nvSpPr>
          <p:cNvPr id="23" name="Rectangle 27"/>
          <p:cNvSpPr>
            <a:spLocks noChangeArrowheads="1"/>
          </p:cNvSpPr>
          <p:nvPr/>
        </p:nvSpPr>
        <p:spPr bwMode="gray">
          <a:xfrm>
            <a:off x="771086" y="941535"/>
            <a:ext cx="688650" cy="307777"/>
          </a:xfrm>
          <a:prstGeom prst="rect">
            <a:avLst/>
          </a:prstGeom>
          <a:noFill/>
          <a:ln w="12700" algn="ctr">
            <a:noFill/>
            <a:miter lim="800000"/>
            <a:headEnd/>
            <a:tailEnd type="none" w="lg" len="lg"/>
          </a:ln>
          <a:effectLst/>
        </p:spPr>
        <p:txBody>
          <a:bodyPr wrap="none">
            <a:spAutoFit/>
          </a:bodyPr>
          <a:lstStyle/>
          <a:p>
            <a:pPr marL="354013" indent="-354013" defTabSz="941388"/>
            <a:r>
              <a:rPr lang="en-US" sz="1400" b="1" dirty="0">
                <a:solidFill>
                  <a:srgbClr val="000000"/>
                </a:solidFill>
                <a:latin typeface="Calibri" pitchFamily="34" charset="0"/>
                <a:cs typeface="Calibri" pitchFamily="34" charset="0"/>
              </a:rPr>
              <a:t>Source</a:t>
            </a:r>
          </a:p>
        </p:txBody>
      </p:sp>
      <p:sp>
        <p:nvSpPr>
          <p:cNvPr id="24" name="Rectangle 28"/>
          <p:cNvSpPr>
            <a:spLocks noChangeArrowheads="1"/>
          </p:cNvSpPr>
          <p:nvPr/>
        </p:nvSpPr>
        <p:spPr bwMode="gray">
          <a:xfrm>
            <a:off x="3632737" y="941535"/>
            <a:ext cx="721223" cy="307777"/>
          </a:xfrm>
          <a:prstGeom prst="rect">
            <a:avLst/>
          </a:prstGeom>
          <a:noFill/>
          <a:ln w="12700" algn="ctr">
            <a:noFill/>
            <a:miter lim="800000"/>
            <a:headEnd/>
            <a:tailEnd type="none" w="lg" len="lg"/>
          </a:ln>
          <a:effectLst/>
        </p:spPr>
        <p:txBody>
          <a:bodyPr wrap="none">
            <a:spAutoFit/>
          </a:bodyPr>
          <a:lstStyle/>
          <a:p>
            <a:pPr marL="354013" indent="-354013" defTabSz="941388"/>
            <a:r>
              <a:rPr lang="en-US" sz="1400" b="1" dirty="0">
                <a:solidFill>
                  <a:srgbClr val="000000"/>
                </a:solidFill>
                <a:latin typeface="Calibri" pitchFamily="34" charset="0"/>
                <a:cs typeface="Calibri" pitchFamily="34" charset="0"/>
              </a:rPr>
              <a:t>Replica</a:t>
            </a:r>
          </a:p>
        </p:txBody>
      </p:sp>
      <p:sp>
        <p:nvSpPr>
          <p:cNvPr id="25" name="AutoShape 29"/>
          <p:cNvSpPr>
            <a:spLocks noChangeArrowheads="1"/>
          </p:cNvSpPr>
          <p:nvPr/>
        </p:nvSpPr>
        <p:spPr bwMode="gray">
          <a:xfrm>
            <a:off x="1844675" y="4461934"/>
            <a:ext cx="1198563" cy="533400"/>
          </a:xfrm>
          <a:prstGeom prst="rightArrow">
            <a:avLst>
              <a:gd name="adj1" fmla="val 57741"/>
              <a:gd name="adj2" fmla="val 46126"/>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endParaRPr lang="en-US">
              <a:latin typeface="Calibri" pitchFamily="34" charset="0"/>
              <a:cs typeface="Calibri" pitchFamily="34" charset="0"/>
            </a:endParaRPr>
          </a:p>
        </p:txBody>
      </p:sp>
      <p:sp>
        <p:nvSpPr>
          <p:cNvPr id="26" name="Oval 30"/>
          <p:cNvSpPr>
            <a:spLocks noChangeArrowheads="1"/>
          </p:cNvSpPr>
          <p:nvPr/>
        </p:nvSpPr>
        <p:spPr bwMode="gray">
          <a:xfrm>
            <a:off x="1741488" y="4555596"/>
            <a:ext cx="357187"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4</a:t>
            </a:r>
          </a:p>
        </p:txBody>
      </p:sp>
      <p:sp>
        <p:nvSpPr>
          <p:cNvPr id="27" name="Oval 31"/>
          <p:cNvSpPr>
            <a:spLocks noChangeArrowheads="1"/>
          </p:cNvSpPr>
          <p:nvPr/>
        </p:nvSpPr>
        <p:spPr bwMode="gray">
          <a:xfrm>
            <a:off x="3086100" y="4555596"/>
            <a:ext cx="357188"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4</a:t>
            </a:r>
          </a:p>
        </p:txBody>
      </p:sp>
      <p:sp>
        <p:nvSpPr>
          <p:cNvPr id="28" name="AutoShape 32"/>
          <p:cNvSpPr>
            <a:spLocks noChangeArrowheads="1"/>
          </p:cNvSpPr>
          <p:nvPr/>
        </p:nvSpPr>
        <p:spPr bwMode="gray">
          <a:xfrm>
            <a:off x="1854200" y="3454401"/>
            <a:ext cx="1198563" cy="533400"/>
          </a:xfrm>
          <a:prstGeom prst="rightArrow">
            <a:avLst>
              <a:gd name="adj1" fmla="val 57741"/>
              <a:gd name="adj2" fmla="val 46126"/>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endParaRPr lang="en-US">
              <a:latin typeface="Calibri" pitchFamily="34" charset="0"/>
              <a:cs typeface="Calibri" pitchFamily="34" charset="0"/>
            </a:endParaRPr>
          </a:p>
        </p:txBody>
      </p:sp>
      <p:sp>
        <p:nvSpPr>
          <p:cNvPr id="29" name="Oval 33"/>
          <p:cNvSpPr>
            <a:spLocks noChangeArrowheads="1"/>
          </p:cNvSpPr>
          <p:nvPr/>
        </p:nvSpPr>
        <p:spPr bwMode="gray">
          <a:xfrm>
            <a:off x="1741488" y="3548063"/>
            <a:ext cx="357187"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3</a:t>
            </a:r>
          </a:p>
        </p:txBody>
      </p:sp>
      <p:sp>
        <p:nvSpPr>
          <p:cNvPr id="30" name="Oval 34"/>
          <p:cNvSpPr>
            <a:spLocks noChangeArrowheads="1"/>
          </p:cNvSpPr>
          <p:nvPr/>
        </p:nvSpPr>
        <p:spPr bwMode="gray">
          <a:xfrm>
            <a:off x="3086100" y="3548063"/>
            <a:ext cx="357188"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3</a:t>
            </a:r>
          </a:p>
        </p:txBody>
      </p:sp>
      <p:sp>
        <p:nvSpPr>
          <p:cNvPr id="31" name="AutoShape 35"/>
          <p:cNvSpPr>
            <a:spLocks noChangeArrowheads="1"/>
          </p:cNvSpPr>
          <p:nvPr/>
        </p:nvSpPr>
        <p:spPr bwMode="gray">
          <a:xfrm>
            <a:off x="1854200" y="2506132"/>
            <a:ext cx="1198563" cy="533400"/>
          </a:xfrm>
          <a:prstGeom prst="rightArrow">
            <a:avLst>
              <a:gd name="adj1" fmla="val 57741"/>
              <a:gd name="adj2" fmla="val 46126"/>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endParaRPr lang="en-US">
              <a:latin typeface="Calibri" pitchFamily="34" charset="0"/>
              <a:cs typeface="Calibri" pitchFamily="34" charset="0"/>
            </a:endParaRPr>
          </a:p>
        </p:txBody>
      </p:sp>
      <p:sp>
        <p:nvSpPr>
          <p:cNvPr id="32" name="Oval 36"/>
          <p:cNvSpPr>
            <a:spLocks noChangeArrowheads="1"/>
          </p:cNvSpPr>
          <p:nvPr/>
        </p:nvSpPr>
        <p:spPr bwMode="gray">
          <a:xfrm>
            <a:off x="1741488" y="2599794"/>
            <a:ext cx="357187"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dirty="0">
                <a:solidFill>
                  <a:srgbClr val="000000"/>
                </a:solidFill>
                <a:latin typeface="Calibri" pitchFamily="34" charset="0"/>
                <a:cs typeface="Calibri" pitchFamily="34" charset="0"/>
              </a:rPr>
              <a:t>2</a:t>
            </a:r>
          </a:p>
        </p:txBody>
      </p:sp>
      <p:sp>
        <p:nvSpPr>
          <p:cNvPr id="33" name="Oval 37"/>
          <p:cNvSpPr>
            <a:spLocks noChangeArrowheads="1"/>
          </p:cNvSpPr>
          <p:nvPr/>
        </p:nvSpPr>
        <p:spPr bwMode="gray">
          <a:xfrm>
            <a:off x="3086100" y="2599794"/>
            <a:ext cx="357188"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2</a:t>
            </a:r>
          </a:p>
        </p:txBody>
      </p:sp>
      <p:sp>
        <p:nvSpPr>
          <p:cNvPr id="34" name="AutoShape 38"/>
          <p:cNvSpPr>
            <a:spLocks noChangeArrowheads="1"/>
          </p:cNvSpPr>
          <p:nvPr/>
        </p:nvSpPr>
        <p:spPr bwMode="gray">
          <a:xfrm>
            <a:off x="1843088" y="1488017"/>
            <a:ext cx="1198562" cy="533400"/>
          </a:xfrm>
          <a:prstGeom prst="rightArrow">
            <a:avLst>
              <a:gd name="adj1" fmla="val 57741"/>
              <a:gd name="adj2" fmla="val 46126"/>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endParaRPr lang="en-US">
              <a:latin typeface="Calibri" pitchFamily="34" charset="0"/>
              <a:cs typeface="Calibri" pitchFamily="34" charset="0"/>
            </a:endParaRPr>
          </a:p>
        </p:txBody>
      </p:sp>
      <p:sp>
        <p:nvSpPr>
          <p:cNvPr id="35" name="Oval 39"/>
          <p:cNvSpPr>
            <a:spLocks noChangeArrowheads="1"/>
          </p:cNvSpPr>
          <p:nvPr/>
        </p:nvSpPr>
        <p:spPr bwMode="gray">
          <a:xfrm>
            <a:off x="1741488" y="1581680"/>
            <a:ext cx="357187" cy="357187"/>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1</a:t>
            </a:r>
          </a:p>
        </p:txBody>
      </p:sp>
      <p:sp>
        <p:nvSpPr>
          <p:cNvPr id="36" name="Oval 40"/>
          <p:cNvSpPr>
            <a:spLocks noChangeArrowheads="1"/>
          </p:cNvSpPr>
          <p:nvPr/>
        </p:nvSpPr>
        <p:spPr bwMode="gray">
          <a:xfrm>
            <a:off x="3086100" y="1581680"/>
            <a:ext cx="357188" cy="357187"/>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1</a:t>
            </a:r>
          </a:p>
        </p:txBody>
      </p:sp>
      <p:sp>
        <p:nvSpPr>
          <p:cNvPr id="39" name="AutoShape 59"/>
          <p:cNvSpPr>
            <a:spLocks noChangeArrowheads="1"/>
          </p:cNvSpPr>
          <p:nvPr/>
        </p:nvSpPr>
        <p:spPr bwMode="gray">
          <a:xfrm>
            <a:off x="6169025" y="4495800"/>
            <a:ext cx="1198563" cy="533400"/>
          </a:xfrm>
          <a:prstGeom prst="rightArrow">
            <a:avLst>
              <a:gd name="adj1" fmla="val 57741"/>
              <a:gd name="adj2" fmla="val 46126"/>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endParaRPr lang="en-US">
              <a:latin typeface="Calibri" pitchFamily="34" charset="0"/>
              <a:cs typeface="Calibri" pitchFamily="34" charset="0"/>
            </a:endParaRPr>
          </a:p>
        </p:txBody>
      </p:sp>
      <p:sp>
        <p:nvSpPr>
          <p:cNvPr id="40" name="Oval 60"/>
          <p:cNvSpPr>
            <a:spLocks noChangeArrowheads="1"/>
          </p:cNvSpPr>
          <p:nvPr/>
        </p:nvSpPr>
        <p:spPr bwMode="gray">
          <a:xfrm>
            <a:off x="6065838" y="4589462"/>
            <a:ext cx="357187"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4</a:t>
            </a:r>
          </a:p>
        </p:txBody>
      </p:sp>
      <p:sp>
        <p:nvSpPr>
          <p:cNvPr id="41" name="Oval 61"/>
          <p:cNvSpPr>
            <a:spLocks noChangeArrowheads="1"/>
          </p:cNvSpPr>
          <p:nvPr/>
        </p:nvSpPr>
        <p:spPr bwMode="gray">
          <a:xfrm>
            <a:off x="7410450" y="4589462"/>
            <a:ext cx="357188"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4</a:t>
            </a:r>
          </a:p>
        </p:txBody>
      </p:sp>
      <p:sp>
        <p:nvSpPr>
          <p:cNvPr id="42" name="AutoShape 62"/>
          <p:cNvSpPr>
            <a:spLocks noChangeArrowheads="1"/>
          </p:cNvSpPr>
          <p:nvPr/>
        </p:nvSpPr>
        <p:spPr bwMode="gray">
          <a:xfrm>
            <a:off x="6178550" y="3505200"/>
            <a:ext cx="1198563" cy="533400"/>
          </a:xfrm>
          <a:prstGeom prst="rightArrow">
            <a:avLst>
              <a:gd name="adj1" fmla="val 57741"/>
              <a:gd name="adj2" fmla="val 46126"/>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endParaRPr lang="en-US">
              <a:latin typeface="Calibri" pitchFamily="34" charset="0"/>
              <a:cs typeface="Calibri" pitchFamily="34" charset="0"/>
            </a:endParaRPr>
          </a:p>
        </p:txBody>
      </p:sp>
      <p:sp>
        <p:nvSpPr>
          <p:cNvPr id="43" name="Oval 63"/>
          <p:cNvSpPr>
            <a:spLocks noChangeArrowheads="1"/>
          </p:cNvSpPr>
          <p:nvPr/>
        </p:nvSpPr>
        <p:spPr bwMode="gray">
          <a:xfrm>
            <a:off x="6065838" y="3598862"/>
            <a:ext cx="357187"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3</a:t>
            </a:r>
          </a:p>
        </p:txBody>
      </p:sp>
      <p:sp>
        <p:nvSpPr>
          <p:cNvPr id="44" name="Oval 64"/>
          <p:cNvSpPr>
            <a:spLocks noChangeArrowheads="1"/>
          </p:cNvSpPr>
          <p:nvPr/>
        </p:nvSpPr>
        <p:spPr bwMode="gray">
          <a:xfrm>
            <a:off x="7410450" y="3598862"/>
            <a:ext cx="357188"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3</a:t>
            </a:r>
          </a:p>
        </p:txBody>
      </p:sp>
      <p:sp>
        <p:nvSpPr>
          <p:cNvPr id="45" name="Oval 65"/>
          <p:cNvSpPr>
            <a:spLocks noChangeArrowheads="1"/>
          </p:cNvSpPr>
          <p:nvPr/>
        </p:nvSpPr>
        <p:spPr bwMode="gray">
          <a:xfrm>
            <a:off x="6065838" y="2565400"/>
            <a:ext cx="357187" cy="357188"/>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2</a:t>
            </a:r>
          </a:p>
        </p:txBody>
      </p:sp>
      <p:sp>
        <p:nvSpPr>
          <p:cNvPr id="46" name="Oval 66"/>
          <p:cNvSpPr>
            <a:spLocks noChangeArrowheads="1"/>
          </p:cNvSpPr>
          <p:nvPr/>
        </p:nvSpPr>
        <p:spPr bwMode="gray">
          <a:xfrm>
            <a:off x="6065838" y="1618725"/>
            <a:ext cx="357187" cy="357187"/>
          </a:xfrm>
          <a:prstGeom prst="ellipse">
            <a:avLst/>
          </a:prstGeom>
          <a:solidFill>
            <a:schemeClr val="accent1"/>
          </a:solidFill>
          <a:ln w="28575" algn="ctr">
            <a:solidFill>
              <a:srgbClr val="777777"/>
            </a:solidFill>
            <a:round/>
            <a:headEnd/>
            <a:tailEnd type="none" w="lg" len="lg"/>
          </a:ln>
          <a:effectLst/>
        </p:spPr>
        <p:txBody>
          <a:bodyPr wrap="none" anchor="ctr"/>
          <a:lstStyle/>
          <a:p>
            <a:pPr marL="354013" indent="-354013" defTabSz="941388"/>
            <a:r>
              <a:rPr lang="en-US" sz="1400" b="1">
                <a:solidFill>
                  <a:srgbClr val="000000"/>
                </a:solidFill>
                <a:latin typeface="Calibri" pitchFamily="34" charset="0"/>
                <a:cs typeface="Calibri" pitchFamily="34" charset="0"/>
              </a:rPr>
              <a:t>1</a:t>
            </a:r>
          </a:p>
        </p:txBody>
      </p:sp>
      <p:sp>
        <p:nvSpPr>
          <p:cNvPr id="47" name="Line 67"/>
          <p:cNvSpPr>
            <a:spLocks noChangeShapeType="1"/>
          </p:cNvSpPr>
          <p:nvPr/>
        </p:nvSpPr>
        <p:spPr bwMode="gray">
          <a:xfrm>
            <a:off x="6929438" y="1660527"/>
            <a:ext cx="0" cy="614363"/>
          </a:xfrm>
          <a:prstGeom prst="line">
            <a:avLst/>
          </a:prstGeom>
          <a:noFill/>
          <a:ln w="38100">
            <a:solidFill>
              <a:schemeClr val="tx1"/>
            </a:solidFill>
            <a:round/>
            <a:headEnd/>
            <a:tailEnd type="none" w="lg" len="lg"/>
          </a:ln>
          <a:effectLst/>
        </p:spPr>
        <p:txBody>
          <a:bodyPr/>
          <a:lstStyle/>
          <a:p>
            <a:endParaRPr lang="en-US">
              <a:latin typeface="Calibri" pitchFamily="34" charset="0"/>
              <a:cs typeface="Calibri" pitchFamily="34" charset="0"/>
            </a:endParaRPr>
          </a:p>
        </p:txBody>
      </p:sp>
      <p:sp>
        <p:nvSpPr>
          <p:cNvPr id="48" name="Line 68"/>
          <p:cNvSpPr>
            <a:spLocks noChangeShapeType="1"/>
          </p:cNvSpPr>
          <p:nvPr/>
        </p:nvSpPr>
        <p:spPr bwMode="gray">
          <a:xfrm>
            <a:off x="6929438" y="2546350"/>
            <a:ext cx="0" cy="614363"/>
          </a:xfrm>
          <a:prstGeom prst="line">
            <a:avLst/>
          </a:prstGeom>
          <a:noFill/>
          <a:ln w="38100">
            <a:solidFill>
              <a:schemeClr val="tx1"/>
            </a:solidFill>
            <a:round/>
            <a:headEnd/>
            <a:tailEnd type="none" w="lg" len="lg"/>
          </a:ln>
          <a:effectLst/>
        </p:spPr>
        <p:txBody>
          <a:bodyPr/>
          <a:lstStyle/>
          <a:p>
            <a:endParaRPr lang="en-US">
              <a:latin typeface="Calibri" pitchFamily="34" charset="0"/>
              <a:cs typeface="Calibri" pitchFamily="34" charset="0"/>
            </a:endParaRPr>
          </a:p>
        </p:txBody>
      </p:sp>
      <p:sp>
        <p:nvSpPr>
          <p:cNvPr id="49" name="Line 69"/>
          <p:cNvSpPr>
            <a:spLocks noChangeShapeType="1"/>
          </p:cNvSpPr>
          <p:nvPr/>
        </p:nvSpPr>
        <p:spPr bwMode="gray">
          <a:xfrm>
            <a:off x="6929438" y="3466572"/>
            <a:ext cx="0" cy="614362"/>
          </a:xfrm>
          <a:prstGeom prst="line">
            <a:avLst/>
          </a:prstGeom>
          <a:noFill/>
          <a:ln w="38100">
            <a:solidFill>
              <a:schemeClr val="tx1"/>
            </a:solidFill>
            <a:round/>
            <a:headEnd/>
            <a:tailEnd type="none" w="lg" len="lg"/>
          </a:ln>
          <a:effectLst/>
        </p:spPr>
        <p:txBody>
          <a:bodyPr/>
          <a:lstStyle/>
          <a:p>
            <a:endParaRPr lang="en-US">
              <a:latin typeface="Calibri" pitchFamily="34" charset="0"/>
              <a:cs typeface="Calibri" pitchFamily="34" charset="0"/>
            </a:endParaRPr>
          </a:p>
        </p:txBody>
      </p:sp>
      <p:sp>
        <p:nvSpPr>
          <p:cNvPr id="50" name="Line 70"/>
          <p:cNvSpPr>
            <a:spLocks noChangeShapeType="1"/>
          </p:cNvSpPr>
          <p:nvPr/>
        </p:nvSpPr>
        <p:spPr bwMode="gray">
          <a:xfrm>
            <a:off x="6923088" y="4495800"/>
            <a:ext cx="0" cy="614362"/>
          </a:xfrm>
          <a:prstGeom prst="line">
            <a:avLst/>
          </a:prstGeom>
          <a:noFill/>
          <a:ln w="38100">
            <a:solidFill>
              <a:schemeClr val="tx1"/>
            </a:solidFill>
            <a:round/>
            <a:headEnd/>
            <a:tailEnd type="none" w="lg" len="lg"/>
          </a:ln>
          <a:effectLst/>
        </p:spPr>
        <p:txBody>
          <a:bodyPr/>
          <a:lstStyle/>
          <a:p>
            <a:endParaRPr lang="en-US">
              <a:latin typeface="Calibri" pitchFamily="34" charset="0"/>
              <a:cs typeface="Calibri" pitchFamily="34" charset="0"/>
            </a:endParaRPr>
          </a:p>
        </p:txBody>
      </p:sp>
      <p:grpSp>
        <p:nvGrpSpPr>
          <p:cNvPr id="1881" name="Group 1880"/>
          <p:cNvGrpSpPr/>
          <p:nvPr/>
        </p:nvGrpSpPr>
        <p:grpSpPr>
          <a:xfrm>
            <a:off x="660399" y="1286932"/>
            <a:ext cx="914400" cy="914400"/>
            <a:chOff x="660399" y="1532465"/>
            <a:chExt cx="914400" cy="914400"/>
          </a:xfrm>
        </p:grpSpPr>
        <p:pic>
          <p:nvPicPr>
            <p:cNvPr id="1880"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53" name="Group 346"/>
            <p:cNvGrpSpPr>
              <a:grpSpLocks/>
            </p:cNvGrpSpPr>
            <p:nvPr/>
          </p:nvGrpSpPr>
          <p:grpSpPr bwMode="auto">
            <a:xfrm>
              <a:off x="781050" y="1883304"/>
              <a:ext cx="685800" cy="304800"/>
              <a:chOff x="2529" y="3760"/>
              <a:chExt cx="432" cy="192"/>
            </a:xfrm>
          </p:grpSpPr>
          <p:sp>
            <p:nvSpPr>
              <p:cNvPr id="54"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55"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56"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57"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58"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59"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0"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1"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2"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3"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4"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5"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6"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7"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8"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69"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0"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1"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2"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3"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4"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5"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6"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7"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8"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79"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0"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1"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2"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3"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4"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5"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6"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7"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8"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89"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90"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91"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92"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93"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94"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95"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96"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97"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98"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99"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0"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1"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2"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3"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4"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5"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6"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7"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8"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09"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0"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1"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2"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3"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4"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5"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6"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7"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8"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19"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0"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1"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2"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3"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4"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5"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6"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7"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8"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29"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0"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1"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2"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3"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4"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5"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6"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7"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8"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39"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0"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1"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2"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3"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4"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5"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6"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47"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8"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49"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0"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1"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2"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3"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4"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5"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6"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7"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58"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59"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0"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1"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2"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3"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4"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5"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6"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7"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8"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69"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70"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sp>
        <p:nvSpPr>
          <p:cNvPr id="778" name="Text Box 1194"/>
          <p:cNvSpPr txBox="1">
            <a:spLocks noChangeArrowheads="1"/>
          </p:cNvSpPr>
          <p:nvPr/>
        </p:nvSpPr>
        <p:spPr bwMode="gray">
          <a:xfrm>
            <a:off x="1441450" y="5147733"/>
            <a:ext cx="615950" cy="1096963"/>
          </a:xfrm>
          <a:prstGeom prst="rect">
            <a:avLst/>
          </a:prstGeom>
          <a:noFill/>
          <a:ln w="12700" algn="ctr">
            <a:noFill/>
            <a:miter lim="800000"/>
            <a:headEnd/>
            <a:tailEnd type="none" w="lg" len="lg"/>
          </a:ln>
          <a:effectLst/>
        </p:spPr>
        <p:txBody>
          <a:bodyPr wrap="none" lIns="0" tIns="0" rIns="0" bIns="0">
            <a:spAutoFit/>
          </a:bodyPr>
          <a:lstStyle/>
          <a:p>
            <a:pPr defTabSz="941388"/>
            <a:r>
              <a:rPr lang="en-US" sz="7200" dirty="0">
                <a:solidFill>
                  <a:schemeClr val="bg1"/>
                </a:solidFill>
                <a:latin typeface="Wingdings" pitchFamily="2" charset="2"/>
              </a:rPr>
              <a:t>C</a:t>
            </a:r>
          </a:p>
        </p:txBody>
      </p:sp>
      <p:grpSp>
        <p:nvGrpSpPr>
          <p:cNvPr id="1882" name="Group 1881"/>
          <p:cNvGrpSpPr/>
          <p:nvPr/>
        </p:nvGrpSpPr>
        <p:grpSpPr>
          <a:xfrm>
            <a:off x="3598333" y="1295400"/>
            <a:ext cx="914400" cy="914400"/>
            <a:chOff x="660399" y="1532465"/>
            <a:chExt cx="914400" cy="914400"/>
          </a:xfrm>
        </p:grpSpPr>
        <p:pic>
          <p:nvPicPr>
            <p:cNvPr id="188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1884" name="Group 346"/>
            <p:cNvGrpSpPr>
              <a:grpSpLocks/>
            </p:cNvGrpSpPr>
            <p:nvPr/>
          </p:nvGrpSpPr>
          <p:grpSpPr bwMode="auto">
            <a:xfrm>
              <a:off x="781050" y="1883304"/>
              <a:ext cx="685800" cy="304800"/>
              <a:chOff x="2529" y="3760"/>
              <a:chExt cx="432" cy="192"/>
            </a:xfrm>
          </p:grpSpPr>
          <p:sp>
            <p:nvSpPr>
              <p:cNvPr id="1885"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86"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87"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88"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89"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0"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1"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2"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3"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4"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5"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6"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7"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8"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899"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0"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1"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2"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3"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4"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5"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6"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7"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8"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09"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0"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1"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2"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3"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4"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5"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6"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7"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8"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19"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20"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1921"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22"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23"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24"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25"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926"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927"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28"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29"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0"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1"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2"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3"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4"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5"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6"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7"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8"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39"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0"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1"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2"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3"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4"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5"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6"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7"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8"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49"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0"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1"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2"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3"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4"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5"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6"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7"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8"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59"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0"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1"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2"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3"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4"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5"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6"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7"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8"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69"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0"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1"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2"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3"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4"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5"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6"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7"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978"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79"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0"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1"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2"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3"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4"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5"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6"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7"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8"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89"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1990"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1"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2"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3"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4"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5"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6"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7"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8"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1999"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00"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01"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2002" name="Group 2001"/>
          <p:cNvGrpSpPr/>
          <p:nvPr/>
        </p:nvGrpSpPr>
        <p:grpSpPr>
          <a:xfrm>
            <a:off x="651934" y="2260599"/>
            <a:ext cx="914400" cy="914400"/>
            <a:chOff x="660399" y="1532465"/>
            <a:chExt cx="914400" cy="914400"/>
          </a:xfrm>
        </p:grpSpPr>
        <p:pic>
          <p:nvPicPr>
            <p:cNvPr id="200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2004" name="Group 346"/>
            <p:cNvGrpSpPr>
              <a:grpSpLocks/>
            </p:cNvGrpSpPr>
            <p:nvPr/>
          </p:nvGrpSpPr>
          <p:grpSpPr bwMode="auto">
            <a:xfrm>
              <a:off x="781050" y="1883304"/>
              <a:ext cx="685800" cy="304800"/>
              <a:chOff x="2529" y="3760"/>
              <a:chExt cx="432" cy="192"/>
            </a:xfrm>
          </p:grpSpPr>
          <p:sp>
            <p:nvSpPr>
              <p:cNvPr id="2005"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06"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07"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08"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09"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0"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1"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2"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3"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4"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5"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6"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7"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8"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19"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0"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1"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2"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3"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4"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5"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6"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7"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8"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29"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0"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1"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2"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3"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4"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5"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6"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7"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8"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39"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40"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041"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42"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43"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44"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45"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046"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047"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48"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49"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0"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1"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2"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3"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4"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5"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6"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7"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8"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59"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0"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1"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2"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3"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4"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5"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6"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7"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8"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69"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0"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1"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2"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3"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4"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5"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6"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7"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8"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79"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0"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1"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2"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3"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4"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5"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6"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7"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8"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89"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0"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1"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2"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3"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4"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5"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6"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7"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098"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099"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0"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1"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2"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3"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4"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5"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6"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7"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8"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09"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110"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1"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2"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3"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4"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5"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6"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7"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8"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19"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20"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21"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2122" name="Group 2121"/>
          <p:cNvGrpSpPr/>
          <p:nvPr/>
        </p:nvGrpSpPr>
        <p:grpSpPr>
          <a:xfrm>
            <a:off x="3589868" y="2269067"/>
            <a:ext cx="914400" cy="914400"/>
            <a:chOff x="660399" y="1532465"/>
            <a:chExt cx="914400" cy="914400"/>
          </a:xfrm>
        </p:grpSpPr>
        <p:pic>
          <p:nvPicPr>
            <p:cNvPr id="212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2124" name="Group 346"/>
            <p:cNvGrpSpPr>
              <a:grpSpLocks/>
            </p:cNvGrpSpPr>
            <p:nvPr/>
          </p:nvGrpSpPr>
          <p:grpSpPr bwMode="auto">
            <a:xfrm>
              <a:off x="781050" y="1883304"/>
              <a:ext cx="685800" cy="304800"/>
              <a:chOff x="2529" y="3760"/>
              <a:chExt cx="432" cy="192"/>
            </a:xfrm>
          </p:grpSpPr>
          <p:sp>
            <p:nvSpPr>
              <p:cNvPr id="2125"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26"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27"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28"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29"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0"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1"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2"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3"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4"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5"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6"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7"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8"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39"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0"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1"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2"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3"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4"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5"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6"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7"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8"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49"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0"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1"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2"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3"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4"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5"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6"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7"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8"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59"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60"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161"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62"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63"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64"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65"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166"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167"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68"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69"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0"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1"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2"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3"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4"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5"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6"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7"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8"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79"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0"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1"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2"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3"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4"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5"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6"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7"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8"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89"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0"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1"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2"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3"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4"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5"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6"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7"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8"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199"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0"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1"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2"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3"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4"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5"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6"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7"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8"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09"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0"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1"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2"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3"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4"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5"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6"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7"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218"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19"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0"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1"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2"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3"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4"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5"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6"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7"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8"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29"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230"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1"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2"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3"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4"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5"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6"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7"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8"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39"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40"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41"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2242" name="Group 2241"/>
          <p:cNvGrpSpPr/>
          <p:nvPr/>
        </p:nvGrpSpPr>
        <p:grpSpPr>
          <a:xfrm>
            <a:off x="651934" y="3259667"/>
            <a:ext cx="914400" cy="914400"/>
            <a:chOff x="660399" y="1532465"/>
            <a:chExt cx="914400" cy="914400"/>
          </a:xfrm>
        </p:grpSpPr>
        <p:pic>
          <p:nvPicPr>
            <p:cNvPr id="224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2244" name="Group 346"/>
            <p:cNvGrpSpPr>
              <a:grpSpLocks/>
            </p:cNvGrpSpPr>
            <p:nvPr/>
          </p:nvGrpSpPr>
          <p:grpSpPr bwMode="auto">
            <a:xfrm>
              <a:off x="781050" y="1883304"/>
              <a:ext cx="685800" cy="304800"/>
              <a:chOff x="2529" y="3760"/>
              <a:chExt cx="432" cy="192"/>
            </a:xfrm>
          </p:grpSpPr>
          <p:sp>
            <p:nvSpPr>
              <p:cNvPr id="2245"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46"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47"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48"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49"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0"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1"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2"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3"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4"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5"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6"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7"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8"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59"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0"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1"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2"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3"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4"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5"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6"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7"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8"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69"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0"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1"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2"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3"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4"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5"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6"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7"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8"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79"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80"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281"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82"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83"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84"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85"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286"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287"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88"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89"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0"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1"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2"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3"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4"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5"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6"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7"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8"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299"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0"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1"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2"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3"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4"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5"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6"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7"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8"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09"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0"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1"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2"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3"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4"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5"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6"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7"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8"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19"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0"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1"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2"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3"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4"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5"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6"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7"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8"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29"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0"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1"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2"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3"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4"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5"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6"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7"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338"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39"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0"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1"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2"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3"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4"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5"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6"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7"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8"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49"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350"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1"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2"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3"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4"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5"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6"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7"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8"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59"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60"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361"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2362" name="Group 2361"/>
          <p:cNvGrpSpPr/>
          <p:nvPr/>
        </p:nvGrpSpPr>
        <p:grpSpPr>
          <a:xfrm>
            <a:off x="3589868" y="3268135"/>
            <a:ext cx="914400" cy="914400"/>
            <a:chOff x="660399" y="1532465"/>
            <a:chExt cx="914400" cy="914400"/>
          </a:xfrm>
        </p:grpSpPr>
        <p:pic>
          <p:nvPicPr>
            <p:cNvPr id="236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2364" name="Group 346"/>
            <p:cNvGrpSpPr>
              <a:grpSpLocks/>
            </p:cNvGrpSpPr>
            <p:nvPr/>
          </p:nvGrpSpPr>
          <p:grpSpPr bwMode="auto">
            <a:xfrm>
              <a:off x="781050" y="1883304"/>
              <a:ext cx="685800" cy="304800"/>
              <a:chOff x="2529" y="3760"/>
              <a:chExt cx="432" cy="192"/>
            </a:xfrm>
          </p:grpSpPr>
          <p:sp>
            <p:nvSpPr>
              <p:cNvPr id="2365"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66"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67"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68"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69"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0"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1"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2"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3"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4"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5"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6"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7"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8"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79"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0"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1"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2"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3"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4"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5"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6"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7"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8"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89"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0"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1"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2"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3"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4"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5"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6"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7"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8"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399"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400"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401"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02"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03"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04"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05"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406"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407"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08"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09"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0"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1"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2"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3"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4"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5"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6"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7"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8"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19"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0"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1"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2"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3"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4"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5"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6"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7"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8"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29"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0"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1"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2"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3"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4"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5"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6"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7"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8"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39"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0"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1"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2"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3"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4"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5"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6"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7"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8"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49"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0"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1"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2"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3"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4"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5"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6"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7"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458"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59"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0"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1"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2"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3"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4"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5"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6"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7"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8"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69"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470"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1"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2"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3"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4"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5"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6"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7"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8"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79"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80"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481"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2722" name="Group 2721"/>
          <p:cNvGrpSpPr/>
          <p:nvPr/>
        </p:nvGrpSpPr>
        <p:grpSpPr>
          <a:xfrm>
            <a:off x="651934" y="4250267"/>
            <a:ext cx="914400" cy="914400"/>
            <a:chOff x="651934" y="4495800"/>
            <a:chExt cx="914400" cy="914400"/>
          </a:xfrm>
        </p:grpSpPr>
        <p:pic>
          <p:nvPicPr>
            <p:cNvPr id="260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51934" y="4495800"/>
              <a:ext cx="914400" cy="914400"/>
            </a:xfrm>
            <a:prstGeom prst="rect">
              <a:avLst/>
            </a:prstGeom>
            <a:noFill/>
          </p:spPr>
        </p:pic>
        <p:grpSp>
          <p:nvGrpSpPr>
            <p:cNvPr id="18" name="Group 825"/>
            <p:cNvGrpSpPr>
              <a:grpSpLocks/>
            </p:cNvGrpSpPr>
            <p:nvPr/>
          </p:nvGrpSpPr>
          <p:grpSpPr bwMode="auto">
            <a:xfrm>
              <a:off x="787400" y="4902201"/>
              <a:ext cx="644525" cy="319087"/>
              <a:chOff x="496" y="2962"/>
              <a:chExt cx="406" cy="201"/>
            </a:xfrm>
          </p:grpSpPr>
          <p:sp>
            <p:nvSpPr>
              <p:cNvPr id="19" name="Rectangle 17"/>
              <p:cNvSpPr>
                <a:spLocks noChangeArrowheads="1"/>
              </p:cNvSpPr>
              <p:nvPr/>
            </p:nvSpPr>
            <p:spPr bwMode="gray">
              <a:xfrm>
                <a:off x="496" y="2962"/>
                <a:ext cx="203" cy="101"/>
              </a:xfrm>
              <a:prstGeom prst="rect">
                <a:avLst/>
              </a:prstGeom>
              <a:solidFill>
                <a:srgbClr val="FF2D91"/>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20" name="Rectangle 18"/>
              <p:cNvSpPr>
                <a:spLocks noChangeArrowheads="1"/>
              </p:cNvSpPr>
              <p:nvPr/>
            </p:nvSpPr>
            <p:spPr bwMode="gray">
              <a:xfrm>
                <a:off x="699" y="2962"/>
                <a:ext cx="203" cy="101"/>
              </a:xfrm>
              <a:prstGeom prst="rect">
                <a:avLst/>
              </a:prstGeom>
              <a:solidFill>
                <a:srgbClr val="96FF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21" name="Rectangle 19"/>
              <p:cNvSpPr>
                <a:spLocks noChangeArrowheads="1"/>
              </p:cNvSpPr>
              <p:nvPr/>
            </p:nvSpPr>
            <p:spPr bwMode="gray">
              <a:xfrm>
                <a:off x="496" y="3062"/>
                <a:ext cx="203" cy="101"/>
              </a:xfrm>
              <a:prstGeom prst="rect">
                <a:avLst/>
              </a:prstGeom>
              <a:solidFill>
                <a:srgbClr val="FF91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22" name="Rectangle 20"/>
              <p:cNvSpPr>
                <a:spLocks noChangeArrowheads="1"/>
              </p:cNvSpPr>
              <p:nvPr/>
            </p:nvSpPr>
            <p:spPr bwMode="gray">
              <a:xfrm>
                <a:off x="699" y="3062"/>
                <a:ext cx="203" cy="101"/>
              </a:xfrm>
              <a:prstGeom prst="rect">
                <a:avLst/>
              </a:prstGeom>
              <a:solidFill>
                <a:srgbClr val="2DBEFF"/>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grpSp>
      </p:grpSp>
      <p:grpSp>
        <p:nvGrpSpPr>
          <p:cNvPr id="2723" name="Group 2722"/>
          <p:cNvGrpSpPr/>
          <p:nvPr/>
        </p:nvGrpSpPr>
        <p:grpSpPr>
          <a:xfrm>
            <a:off x="3581400" y="4267200"/>
            <a:ext cx="914400" cy="914400"/>
            <a:chOff x="651934" y="4495800"/>
            <a:chExt cx="914400" cy="914400"/>
          </a:xfrm>
        </p:grpSpPr>
        <p:pic>
          <p:nvPicPr>
            <p:cNvPr id="272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51934" y="4495800"/>
              <a:ext cx="914400" cy="914400"/>
            </a:xfrm>
            <a:prstGeom prst="rect">
              <a:avLst/>
            </a:prstGeom>
            <a:noFill/>
          </p:spPr>
        </p:pic>
        <p:grpSp>
          <p:nvGrpSpPr>
            <p:cNvPr id="2725" name="Group 825"/>
            <p:cNvGrpSpPr>
              <a:grpSpLocks/>
            </p:cNvGrpSpPr>
            <p:nvPr/>
          </p:nvGrpSpPr>
          <p:grpSpPr bwMode="auto">
            <a:xfrm>
              <a:off x="787401" y="4902201"/>
              <a:ext cx="644526" cy="319087"/>
              <a:chOff x="496" y="2962"/>
              <a:chExt cx="406" cy="201"/>
            </a:xfrm>
          </p:grpSpPr>
          <p:sp>
            <p:nvSpPr>
              <p:cNvPr id="2726" name="Rectangle 17"/>
              <p:cNvSpPr>
                <a:spLocks noChangeArrowheads="1"/>
              </p:cNvSpPr>
              <p:nvPr/>
            </p:nvSpPr>
            <p:spPr bwMode="gray">
              <a:xfrm>
                <a:off x="496" y="2962"/>
                <a:ext cx="203" cy="101"/>
              </a:xfrm>
              <a:prstGeom prst="rect">
                <a:avLst/>
              </a:prstGeom>
              <a:solidFill>
                <a:srgbClr val="FF2D91"/>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2727" name="Rectangle 18"/>
              <p:cNvSpPr>
                <a:spLocks noChangeArrowheads="1"/>
              </p:cNvSpPr>
              <p:nvPr/>
            </p:nvSpPr>
            <p:spPr bwMode="gray">
              <a:xfrm>
                <a:off x="699" y="2962"/>
                <a:ext cx="203" cy="101"/>
              </a:xfrm>
              <a:prstGeom prst="rect">
                <a:avLst/>
              </a:prstGeom>
              <a:solidFill>
                <a:srgbClr val="96FF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2728" name="Rectangle 19"/>
              <p:cNvSpPr>
                <a:spLocks noChangeArrowheads="1"/>
              </p:cNvSpPr>
              <p:nvPr/>
            </p:nvSpPr>
            <p:spPr bwMode="gray">
              <a:xfrm>
                <a:off x="496" y="3062"/>
                <a:ext cx="203" cy="101"/>
              </a:xfrm>
              <a:prstGeom prst="rect">
                <a:avLst/>
              </a:prstGeom>
              <a:solidFill>
                <a:srgbClr val="FF91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2729" name="Rectangle 20"/>
              <p:cNvSpPr>
                <a:spLocks noChangeArrowheads="1"/>
              </p:cNvSpPr>
              <p:nvPr/>
            </p:nvSpPr>
            <p:spPr bwMode="gray">
              <a:xfrm>
                <a:off x="699" y="3062"/>
                <a:ext cx="203" cy="101"/>
              </a:xfrm>
              <a:prstGeom prst="rect">
                <a:avLst/>
              </a:prstGeom>
              <a:solidFill>
                <a:srgbClr val="2DBEFF"/>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grpSp>
      </p:grpSp>
      <p:sp>
        <p:nvSpPr>
          <p:cNvPr id="2731" name="Rectangle 27"/>
          <p:cNvSpPr>
            <a:spLocks noChangeArrowheads="1"/>
          </p:cNvSpPr>
          <p:nvPr/>
        </p:nvSpPr>
        <p:spPr bwMode="gray">
          <a:xfrm>
            <a:off x="4987487" y="941535"/>
            <a:ext cx="688650" cy="307777"/>
          </a:xfrm>
          <a:prstGeom prst="rect">
            <a:avLst/>
          </a:prstGeom>
          <a:noFill/>
          <a:ln w="12700" algn="ctr">
            <a:noFill/>
            <a:miter lim="800000"/>
            <a:headEnd/>
            <a:tailEnd type="none" w="lg" len="lg"/>
          </a:ln>
          <a:effectLst/>
        </p:spPr>
        <p:txBody>
          <a:bodyPr wrap="none">
            <a:spAutoFit/>
          </a:bodyPr>
          <a:lstStyle/>
          <a:p>
            <a:pPr marL="354013" indent="-354013" defTabSz="941388"/>
            <a:r>
              <a:rPr lang="en-US" sz="1400" b="1" dirty="0">
                <a:solidFill>
                  <a:srgbClr val="000000"/>
                </a:solidFill>
                <a:latin typeface="Calibri" pitchFamily="34" charset="0"/>
                <a:cs typeface="Calibri" pitchFamily="34" charset="0"/>
              </a:rPr>
              <a:t>Source</a:t>
            </a:r>
          </a:p>
        </p:txBody>
      </p:sp>
      <p:sp>
        <p:nvSpPr>
          <p:cNvPr id="2732" name="Rectangle 28"/>
          <p:cNvSpPr>
            <a:spLocks noChangeArrowheads="1"/>
          </p:cNvSpPr>
          <p:nvPr/>
        </p:nvSpPr>
        <p:spPr bwMode="gray">
          <a:xfrm>
            <a:off x="7849138" y="941535"/>
            <a:ext cx="721223" cy="307777"/>
          </a:xfrm>
          <a:prstGeom prst="rect">
            <a:avLst/>
          </a:prstGeom>
          <a:noFill/>
          <a:ln w="12700" algn="ctr">
            <a:noFill/>
            <a:miter lim="800000"/>
            <a:headEnd/>
            <a:tailEnd type="none" w="lg" len="lg"/>
          </a:ln>
          <a:effectLst/>
        </p:spPr>
        <p:txBody>
          <a:bodyPr wrap="none">
            <a:spAutoFit/>
          </a:bodyPr>
          <a:lstStyle/>
          <a:p>
            <a:pPr marL="354013" indent="-354013" defTabSz="941388"/>
            <a:r>
              <a:rPr lang="en-US" sz="1400" b="1" dirty="0">
                <a:solidFill>
                  <a:srgbClr val="000000"/>
                </a:solidFill>
                <a:latin typeface="Calibri" pitchFamily="34" charset="0"/>
                <a:cs typeface="Calibri" pitchFamily="34" charset="0"/>
              </a:rPr>
              <a:t>Replica</a:t>
            </a:r>
          </a:p>
        </p:txBody>
      </p:sp>
      <p:grpSp>
        <p:nvGrpSpPr>
          <p:cNvPr id="2733" name="Group 2732"/>
          <p:cNvGrpSpPr/>
          <p:nvPr/>
        </p:nvGrpSpPr>
        <p:grpSpPr>
          <a:xfrm>
            <a:off x="4876800" y="1303865"/>
            <a:ext cx="914400" cy="914400"/>
            <a:chOff x="660399" y="1532465"/>
            <a:chExt cx="914400" cy="914400"/>
          </a:xfrm>
        </p:grpSpPr>
        <p:pic>
          <p:nvPicPr>
            <p:cNvPr id="273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2735" name="Group 346"/>
            <p:cNvGrpSpPr>
              <a:grpSpLocks/>
            </p:cNvGrpSpPr>
            <p:nvPr/>
          </p:nvGrpSpPr>
          <p:grpSpPr bwMode="auto">
            <a:xfrm>
              <a:off x="781050" y="1883304"/>
              <a:ext cx="685800" cy="304800"/>
              <a:chOff x="2529" y="3760"/>
              <a:chExt cx="432" cy="192"/>
            </a:xfrm>
          </p:grpSpPr>
          <p:sp>
            <p:nvSpPr>
              <p:cNvPr id="2736"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37"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38"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39"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0"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1"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2"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3"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4"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5"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6"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7"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8"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49"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0"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1"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2"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3"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4"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5"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6"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7"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8"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59"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0"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1"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2"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3"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4"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5"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6"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7"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8"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69"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70"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71"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772"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73"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74"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75"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76"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777"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778"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79"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0"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1"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2"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3"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4"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5"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6"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7"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8"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89"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0"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1"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2"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3"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4"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5"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6"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7"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8"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799"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0"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1"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2"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3"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4"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5"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6"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7"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8"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09"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0"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1"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2"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3"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4"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5"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6"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7"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8"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19"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0"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1"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2"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3"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4"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5"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6"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7"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28"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829"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0"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1"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2"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3"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4"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5"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6"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7"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8"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39"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0"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841"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2"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3"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4"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5"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6"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7"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8"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49"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50"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51"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52"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2853" name="Group 2852"/>
          <p:cNvGrpSpPr/>
          <p:nvPr/>
        </p:nvGrpSpPr>
        <p:grpSpPr>
          <a:xfrm>
            <a:off x="7814734" y="1312333"/>
            <a:ext cx="914400" cy="914400"/>
            <a:chOff x="660399" y="1532465"/>
            <a:chExt cx="914400" cy="914400"/>
          </a:xfrm>
        </p:grpSpPr>
        <p:pic>
          <p:nvPicPr>
            <p:cNvPr id="285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2855" name="Group 346"/>
            <p:cNvGrpSpPr>
              <a:grpSpLocks/>
            </p:cNvGrpSpPr>
            <p:nvPr/>
          </p:nvGrpSpPr>
          <p:grpSpPr bwMode="auto">
            <a:xfrm>
              <a:off x="781050" y="1883304"/>
              <a:ext cx="685800" cy="304800"/>
              <a:chOff x="2529" y="3760"/>
              <a:chExt cx="432" cy="192"/>
            </a:xfrm>
          </p:grpSpPr>
          <p:sp>
            <p:nvSpPr>
              <p:cNvPr id="2856"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57"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58"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59"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0"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1"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2"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3"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4"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5"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6"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7"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8"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69"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0"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1"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2"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3"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4"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5"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6"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7"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8"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79"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0"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1"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2"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3"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4"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5"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6"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7"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8"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89"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90"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91"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892"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93"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94"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95"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96"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897"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898"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899"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0"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1"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2"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3"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4"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5"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6"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7"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8"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09"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0"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1"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2"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3"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4"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5"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6"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7"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8"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19"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0"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1"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2"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3"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4"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5"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6"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7"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8"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29"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0"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1"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2"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3"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4"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5"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6"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7"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8"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39"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0"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1"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2"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3"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4"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5"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6"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7"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48"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949"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0"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1"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2"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3"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4"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5"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6"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7"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8"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59"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0"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2961"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2"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3"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4"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5"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6"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7"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8"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69"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70"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71"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2972"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2973" name="Group 2972"/>
          <p:cNvGrpSpPr/>
          <p:nvPr/>
        </p:nvGrpSpPr>
        <p:grpSpPr>
          <a:xfrm>
            <a:off x="4893733" y="2294465"/>
            <a:ext cx="914400" cy="914400"/>
            <a:chOff x="660399" y="1532465"/>
            <a:chExt cx="914400" cy="914400"/>
          </a:xfrm>
        </p:grpSpPr>
        <p:pic>
          <p:nvPicPr>
            <p:cNvPr id="297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2975" name="Group 346"/>
            <p:cNvGrpSpPr>
              <a:grpSpLocks/>
            </p:cNvGrpSpPr>
            <p:nvPr/>
          </p:nvGrpSpPr>
          <p:grpSpPr bwMode="auto">
            <a:xfrm>
              <a:off x="781050" y="1883304"/>
              <a:ext cx="685800" cy="304800"/>
              <a:chOff x="2529" y="3760"/>
              <a:chExt cx="432" cy="192"/>
            </a:xfrm>
          </p:grpSpPr>
          <p:sp>
            <p:nvSpPr>
              <p:cNvPr id="2976"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77"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78"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79"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0"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1"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2"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3"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4"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5"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6"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7"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8"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89"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0"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1"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2"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3"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4"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5"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6"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7"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8"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2999"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0"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1"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2"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3"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4"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5"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6"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7"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8"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09"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10"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11"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12"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13"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14"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15"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16"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017"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018"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19"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0"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1"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2"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3"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4"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5"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6"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7"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8"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29"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0"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1"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2"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3"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4"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5"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6"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7"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8"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39"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0"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1"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2"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3"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4"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5"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6"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7"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8"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49"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0"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1"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2"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3"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4"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5"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6"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7"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8"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59"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0"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1"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2"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3"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4"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5"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6"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7"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68"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069"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0"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1"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2"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3"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4"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5"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6"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7"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8"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79"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0"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081"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2"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3"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4"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5"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6"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7"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8"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89"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90"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91"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092"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3093" name="Group 3092"/>
          <p:cNvGrpSpPr/>
          <p:nvPr/>
        </p:nvGrpSpPr>
        <p:grpSpPr>
          <a:xfrm>
            <a:off x="7831667" y="2302933"/>
            <a:ext cx="914400" cy="914400"/>
            <a:chOff x="660399" y="1532465"/>
            <a:chExt cx="914400" cy="914400"/>
          </a:xfrm>
        </p:grpSpPr>
        <p:pic>
          <p:nvPicPr>
            <p:cNvPr id="309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3095" name="Group 346"/>
            <p:cNvGrpSpPr>
              <a:grpSpLocks/>
            </p:cNvGrpSpPr>
            <p:nvPr/>
          </p:nvGrpSpPr>
          <p:grpSpPr bwMode="auto">
            <a:xfrm>
              <a:off x="781050" y="1883304"/>
              <a:ext cx="685800" cy="304800"/>
              <a:chOff x="2529" y="3760"/>
              <a:chExt cx="432" cy="192"/>
            </a:xfrm>
          </p:grpSpPr>
          <p:sp>
            <p:nvSpPr>
              <p:cNvPr id="3096"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97"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98"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099"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0"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1"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2"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3"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4"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5"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6"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7"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8"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09"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0"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1"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2"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3"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4"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5"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6"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7"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8"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19"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0"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1"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2"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3"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4"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5"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6"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7"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8"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29"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30"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31"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132"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33"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34"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35"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36"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137"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138"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39"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0"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1"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2"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3"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4"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5"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6"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7"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8"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49"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0"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1"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2"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3"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4"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5"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6"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7"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8"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59"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0"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1"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2"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3"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4"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5"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6"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7"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8"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69"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0"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1"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2"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3"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4"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5"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6"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7"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8"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79"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0"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1"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2"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3"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4"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5"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6"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7"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88"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189"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0"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1"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2"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3"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4"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5"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6"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7"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8"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199"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0"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201"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2"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3"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4"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5"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6"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7"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8"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09"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10"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11"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12"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3213" name="Group 3212"/>
          <p:cNvGrpSpPr/>
          <p:nvPr/>
        </p:nvGrpSpPr>
        <p:grpSpPr>
          <a:xfrm>
            <a:off x="4910666" y="3293533"/>
            <a:ext cx="914400" cy="914400"/>
            <a:chOff x="660399" y="1532465"/>
            <a:chExt cx="914400" cy="914400"/>
          </a:xfrm>
        </p:grpSpPr>
        <p:pic>
          <p:nvPicPr>
            <p:cNvPr id="321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3215" name="Group 346"/>
            <p:cNvGrpSpPr>
              <a:grpSpLocks/>
            </p:cNvGrpSpPr>
            <p:nvPr/>
          </p:nvGrpSpPr>
          <p:grpSpPr bwMode="auto">
            <a:xfrm>
              <a:off x="781050" y="1883304"/>
              <a:ext cx="685800" cy="304800"/>
              <a:chOff x="2529" y="3760"/>
              <a:chExt cx="432" cy="192"/>
            </a:xfrm>
          </p:grpSpPr>
          <p:sp>
            <p:nvSpPr>
              <p:cNvPr id="3216"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17"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18"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19"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0"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1"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2"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3"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4"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5"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6"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7"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8"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29"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0"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1"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2"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3"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4"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5"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6"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7"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8"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39"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0"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1"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2"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3"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4"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5"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6"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7"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8"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49"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50"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51"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252"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53"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54"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55"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56"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257"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258"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59"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0"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1"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2"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3"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4"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5"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6"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7"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8"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69"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0"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1"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2"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3"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4"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5"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6"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7"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8"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79"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0"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1"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2"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3"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4"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5"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6"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7"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8"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89"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0"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1"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2"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3"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4"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5"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6"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7"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8"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299"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0"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1"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2"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3"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4"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5"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6"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7"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08"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309"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0"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1"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2"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3"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4"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5"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6"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7"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8"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19"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0"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321"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2"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3"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4"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5"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6"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7"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8"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29"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30"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31"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32"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3333" name="Group 3332"/>
          <p:cNvGrpSpPr/>
          <p:nvPr/>
        </p:nvGrpSpPr>
        <p:grpSpPr>
          <a:xfrm>
            <a:off x="7848600" y="3302001"/>
            <a:ext cx="914400" cy="914400"/>
            <a:chOff x="660399" y="1532465"/>
            <a:chExt cx="914400" cy="914400"/>
          </a:xfrm>
        </p:grpSpPr>
        <p:pic>
          <p:nvPicPr>
            <p:cNvPr id="333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60399" y="1532465"/>
              <a:ext cx="914400" cy="914400"/>
            </a:xfrm>
            <a:prstGeom prst="rect">
              <a:avLst/>
            </a:prstGeom>
            <a:noFill/>
          </p:spPr>
        </p:pic>
        <p:grpSp>
          <p:nvGrpSpPr>
            <p:cNvPr id="3335" name="Group 346"/>
            <p:cNvGrpSpPr>
              <a:grpSpLocks/>
            </p:cNvGrpSpPr>
            <p:nvPr/>
          </p:nvGrpSpPr>
          <p:grpSpPr bwMode="auto">
            <a:xfrm>
              <a:off x="781050" y="1883304"/>
              <a:ext cx="685800" cy="304800"/>
              <a:chOff x="2529" y="3760"/>
              <a:chExt cx="432" cy="192"/>
            </a:xfrm>
          </p:grpSpPr>
          <p:sp>
            <p:nvSpPr>
              <p:cNvPr id="3336"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37"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38"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39"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0"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1"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2"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3"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4"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5"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6"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7"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8"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49"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0"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1"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2"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3"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4"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5"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6"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7"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8"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59"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0"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1"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2"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3"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4"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5"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6"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7"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8"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69"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70"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71"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endParaRPr lang="en-US">
                  <a:latin typeface="Calibri" pitchFamily="34" charset="0"/>
                  <a:cs typeface="Calibri" pitchFamily="34" charset="0"/>
                </a:endParaRPr>
              </a:p>
            </p:txBody>
          </p:sp>
          <p:sp>
            <p:nvSpPr>
              <p:cNvPr id="3372"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73"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74"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75"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76"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377"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378"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79"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0"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1"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2"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3"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4"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5"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6"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7"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8"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89"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0"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1"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2"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3"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4"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5"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6"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7"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8"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399"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0"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1"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2"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3"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4"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5"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6"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7"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8"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09"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0"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1"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2"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3"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4"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5"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6"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7"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8"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19"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0"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1"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2"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3"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4"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5"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6"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7"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28"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429"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0"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1"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2"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3"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4"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5"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6"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7"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8"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39"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0"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endParaRPr lang="en-US">
                  <a:latin typeface="Calibri" pitchFamily="34" charset="0"/>
                  <a:cs typeface="Calibri" pitchFamily="34" charset="0"/>
                </a:endParaRPr>
              </a:p>
            </p:txBody>
          </p:sp>
          <p:sp>
            <p:nvSpPr>
              <p:cNvPr id="3441"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2"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3"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4"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5"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6"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7"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8"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49"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50"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51"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sp>
            <p:nvSpPr>
              <p:cNvPr id="3452"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endParaRPr lang="en-US">
                  <a:latin typeface="Calibri" pitchFamily="34" charset="0"/>
                  <a:cs typeface="Calibri" pitchFamily="34" charset="0"/>
                </a:endParaRPr>
              </a:p>
            </p:txBody>
          </p:sp>
        </p:grpSp>
      </p:grpSp>
      <p:grpSp>
        <p:nvGrpSpPr>
          <p:cNvPr id="3453" name="Group 3452"/>
          <p:cNvGrpSpPr/>
          <p:nvPr/>
        </p:nvGrpSpPr>
        <p:grpSpPr>
          <a:xfrm>
            <a:off x="4919134" y="4267200"/>
            <a:ext cx="914400" cy="914400"/>
            <a:chOff x="651934" y="4495800"/>
            <a:chExt cx="914400" cy="914400"/>
          </a:xfrm>
        </p:grpSpPr>
        <p:pic>
          <p:nvPicPr>
            <p:cNvPr id="345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51934" y="4495800"/>
              <a:ext cx="914400" cy="914400"/>
            </a:xfrm>
            <a:prstGeom prst="rect">
              <a:avLst/>
            </a:prstGeom>
            <a:noFill/>
          </p:spPr>
        </p:pic>
        <p:grpSp>
          <p:nvGrpSpPr>
            <p:cNvPr id="3455" name="Group 825"/>
            <p:cNvGrpSpPr>
              <a:grpSpLocks/>
            </p:cNvGrpSpPr>
            <p:nvPr/>
          </p:nvGrpSpPr>
          <p:grpSpPr bwMode="auto">
            <a:xfrm>
              <a:off x="787401" y="4902201"/>
              <a:ext cx="644526" cy="319087"/>
              <a:chOff x="496" y="2962"/>
              <a:chExt cx="406" cy="201"/>
            </a:xfrm>
          </p:grpSpPr>
          <p:sp>
            <p:nvSpPr>
              <p:cNvPr id="3456" name="Rectangle 17"/>
              <p:cNvSpPr>
                <a:spLocks noChangeArrowheads="1"/>
              </p:cNvSpPr>
              <p:nvPr/>
            </p:nvSpPr>
            <p:spPr bwMode="gray">
              <a:xfrm>
                <a:off x="496" y="2962"/>
                <a:ext cx="203" cy="101"/>
              </a:xfrm>
              <a:prstGeom prst="rect">
                <a:avLst/>
              </a:prstGeom>
              <a:solidFill>
                <a:srgbClr val="FF2D91"/>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3457" name="Rectangle 18"/>
              <p:cNvSpPr>
                <a:spLocks noChangeArrowheads="1"/>
              </p:cNvSpPr>
              <p:nvPr/>
            </p:nvSpPr>
            <p:spPr bwMode="gray">
              <a:xfrm>
                <a:off x="699" y="2962"/>
                <a:ext cx="203" cy="101"/>
              </a:xfrm>
              <a:prstGeom prst="rect">
                <a:avLst/>
              </a:prstGeom>
              <a:solidFill>
                <a:srgbClr val="96FF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3458" name="Rectangle 19"/>
              <p:cNvSpPr>
                <a:spLocks noChangeArrowheads="1"/>
              </p:cNvSpPr>
              <p:nvPr/>
            </p:nvSpPr>
            <p:spPr bwMode="gray">
              <a:xfrm>
                <a:off x="496" y="3062"/>
                <a:ext cx="203" cy="101"/>
              </a:xfrm>
              <a:prstGeom prst="rect">
                <a:avLst/>
              </a:prstGeom>
              <a:solidFill>
                <a:srgbClr val="FF91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3459" name="Rectangle 20"/>
              <p:cNvSpPr>
                <a:spLocks noChangeArrowheads="1"/>
              </p:cNvSpPr>
              <p:nvPr/>
            </p:nvSpPr>
            <p:spPr bwMode="gray">
              <a:xfrm>
                <a:off x="699" y="3062"/>
                <a:ext cx="203" cy="101"/>
              </a:xfrm>
              <a:prstGeom prst="rect">
                <a:avLst/>
              </a:prstGeom>
              <a:solidFill>
                <a:srgbClr val="2DBEFF"/>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grpSp>
      </p:grpSp>
      <p:grpSp>
        <p:nvGrpSpPr>
          <p:cNvPr id="3460" name="Group 3459"/>
          <p:cNvGrpSpPr/>
          <p:nvPr/>
        </p:nvGrpSpPr>
        <p:grpSpPr>
          <a:xfrm>
            <a:off x="7848600" y="4284133"/>
            <a:ext cx="914400" cy="914400"/>
            <a:chOff x="651934" y="4495800"/>
            <a:chExt cx="914400" cy="914400"/>
          </a:xfrm>
        </p:grpSpPr>
        <p:pic>
          <p:nvPicPr>
            <p:cNvPr id="3461"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51934" y="4495800"/>
              <a:ext cx="914400" cy="914400"/>
            </a:xfrm>
            <a:prstGeom prst="rect">
              <a:avLst/>
            </a:prstGeom>
            <a:noFill/>
          </p:spPr>
        </p:pic>
        <p:grpSp>
          <p:nvGrpSpPr>
            <p:cNvPr id="3462" name="Group 825"/>
            <p:cNvGrpSpPr>
              <a:grpSpLocks/>
            </p:cNvGrpSpPr>
            <p:nvPr/>
          </p:nvGrpSpPr>
          <p:grpSpPr bwMode="auto">
            <a:xfrm>
              <a:off x="787401" y="4902201"/>
              <a:ext cx="644526" cy="319087"/>
              <a:chOff x="496" y="2962"/>
              <a:chExt cx="406" cy="201"/>
            </a:xfrm>
          </p:grpSpPr>
          <p:sp>
            <p:nvSpPr>
              <p:cNvPr id="3463" name="Rectangle 17"/>
              <p:cNvSpPr>
                <a:spLocks noChangeArrowheads="1"/>
              </p:cNvSpPr>
              <p:nvPr/>
            </p:nvSpPr>
            <p:spPr bwMode="gray">
              <a:xfrm>
                <a:off x="496" y="2962"/>
                <a:ext cx="203" cy="101"/>
              </a:xfrm>
              <a:prstGeom prst="rect">
                <a:avLst/>
              </a:prstGeom>
              <a:solidFill>
                <a:srgbClr val="FF2D91"/>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3464" name="Rectangle 18"/>
              <p:cNvSpPr>
                <a:spLocks noChangeArrowheads="1"/>
              </p:cNvSpPr>
              <p:nvPr/>
            </p:nvSpPr>
            <p:spPr bwMode="gray">
              <a:xfrm>
                <a:off x="699" y="2962"/>
                <a:ext cx="203" cy="101"/>
              </a:xfrm>
              <a:prstGeom prst="rect">
                <a:avLst/>
              </a:prstGeom>
              <a:solidFill>
                <a:srgbClr val="96FF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3465" name="Rectangle 19"/>
              <p:cNvSpPr>
                <a:spLocks noChangeArrowheads="1"/>
              </p:cNvSpPr>
              <p:nvPr/>
            </p:nvSpPr>
            <p:spPr bwMode="gray">
              <a:xfrm>
                <a:off x="496" y="3062"/>
                <a:ext cx="203" cy="101"/>
              </a:xfrm>
              <a:prstGeom prst="rect">
                <a:avLst/>
              </a:prstGeom>
              <a:solidFill>
                <a:srgbClr val="FF912D"/>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sp>
            <p:nvSpPr>
              <p:cNvPr id="3466" name="Rectangle 20"/>
              <p:cNvSpPr>
                <a:spLocks noChangeArrowheads="1"/>
              </p:cNvSpPr>
              <p:nvPr/>
            </p:nvSpPr>
            <p:spPr bwMode="gray">
              <a:xfrm>
                <a:off x="699" y="3062"/>
                <a:ext cx="203" cy="101"/>
              </a:xfrm>
              <a:prstGeom prst="rect">
                <a:avLst/>
              </a:prstGeom>
              <a:solidFill>
                <a:srgbClr val="2DBEFF"/>
              </a:solidFill>
              <a:ln w="6350" algn="ctr">
                <a:solidFill>
                  <a:srgbClr val="000A18"/>
                </a:solidFill>
                <a:miter lim="800000"/>
                <a:headEnd/>
                <a:tailEnd type="none" w="lg" len="lg"/>
              </a:ln>
              <a:effectLst/>
            </p:spPr>
            <p:txBody>
              <a:bodyPr wrap="none" anchor="ctr"/>
              <a:lstStyle/>
              <a:p>
                <a:endParaRPr lang="en-US">
                  <a:latin typeface="Calibri" pitchFamily="34" charset="0"/>
                  <a:cs typeface="Calibri" pitchFamily="34" charset="0"/>
                </a:endParaRPr>
              </a:p>
            </p:txBody>
          </p:sp>
        </p:grpSp>
      </p:grpSp>
      <p:sp>
        <p:nvSpPr>
          <p:cNvPr id="6" name="TextBox 5">
            <a:extLst>
              <a:ext uri="{FF2B5EF4-FFF2-40B4-BE49-F238E27FC236}">
                <a16:creationId xmlns:a16="http://schemas.microsoft.com/office/drawing/2014/main" id="{43BFC96C-61DE-06D5-FA53-F73C6712393E}"/>
              </a:ext>
            </a:extLst>
          </p:cNvPr>
          <p:cNvSpPr txBox="1"/>
          <p:nvPr/>
        </p:nvSpPr>
        <p:spPr>
          <a:xfrm>
            <a:off x="7138987" y="1543722"/>
            <a:ext cx="609599" cy="276999"/>
          </a:xfrm>
          <a:prstGeom prst="rect">
            <a:avLst/>
          </a:prstGeom>
          <a:noFill/>
        </p:spPr>
        <p:txBody>
          <a:bodyPr wrap="square">
            <a:spAutoFit/>
          </a:bodyPr>
          <a:lstStyle/>
          <a:p>
            <a:r>
              <a:rPr lang="en-IN" sz="1200" b="1" i="0" u="none" strike="noStrike" baseline="0" dirty="0">
                <a:solidFill>
                  <a:srgbClr val="0000FF"/>
                </a:solidFill>
                <a:latin typeface="Verdana-Bold"/>
              </a:rPr>
              <a:t>Data</a:t>
            </a:r>
            <a:endParaRPr lang="en-IN" sz="1200" dirty="0">
              <a:solidFill>
                <a:srgbClr val="0000FF"/>
              </a:solidFill>
            </a:endParaRPr>
          </a:p>
        </p:txBody>
      </p:sp>
      <p:sp>
        <p:nvSpPr>
          <p:cNvPr id="7" name="TextBox 6">
            <a:extLst>
              <a:ext uri="{FF2B5EF4-FFF2-40B4-BE49-F238E27FC236}">
                <a16:creationId xmlns:a16="http://schemas.microsoft.com/office/drawing/2014/main" id="{2CD0FB2B-5593-F89B-DBF6-C49A62FAFE82}"/>
              </a:ext>
            </a:extLst>
          </p:cNvPr>
          <p:cNvSpPr txBox="1"/>
          <p:nvPr/>
        </p:nvSpPr>
        <p:spPr>
          <a:xfrm>
            <a:off x="7138987" y="3231763"/>
            <a:ext cx="833438" cy="276999"/>
          </a:xfrm>
          <a:prstGeom prst="rect">
            <a:avLst/>
          </a:prstGeom>
          <a:noFill/>
        </p:spPr>
        <p:txBody>
          <a:bodyPr wrap="square">
            <a:spAutoFit/>
          </a:bodyPr>
          <a:lstStyle/>
          <a:p>
            <a:r>
              <a:rPr lang="en-IN" sz="1200" b="1" i="0" u="none" strike="noStrike" baseline="0" dirty="0">
                <a:solidFill>
                  <a:srgbClr val="0000FF"/>
                </a:solidFill>
                <a:latin typeface="Verdana-Bold"/>
              </a:rPr>
              <a:t>Data</a:t>
            </a:r>
            <a:endParaRPr lang="en-IN" sz="1200" dirty="0">
              <a:solidFill>
                <a:srgbClr val="0000FF"/>
              </a:solidFill>
            </a:endParaRPr>
          </a:p>
        </p:txBody>
      </p:sp>
      <p:sp>
        <p:nvSpPr>
          <p:cNvPr id="16" name="TextBox 15">
            <a:extLst>
              <a:ext uri="{FF2B5EF4-FFF2-40B4-BE49-F238E27FC236}">
                <a16:creationId xmlns:a16="http://schemas.microsoft.com/office/drawing/2014/main" id="{E7949BF0-874F-2A16-AFDC-247192EA8365}"/>
              </a:ext>
            </a:extLst>
          </p:cNvPr>
          <p:cNvSpPr txBox="1"/>
          <p:nvPr/>
        </p:nvSpPr>
        <p:spPr>
          <a:xfrm>
            <a:off x="7094010" y="2471757"/>
            <a:ext cx="609598" cy="276999"/>
          </a:xfrm>
          <a:prstGeom prst="rect">
            <a:avLst/>
          </a:prstGeom>
          <a:noFill/>
        </p:spPr>
        <p:txBody>
          <a:bodyPr wrap="square">
            <a:spAutoFit/>
          </a:bodyPr>
          <a:lstStyle/>
          <a:p>
            <a:r>
              <a:rPr lang="en-IN" sz="1200" b="1" i="0" u="none" strike="noStrike" baseline="0" dirty="0">
                <a:solidFill>
                  <a:srgbClr val="0000FF"/>
                </a:solidFill>
                <a:latin typeface="Verdana-Bold"/>
              </a:rPr>
              <a:t>Data</a:t>
            </a:r>
            <a:endParaRPr lang="en-IN" sz="1200" dirty="0">
              <a:solidFill>
                <a:srgbClr val="0000FF"/>
              </a:solidFill>
            </a:endParaRPr>
          </a:p>
        </p:txBody>
      </p:sp>
      <p:sp>
        <p:nvSpPr>
          <p:cNvPr id="17" name="TextBox 16">
            <a:extLst>
              <a:ext uri="{FF2B5EF4-FFF2-40B4-BE49-F238E27FC236}">
                <a16:creationId xmlns:a16="http://schemas.microsoft.com/office/drawing/2014/main" id="{C4876293-B466-D0D6-08B2-87187BE677DF}"/>
              </a:ext>
            </a:extLst>
          </p:cNvPr>
          <p:cNvSpPr txBox="1"/>
          <p:nvPr/>
        </p:nvSpPr>
        <p:spPr>
          <a:xfrm>
            <a:off x="7209896" y="4288783"/>
            <a:ext cx="950384" cy="276999"/>
          </a:xfrm>
          <a:prstGeom prst="rect">
            <a:avLst/>
          </a:prstGeom>
          <a:noFill/>
        </p:spPr>
        <p:txBody>
          <a:bodyPr wrap="square">
            <a:spAutoFit/>
          </a:bodyPr>
          <a:lstStyle/>
          <a:p>
            <a:r>
              <a:rPr lang="en-IN" sz="1200" b="1" i="0" u="none" strike="noStrike" baseline="0" dirty="0">
                <a:solidFill>
                  <a:srgbClr val="0000FF"/>
                </a:solidFill>
                <a:latin typeface="Verdana-Bold"/>
              </a:rPr>
              <a:t>Log</a:t>
            </a:r>
            <a:endParaRPr lang="en-IN" sz="1200" dirty="0">
              <a:solidFill>
                <a:srgbClr val="0000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914400" y="1676400"/>
            <a:ext cx="7467600" cy="2667000"/>
          </a:xfrm>
        </p:spPr>
        <p:txBody>
          <a:bodyPr>
            <a:normAutofit/>
          </a:bodyPr>
          <a:lstStyle/>
          <a:p>
            <a:pPr marL="285750" indent="-285750" algn="just">
              <a:buFont typeface="Arial" panose="020B0604020202020204" pitchFamily="34" charset="0"/>
              <a:buChar char="•"/>
            </a:pPr>
            <a:r>
              <a:rPr lang="en-GB" sz="1400" dirty="0">
                <a:latin typeface="Book Antiqua" panose="02040602050305030304" pitchFamily="18" charset="0"/>
              </a:rPr>
              <a:t>Host-based, storage array-based, and network-based replications are the major technologies used for local replication. </a:t>
            </a:r>
          </a:p>
          <a:p>
            <a:pPr marL="285750" indent="-285750" algn="just">
              <a:buFont typeface="Arial" panose="020B0604020202020204" pitchFamily="34" charset="0"/>
              <a:buChar char="•"/>
            </a:pPr>
            <a:r>
              <a:rPr lang="en-GB" sz="1400" dirty="0">
                <a:latin typeface="Book Antiqua" panose="02040602050305030304" pitchFamily="18" charset="0"/>
              </a:rPr>
              <a:t>File system replication and LVM-based replication are examples of host-based local replication. </a:t>
            </a:r>
          </a:p>
          <a:p>
            <a:pPr marL="285750" indent="-285750" algn="just">
              <a:buFont typeface="Arial" panose="020B0604020202020204" pitchFamily="34" charset="0"/>
              <a:buChar char="•"/>
            </a:pPr>
            <a:r>
              <a:rPr lang="en-GB" sz="1400" dirty="0">
                <a:latin typeface="Book Antiqua" panose="02040602050305030304" pitchFamily="18" charset="0"/>
              </a:rPr>
              <a:t>Storage array-based replication can be implemented with distinct solutions, namely, full-volume mirroring, pointer based full-volume replication, and pointer based virtual replication. </a:t>
            </a:r>
          </a:p>
          <a:p>
            <a:pPr marL="285750" indent="-285750" algn="just">
              <a:buFont typeface="Arial" panose="020B0604020202020204" pitchFamily="34" charset="0"/>
              <a:buChar char="•"/>
            </a:pPr>
            <a:r>
              <a:rPr lang="en-GB" sz="1400" dirty="0">
                <a:latin typeface="Book Antiqua" panose="02040602050305030304" pitchFamily="18" charset="0"/>
              </a:rPr>
              <a:t>Continuous data protection (CDP) is an example of network based </a:t>
            </a:r>
            <a:r>
              <a:rPr lang="en-IN" sz="1400" dirty="0">
                <a:latin typeface="Book Antiqua" panose="02040602050305030304" pitchFamily="18" charset="0"/>
              </a:rPr>
              <a:t>replication.</a:t>
            </a:r>
            <a:endParaRPr lang="en-US" sz="1400" dirty="0">
              <a:solidFill>
                <a:schemeClr val="bg2">
                  <a:lumMod val="75000"/>
                </a:schemeClr>
              </a:solidFill>
              <a:latin typeface="Book Antiqua" panose="02040602050305030304" pitchFamily="18" charset="0"/>
            </a:endParaRPr>
          </a:p>
          <a:p>
            <a:pPr marL="976312" lvl="2" indent="-285750" algn="just">
              <a:buClr>
                <a:srgbClr val="92D050"/>
              </a:buClr>
              <a:buSzPct val="110000"/>
              <a:buFont typeface="Arial" panose="020B0604020202020204" pitchFamily="34" charset="0"/>
              <a:buChar char="•"/>
              <a:defRPr/>
            </a:pPr>
            <a:endParaRPr lang="en-US" sz="1400" dirty="0">
              <a:solidFill>
                <a:schemeClr val="bg2">
                  <a:lumMod val="75000"/>
                </a:schemeClr>
              </a:solidFill>
              <a:latin typeface="Book Antiqua" panose="02040602050305030304" pitchFamily="18" charset="0"/>
            </a:endParaRPr>
          </a:p>
          <a:p>
            <a:pPr marL="519112" lvl="1" indent="-285750" algn="just">
              <a:buClr>
                <a:srgbClr val="92D050"/>
              </a:buClr>
              <a:buSzPct val="110000"/>
              <a:buFont typeface="Arial" panose="020B0604020202020204" pitchFamily="34" charset="0"/>
              <a:buChar char="•"/>
              <a:defRPr/>
            </a:pPr>
            <a:endParaRPr lang="en-US" sz="1400" dirty="0">
              <a:solidFill>
                <a:schemeClr val="bg2">
                  <a:lumMod val="75000"/>
                </a:schemeClr>
              </a:solidFill>
              <a:latin typeface="Book Antiqua" panose="02040602050305030304" pitchFamily="18" charset="0"/>
            </a:endParaRPr>
          </a:p>
          <a:p>
            <a:pPr lvl="1" indent="-223838" algn="just">
              <a:buClr>
                <a:srgbClr val="92D050"/>
              </a:buClr>
              <a:buSzPct val="110000"/>
              <a:buFont typeface="Arial" pitchFamily="34" charset="0"/>
              <a:buChar char="•"/>
              <a:defRPr/>
            </a:pPr>
            <a:endParaRPr lang="en-US" sz="1400" dirty="0">
              <a:solidFill>
                <a:schemeClr val="bg2">
                  <a:lumMod val="75000"/>
                </a:schemeClr>
              </a:solidFill>
              <a:latin typeface="Book Antiqua" panose="02040602050305030304" pitchFamily="18" charset="0"/>
            </a:endParaRPr>
          </a:p>
        </p:txBody>
      </p:sp>
      <p:sp>
        <p:nvSpPr>
          <p:cNvPr id="23556" name="Content Placeholder 7"/>
          <p:cNvSpPr>
            <a:spLocks noGrp="1"/>
          </p:cNvSpPr>
          <p:nvPr>
            <p:ph sz="quarter" idx="13"/>
          </p:nvPr>
        </p:nvSpPr>
        <p:spPr>
          <a:xfrm>
            <a:off x="914400" y="990600"/>
            <a:ext cx="7772400" cy="457200"/>
          </a:xfrm>
        </p:spPr>
        <p:txBody>
          <a:bodyPr/>
          <a:lstStyle/>
          <a:p>
            <a:pPr algn="ctr"/>
            <a:r>
              <a:rPr lang="en-US" sz="2100" dirty="0">
                <a:solidFill>
                  <a:srgbClr val="C00000"/>
                </a:solidFill>
                <a:latin typeface="Book Antiqua" panose="02040602050305030304" pitchFamily="18" charset="0"/>
              </a:rPr>
              <a:t> Local Replication Technologies</a:t>
            </a:r>
          </a:p>
        </p:txBody>
      </p:sp>
      <p:sp>
        <p:nvSpPr>
          <p:cNvPr id="9" name="Footer Placeholder 8"/>
          <p:cNvSpPr>
            <a:spLocks noGrp="1"/>
          </p:cNvSpPr>
          <p:nvPr>
            <p:ph type="ftr" sz="quarter" idx="14"/>
          </p:nvPr>
        </p:nvSpPr>
        <p:spPr/>
        <p:txBody>
          <a:bodyPr/>
          <a:lstStyle/>
          <a:p>
            <a:pPr>
              <a:defRPr/>
            </a:pPr>
            <a:r>
              <a:rPr lang="en-US"/>
              <a:t>Module 11: Local Replication</a:t>
            </a:r>
            <a:endParaRPr lang="en-US" dirty="0"/>
          </a:p>
        </p:txBody>
      </p:sp>
      <p:sp>
        <p:nvSpPr>
          <p:cNvPr id="8" name="Slide Number Placeholder 7"/>
          <p:cNvSpPr>
            <a:spLocks noGrp="1"/>
          </p:cNvSpPr>
          <p:nvPr>
            <p:ph type="sldNum" sz="quarter" idx="15"/>
          </p:nvPr>
        </p:nvSpPr>
        <p:spPr/>
        <p:txBody>
          <a:bodyPr/>
          <a:lstStyle/>
          <a:p>
            <a:pPr>
              <a:defRPr/>
            </a:pPr>
            <a:fld id="{E9C12BD9-86B3-4048-86CE-AC10D4E84307}" type="slidenum">
              <a:rPr lang="en-US" smtClean="0"/>
              <a:pPr>
                <a:defRPr/>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43BF0-E2FA-8AAA-7861-AE484941E8B1}"/>
            </a:ext>
          </a:extLst>
        </p:cNvPr>
        <p:cNvGrpSpPr/>
        <p:nvPr/>
      </p:nvGrpSpPr>
      <p:grpSpPr>
        <a:xfrm>
          <a:off x="0" y="0"/>
          <a:ext cx="0" cy="0"/>
          <a:chOff x="0" y="0"/>
          <a:chExt cx="0" cy="0"/>
        </a:xfrm>
      </p:grpSpPr>
      <p:sp>
        <p:nvSpPr>
          <p:cNvPr id="23556" name="Content Placeholder 7">
            <a:extLst>
              <a:ext uri="{FF2B5EF4-FFF2-40B4-BE49-F238E27FC236}">
                <a16:creationId xmlns:a16="http://schemas.microsoft.com/office/drawing/2014/main" id="{2C3E0627-4655-0058-F083-DE20008D7D34}"/>
              </a:ext>
            </a:extLst>
          </p:cNvPr>
          <p:cNvSpPr>
            <a:spLocks noGrp="1"/>
          </p:cNvSpPr>
          <p:nvPr>
            <p:ph sz="quarter" idx="13"/>
          </p:nvPr>
        </p:nvSpPr>
        <p:spPr>
          <a:xfrm>
            <a:off x="685800" y="433391"/>
            <a:ext cx="7772400" cy="457200"/>
          </a:xfrm>
        </p:spPr>
        <p:txBody>
          <a:bodyPr/>
          <a:lstStyle/>
          <a:p>
            <a:pPr algn="ctr"/>
            <a:r>
              <a:rPr lang="en-US" sz="2100" dirty="0">
                <a:solidFill>
                  <a:srgbClr val="C00000"/>
                </a:solidFill>
                <a:latin typeface="Book Antiqua" panose="02040602050305030304" pitchFamily="18" charset="0"/>
              </a:rPr>
              <a:t> </a:t>
            </a:r>
            <a:r>
              <a:rPr lang="en-IN" sz="2100" b="1" dirty="0">
                <a:solidFill>
                  <a:srgbClr val="C00000"/>
                </a:solidFill>
                <a:latin typeface="Book Antiqua" panose="02040602050305030304" pitchFamily="18" charset="0"/>
              </a:rPr>
              <a:t>Host-Based Local Replication</a:t>
            </a:r>
          </a:p>
        </p:txBody>
      </p:sp>
      <p:sp>
        <p:nvSpPr>
          <p:cNvPr id="9" name="Footer Placeholder 8">
            <a:extLst>
              <a:ext uri="{FF2B5EF4-FFF2-40B4-BE49-F238E27FC236}">
                <a16:creationId xmlns:a16="http://schemas.microsoft.com/office/drawing/2014/main" id="{8DC14C41-F7CB-C234-2237-15ECC226582C}"/>
              </a:ext>
            </a:extLst>
          </p:cNvPr>
          <p:cNvSpPr>
            <a:spLocks noGrp="1"/>
          </p:cNvSpPr>
          <p:nvPr>
            <p:ph type="ftr" sz="quarter" idx="14"/>
          </p:nvPr>
        </p:nvSpPr>
        <p:spPr/>
        <p:txBody>
          <a:bodyPr/>
          <a:lstStyle/>
          <a:p>
            <a:pPr>
              <a:defRPr/>
            </a:pPr>
            <a:r>
              <a:rPr lang="en-US"/>
              <a:t>Module 11: Local Replication</a:t>
            </a:r>
            <a:endParaRPr lang="en-US" dirty="0"/>
          </a:p>
        </p:txBody>
      </p:sp>
      <p:sp>
        <p:nvSpPr>
          <p:cNvPr id="8" name="Slide Number Placeholder 7">
            <a:extLst>
              <a:ext uri="{FF2B5EF4-FFF2-40B4-BE49-F238E27FC236}">
                <a16:creationId xmlns:a16="http://schemas.microsoft.com/office/drawing/2014/main" id="{33B44493-2171-D051-2141-CBCF035F3F7F}"/>
              </a:ext>
            </a:extLst>
          </p:cNvPr>
          <p:cNvSpPr>
            <a:spLocks noGrp="1"/>
          </p:cNvSpPr>
          <p:nvPr>
            <p:ph type="sldNum" sz="quarter" idx="15"/>
          </p:nvPr>
        </p:nvSpPr>
        <p:spPr/>
        <p:txBody>
          <a:bodyPr/>
          <a:lstStyle/>
          <a:p>
            <a:pPr>
              <a:defRPr/>
            </a:pPr>
            <a:fld id="{E9C12BD9-86B3-4048-86CE-AC10D4E84307}" type="slidenum">
              <a:rPr lang="en-US" smtClean="0"/>
              <a:pPr>
                <a:defRPr/>
              </a:pPr>
              <a:t>58</a:t>
            </a:fld>
            <a:endParaRPr lang="en-US"/>
          </a:p>
        </p:txBody>
      </p:sp>
      <p:sp>
        <p:nvSpPr>
          <p:cNvPr id="5" name="TextBox 4">
            <a:extLst>
              <a:ext uri="{FF2B5EF4-FFF2-40B4-BE49-F238E27FC236}">
                <a16:creationId xmlns:a16="http://schemas.microsoft.com/office/drawing/2014/main" id="{22C1FA5D-6F2D-C0DE-5D45-F4374FC9C1F9}"/>
              </a:ext>
            </a:extLst>
          </p:cNvPr>
          <p:cNvSpPr txBox="1"/>
          <p:nvPr/>
        </p:nvSpPr>
        <p:spPr>
          <a:xfrm>
            <a:off x="571500" y="1066800"/>
            <a:ext cx="8001000" cy="4329647"/>
          </a:xfrm>
          <a:prstGeom prst="rect">
            <a:avLst/>
          </a:prstGeom>
          <a:noFill/>
        </p:spPr>
        <p:txBody>
          <a:bodyPr wrap="square">
            <a:spAutoFit/>
          </a:bodyPr>
          <a:lstStyle/>
          <a:p>
            <a:pPr algn="l">
              <a:lnSpc>
                <a:spcPct val="150000"/>
              </a:lnSpc>
            </a:pPr>
            <a:r>
              <a:rPr lang="en-IN" sz="1700" b="1" dirty="0">
                <a:solidFill>
                  <a:srgbClr val="C00000"/>
                </a:solidFill>
                <a:latin typeface="Book Antiqua" panose="02040602050305030304" pitchFamily="18" charset="0"/>
              </a:rPr>
              <a:t>LVM-Based Replication</a:t>
            </a:r>
          </a:p>
          <a:p>
            <a:pPr marL="285750" indent="-285750" algn="just">
              <a:lnSpc>
                <a:spcPct val="150000"/>
              </a:lnSpc>
              <a:buFont typeface="Arial" panose="020B0604020202020204" pitchFamily="34" charset="0"/>
              <a:buChar char="•"/>
            </a:pPr>
            <a:r>
              <a:rPr lang="en-GB" sz="1400" b="0" i="0" u="none" strike="noStrike" baseline="0" dirty="0">
                <a:latin typeface="Palatino-Roman"/>
              </a:rPr>
              <a:t>In </a:t>
            </a:r>
            <a:r>
              <a:rPr lang="en-GB" sz="1400" b="0" i="1" u="none" strike="noStrike" baseline="0" dirty="0">
                <a:latin typeface="Palatino-Italic"/>
              </a:rPr>
              <a:t>LVM-based replication</a:t>
            </a:r>
            <a:r>
              <a:rPr lang="en-GB" sz="1400" b="0" i="0" u="none" strike="noStrike" baseline="0" dirty="0">
                <a:latin typeface="Palatino-Roman"/>
              </a:rPr>
              <a:t>, the logical volume manager is responsible for creating and controlling the host-level logical volumes. </a:t>
            </a:r>
          </a:p>
          <a:p>
            <a:pPr marL="285750" indent="-285750" algn="just">
              <a:lnSpc>
                <a:spcPct val="150000"/>
              </a:lnSpc>
              <a:buFont typeface="Arial" panose="020B0604020202020204" pitchFamily="34" charset="0"/>
              <a:buChar char="•"/>
            </a:pPr>
            <a:r>
              <a:rPr lang="en-GB" sz="1400" b="0" i="0" u="none" strike="noStrike" baseline="0" dirty="0">
                <a:latin typeface="Palatino-Roman"/>
              </a:rPr>
              <a:t>An LVM has three components: </a:t>
            </a:r>
            <a:r>
              <a:rPr lang="en-IN" sz="1400" b="0" i="0" u="none" strike="noStrike" baseline="0" dirty="0">
                <a:latin typeface="Palatino-Roman"/>
              </a:rPr>
              <a:t>physical volumes (physical disk), volume groups, and logical volumes.</a:t>
            </a:r>
          </a:p>
          <a:p>
            <a:pPr marL="285750" indent="-285750" algn="just">
              <a:lnSpc>
                <a:spcPct val="150000"/>
              </a:lnSpc>
              <a:buFont typeface="Arial" panose="020B0604020202020204" pitchFamily="34" charset="0"/>
              <a:buChar char="•"/>
            </a:pPr>
            <a:r>
              <a:rPr lang="en-IN" sz="1400" b="0" i="0" u="none" strike="noStrike" baseline="0" dirty="0">
                <a:latin typeface="Palatino-Roman"/>
              </a:rPr>
              <a:t>A </a:t>
            </a:r>
            <a:r>
              <a:rPr lang="en-IN" sz="1400" b="0" i="1" u="none" strike="noStrike" baseline="0" dirty="0">
                <a:latin typeface="Palatino-Italic"/>
              </a:rPr>
              <a:t>volume </a:t>
            </a:r>
            <a:r>
              <a:rPr lang="en-GB" sz="1400" b="0" i="1" u="none" strike="noStrike" baseline="0" dirty="0">
                <a:latin typeface="Palatino-Italic"/>
              </a:rPr>
              <a:t>group </a:t>
            </a:r>
            <a:r>
              <a:rPr lang="en-GB" sz="1400" b="0" i="0" u="none" strike="noStrike" baseline="0" dirty="0">
                <a:latin typeface="Palatino-Roman"/>
              </a:rPr>
              <a:t>is created by grouping one or more physical volumes. </a:t>
            </a:r>
            <a:r>
              <a:rPr lang="en-GB" sz="1400" b="0" i="1" u="none" strike="noStrike" baseline="0" dirty="0">
                <a:latin typeface="Palatino-Italic"/>
              </a:rPr>
              <a:t>Logical volumes </a:t>
            </a:r>
            <a:r>
              <a:rPr lang="en-GB" sz="1400" b="0" i="0" u="none" strike="noStrike" baseline="0" dirty="0">
                <a:latin typeface="Palatino-Roman"/>
              </a:rPr>
              <a:t>are created within a given volume group.</a:t>
            </a:r>
          </a:p>
          <a:p>
            <a:pPr marL="285750" indent="-285750" algn="l">
              <a:lnSpc>
                <a:spcPct val="150000"/>
              </a:lnSpc>
              <a:buFont typeface="Arial" panose="020B0604020202020204" pitchFamily="34" charset="0"/>
              <a:buChar char="•"/>
            </a:pPr>
            <a:r>
              <a:rPr lang="en-GB" sz="1400" b="0" i="0" u="none" strike="noStrike" baseline="0" dirty="0">
                <a:latin typeface="Palatino-Roman"/>
              </a:rPr>
              <a:t>A volume group can have multiple </a:t>
            </a:r>
            <a:r>
              <a:rPr lang="en-IN" sz="1400" b="0" i="0" u="none" strike="noStrike" baseline="0" dirty="0">
                <a:latin typeface="Palatino-Roman"/>
              </a:rPr>
              <a:t>logical volumes. </a:t>
            </a:r>
          </a:p>
          <a:p>
            <a:pPr marL="285750" indent="-285750" algn="l">
              <a:lnSpc>
                <a:spcPct val="150000"/>
              </a:lnSpc>
              <a:buFont typeface="Arial" panose="020B0604020202020204" pitchFamily="34" charset="0"/>
              <a:buChar char="•"/>
            </a:pPr>
            <a:r>
              <a:rPr lang="en-GB" sz="1400" b="0" i="0" u="none" strike="noStrike" baseline="0" dirty="0">
                <a:latin typeface="Palatino-Roman"/>
              </a:rPr>
              <a:t>In LVM-based replication, each </a:t>
            </a:r>
            <a:r>
              <a:rPr lang="en-GB" sz="1400" b="0" i="1" u="none" strike="noStrike" baseline="0" dirty="0">
                <a:latin typeface="Palatino-Italic"/>
              </a:rPr>
              <a:t>logical block </a:t>
            </a:r>
            <a:r>
              <a:rPr lang="en-GB" sz="1400" b="0" i="0" u="none" strike="noStrike" baseline="0" dirty="0">
                <a:latin typeface="Palatino-Roman"/>
              </a:rPr>
              <a:t>in a logical volume is mapped to two physical blocks on two different physical volumes, as shown in Figure 11-5. </a:t>
            </a:r>
          </a:p>
          <a:p>
            <a:pPr marL="285750" indent="-285750" algn="l">
              <a:lnSpc>
                <a:spcPct val="150000"/>
              </a:lnSpc>
              <a:buFont typeface="Arial" panose="020B0604020202020204" pitchFamily="34" charset="0"/>
              <a:buChar char="•"/>
            </a:pPr>
            <a:r>
              <a:rPr lang="en-GB" sz="1400" b="0" i="0" u="none" strike="noStrike" baseline="0" dirty="0">
                <a:latin typeface="Palatino-Roman"/>
              </a:rPr>
              <a:t>An application write to a logical volume is written to the two physical volumes by the LVM device driver. This is also known as </a:t>
            </a:r>
            <a:r>
              <a:rPr lang="en-GB" sz="1400" b="0" i="1" u="none" strike="noStrike" baseline="0" dirty="0">
                <a:latin typeface="Palatino-Italic"/>
              </a:rPr>
              <a:t>LVM mirroring</a:t>
            </a:r>
            <a:r>
              <a:rPr lang="en-GB" sz="1400" b="0" i="0" u="none" strike="noStrike" baseline="0" dirty="0">
                <a:latin typeface="Palatino-Roman"/>
              </a:rPr>
              <a:t>. </a:t>
            </a:r>
          </a:p>
          <a:p>
            <a:pPr marL="285750" indent="-285750" algn="l">
              <a:lnSpc>
                <a:spcPct val="150000"/>
              </a:lnSpc>
              <a:buFont typeface="Arial" panose="020B0604020202020204" pitchFamily="34" charset="0"/>
              <a:buChar char="•"/>
            </a:pPr>
            <a:r>
              <a:rPr lang="en-GB" sz="1400" b="0" i="0" u="none" strike="noStrike" baseline="0" dirty="0">
                <a:latin typeface="Palatino-Roman"/>
              </a:rPr>
              <a:t>Mirrors can be split, and the data contained therein can be independently </a:t>
            </a:r>
            <a:r>
              <a:rPr lang="en-IN" sz="1400" b="0" i="0" u="none" strike="noStrike" baseline="0" dirty="0">
                <a:latin typeface="Palatino-Roman"/>
              </a:rPr>
              <a:t>accessed.</a:t>
            </a:r>
            <a:endParaRPr lang="en-IN" sz="1400" dirty="0"/>
          </a:p>
        </p:txBody>
      </p:sp>
    </p:spTree>
    <p:extLst>
      <p:ext uri="{BB962C8B-B14F-4D97-AF65-F5344CB8AC3E}">
        <p14:creationId xmlns:p14="http://schemas.microsoft.com/office/powerpoint/2010/main" val="38104597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2133600" y="1767378"/>
            <a:ext cx="1219200" cy="2818152"/>
          </a:xfrm>
          <a:prstGeom prst="rect">
            <a:avLst/>
          </a:prstGeom>
          <a:noFill/>
        </p:spPr>
      </p:pic>
      <p:sp>
        <p:nvSpPr>
          <p:cNvPr id="9" name="Title 8"/>
          <p:cNvSpPr>
            <a:spLocks noGrp="1"/>
          </p:cNvSpPr>
          <p:nvPr>
            <p:ph type="title"/>
          </p:nvPr>
        </p:nvSpPr>
        <p:spPr/>
        <p:txBody>
          <a:bodyPr/>
          <a:lstStyle/>
          <a:p>
            <a:pPr algn="ctr"/>
            <a:r>
              <a:rPr lang="en-US" sz="2100" dirty="0">
                <a:solidFill>
                  <a:srgbClr val="C00000"/>
                </a:solidFill>
                <a:latin typeface="Book Antiqua" panose="02040602050305030304" pitchFamily="18" charset="0"/>
              </a:rPr>
              <a:t>Host-based Replication: LVM-based Mirroring</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2" name="AutoShape 3"/>
          <p:cNvSpPr>
            <a:spLocks noChangeArrowheads="1"/>
          </p:cNvSpPr>
          <p:nvPr/>
        </p:nvSpPr>
        <p:spPr bwMode="auto">
          <a:xfrm rot="21025006">
            <a:off x="3851515" y="2397125"/>
            <a:ext cx="2705100" cy="725488"/>
          </a:xfrm>
          <a:prstGeom prst="rightArrow">
            <a:avLst>
              <a:gd name="adj1" fmla="val 60176"/>
              <a:gd name="adj2" fmla="val 68290"/>
            </a:avLst>
          </a:prstGeom>
          <a:gradFill rotWithShape="1">
            <a:gsLst>
              <a:gs pos="0">
                <a:srgbClr val="DDDDDD"/>
              </a:gs>
              <a:gs pos="100000">
                <a:srgbClr val="CEB640"/>
              </a:gs>
            </a:gsLst>
            <a:lin ang="0" scaled="1"/>
          </a:gradFill>
          <a:ln w="9525"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 name="AutoShape 4"/>
          <p:cNvSpPr>
            <a:spLocks noChangeArrowheads="1"/>
          </p:cNvSpPr>
          <p:nvPr/>
        </p:nvSpPr>
        <p:spPr bwMode="auto">
          <a:xfrm rot="1013723" flipV="1">
            <a:off x="3899140" y="3265488"/>
            <a:ext cx="2705100" cy="725487"/>
          </a:xfrm>
          <a:prstGeom prst="rightArrow">
            <a:avLst>
              <a:gd name="adj1" fmla="val 60176"/>
              <a:gd name="adj2" fmla="val 68290"/>
            </a:avLst>
          </a:prstGeom>
          <a:gradFill rotWithShape="1">
            <a:gsLst>
              <a:gs pos="0">
                <a:srgbClr val="DDDDDD"/>
              </a:gs>
              <a:gs pos="100000">
                <a:srgbClr val="CEB640"/>
              </a:gs>
            </a:gsLst>
            <a:lin ang="0" scaled="1"/>
          </a:gradFill>
          <a:ln w="9525" algn="ctr">
            <a:no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 name="Text Box 5"/>
          <p:cNvSpPr txBox="1">
            <a:spLocks noChangeArrowheads="1"/>
          </p:cNvSpPr>
          <p:nvPr/>
        </p:nvSpPr>
        <p:spPr bwMode="auto">
          <a:xfrm>
            <a:off x="2552942" y="4737556"/>
            <a:ext cx="342658" cy="215444"/>
          </a:xfrm>
          <a:prstGeom prst="rect">
            <a:avLst/>
          </a:prstGeom>
          <a:noFill/>
          <a:ln w="25400" algn="ctr">
            <a:noFill/>
            <a:miter lim="800000"/>
            <a:headEnd/>
            <a:tailEnd type="none" w="lg" len="med"/>
          </a:ln>
          <a:effectLst/>
        </p:spPr>
        <p:txBody>
          <a:bodyPr wrap="none" lIns="0" tIns="0" rIns="0" bIns="0">
            <a:spAutoFit/>
          </a:bodyPr>
          <a:lstStyle/>
          <a:p>
            <a:pPr marL="0" marR="0" lvl="0" indent="0"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t>Host</a:t>
            </a:r>
          </a:p>
        </p:txBody>
      </p:sp>
      <p:sp>
        <p:nvSpPr>
          <p:cNvPr id="16" name="AutoShape 8"/>
          <p:cNvSpPr>
            <a:spLocks noChangeArrowheads="1"/>
          </p:cNvSpPr>
          <p:nvPr/>
        </p:nvSpPr>
        <p:spPr bwMode="auto">
          <a:xfrm>
            <a:off x="2724271" y="2506663"/>
            <a:ext cx="1695329" cy="1273175"/>
          </a:xfrm>
          <a:prstGeom prst="roundRect">
            <a:avLst>
              <a:gd name="adj" fmla="val 11472"/>
            </a:avLst>
          </a:prstGeom>
          <a:solidFill>
            <a:schemeClr val="accent5">
              <a:lumMod val="60000"/>
              <a:lumOff val="40000"/>
              <a:alpha val="90000"/>
            </a:schemeClr>
          </a:solidFill>
          <a:ln w="19050" algn="ctr">
            <a:solidFill>
              <a:srgbClr val="000000"/>
            </a:solidFill>
            <a:prstDash val="sysDot"/>
            <a:round/>
            <a:headEnd/>
            <a:tailEnd type="none" w="lg" len="me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Rectangle 9"/>
          <p:cNvSpPr>
            <a:spLocks noChangeArrowheads="1"/>
          </p:cNvSpPr>
          <p:nvPr/>
        </p:nvSpPr>
        <p:spPr bwMode="auto">
          <a:xfrm>
            <a:off x="2922587" y="2719388"/>
            <a:ext cx="1320800" cy="847725"/>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Text Box 10"/>
          <p:cNvSpPr txBox="1">
            <a:spLocks noChangeArrowheads="1"/>
          </p:cNvSpPr>
          <p:nvPr/>
        </p:nvSpPr>
        <p:spPr bwMode="auto">
          <a:xfrm>
            <a:off x="3017837" y="2763838"/>
            <a:ext cx="1119153" cy="193899"/>
          </a:xfrm>
          <a:prstGeom prst="rect">
            <a:avLst/>
          </a:prstGeom>
          <a:noFill/>
          <a:ln w="25400" algn="ctr">
            <a:noFill/>
            <a:miter lim="800000"/>
            <a:headEnd/>
            <a:tailEnd type="none" w="lg" len="med"/>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t>Logical Volume</a:t>
            </a:r>
          </a:p>
        </p:txBody>
      </p:sp>
      <p:sp>
        <p:nvSpPr>
          <p:cNvPr id="19" name="Line 11"/>
          <p:cNvSpPr>
            <a:spLocks noChangeShapeType="1"/>
          </p:cNvSpPr>
          <p:nvPr/>
        </p:nvSpPr>
        <p:spPr bwMode="gray">
          <a:xfrm>
            <a:off x="2922587" y="2973388"/>
            <a:ext cx="1322388" cy="0"/>
          </a:xfrm>
          <a:prstGeom prst="line">
            <a:avLst/>
          </a:prstGeom>
          <a:noFill/>
          <a:ln w="1905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 name="Line 12"/>
          <p:cNvSpPr>
            <a:spLocks noChangeShapeType="1"/>
          </p:cNvSpPr>
          <p:nvPr/>
        </p:nvSpPr>
        <p:spPr bwMode="gray">
          <a:xfrm>
            <a:off x="2922587" y="3121025"/>
            <a:ext cx="1322388" cy="0"/>
          </a:xfrm>
          <a:prstGeom prst="line">
            <a:avLst/>
          </a:prstGeom>
          <a:noFill/>
          <a:ln w="127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 name="Line 13"/>
          <p:cNvSpPr>
            <a:spLocks noChangeShapeType="1"/>
          </p:cNvSpPr>
          <p:nvPr/>
        </p:nvSpPr>
        <p:spPr bwMode="gray">
          <a:xfrm>
            <a:off x="2922587" y="3270250"/>
            <a:ext cx="1322388" cy="0"/>
          </a:xfrm>
          <a:prstGeom prst="line">
            <a:avLst/>
          </a:prstGeom>
          <a:noFill/>
          <a:ln w="127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 name="Line 14"/>
          <p:cNvSpPr>
            <a:spLocks noChangeShapeType="1"/>
          </p:cNvSpPr>
          <p:nvPr/>
        </p:nvSpPr>
        <p:spPr bwMode="gray">
          <a:xfrm>
            <a:off x="2922587" y="3417888"/>
            <a:ext cx="1322388" cy="0"/>
          </a:xfrm>
          <a:prstGeom prst="line">
            <a:avLst/>
          </a:prstGeom>
          <a:noFill/>
          <a:ln w="127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3" name="Line 15"/>
          <p:cNvSpPr>
            <a:spLocks noChangeShapeType="1"/>
          </p:cNvSpPr>
          <p:nvPr/>
        </p:nvSpPr>
        <p:spPr bwMode="gray">
          <a:xfrm>
            <a:off x="3186112" y="2973388"/>
            <a:ext cx="0" cy="585787"/>
          </a:xfrm>
          <a:prstGeom prst="line">
            <a:avLst/>
          </a:prstGeom>
          <a:noFill/>
          <a:ln w="127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4" name="Line 16"/>
          <p:cNvSpPr>
            <a:spLocks noChangeShapeType="1"/>
          </p:cNvSpPr>
          <p:nvPr/>
        </p:nvSpPr>
        <p:spPr bwMode="gray">
          <a:xfrm>
            <a:off x="3449637" y="2973388"/>
            <a:ext cx="0" cy="585787"/>
          </a:xfrm>
          <a:prstGeom prst="line">
            <a:avLst/>
          </a:prstGeom>
          <a:noFill/>
          <a:ln w="127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5" name="Line 17"/>
          <p:cNvSpPr>
            <a:spLocks noChangeShapeType="1"/>
          </p:cNvSpPr>
          <p:nvPr/>
        </p:nvSpPr>
        <p:spPr bwMode="gray">
          <a:xfrm>
            <a:off x="3714750" y="2973388"/>
            <a:ext cx="0" cy="585787"/>
          </a:xfrm>
          <a:prstGeom prst="line">
            <a:avLst/>
          </a:prstGeom>
          <a:noFill/>
          <a:ln w="127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Line 18"/>
          <p:cNvSpPr>
            <a:spLocks noChangeShapeType="1"/>
          </p:cNvSpPr>
          <p:nvPr/>
        </p:nvSpPr>
        <p:spPr bwMode="gray">
          <a:xfrm>
            <a:off x="3978275" y="2973388"/>
            <a:ext cx="0" cy="585787"/>
          </a:xfrm>
          <a:prstGeom prst="line">
            <a:avLst/>
          </a:prstGeom>
          <a:noFill/>
          <a:ln w="1270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Text Box 38"/>
          <p:cNvSpPr txBox="1">
            <a:spLocks noChangeArrowheads="1"/>
          </p:cNvSpPr>
          <p:nvPr/>
        </p:nvSpPr>
        <p:spPr bwMode="auto">
          <a:xfrm>
            <a:off x="7626862" y="2399601"/>
            <a:ext cx="701795" cy="387798"/>
          </a:xfrm>
          <a:prstGeom prst="rect">
            <a:avLst/>
          </a:prstGeom>
          <a:noFill/>
          <a:ln w="25400" algn="ctr">
            <a:noFill/>
            <a:miter lim="800000"/>
            <a:headEnd/>
            <a:tailEnd type="none" w="lg" len="med"/>
          </a:ln>
          <a:effectLst/>
        </p:spPr>
        <p:txBody>
          <a:bodyPr wrap="none" lIns="0" tIns="0" rIns="0" bIns="0">
            <a:spAutoFit/>
          </a:bodyPr>
          <a:lstStyle/>
          <a:p>
            <a:pPr marL="0" marR="0" lvl="0" indent="0" algn="ctr"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t>Physical</a:t>
            </a:r>
            <a:b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br>
            <a: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t>Volume 1</a:t>
            </a:r>
          </a:p>
        </p:txBody>
      </p:sp>
      <p:sp>
        <p:nvSpPr>
          <p:cNvPr id="39" name="Rectangle 70"/>
          <p:cNvSpPr>
            <a:spLocks noChangeArrowheads="1"/>
          </p:cNvSpPr>
          <p:nvPr/>
        </p:nvSpPr>
        <p:spPr bwMode="auto">
          <a:xfrm>
            <a:off x="6991349" y="3803650"/>
            <a:ext cx="1130300" cy="847725"/>
          </a:xfrm>
          <a:prstGeom prst="rect">
            <a:avLst/>
          </a:prstGeom>
          <a:noFill/>
          <a:ln w="76200" algn="ctr">
            <a:solidFill>
              <a:schemeClr val="bg1"/>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1" name="Rectangle 85"/>
          <p:cNvSpPr>
            <a:spLocks noChangeArrowheads="1"/>
          </p:cNvSpPr>
          <p:nvPr/>
        </p:nvSpPr>
        <p:spPr bwMode="gray">
          <a:xfrm>
            <a:off x="3990977" y="2985292"/>
            <a:ext cx="246888" cy="123825"/>
          </a:xfrm>
          <a:prstGeom prst="rect">
            <a:avLst/>
          </a:prstGeom>
          <a:solidFill>
            <a:schemeClr val="accent2"/>
          </a:solidFill>
          <a:ln w="12700" algn="ctr">
            <a:solidFill>
              <a:schemeClr val="tx1"/>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62" name="Group 61"/>
          <p:cNvGrpSpPr/>
          <p:nvPr/>
        </p:nvGrpSpPr>
        <p:grpSpPr>
          <a:xfrm>
            <a:off x="6553200" y="1927583"/>
            <a:ext cx="966598" cy="1199792"/>
            <a:chOff x="6807558" y="1155879"/>
            <a:chExt cx="736242" cy="736242"/>
          </a:xfrm>
        </p:grpSpPr>
        <p:pic>
          <p:nvPicPr>
            <p:cNvPr id="60"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6807558" y="1155879"/>
              <a:ext cx="736242" cy="736242"/>
            </a:xfrm>
            <a:prstGeom prst="rect">
              <a:avLst/>
            </a:prstGeom>
            <a:noFill/>
          </p:spPr>
        </p:pic>
        <p:sp>
          <p:nvSpPr>
            <p:cNvPr id="29" name="Rectangle 39"/>
            <p:cNvSpPr>
              <a:spLocks noChangeArrowheads="1"/>
            </p:cNvSpPr>
            <p:nvPr/>
          </p:nvSpPr>
          <p:spPr bwMode="auto">
            <a:xfrm>
              <a:off x="6947079" y="1405097"/>
              <a:ext cx="498147" cy="39794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Line 43"/>
            <p:cNvSpPr>
              <a:spLocks noChangeShapeType="1"/>
            </p:cNvSpPr>
            <p:nvPr/>
          </p:nvSpPr>
          <p:spPr bwMode="gray">
            <a:xfrm>
              <a:off x="6947079" y="1560102"/>
              <a:ext cx="493950" cy="0"/>
            </a:xfrm>
            <a:prstGeom prst="line">
              <a:avLst/>
            </a:prstGeom>
            <a:noFill/>
            <a:ln w="1905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Line 44"/>
            <p:cNvSpPr>
              <a:spLocks noChangeShapeType="1"/>
            </p:cNvSpPr>
            <p:nvPr/>
          </p:nvSpPr>
          <p:spPr bwMode="gray">
            <a:xfrm>
              <a:off x="6947079" y="1620464"/>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2" name="Line 45"/>
            <p:cNvSpPr>
              <a:spLocks noChangeShapeType="1"/>
            </p:cNvSpPr>
            <p:nvPr/>
          </p:nvSpPr>
          <p:spPr bwMode="gray">
            <a:xfrm>
              <a:off x="6947079" y="1681572"/>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Line 46"/>
            <p:cNvSpPr>
              <a:spLocks noChangeShapeType="1"/>
            </p:cNvSpPr>
            <p:nvPr/>
          </p:nvSpPr>
          <p:spPr bwMode="gray">
            <a:xfrm>
              <a:off x="6947079" y="1741934"/>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Line 47"/>
            <p:cNvSpPr>
              <a:spLocks noChangeShapeType="1"/>
            </p:cNvSpPr>
            <p:nvPr/>
          </p:nvSpPr>
          <p:spPr bwMode="gray">
            <a:xfrm>
              <a:off x="6947079" y="1803042"/>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Line 48"/>
            <p:cNvSpPr>
              <a:spLocks noChangeShapeType="1"/>
            </p:cNvSpPr>
            <p:nvPr/>
          </p:nvSpPr>
          <p:spPr bwMode="gray">
            <a:xfrm>
              <a:off x="704572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6" name="Line 49"/>
            <p:cNvSpPr>
              <a:spLocks noChangeShapeType="1"/>
            </p:cNvSpPr>
            <p:nvPr/>
          </p:nvSpPr>
          <p:spPr bwMode="gray">
            <a:xfrm>
              <a:off x="714437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Line 50"/>
            <p:cNvSpPr>
              <a:spLocks noChangeShapeType="1"/>
            </p:cNvSpPr>
            <p:nvPr/>
          </p:nvSpPr>
          <p:spPr bwMode="gray">
            <a:xfrm>
              <a:off x="724302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8" name="Line 51"/>
            <p:cNvSpPr>
              <a:spLocks noChangeShapeType="1"/>
            </p:cNvSpPr>
            <p:nvPr/>
          </p:nvSpPr>
          <p:spPr bwMode="gray">
            <a:xfrm>
              <a:off x="734167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6" name="Rectangle 85"/>
            <p:cNvSpPr>
              <a:spLocks noChangeArrowheads="1"/>
            </p:cNvSpPr>
            <p:nvPr/>
          </p:nvSpPr>
          <p:spPr bwMode="gray">
            <a:xfrm>
              <a:off x="6948127" y="1559357"/>
              <a:ext cx="94452" cy="58127"/>
            </a:xfrm>
            <a:prstGeom prst="rect">
              <a:avLst/>
            </a:prstGeom>
            <a:solidFill>
              <a:schemeClr val="accent2"/>
            </a:solidFill>
            <a:ln w="12700" algn="ctr">
              <a:solidFill>
                <a:schemeClr val="tx1"/>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73" name="Text Box 38"/>
          <p:cNvSpPr txBox="1">
            <a:spLocks noChangeArrowheads="1"/>
          </p:cNvSpPr>
          <p:nvPr/>
        </p:nvSpPr>
        <p:spPr bwMode="auto">
          <a:xfrm>
            <a:off x="7648491" y="3882762"/>
            <a:ext cx="701795" cy="387798"/>
          </a:xfrm>
          <a:prstGeom prst="rect">
            <a:avLst/>
          </a:prstGeom>
          <a:noFill/>
          <a:ln w="25400" algn="ctr">
            <a:noFill/>
            <a:miter lim="800000"/>
            <a:headEnd/>
            <a:tailEnd type="none" w="lg" len="med"/>
          </a:ln>
          <a:effectLst/>
        </p:spPr>
        <p:txBody>
          <a:bodyPr wrap="none" lIns="0" tIns="0" rIns="0" bIns="0">
            <a:spAutoFit/>
          </a:bodyPr>
          <a:lstStyle/>
          <a:p>
            <a:pPr marL="0" marR="0" lvl="0" indent="0" algn="ctr"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t>Physical</a:t>
            </a:r>
            <a:b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br>
            <a:r>
              <a:rPr kumimoji="0" lang="en-US" sz="1400" b="1" i="0" u="none" strike="noStrike" kern="1200" cap="none" spc="0" normalizeH="0" baseline="0" noProof="0" dirty="0">
                <a:ln>
                  <a:noFill/>
                </a:ln>
                <a:solidFill>
                  <a:srgbClr val="000308"/>
                </a:solidFill>
                <a:effectLst/>
                <a:uLnTx/>
                <a:uFillTx/>
                <a:latin typeface="Calibri" pitchFamily="34" charset="0"/>
                <a:ea typeface="+mn-ea"/>
                <a:cs typeface="Calibri" pitchFamily="34" charset="0"/>
              </a:rPr>
              <a:t>Volume 2</a:t>
            </a:r>
          </a:p>
        </p:txBody>
      </p:sp>
      <p:grpSp>
        <p:nvGrpSpPr>
          <p:cNvPr id="63" name="Group 62"/>
          <p:cNvGrpSpPr/>
          <p:nvPr/>
        </p:nvGrpSpPr>
        <p:grpSpPr>
          <a:xfrm>
            <a:off x="6591837" y="3451583"/>
            <a:ext cx="966598" cy="1199792"/>
            <a:chOff x="6807558" y="1155879"/>
            <a:chExt cx="736242" cy="736242"/>
          </a:xfrm>
        </p:grpSpPr>
        <p:pic>
          <p:nvPicPr>
            <p:cNvPr id="64"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6807558" y="1155879"/>
              <a:ext cx="736242" cy="736242"/>
            </a:xfrm>
            <a:prstGeom prst="rect">
              <a:avLst/>
            </a:prstGeom>
            <a:noFill/>
          </p:spPr>
        </p:pic>
        <p:sp>
          <p:nvSpPr>
            <p:cNvPr id="65" name="Rectangle 39"/>
            <p:cNvSpPr>
              <a:spLocks noChangeArrowheads="1"/>
            </p:cNvSpPr>
            <p:nvPr/>
          </p:nvSpPr>
          <p:spPr bwMode="auto">
            <a:xfrm>
              <a:off x="6947079" y="1405097"/>
              <a:ext cx="498147" cy="39794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6" name="Line 43"/>
            <p:cNvSpPr>
              <a:spLocks noChangeShapeType="1"/>
            </p:cNvSpPr>
            <p:nvPr/>
          </p:nvSpPr>
          <p:spPr bwMode="gray">
            <a:xfrm>
              <a:off x="6947079" y="1560102"/>
              <a:ext cx="493950" cy="0"/>
            </a:xfrm>
            <a:prstGeom prst="line">
              <a:avLst/>
            </a:prstGeom>
            <a:noFill/>
            <a:ln w="19050">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7" name="Line 44"/>
            <p:cNvSpPr>
              <a:spLocks noChangeShapeType="1"/>
            </p:cNvSpPr>
            <p:nvPr/>
          </p:nvSpPr>
          <p:spPr bwMode="gray">
            <a:xfrm>
              <a:off x="6947079" y="1620464"/>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8" name="Line 45"/>
            <p:cNvSpPr>
              <a:spLocks noChangeShapeType="1"/>
            </p:cNvSpPr>
            <p:nvPr/>
          </p:nvSpPr>
          <p:spPr bwMode="gray">
            <a:xfrm>
              <a:off x="6947079" y="1681572"/>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9" name="Line 46"/>
            <p:cNvSpPr>
              <a:spLocks noChangeShapeType="1"/>
            </p:cNvSpPr>
            <p:nvPr/>
          </p:nvSpPr>
          <p:spPr bwMode="gray">
            <a:xfrm>
              <a:off x="6947079" y="1741934"/>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0" name="Line 47"/>
            <p:cNvSpPr>
              <a:spLocks noChangeShapeType="1"/>
            </p:cNvSpPr>
            <p:nvPr/>
          </p:nvSpPr>
          <p:spPr bwMode="gray">
            <a:xfrm>
              <a:off x="6947079" y="1803042"/>
              <a:ext cx="493950" cy="0"/>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1" name="Line 48"/>
            <p:cNvSpPr>
              <a:spLocks noChangeShapeType="1"/>
            </p:cNvSpPr>
            <p:nvPr/>
          </p:nvSpPr>
          <p:spPr bwMode="gray">
            <a:xfrm>
              <a:off x="704572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2" name="Line 49"/>
            <p:cNvSpPr>
              <a:spLocks noChangeShapeType="1"/>
            </p:cNvSpPr>
            <p:nvPr/>
          </p:nvSpPr>
          <p:spPr bwMode="gray">
            <a:xfrm>
              <a:off x="714437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4" name="Line 50"/>
            <p:cNvSpPr>
              <a:spLocks noChangeShapeType="1"/>
            </p:cNvSpPr>
            <p:nvPr/>
          </p:nvSpPr>
          <p:spPr bwMode="gray">
            <a:xfrm>
              <a:off x="724302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7" name="Line 51"/>
            <p:cNvSpPr>
              <a:spLocks noChangeShapeType="1"/>
            </p:cNvSpPr>
            <p:nvPr/>
          </p:nvSpPr>
          <p:spPr bwMode="gray">
            <a:xfrm>
              <a:off x="7341679" y="1560102"/>
              <a:ext cx="0" cy="239214"/>
            </a:xfrm>
            <a:prstGeom prst="line">
              <a:avLst/>
            </a:prstGeom>
            <a:noFill/>
            <a:ln w="9525">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8" name="Rectangle 85"/>
            <p:cNvSpPr>
              <a:spLocks noChangeArrowheads="1"/>
            </p:cNvSpPr>
            <p:nvPr/>
          </p:nvSpPr>
          <p:spPr bwMode="gray">
            <a:xfrm>
              <a:off x="6948127" y="1559357"/>
              <a:ext cx="94452" cy="58127"/>
            </a:xfrm>
            <a:prstGeom prst="rect">
              <a:avLst/>
            </a:prstGeom>
            <a:solidFill>
              <a:schemeClr val="accent2"/>
            </a:solidFill>
            <a:ln w="12700" algn="ctr">
              <a:solidFill>
                <a:schemeClr val="tx1"/>
              </a:solidFill>
              <a:miter lim="800000"/>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3" name="TextBox 2">
            <a:extLst>
              <a:ext uri="{FF2B5EF4-FFF2-40B4-BE49-F238E27FC236}">
                <a16:creationId xmlns:a16="http://schemas.microsoft.com/office/drawing/2014/main" id="{7379A813-9811-7A93-BDA6-858922D486DC}"/>
              </a:ext>
            </a:extLst>
          </p:cNvPr>
          <p:cNvSpPr txBox="1"/>
          <p:nvPr/>
        </p:nvSpPr>
        <p:spPr>
          <a:xfrm>
            <a:off x="2142067" y="5177923"/>
            <a:ext cx="4572000" cy="307777"/>
          </a:xfrm>
          <a:prstGeom prst="rect">
            <a:avLst/>
          </a:prstGeom>
          <a:noFill/>
        </p:spPr>
        <p:txBody>
          <a:bodyPr wrap="square">
            <a:spAutoFit/>
          </a:bodyPr>
          <a:lstStyle/>
          <a:p>
            <a:pPr algn="ctr"/>
            <a:r>
              <a:rPr lang="en-IN" sz="1400" b="1" i="0" u="none" strike="noStrike" baseline="0" dirty="0">
                <a:solidFill>
                  <a:srgbClr val="C00000"/>
                </a:solidFill>
                <a:latin typeface="Book Antiqua" panose="02040602050305030304" pitchFamily="18" charset="0"/>
              </a:rPr>
              <a:t>Figure 11-5: </a:t>
            </a:r>
            <a:r>
              <a:rPr lang="en-IN" sz="1400" b="0" i="0" u="none" strike="noStrike" baseline="0" dirty="0">
                <a:solidFill>
                  <a:srgbClr val="C00000"/>
                </a:solidFill>
                <a:latin typeface="Book Antiqua" panose="02040602050305030304" pitchFamily="18" charset="0"/>
              </a:rPr>
              <a:t>LVM-based mirroring</a:t>
            </a:r>
            <a:endParaRPr lang="en-IN" sz="1400" dirty="0">
              <a:solidFill>
                <a:srgbClr val="C00000"/>
              </a:solidFill>
              <a:latin typeface="Book Antiqua" panose="0204060205030503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783E8-6878-7B30-AD04-F3792C07B81E}"/>
              </a:ext>
            </a:extLst>
          </p:cNvPr>
          <p:cNvSpPr>
            <a:spLocks noGrp="1"/>
          </p:cNvSpPr>
          <p:nvPr>
            <p:ph type="ctrTitle"/>
          </p:nvPr>
        </p:nvSpPr>
        <p:spPr/>
        <p:txBody>
          <a:bodyPr/>
          <a:lstStyle/>
          <a:p>
            <a:r>
              <a:rPr lang="en-IN" sz="2100" b="1" i="1" dirty="0">
                <a:solidFill>
                  <a:srgbClr val="C00000"/>
                </a:solidFill>
                <a:latin typeface="Book Antiqua" panose="02040602050305030304" pitchFamily="18" charset="0"/>
              </a:rPr>
              <a:t>Advantages of LVM-Based Replication</a:t>
            </a:r>
            <a:br>
              <a:rPr lang="en-IN" sz="2100" b="1" i="1" dirty="0">
                <a:solidFill>
                  <a:srgbClr val="C00000"/>
                </a:solidFill>
                <a:latin typeface="Book Antiqua" panose="02040602050305030304" pitchFamily="18" charset="0"/>
              </a:rPr>
            </a:br>
            <a:endParaRPr lang="en-IN" sz="2100" dirty="0">
              <a:solidFill>
                <a:srgbClr val="C00000"/>
              </a:solidFill>
              <a:latin typeface="Book Antiqua" panose="02040602050305030304" pitchFamily="18" charset="0"/>
            </a:endParaRPr>
          </a:p>
        </p:txBody>
      </p:sp>
      <p:sp>
        <p:nvSpPr>
          <p:cNvPr id="3" name="Subtitle 2">
            <a:extLst>
              <a:ext uri="{FF2B5EF4-FFF2-40B4-BE49-F238E27FC236}">
                <a16:creationId xmlns:a16="http://schemas.microsoft.com/office/drawing/2014/main" id="{89911F19-209F-E0DB-FAF0-5CECD58F568D}"/>
              </a:ext>
            </a:extLst>
          </p:cNvPr>
          <p:cNvSpPr>
            <a:spLocks noGrp="1"/>
          </p:cNvSpPr>
          <p:nvPr>
            <p:ph type="subTitle" idx="1"/>
          </p:nvPr>
        </p:nvSpPr>
        <p:spPr>
          <a:xfrm>
            <a:off x="914400" y="1524000"/>
            <a:ext cx="7391400" cy="2667000"/>
          </a:xfrm>
        </p:spPr>
        <p:txBody>
          <a:bodyPr/>
          <a:lstStyle/>
          <a:p>
            <a:pPr marL="342900" indent="-342900" algn="just">
              <a:buFont typeface="Arial" panose="020B0604020202020204" pitchFamily="34" charset="0"/>
              <a:buChar char="•"/>
            </a:pPr>
            <a:r>
              <a:rPr lang="en-GB" sz="1700" dirty="0">
                <a:solidFill>
                  <a:schemeClr val="tx1"/>
                </a:solidFill>
                <a:latin typeface="Book Antiqua" panose="02040602050305030304" pitchFamily="18" charset="0"/>
              </a:rPr>
              <a:t>The LVM-based replication technology is not dependent on a vendor-specific storage system. </a:t>
            </a:r>
          </a:p>
          <a:p>
            <a:pPr marL="342900" indent="-342900" algn="just">
              <a:buFont typeface="Arial" panose="020B0604020202020204" pitchFamily="34" charset="0"/>
              <a:buChar char="•"/>
            </a:pPr>
            <a:r>
              <a:rPr lang="en-GB" sz="1700" dirty="0">
                <a:solidFill>
                  <a:schemeClr val="tx1"/>
                </a:solidFill>
                <a:latin typeface="Book Antiqua" panose="02040602050305030304" pitchFamily="18" charset="0"/>
              </a:rPr>
              <a:t>Typically, LVM is part of the operating system, and no additional license is required to deploy LVM mirroring.</a:t>
            </a:r>
            <a:endParaRPr lang="en-IN" sz="1700" dirty="0">
              <a:solidFill>
                <a:schemeClr val="tx1"/>
              </a:solidFill>
              <a:latin typeface="Book Antiqua" panose="02040602050305030304" pitchFamily="18" charset="0"/>
            </a:endParaRPr>
          </a:p>
        </p:txBody>
      </p:sp>
      <p:sp>
        <p:nvSpPr>
          <p:cNvPr id="5" name="Footer Placeholder 4">
            <a:extLst>
              <a:ext uri="{FF2B5EF4-FFF2-40B4-BE49-F238E27FC236}">
                <a16:creationId xmlns:a16="http://schemas.microsoft.com/office/drawing/2014/main" id="{67ECC374-6127-0F57-40F1-1EA0E439036E}"/>
              </a:ext>
            </a:extLst>
          </p:cNvPr>
          <p:cNvSpPr>
            <a:spLocks noGrp="1"/>
          </p:cNvSpPr>
          <p:nvPr>
            <p:ph type="ftr" sz="quarter" idx="14"/>
          </p:nvPr>
        </p:nvSpPr>
        <p:spPr/>
        <p:txBody>
          <a:bodyPr/>
          <a:lstStyle/>
          <a:p>
            <a:pPr>
              <a:defRPr/>
            </a:pPr>
            <a:r>
              <a:rPr lang="en-US"/>
              <a:t>Module 11: Local Replication</a:t>
            </a:r>
            <a:endParaRPr lang="en-US" dirty="0"/>
          </a:p>
        </p:txBody>
      </p:sp>
      <p:sp>
        <p:nvSpPr>
          <p:cNvPr id="6" name="Slide Number Placeholder 5">
            <a:extLst>
              <a:ext uri="{FF2B5EF4-FFF2-40B4-BE49-F238E27FC236}">
                <a16:creationId xmlns:a16="http://schemas.microsoft.com/office/drawing/2014/main" id="{BDC1F0F3-2DCD-E3C3-C7DF-33888EE3561B}"/>
              </a:ext>
            </a:extLst>
          </p:cNvPr>
          <p:cNvSpPr>
            <a:spLocks noGrp="1"/>
          </p:cNvSpPr>
          <p:nvPr>
            <p:ph type="sldNum" sz="quarter" idx="15"/>
          </p:nvPr>
        </p:nvSpPr>
        <p:spPr/>
        <p:txBody>
          <a:bodyPr/>
          <a:lstStyle/>
          <a:p>
            <a:pPr>
              <a:defRPr/>
            </a:pPr>
            <a:fld id="{E9C12BD9-86B3-4048-86CE-AC10D4E84307}" type="slidenum">
              <a:rPr lang="en-US" smtClean="0"/>
              <a:pPr>
                <a:defRPr/>
              </a:pPr>
              <a:t>60</a:t>
            </a:fld>
            <a:endParaRPr lang="en-US"/>
          </a:p>
        </p:txBody>
      </p:sp>
    </p:spTree>
    <p:extLst>
      <p:ext uri="{BB962C8B-B14F-4D97-AF65-F5344CB8AC3E}">
        <p14:creationId xmlns:p14="http://schemas.microsoft.com/office/powerpoint/2010/main" val="39104044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8294E-AF95-1FC4-5906-E5E05899E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F8F98-FCC5-6433-EDD6-C808F0B1716E}"/>
              </a:ext>
            </a:extLst>
          </p:cNvPr>
          <p:cNvSpPr>
            <a:spLocks noGrp="1"/>
          </p:cNvSpPr>
          <p:nvPr>
            <p:ph type="ctrTitle"/>
          </p:nvPr>
        </p:nvSpPr>
        <p:spPr/>
        <p:txBody>
          <a:bodyPr/>
          <a:lstStyle/>
          <a:p>
            <a:r>
              <a:rPr lang="en-IN" sz="2100" b="1" i="1" dirty="0">
                <a:solidFill>
                  <a:srgbClr val="C00000"/>
                </a:solidFill>
                <a:latin typeface="Book Antiqua" panose="02040602050305030304" pitchFamily="18" charset="0"/>
              </a:rPr>
              <a:t>Advantages of LVM-Based Replication</a:t>
            </a:r>
            <a:br>
              <a:rPr lang="en-IN" sz="2100" b="1" i="1" dirty="0">
                <a:solidFill>
                  <a:srgbClr val="C00000"/>
                </a:solidFill>
                <a:latin typeface="Book Antiqua" panose="02040602050305030304" pitchFamily="18" charset="0"/>
              </a:rPr>
            </a:br>
            <a:endParaRPr lang="en-IN" sz="2100" dirty="0">
              <a:solidFill>
                <a:srgbClr val="C00000"/>
              </a:solidFill>
              <a:latin typeface="Book Antiqua" panose="02040602050305030304" pitchFamily="18" charset="0"/>
            </a:endParaRPr>
          </a:p>
        </p:txBody>
      </p:sp>
      <p:sp>
        <p:nvSpPr>
          <p:cNvPr id="3" name="Subtitle 2">
            <a:extLst>
              <a:ext uri="{FF2B5EF4-FFF2-40B4-BE49-F238E27FC236}">
                <a16:creationId xmlns:a16="http://schemas.microsoft.com/office/drawing/2014/main" id="{4A8F5730-65A0-CF8F-A973-6656B49EACE9}"/>
              </a:ext>
            </a:extLst>
          </p:cNvPr>
          <p:cNvSpPr>
            <a:spLocks noGrp="1"/>
          </p:cNvSpPr>
          <p:nvPr>
            <p:ph type="subTitle" idx="1"/>
          </p:nvPr>
        </p:nvSpPr>
        <p:spPr>
          <a:xfrm>
            <a:off x="914400" y="1524000"/>
            <a:ext cx="7391400" cy="2667000"/>
          </a:xfrm>
        </p:spPr>
        <p:txBody>
          <a:bodyPr/>
          <a:lstStyle/>
          <a:p>
            <a:pPr marL="342900" indent="-342900" algn="just">
              <a:buFont typeface="Arial" panose="020B0604020202020204" pitchFamily="34" charset="0"/>
              <a:buChar char="•"/>
            </a:pPr>
            <a:r>
              <a:rPr lang="en-GB" sz="1700" dirty="0">
                <a:solidFill>
                  <a:schemeClr val="tx1"/>
                </a:solidFill>
                <a:latin typeface="Book Antiqua" panose="02040602050305030304" pitchFamily="18" charset="0"/>
              </a:rPr>
              <a:t>The LVM-based replication technology is not dependent on a vendor-specific storage system. </a:t>
            </a:r>
          </a:p>
          <a:p>
            <a:pPr marL="342900" indent="-342900" algn="just">
              <a:buFont typeface="Arial" panose="020B0604020202020204" pitchFamily="34" charset="0"/>
              <a:buChar char="•"/>
            </a:pPr>
            <a:r>
              <a:rPr lang="en-GB" sz="1700" dirty="0">
                <a:solidFill>
                  <a:schemeClr val="tx1"/>
                </a:solidFill>
                <a:latin typeface="Book Antiqua" panose="02040602050305030304" pitchFamily="18" charset="0"/>
              </a:rPr>
              <a:t>Typically, LVM is part of the operating system, and no additional license is required to deploy LVM mirroring.</a:t>
            </a:r>
            <a:endParaRPr lang="en-IN" sz="1700" dirty="0">
              <a:solidFill>
                <a:schemeClr val="tx1"/>
              </a:solidFill>
              <a:latin typeface="Book Antiqua" panose="02040602050305030304" pitchFamily="18" charset="0"/>
            </a:endParaRPr>
          </a:p>
        </p:txBody>
      </p:sp>
      <p:sp>
        <p:nvSpPr>
          <p:cNvPr id="5" name="Footer Placeholder 4">
            <a:extLst>
              <a:ext uri="{FF2B5EF4-FFF2-40B4-BE49-F238E27FC236}">
                <a16:creationId xmlns:a16="http://schemas.microsoft.com/office/drawing/2014/main" id="{671E15D7-D007-013B-C0B8-DDC70FB252DA}"/>
              </a:ext>
            </a:extLst>
          </p:cNvPr>
          <p:cNvSpPr>
            <a:spLocks noGrp="1"/>
          </p:cNvSpPr>
          <p:nvPr>
            <p:ph type="ftr" sz="quarter" idx="14"/>
          </p:nvPr>
        </p:nvSpPr>
        <p:spPr/>
        <p:txBody>
          <a:bodyPr/>
          <a:lstStyle/>
          <a:p>
            <a:pPr>
              <a:defRPr/>
            </a:pPr>
            <a:r>
              <a:rPr lang="en-US"/>
              <a:t>Module 11: Local Replication</a:t>
            </a:r>
            <a:endParaRPr lang="en-US" dirty="0"/>
          </a:p>
        </p:txBody>
      </p:sp>
      <p:sp>
        <p:nvSpPr>
          <p:cNvPr id="6" name="Slide Number Placeholder 5">
            <a:extLst>
              <a:ext uri="{FF2B5EF4-FFF2-40B4-BE49-F238E27FC236}">
                <a16:creationId xmlns:a16="http://schemas.microsoft.com/office/drawing/2014/main" id="{36F208DA-6C5C-534A-E4E0-5D339F78AAE6}"/>
              </a:ext>
            </a:extLst>
          </p:cNvPr>
          <p:cNvSpPr>
            <a:spLocks noGrp="1"/>
          </p:cNvSpPr>
          <p:nvPr>
            <p:ph type="sldNum" sz="quarter" idx="15"/>
          </p:nvPr>
        </p:nvSpPr>
        <p:spPr/>
        <p:txBody>
          <a:bodyPr/>
          <a:lstStyle/>
          <a:p>
            <a:pPr>
              <a:defRPr/>
            </a:pPr>
            <a:fld id="{E9C12BD9-86B3-4048-86CE-AC10D4E84307}" type="slidenum">
              <a:rPr lang="en-US" smtClean="0"/>
              <a:pPr>
                <a:defRPr/>
              </a:pPr>
              <a:t>61</a:t>
            </a:fld>
            <a:endParaRPr lang="en-US"/>
          </a:p>
        </p:txBody>
      </p:sp>
    </p:spTree>
    <p:extLst>
      <p:ext uri="{BB962C8B-B14F-4D97-AF65-F5344CB8AC3E}">
        <p14:creationId xmlns:p14="http://schemas.microsoft.com/office/powerpoint/2010/main" val="7130707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AD9F90-821E-5A27-2944-E870BCC49357}"/>
              </a:ext>
            </a:extLst>
          </p:cNvPr>
          <p:cNvSpPr>
            <a:spLocks noGrp="1"/>
          </p:cNvSpPr>
          <p:nvPr>
            <p:ph type="subTitle" idx="1"/>
          </p:nvPr>
        </p:nvSpPr>
        <p:spPr>
          <a:xfrm>
            <a:off x="571500" y="914400"/>
            <a:ext cx="7848600" cy="2667000"/>
          </a:xfrm>
        </p:spPr>
        <p:txBody>
          <a:bodyPr/>
          <a:lstStyle/>
          <a:p>
            <a:pPr marL="285750" indent="-285750" algn="just">
              <a:lnSpc>
                <a:spcPct val="150000"/>
              </a:lnSpc>
              <a:buFont typeface="Arial" panose="020B0604020202020204" pitchFamily="34" charset="0"/>
              <a:buChar char="•"/>
            </a:pPr>
            <a:r>
              <a:rPr lang="en-GB" sz="1300" dirty="0">
                <a:solidFill>
                  <a:schemeClr val="tx1"/>
                </a:solidFill>
                <a:latin typeface="Book Antiqua" panose="02040602050305030304" pitchFamily="18" charset="0"/>
              </a:rPr>
              <a:t>Every write generated by an application translates into two writes on the disk, and thus, an additional burden is placed on the host CPU. </a:t>
            </a:r>
          </a:p>
          <a:p>
            <a:pPr marL="285750" indent="-285750" algn="just">
              <a:lnSpc>
                <a:spcPct val="150000"/>
              </a:lnSpc>
              <a:buFont typeface="Arial" panose="020B0604020202020204" pitchFamily="34" charset="0"/>
              <a:buChar char="•"/>
            </a:pPr>
            <a:r>
              <a:rPr lang="en-GB" sz="1300" dirty="0">
                <a:solidFill>
                  <a:schemeClr val="tx1"/>
                </a:solidFill>
                <a:latin typeface="Book Antiqua" panose="02040602050305030304" pitchFamily="18" charset="0"/>
              </a:rPr>
              <a:t>This can degrade application performance. Presenting an LVM-based local replica to another host is usually not possible because the replica will still be part of the volume group, which is usually accessed by one host at any given time. </a:t>
            </a:r>
          </a:p>
          <a:p>
            <a:pPr marL="285750" indent="-285750" algn="just">
              <a:lnSpc>
                <a:spcPct val="150000"/>
              </a:lnSpc>
              <a:buFont typeface="Arial" panose="020B0604020202020204" pitchFamily="34" charset="0"/>
              <a:buChar char="•"/>
            </a:pPr>
            <a:r>
              <a:rPr lang="en-GB" sz="1300" dirty="0">
                <a:solidFill>
                  <a:schemeClr val="tx1"/>
                </a:solidFill>
                <a:latin typeface="Book Antiqua" panose="02040602050305030304" pitchFamily="18" charset="0"/>
              </a:rPr>
              <a:t>Tracking changes to the mirrors and performing incremental resynchronization operations is also a challenge because all LVMs do not support incremental resynchronization. </a:t>
            </a:r>
          </a:p>
          <a:p>
            <a:pPr marL="285750" indent="-285750" algn="just">
              <a:lnSpc>
                <a:spcPct val="150000"/>
              </a:lnSpc>
              <a:buFont typeface="Arial" panose="020B0604020202020204" pitchFamily="34" charset="0"/>
              <a:buChar char="•"/>
            </a:pPr>
            <a:r>
              <a:rPr lang="en-GB" sz="1300" dirty="0">
                <a:solidFill>
                  <a:schemeClr val="tx1"/>
                </a:solidFill>
                <a:latin typeface="Book Antiqua" panose="02040602050305030304" pitchFamily="18" charset="0"/>
              </a:rPr>
              <a:t>If the devices are already protected by some level of RAID on the array, then the additional protection that the LVM mirroring provides is unnecessary. </a:t>
            </a:r>
          </a:p>
          <a:p>
            <a:pPr marL="285750" indent="-285750" algn="just">
              <a:lnSpc>
                <a:spcPct val="150000"/>
              </a:lnSpc>
              <a:buFont typeface="Arial" panose="020B0604020202020204" pitchFamily="34" charset="0"/>
              <a:buChar char="•"/>
            </a:pPr>
            <a:r>
              <a:rPr lang="en-GB" sz="1300" dirty="0">
                <a:solidFill>
                  <a:schemeClr val="tx1"/>
                </a:solidFill>
                <a:latin typeface="Book Antiqua" panose="02040602050305030304" pitchFamily="18" charset="0"/>
              </a:rPr>
              <a:t>This solution does not scale to provide replicas of federated databases and applications. Both the replica and source are stored within the same volume group. </a:t>
            </a:r>
          </a:p>
          <a:p>
            <a:pPr marL="285750" indent="-285750" algn="just">
              <a:lnSpc>
                <a:spcPct val="150000"/>
              </a:lnSpc>
              <a:buFont typeface="Arial" panose="020B0604020202020204" pitchFamily="34" charset="0"/>
              <a:buChar char="•"/>
            </a:pPr>
            <a:r>
              <a:rPr lang="en-GB" sz="1300" dirty="0">
                <a:solidFill>
                  <a:schemeClr val="tx1"/>
                </a:solidFill>
                <a:latin typeface="Book Antiqua" panose="02040602050305030304" pitchFamily="18" charset="0"/>
              </a:rPr>
              <a:t>Therefore, the replica might become unavailable if there is an error in the volume group. </a:t>
            </a:r>
          </a:p>
          <a:p>
            <a:pPr marL="285750" indent="-285750" algn="just">
              <a:lnSpc>
                <a:spcPct val="150000"/>
              </a:lnSpc>
              <a:buFont typeface="Arial" panose="020B0604020202020204" pitchFamily="34" charset="0"/>
              <a:buChar char="•"/>
            </a:pPr>
            <a:r>
              <a:rPr lang="en-GB" sz="1300" dirty="0">
                <a:solidFill>
                  <a:schemeClr val="tx1"/>
                </a:solidFill>
                <a:latin typeface="Book Antiqua" panose="02040602050305030304" pitchFamily="18" charset="0"/>
              </a:rPr>
              <a:t>If the server fails, both the source and replica are unavailable until the server is brought back online.</a:t>
            </a:r>
            <a:endParaRPr lang="en-IN" sz="1300" dirty="0">
              <a:solidFill>
                <a:schemeClr val="tx1"/>
              </a:solidFill>
              <a:latin typeface="Book Antiqua" panose="02040602050305030304" pitchFamily="18" charset="0"/>
            </a:endParaRPr>
          </a:p>
        </p:txBody>
      </p:sp>
      <p:sp>
        <p:nvSpPr>
          <p:cNvPr id="4" name="Content Placeholder 3">
            <a:extLst>
              <a:ext uri="{FF2B5EF4-FFF2-40B4-BE49-F238E27FC236}">
                <a16:creationId xmlns:a16="http://schemas.microsoft.com/office/drawing/2014/main" id="{0F62D451-D47A-471A-02F0-F2416C09AB8E}"/>
              </a:ext>
            </a:extLst>
          </p:cNvPr>
          <p:cNvSpPr>
            <a:spLocks noGrp="1"/>
          </p:cNvSpPr>
          <p:nvPr>
            <p:ph sz="quarter" idx="13"/>
          </p:nvPr>
        </p:nvSpPr>
        <p:spPr>
          <a:xfrm>
            <a:off x="1028700" y="228600"/>
            <a:ext cx="7772400" cy="457200"/>
          </a:xfrm>
        </p:spPr>
        <p:txBody>
          <a:bodyPr/>
          <a:lstStyle/>
          <a:p>
            <a:r>
              <a:rPr lang="en-IN" sz="2100" b="1" i="1" dirty="0">
                <a:solidFill>
                  <a:srgbClr val="C00000"/>
                </a:solidFill>
                <a:latin typeface="Book Antiqua" panose="02040602050305030304" pitchFamily="18" charset="0"/>
                <a:ea typeface="+mj-ea"/>
                <a:cs typeface="+mj-cs"/>
              </a:rPr>
              <a:t>Limitations of LVM-Based Replication</a:t>
            </a:r>
          </a:p>
          <a:p>
            <a:endParaRPr lang="en-IN" dirty="0"/>
          </a:p>
        </p:txBody>
      </p:sp>
      <p:sp>
        <p:nvSpPr>
          <p:cNvPr id="5" name="Footer Placeholder 4">
            <a:extLst>
              <a:ext uri="{FF2B5EF4-FFF2-40B4-BE49-F238E27FC236}">
                <a16:creationId xmlns:a16="http://schemas.microsoft.com/office/drawing/2014/main" id="{0BEB9F3F-4DE4-E50E-48B5-F699B9F3B813}"/>
              </a:ext>
            </a:extLst>
          </p:cNvPr>
          <p:cNvSpPr>
            <a:spLocks noGrp="1"/>
          </p:cNvSpPr>
          <p:nvPr>
            <p:ph type="ftr" sz="quarter" idx="14"/>
          </p:nvPr>
        </p:nvSpPr>
        <p:spPr/>
        <p:txBody>
          <a:bodyPr/>
          <a:lstStyle/>
          <a:p>
            <a:pPr>
              <a:defRPr/>
            </a:pPr>
            <a:r>
              <a:rPr lang="en-US"/>
              <a:t>Module 11: Local Replication</a:t>
            </a:r>
            <a:endParaRPr lang="en-US" dirty="0"/>
          </a:p>
        </p:txBody>
      </p:sp>
      <p:sp>
        <p:nvSpPr>
          <p:cNvPr id="6" name="Slide Number Placeholder 5">
            <a:extLst>
              <a:ext uri="{FF2B5EF4-FFF2-40B4-BE49-F238E27FC236}">
                <a16:creationId xmlns:a16="http://schemas.microsoft.com/office/drawing/2014/main" id="{B45C941F-915A-5CEF-EB83-4A8835C6681B}"/>
              </a:ext>
            </a:extLst>
          </p:cNvPr>
          <p:cNvSpPr>
            <a:spLocks noGrp="1"/>
          </p:cNvSpPr>
          <p:nvPr>
            <p:ph type="sldNum" sz="quarter" idx="15"/>
          </p:nvPr>
        </p:nvSpPr>
        <p:spPr/>
        <p:txBody>
          <a:bodyPr/>
          <a:lstStyle/>
          <a:p>
            <a:pPr>
              <a:defRPr/>
            </a:pPr>
            <a:fld id="{E9C12BD9-86B3-4048-86CE-AC10D4E84307}" type="slidenum">
              <a:rPr lang="en-US" smtClean="0"/>
              <a:pPr>
                <a:defRPr/>
              </a:pPr>
              <a:t>62</a:t>
            </a:fld>
            <a:endParaRPr lang="en-US"/>
          </a:p>
        </p:txBody>
      </p:sp>
    </p:spTree>
    <p:extLst>
      <p:ext uri="{BB962C8B-B14F-4D97-AF65-F5344CB8AC3E}">
        <p14:creationId xmlns:p14="http://schemas.microsoft.com/office/powerpoint/2010/main" val="33813668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309BB-4D4F-E21E-DF8A-4BD1BA120AE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FAA95D7-7064-F5BE-641C-E114F6BA7E54}"/>
              </a:ext>
            </a:extLst>
          </p:cNvPr>
          <p:cNvSpPr>
            <a:spLocks noGrp="1"/>
          </p:cNvSpPr>
          <p:nvPr>
            <p:ph type="subTitle" idx="1"/>
          </p:nvPr>
        </p:nvSpPr>
        <p:spPr>
          <a:xfrm>
            <a:off x="554567" y="753533"/>
            <a:ext cx="8115300" cy="2667000"/>
          </a:xfrm>
        </p:spPr>
        <p:txBody>
          <a:bodyPr/>
          <a:lstStyle/>
          <a:p>
            <a:pPr algn="just">
              <a:lnSpc>
                <a:spcPct val="150000"/>
              </a:lnSpc>
            </a:pPr>
            <a:r>
              <a:rPr lang="en-GB" sz="1200" dirty="0">
                <a:solidFill>
                  <a:schemeClr val="tx1"/>
                </a:solidFill>
                <a:latin typeface="Book Antiqua" panose="02040602050305030304" pitchFamily="18" charset="0"/>
              </a:rPr>
              <a:t>A file system (FS) snapshot is a pointer-based replica that requires a fraction of the space used by the production FS. </a:t>
            </a:r>
          </a:p>
          <a:p>
            <a:pPr algn="just">
              <a:lnSpc>
                <a:spcPct val="150000"/>
              </a:lnSpc>
            </a:pPr>
            <a:r>
              <a:rPr lang="en-GB" sz="1200" dirty="0">
                <a:solidFill>
                  <a:schemeClr val="tx1"/>
                </a:solidFill>
                <a:latin typeface="Book Antiqua" panose="02040602050305030304" pitchFamily="18" charset="0"/>
              </a:rPr>
              <a:t>This snapshot can be implemented by either FS or by LVM.  It uses the Copy on First Write (</a:t>
            </a:r>
            <a:r>
              <a:rPr lang="en-GB" sz="1200" dirty="0" err="1">
                <a:solidFill>
                  <a:schemeClr val="tx1"/>
                </a:solidFill>
                <a:latin typeface="Book Antiqua" panose="02040602050305030304" pitchFamily="18" charset="0"/>
              </a:rPr>
              <a:t>CoFW</a:t>
            </a:r>
            <a:r>
              <a:rPr lang="en-GB" sz="1200" dirty="0">
                <a:solidFill>
                  <a:schemeClr val="tx1"/>
                </a:solidFill>
                <a:latin typeface="Book Antiqua" panose="02040602050305030304" pitchFamily="18" charset="0"/>
              </a:rPr>
              <a:t>) principle to create </a:t>
            </a:r>
            <a:r>
              <a:rPr lang="en-IN" sz="1200" dirty="0">
                <a:solidFill>
                  <a:schemeClr val="tx1"/>
                </a:solidFill>
                <a:latin typeface="Book Antiqua" panose="02040602050305030304" pitchFamily="18" charset="0"/>
              </a:rPr>
              <a:t>snapshots. </a:t>
            </a:r>
          </a:p>
          <a:p>
            <a:pPr algn="just">
              <a:lnSpc>
                <a:spcPct val="150000"/>
              </a:lnSpc>
            </a:pPr>
            <a:r>
              <a:rPr lang="en-GB" sz="1200" dirty="0">
                <a:solidFill>
                  <a:schemeClr val="tx1"/>
                </a:solidFill>
                <a:latin typeface="Book Antiqua" panose="02040602050305030304" pitchFamily="18" charset="0"/>
              </a:rPr>
              <a:t>When a snapshot is created, a bitmap and </a:t>
            </a:r>
            <a:r>
              <a:rPr lang="en-GB" sz="1200" dirty="0" err="1">
                <a:solidFill>
                  <a:schemeClr val="tx1"/>
                </a:solidFill>
                <a:latin typeface="Book Antiqua" panose="02040602050305030304" pitchFamily="18" charset="0"/>
              </a:rPr>
              <a:t>blockmap</a:t>
            </a:r>
            <a:r>
              <a:rPr lang="en-GB" sz="1200" dirty="0">
                <a:solidFill>
                  <a:schemeClr val="tx1"/>
                </a:solidFill>
                <a:latin typeface="Book Antiqua" panose="02040602050305030304" pitchFamily="18" charset="0"/>
              </a:rPr>
              <a:t> are created in the metadata of the Snap FS. The bitmap is used to keep track of blocks that are changed on the production FS after the snap creation. </a:t>
            </a:r>
          </a:p>
          <a:p>
            <a:pPr algn="just">
              <a:lnSpc>
                <a:spcPct val="150000"/>
              </a:lnSpc>
            </a:pPr>
            <a:r>
              <a:rPr lang="en-GB" sz="1200" dirty="0">
                <a:solidFill>
                  <a:schemeClr val="tx1"/>
                </a:solidFill>
                <a:latin typeface="Book Antiqua" panose="02040602050305030304" pitchFamily="18" charset="0"/>
              </a:rPr>
              <a:t>The </a:t>
            </a:r>
            <a:r>
              <a:rPr lang="en-GB" sz="1200" dirty="0" err="1">
                <a:solidFill>
                  <a:schemeClr val="tx1"/>
                </a:solidFill>
                <a:latin typeface="Book Antiqua" panose="02040602050305030304" pitchFamily="18" charset="0"/>
              </a:rPr>
              <a:t>blockmap</a:t>
            </a:r>
            <a:r>
              <a:rPr lang="en-GB" sz="1200" dirty="0">
                <a:solidFill>
                  <a:schemeClr val="tx1"/>
                </a:solidFill>
                <a:latin typeface="Book Antiqua" panose="02040602050305030304" pitchFamily="18" charset="0"/>
              </a:rPr>
              <a:t> is used to indicate the exact address from which the data is to be read when the data is accessed from the Snap FS.  Immediately after the creation of the FS snapshot, all reads from the snapshot are actually served by reading the production FS. </a:t>
            </a:r>
          </a:p>
          <a:p>
            <a:pPr algn="just">
              <a:lnSpc>
                <a:spcPct val="150000"/>
              </a:lnSpc>
            </a:pPr>
            <a:r>
              <a:rPr lang="en-GB" sz="1200" dirty="0">
                <a:solidFill>
                  <a:schemeClr val="tx1"/>
                </a:solidFill>
                <a:latin typeface="Book Antiqua" panose="02040602050305030304" pitchFamily="18" charset="0"/>
              </a:rPr>
              <a:t>In a </a:t>
            </a:r>
            <a:r>
              <a:rPr lang="en-GB" sz="1200" dirty="0" err="1">
                <a:solidFill>
                  <a:schemeClr val="tx1"/>
                </a:solidFill>
                <a:latin typeface="Book Antiqua" panose="02040602050305030304" pitchFamily="18" charset="0"/>
              </a:rPr>
              <a:t>CoFW</a:t>
            </a:r>
            <a:r>
              <a:rPr lang="en-GB" sz="1200" dirty="0">
                <a:solidFill>
                  <a:schemeClr val="tx1"/>
                </a:solidFill>
                <a:latin typeface="Book Antiqua" panose="02040602050305030304" pitchFamily="18" charset="0"/>
              </a:rPr>
              <a:t> mechanism, if a write I/O is issued to the production FS for the first time after the creation of a snapshot, the I/O is held and the original data of production FS corresponding to that location is moved to the Snap FS.  Then, the write is allowed to the production FS. </a:t>
            </a:r>
          </a:p>
          <a:p>
            <a:pPr algn="just">
              <a:lnSpc>
                <a:spcPct val="150000"/>
              </a:lnSpc>
            </a:pPr>
            <a:r>
              <a:rPr lang="en-GB" sz="1200" dirty="0">
                <a:solidFill>
                  <a:schemeClr val="tx1"/>
                </a:solidFill>
                <a:latin typeface="Book Antiqua" panose="02040602050305030304" pitchFamily="18" charset="0"/>
              </a:rPr>
              <a:t>The bitmap and </a:t>
            </a:r>
            <a:r>
              <a:rPr lang="en-GB" sz="1200" dirty="0" err="1">
                <a:solidFill>
                  <a:schemeClr val="tx1"/>
                </a:solidFill>
                <a:latin typeface="Book Antiqua" panose="02040602050305030304" pitchFamily="18" charset="0"/>
              </a:rPr>
              <a:t>blockmap</a:t>
            </a:r>
            <a:r>
              <a:rPr lang="en-GB" sz="1200" dirty="0">
                <a:solidFill>
                  <a:schemeClr val="tx1"/>
                </a:solidFill>
                <a:latin typeface="Book Antiqua" panose="02040602050305030304" pitchFamily="18" charset="0"/>
              </a:rPr>
              <a:t> are updated accordingly. Subsequent writes to the same location do not initiate the </a:t>
            </a:r>
            <a:r>
              <a:rPr lang="en-GB" sz="1200" dirty="0" err="1">
                <a:solidFill>
                  <a:schemeClr val="tx1"/>
                </a:solidFill>
                <a:latin typeface="Book Antiqua" panose="02040602050305030304" pitchFamily="18" charset="0"/>
              </a:rPr>
              <a:t>CoFW</a:t>
            </a:r>
            <a:r>
              <a:rPr lang="en-GB" sz="1200" dirty="0">
                <a:solidFill>
                  <a:schemeClr val="tx1"/>
                </a:solidFill>
                <a:latin typeface="Book Antiqua" panose="02040602050305030304" pitchFamily="18" charset="0"/>
              </a:rPr>
              <a:t> activity. To read from the Snap FS, the bitmap is consulted. </a:t>
            </a:r>
          </a:p>
          <a:p>
            <a:pPr algn="just">
              <a:lnSpc>
                <a:spcPct val="150000"/>
              </a:lnSpc>
            </a:pPr>
            <a:r>
              <a:rPr lang="en-GB" sz="1200" dirty="0">
                <a:solidFill>
                  <a:schemeClr val="tx1"/>
                </a:solidFill>
                <a:latin typeface="Book Antiqua" panose="02040602050305030304" pitchFamily="18" charset="0"/>
              </a:rPr>
              <a:t>If the bit is 0, then the read is directed to the production FS. </a:t>
            </a:r>
          </a:p>
          <a:p>
            <a:pPr algn="just">
              <a:lnSpc>
                <a:spcPct val="150000"/>
              </a:lnSpc>
            </a:pPr>
            <a:r>
              <a:rPr lang="en-GB" sz="1200" dirty="0">
                <a:solidFill>
                  <a:schemeClr val="tx1"/>
                </a:solidFill>
                <a:latin typeface="Book Antiqua" panose="02040602050305030304" pitchFamily="18" charset="0"/>
              </a:rPr>
              <a:t>If the bit is 1, then the block address is obtained from the </a:t>
            </a:r>
            <a:r>
              <a:rPr lang="en-GB" sz="1200" dirty="0" err="1">
                <a:solidFill>
                  <a:schemeClr val="tx1"/>
                </a:solidFill>
                <a:latin typeface="Book Antiqua" panose="02040602050305030304" pitchFamily="18" charset="0"/>
              </a:rPr>
              <a:t>blockmap</a:t>
            </a:r>
            <a:r>
              <a:rPr lang="en-GB" sz="1200" dirty="0">
                <a:solidFill>
                  <a:schemeClr val="tx1"/>
                </a:solidFill>
                <a:latin typeface="Book Antiqua" panose="02040602050305030304" pitchFamily="18" charset="0"/>
              </a:rPr>
              <a:t>, and the data is read from that address on the Snap FS. </a:t>
            </a:r>
          </a:p>
          <a:p>
            <a:pPr algn="just">
              <a:lnSpc>
                <a:spcPct val="150000"/>
              </a:lnSpc>
            </a:pPr>
            <a:r>
              <a:rPr lang="en-GB" sz="1200" dirty="0">
                <a:solidFill>
                  <a:schemeClr val="tx1"/>
                </a:solidFill>
                <a:latin typeface="Book Antiqua" panose="02040602050305030304" pitchFamily="18" charset="0"/>
              </a:rPr>
              <a:t>Read requests from the production </a:t>
            </a:r>
            <a:r>
              <a:rPr lang="en-IN" sz="1200" dirty="0">
                <a:solidFill>
                  <a:schemeClr val="tx1"/>
                </a:solidFill>
                <a:latin typeface="Book Antiqua" panose="02040602050305030304" pitchFamily="18" charset="0"/>
              </a:rPr>
              <a:t>FS work as normal.</a:t>
            </a:r>
          </a:p>
        </p:txBody>
      </p:sp>
      <p:sp>
        <p:nvSpPr>
          <p:cNvPr id="4" name="Content Placeholder 3">
            <a:extLst>
              <a:ext uri="{FF2B5EF4-FFF2-40B4-BE49-F238E27FC236}">
                <a16:creationId xmlns:a16="http://schemas.microsoft.com/office/drawing/2014/main" id="{8A602DF3-FFCB-1F91-0582-A8493DD1D51B}"/>
              </a:ext>
            </a:extLst>
          </p:cNvPr>
          <p:cNvSpPr>
            <a:spLocks noGrp="1"/>
          </p:cNvSpPr>
          <p:nvPr>
            <p:ph sz="quarter" idx="13"/>
          </p:nvPr>
        </p:nvSpPr>
        <p:spPr>
          <a:xfrm>
            <a:off x="1028700" y="228600"/>
            <a:ext cx="7772400" cy="457200"/>
          </a:xfrm>
        </p:spPr>
        <p:txBody>
          <a:bodyPr/>
          <a:lstStyle/>
          <a:p>
            <a:r>
              <a:rPr lang="en-IN" sz="2100" b="1" i="1" dirty="0">
                <a:solidFill>
                  <a:srgbClr val="C00000"/>
                </a:solidFill>
                <a:latin typeface="Book Antiqua" panose="02040602050305030304" pitchFamily="18" charset="0"/>
                <a:ea typeface="+mj-ea"/>
                <a:cs typeface="+mj-cs"/>
              </a:rPr>
              <a:t>File System Snapshot</a:t>
            </a:r>
          </a:p>
          <a:p>
            <a:endParaRPr lang="en-IN" dirty="0"/>
          </a:p>
        </p:txBody>
      </p:sp>
      <p:sp>
        <p:nvSpPr>
          <p:cNvPr id="5" name="Footer Placeholder 4">
            <a:extLst>
              <a:ext uri="{FF2B5EF4-FFF2-40B4-BE49-F238E27FC236}">
                <a16:creationId xmlns:a16="http://schemas.microsoft.com/office/drawing/2014/main" id="{45B51DE0-5174-D9C8-4467-5AD9AEB4F1FD}"/>
              </a:ext>
            </a:extLst>
          </p:cNvPr>
          <p:cNvSpPr>
            <a:spLocks noGrp="1"/>
          </p:cNvSpPr>
          <p:nvPr>
            <p:ph type="ftr" sz="quarter" idx="14"/>
          </p:nvPr>
        </p:nvSpPr>
        <p:spPr/>
        <p:txBody>
          <a:bodyPr/>
          <a:lstStyle/>
          <a:p>
            <a:pPr>
              <a:defRPr/>
            </a:pPr>
            <a:r>
              <a:rPr lang="en-US"/>
              <a:t>Module 11: Local Replication</a:t>
            </a:r>
            <a:endParaRPr lang="en-US" dirty="0"/>
          </a:p>
        </p:txBody>
      </p:sp>
      <p:sp>
        <p:nvSpPr>
          <p:cNvPr id="6" name="Slide Number Placeholder 5">
            <a:extLst>
              <a:ext uri="{FF2B5EF4-FFF2-40B4-BE49-F238E27FC236}">
                <a16:creationId xmlns:a16="http://schemas.microsoft.com/office/drawing/2014/main" id="{E01A214A-C96A-08A0-8D94-40EB10AE4EE9}"/>
              </a:ext>
            </a:extLst>
          </p:cNvPr>
          <p:cNvSpPr>
            <a:spLocks noGrp="1"/>
          </p:cNvSpPr>
          <p:nvPr>
            <p:ph type="sldNum" sz="quarter" idx="15"/>
          </p:nvPr>
        </p:nvSpPr>
        <p:spPr/>
        <p:txBody>
          <a:bodyPr/>
          <a:lstStyle/>
          <a:p>
            <a:pPr>
              <a:defRPr/>
            </a:pPr>
            <a:fld id="{E9C12BD9-86B3-4048-86CE-AC10D4E84307}" type="slidenum">
              <a:rPr lang="en-US" smtClean="0"/>
              <a:pPr>
                <a:defRPr/>
              </a:pPr>
              <a:t>63</a:t>
            </a:fld>
            <a:endParaRPr lang="en-US"/>
          </a:p>
        </p:txBody>
      </p:sp>
    </p:spTree>
    <p:extLst>
      <p:ext uri="{BB962C8B-B14F-4D97-AF65-F5344CB8AC3E}">
        <p14:creationId xmlns:p14="http://schemas.microsoft.com/office/powerpoint/2010/main" val="18389916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13869-8697-421C-2CB2-C0FA07DA1A0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881DDD8-73DC-FA8F-098D-805FEED6C9A8}"/>
              </a:ext>
            </a:extLst>
          </p:cNvPr>
          <p:cNvSpPr>
            <a:spLocks noGrp="1"/>
          </p:cNvSpPr>
          <p:nvPr>
            <p:ph type="subTitle" idx="1"/>
          </p:nvPr>
        </p:nvSpPr>
        <p:spPr>
          <a:xfrm>
            <a:off x="554566" y="753533"/>
            <a:ext cx="8246533" cy="2667000"/>
          </a:xfrm>
        </p:spPr>
        <p:txBody>
          <a:bodyPr/>
          <a:lstStyle/>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Figure 11-6 illustrates the write operations to the production fi le system. For example, a write data “C” occurs on block 3 at the production FS, which currently holds data “c”’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The snapshot application holds the I/O to the production FS and first copies the old data “c” to an available data block on the Snap FS. The bitmap and </a:t>
            </a:r>
            <a:r>
              <a:rPr lang="en-GB" sz="1200" dirty="0" err="1">
                <a:latin typeface="Book Antiqua" panose="02040602050305030304" pitchFamily="18" charset="0"/>
              </a:rPr>
              <a:t>blockmap</a:t>
            </a:r>
            <a:r>
              <a:rPr lang="en-GB" sz="1200" dirty="0">
                <a:latin typeface="Book Antiqua" panose="02040602050305030304" pitchFamily="18" charset="0"/>
              </a:rPr>
              <a:t> values for block 3 in the production FS are changed in the snap metadata.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The bitmap of block 3 is changed to 1, indicating that this block has changed on the production FS.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The block map of block 3 is changed and indicates the block number where the data is written in Snap FS, (in this case block 2).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After this is done, the I/</a:t>
            </a:r>
            <a:r>
              <a:rPr lang="en-GB" sz="1200" dirty="0" err="1">
                <a:latin typeface="Book Antiqua" panose="02040602050305030304" pitchFamily="18" charset="0"/>
              </a:rPr>
              <a:t>Os</a:t>
            </a:r>
            <a:r>
              <a:rPr lang="en-GB" sz="1200" dirty="0">
                <a:latin typeface="Book Antiqua" panose="02040602050305030304" pitchFamily="18" charset="0"/>
              </a:rPr>
              <a:t> to the production FS are allowed to complete.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Any subsequent writes to block 3 on the production FS occur as normal, and it does not initiate the </a:t>
            </a:r>
            <a:r>
              <a:rPr lang="en-GB" sz="1200" dirty="0" err="1">
                <a:latin typeface="Book Antiqua" panose="02040602050305030304" pitchFamily="18" charset="0"/>
              </a:rPr>
              <a:t>CoFW</a:t>
            </a:r>
            <a:r>
              <a:rPr lang="en-GB" sz="1200" dirty="0">
                <a:latin typeface="Book Antiqua" panose="02040602050305030304" pitchFamily="18" charset="0"/>
              </a:rPr>
              <a:t> operation. Similarly, if an I/O is issued to block 4 on the production FS to change the value of data “d” to “D,” the snapshot application holds the I/O to the production FS and copies the old data to an available data block on the Snap FS.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Then it changes the bitmap of block 4 to 1, indicating that the data block has changed on the production FS. </a:t>
            </a:r>
          </a:p>
          <a:p>
            <a:pPr marL="285750" indent="-285750" algn="just">
              <a:lnSpc>
                <a:spcPct val="150000"/>
              </a:lnSpc>
              <a:buFont typeface="Arial" panose="020B0604020202020204" pitchFamily="34" charset="0"/>
              <a:buChar char="•"/>
            </a:pPr>
            <a:r>
              <a:rPr lang="en-GB" sz="1200" dirty="0">
                <a:latin typeface="Book Antiqua" panose="02040602050305030304" pitchFamily="18" charset="0"/>
              </a:rPr>
              <a:t>The </a:t>
            </a:r>
            <a:r>
              <a:rPr lang="en-GB" sz="1200" dirty="0" err="1">
                <a:latin typeface="Book Antiqua" panose="02040602050305030304" pitchFamily="18" charset="0"/>
              </a:rPr>
              <a:t>blockmap</a:t>
            </a:r>
            <a:r>
              <a:rPr lang="en-GB" sz="1200" dirty="0">
                <a:latin typeface="Book Antiqua" panose="02040602050305030304" pitchFamily="18" charset="0"/>
              </a:rPr>
              <a:t> for block 4 indicates the block number where the data can be found on the Snap FS, in this case, data block 1 of the Snap FS. After this is done, the I/O to the production FS </a:t>
            </a:r>
            <a:r>
              <a:rPr lang="en-IN" sz="1200" dirty="0">
                <a:latin typeface="Book Antiqua" panose="02040602050305030304" pitchFamily="18" charset="0"/>
              </a:rPr>
              <a:t> is allowed to complete.</a:t>
            </a:r>
            <a:endParaRPr lang="en-IN" sz="1200" dirty="0">
              <a:solidFill>
                <a:schemeClr val="tx1"/>
              </a:solidFill>
              <a:latin typeface="Book Antiqua" panose="02040602050305030304" pitchFamily="18" charset="0"/>
            </a:endParaRPr>
          </a:p>
        </p:txBody>
      </p:sp>
      <p:sp>
        <p:nvSpPr>
          <p:cNvPr id="4" name="Content Placeholder 3">
            <a:extLst>
              <a:ext uri="{FF2B5EF4-FFF2-40B4-BE49-F238E27FC236}">
                <a16:creationId xmlns:a16="http://schemas.microsoft.com/office/drawing/2014/main" id="{518781DE-ED1A-04E8-1589-AE8C0717CB47}"/>
              </a:ext>
            </a:extLst>
          </p:cNvPr>
          <p:cNvSpPr>
            <a:spLocks noGrp="1"/>
          </p:cNvSpPr>
          <p:nvPr>
            <p:ph sz="quarter" idx="13"/>
          </p:nvPr>
        </p:nvSpPr>
        <p:spPr>
          <a:xfrm>
            <a:off x="1028700" y="228600"/>
            <a:ext cx="7772400" cy="457200"/>
          </a:xfrm>
        </p:spPr>
        <p:txBody>
          <a:bodyPr/>
          <a:lstStyle/>
          <a:p>
            <a:r>
              <a:rPr lang="en-IN" sz="2100" b="1" dirty="0">
                <a:solidFill>
                  <a:srgbClr val="C00000"/>
                </a:solidFill>
                <a:latin typeface="Book Antiqua" panose="02040602050305030304" pitchFamily="18" charset="0"/>
                <a:ea typeface="+mj-ea"/>
                <a:cs typeface="+mj-cs"/>
              </a:rPr>
              <a:t>File System Snapshot</a:t>
            </a:r>
          </a:p>
          <a:p>
            <a:endParaRPr lang="en-IN" dirty="0"/>
          </a:p>
        </p:txBody>
      </p:sp>
      <p:sp>
        <p:nvSpPr>
          <p:cNvPr id="5" name="Footer Placeholder 4">
            <a:extLst>
              <a:ext uri="{FF2B5EF4-FFF2-40B4-BE49-F238E27FC236}">
                <a16:creationId xmlns:a16="http://schemas.microsoft.com/office/drawing/2014/main" id="{2C89B94B-6F5D-D28B-82C5-1F0E03AAF15F}"/>
              </a:ext>
            </a:extLst>
          </p:cNvPr>
          <p:cNvSpPr>
            <a:spLocks noGrp="1"/>
          </p:cNvSpPr>
          <p:nvPr>
            <p:ph type="ftr" sz="quarter" idx="14"/>
          </p:nvPr>
        </p:nvSpPr>
        <p:spPr/>
        <p:txBody>
          <a:bodyPr/>
          <a:lstStyle/>
          <a:p>
            <a:pPr>
              <a:defRPr/>
            </a:pPr>
            <a:r>
              <a:rPr lang="en-US"/>
              <a:t>Module 11: Local Replication</a:t>
            </a:r>
            <a:endParaRPr lang="en-US" dirty="0"/>
          </a:p>
        </p:txBody>
      </p:sp>
      <p:sp>
        <p:nvSpPr>
          <p:cNvPr id="6" name="Slide Number Placeholder 5">
            <a:extLst>
              <a:ext uri="{FF2B5EF4-FFF2-40B4-BE49-F238E27FC236}">
                <a16:creationId xmlns:a16="http://schemas.microsoft.com/office/drawing/2014/main" id="{3B4FE9B0-7DE0-9F75-F49D-FE1AE38B23A3}"/>
              </a:ext>
            </a:extLst>
          </p:cNvPr>
          <p:cNvSpPr>
            <a:spLocks noGrp="1"/>
          </p:cNvSpPr>
          <p:nvPr>
            <p:ph type="sldNum" sz="quarter" idx="15"/>
          </p:nvPr>
        </p:nvSpPr>
        <p:spPr/>
        <p:txBody>
          <a:bodyPr/>
          <a:lstStyle/>
          <a:p>
            <a:pPr>
              <a:defRPr/>
            </a:pPr>
            <a:fld id="{E9C12BD9-86B3-4048-86CE-AC10D4E84307}" type="slidenum">
              <a:rPr lang="en-US" smtClean="0"/>
              <a:pPr>
                <a:defRPr/>
              </a:pPr>
              <a:t>64</a:t>
            </a:fld>
            <a:endParaRPr lang="en-US"/>
          </a:p>
        </p:txBody>
      </p:sp>
    </p:spTree>
    <p:extLst>
      <p:ext uri="{BB962C8B-B14F-4D97-AF65-F5344CB8AC3E}">
        <p14:creationId xmlns:p14="http://schemas.microsoft.com/office/powerpoint/2010/main" val="32279143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marL="231775" indent="-231775">
              <a:spcBef>
                <a:spcPct val="20000"/>
              </a:spcBef>
              <a:buClr>
                <a:srgbClr val="92D050"/>
              </a:buClr>
              <a:buSzPct val="120000"/>
            </a:pPr>
            <a:r>
              <a:rPr lang="en-US" sz="2100" b="1" dirty="0">
                <a:solidFill>
                  <a:srgbClr val="C00000"/>
                </a:solidFill>
                <a:latin typeface="Book Antiqua" panose="02040602050305030304" pitchFamily="18" charset="0"/>
              </a:rPr>
              <a:t>Host-based Replication: File System Snapshot</a:t>
            </a:r>
          </a:p>
        </p:txBody>
      </p:sp>
      <p:sp>
        <p:nvSpPr>
          <p:cNvPr id="6" name="Content Placeholder 5"/>
          <p:cNvSpPr>
            <a:spLocks noGrp="1"/>
          </p:cNvSpPr>
          <p:nvPr>
            <p:ph idx="1"/>
          </p:nvPr>
        </p:nvSpPr>
        <p:spPr>
          <a:xfrm>
            <a:off x="304800" y="914400"/>
            <a:ext cx="3886200" cy="5181600"/>
          </a:xfrm>
        </p:spPr>
        <p:txBody>
          <a:bodyPr/>
          <a:lstStyle/>
          <a:p>
            <a:pPr algn="just"/>
            <a:r>
              <a:rPr lang="en-US" sz="1700" dirty="0">
                <a:solidFill>
                  <a:schemeClr val="tx1"/>
                </a:solidFill>
                <a:latin typeface="Book Antiqua" panose="02040602050305030304" pitchFamily="18" charset="0"/>
              </a:rPr>
              <a:t>Pointer-based replication</a:t>
            </a:r>
          </a:p>
          <a:p>
            <a:pPr algn="just"/>
            <a:r>
              <a:rPr lang="en-US" sz="1700" dirty="0">
                <a:solidFill>
                  <a:schemeClr val="tx1"/>
                </a:solidFill>
                <a:latin typeface="Book Antiqua" panose="02040602050305030304" pitchFamily="18" charset="0"/>
              </a:rPr>
              <a:t>Uses Copy on First Write (CoFW) principle</a:t>
            </a:r>
          </a:p>
          <a:p>
            <a:pPr algn="just"/>
            <a:r>
              <a:rPr lang="en-US" sz="1700" dirty="0">
                <a:solidFill>
                  <a:schemeClr val="tx1"/>
                </a:solidFill>
                <a:latin typeface="Book Antiqua" panose="02040602050305030304" pitchFamily="18" charset="0"/>
              </a:rPr>
              <a:t>Uses bitmap and block map</a:t>
            </a:r>
          </a:p>
          <a:p>
            <a:pPr algn="just"/>
            <a:r>
              <a:rPr lang="en-US" sz="1700" dirty="0">
                <a:solidFill>
                  <a:schemeClr val="tx1"/>
                </a:solidFill>
                <a:latin typeface="Book Antiqua" panose="02040602050305030304" pitchFamily="18" charset="0"/>
              </a:rPr>
              <a:t>Requires a fraction of the space used by the production FS</a:t>
            </a:r>
          </a:p>
          <a:p>
            <a:pPr lvl="1" algn="just">
              <a:buNone/>
            </a:pPr>
            <a:endParaRPr lang="en-US" sz="1700" dirty="0">
              <a:solidFill>
                <a:schemeClr val="tx1"/>
              </a:solidFill>
              <a:latin typeface="Book Antiqua" panose="02040602050305030304" pitchFamily="18" charset="0"/>
            </a:endParaRPr>
          </a:p>
          <a:p>
            <a:pPr algn="just"/>
            <a:endParaRPr lang="en-US" sz="1700" dirty="0">
              <a:solidFill>
                <a:schemeClr val="tx1"/>
              </a:solidFill>
              <a:latin typeface="Book Antiqua" panose="02040602050305030304" pitchFamily="18" charset="0"/>
            </a:endParaRPr>
          </a:p>
        </p:txBody>
      </p:sp>
      <p:sp>
        <p:nvSpPr>
          <p:cNvPr id="3" name="Footer Placeholder 2"/>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pSp>
        <p:nvGrpSpPr>
          <p:cNvPr id="71" name="Group 70"/>
          <p:cNvGrpSpPr/>
          <p:nvPr/>
        </p:nvGrpSpPr>
        <p:grpSpPr>
          <a:xfrm>
            <a:off x="4343400" y="914401"/>
            <a:ext cx="4191000" cy="5022850"/>
            <a:chOff x="4495800" y="914401"/>
            <a:chExt cx="4191000" cy="5022850"/>
          </a:xfrm>
        </p:grpSpPr>
        <p:sp>
          <p:nvSpPr>
            <p:cNvPr id="8" name="Rectangle 2"/>
            <p:cNvSpPr>
              <a:spLocks noChangeArrowheads="1"/>
            </p:cNvSpPr>
            <p:nvPr/>
          </p:nvSpPr>
          <p:spPr bwMode="auto">
            <a:xfrm>
              <a:off x="6781800" y="914401"/>
              <a:ext cx="1905000" cy="5022850"/>
            </a:xfrm>
            <a:prstGeom prst="rect">
              <a:avLst/>
            </a:prstGeom>
            <a:noFill/>
            <a:ln w="25400" algn="ctr">
              <a:solidFill>
                <a:srgbClr val="FF0000"/>
              </a:solidFill>
              <a:miter lim="800000"/>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9" name="Rectangle 3"/>
            <p:cNvSpPr>
              <a:spLocks noChangeArrowheads="1"/>
            </p:cNvSpPr>
            <p:nvPr/>
          </p:nvSpPr>
          <p:spPr bwMode="auto">
            <a:xfrm>
              <a:off x="6918792" y="1447800"/>
              <a:ext cx="1633537" cy="2528887"/>
            </a:xfrm>
            <a:prstGeom prst="rect">
              <a:avLst/>
            </a:prstGeom>
            <a:solidFill>
              <a:srgbClr val="FFC000"/>
            </a:solidFill>
            <a:ln w="25400" algn="ctr">
              <a:solidFill>
                <a:srgbClr val="FF0000"/>
              </a:solidFill>
              <a:miter lim="800000"/>
              <a:headEnd/>
              <a:tailEnd type="none" w="lg" len="med"/>
            </a:ln>
            <a:effectLst/>
          </p:spPr>
          <p:txBody>
            <a:bodyPr wrap="none" lIns="0" tIns="0" rIns="0" bIns="0" anchor="t" anchorCtr="0"/>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0" name="Rectangle 4"/>
            <p:cNvSpPr>
              <a:spLocks noChangeArrowheads="1"/>
            </p:cNvSpPr>
            <p:nvPr/>
          </p:nvSpPr>
          <p:spPr bwMode="auto">
            <a:xfrm>
              <a:off x="4495800" y="1676400"/>
              <a:ext cx="1905000" cy="4260850"/>
            </a:xfrm>
            <a:prstGeom prst="rect">
              <a:avLst/>
            </a:prstGeom>
            <a:noFill/>
            <a:ln w="25400" algn="ctr">
              <a:solidFill>
                <a:srgbClr val="FF0000"/>
              </a:solidFill>
              <a:miter lim="800000"/>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Rectangle 7"/>
            <p:cNvSpPr>
              <a:spLocks noChangeArrowheads="1"/>
            </p:cNvSpPr>
            <p:nvPr/>
          </p:nvSpPr>
          <p:spPr bwMode="auto">
            <a:xfrm>
              <a:off x="4614863" y="1820862"/>
              <a:ext cx="1633537"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Production FS</a:t>
              </a:r>
            </a:p>
          </p:txBody>
        </p:sp>
        <p:sp>
          <p:nvSpPr>
            <p:cNvPr id="12" name="Rectangle 8"/>
            <p:cNvSpPr>
              <a:spLocks noChangeArrowheads="1"/>
            </p:cNvSpPr>
            <p:nvPr/>
          </p:nvSpPr>
          <p:spPr bwMode="auto">
            <a:xfrm>
              <a:off x="4614863" y="2255837"/>
              <a:ext cx="1633537"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Metadata</a:t>
              </a:r>
            </a:p>
          </p:txBody>
        </p:sp>
        <p:sp>
          <p:nvSpPr>
            <p:cNvPr id="13" name="Rectangle 9"/>
            <p:cNvSpPr>
              <a:spLocks noChangeArrowheads="1"/>
            </p:cNvSpPr>
            <p:nvPr/>
          </p:nvSpPr>
          <p:spPr bwMode="auto">
            <a:xfrm>
              <a:off x="4616450" y="2803525"/>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1 Data a</a:t>
              </a:r>
            </a:p>
          </p:txBody>
        </p:sp>
        <p:sp>
          <p:nvSpPr>
            <p:cNvPr id="14" name="Rectangle 10"/>
            <p:cNvSpPr>
              <a:spLocks noChangeArrowheads="1"/>
            </p:cNvSpPr>
            <p:nvPr/>
          </p:nvSpPr>
          <p:spPr bwMode="auto">
            <a:xfrm>
              <a:off x="4616450" y="3240087"/>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2 Data b</a:t>
              </a:r>
            </a:p>
          </p:txBody>
        </p:sp>
        <p:sp>
          <p:nvSpPr>
            <p:cNvPr id="15" name="Rectangle 11"/>
            <p:cNvSpPr>
              <a:spLocks noChangeArrowheads="1"/>
            </p:cNvSpPr>
            <p:nvPr/>
          </p:nvSpPr>
          <p:spPr bwMode="auto">
            <a:xfrm>
              <a:off x="4616450" y="3679918"/>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 name="Rectangle 12"/>
            <p:cNvSpPr>
              <a:spLocks noChangeArrowheads="1"/>
            </p:cNvSpPr>
            <p:nvPr/>
          </p:nvSpPr>
          <p:spPr bwMode="auto">
            <a:xfrm>
              <a:off x="4616450" y="4111812"/>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Rectangle 13"/>
            <p:cNvSpPr>
              <a:spLocks noChangeArrowheads="1"/>
            </p:cNvSpPr>
            <p:nvPr/>
          </p:nvSpPr>
          <p:spPr bwMode="auto">
            <a:xfrm>
              <a:off x="6918792" y="1021603"/>
              <a:ext cx="1633537"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FS Snapshot</a:t>
              </a:r>
            </a:p>
          </p:txBody>
        </p:sp>
        <p:sp>
          <p:nvSpPr>
            <p:cNvPr id="18" name="Rectangle 15"/>
            <p:cNvSpPr>
              <a:spLocks noChangeArrowheads="1"/>
            </p:cNvSpPr>
            <p:nvPr/>
          </p:nvSpPr>
          <p:spPr bwMode="auto">
            <a:xfrm>
              <a:off x="6920753" y="4570412"/>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9" name="Rectangle 16"/>
            <p:cNvSpPr>
              <a:spLocks noChangeArrowheads="1"/>
            </p:cNvSpPr>
            <p:nvPr/>
          </p:nvSpPr>
          <p:spPr bwMode="auto">
            <a:xfrm>
              <a:off x="6920753" y="5006415"/>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3 no data</a:t>
              </a:r>
            </a:p>
          </p:txBody>
        </p:sp>
        <p:sp>
          <p:nvSpPr>
            <p:cNvPr id="20" name="Rectangle 17"/>
            <p:cNvSpPr>
              <a:spLocks noChangeArrowheads="1"/>
            </p:cNvSpPr>
            <p:nvPr/>
          </p:nvSpPr>
          <p:spPr bwMode="auto">
            <a:xfrm>
              <a:off x="6920753" y="5442137"/>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4 no data</a:t>
              </a:r>
            </a:p>
          </p:txBody>
        </p:sp>
        <p:sp>
          <p:nvSpPr>
            <p:cNvPr id="21" name="Rectangle 18"/>
            <p:cNvSpPr>
              <a:spLocks noChangeArrowheads="1"/>
            </p:cNvSpPr>
            <p:nvPr/>
          </p:nvSpPr>
          <p:spPr bwMode="auto">
            <a:xfrm>
              <a:off x="7761288" y="1812925"/>
              <a:ext cx="739775" cy="369887"/>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BLK</a:t>
              </a:r>
            </a:p>
          </p:txBody>
        </p:sp>
        <p:sp>
          <p:nvSpPr>
            <p:cNvPr id="22" name="Rectangle 19"/>
            <p:cNvSpPr>
              <a:spLocks noChangeArrowheads="1"/>
            </p:cNvSpPr>
            <p:nvPr/>
          </p:nvSpPr>
          <p:spPr bwMode="auto">
            <a:xfrm>
              <a:off x="6969685" y="1812925"/>
              <a:ext cx="739775" cy="369887"/>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Bit</a:t>
              </a:r>
            </a:p>
          </p:txBody>
        </p:sp>
        <p:sp>
          <p:nvSpPr>
            <p:cNvPr id="23" name="Rectangle 20"/>
            <p:cNvSpPr>
              <a:spLocks noChangeArrowheads="1"/>
            </p:cNvSpPr>
            <p:nvPr/>
          </p:nvSpPr>
          <p:spPr bwMode="auto">
            <a:xfrm>
              <a:off x="6969685" y="2182812"/>
              <a:ext cx="739775" cy="369888"/>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1-0</a:t>
              </a:r>
            </a:p>
          </p:txBody>
        </p:sp>
        <p:sp>
          <p:nvSpPr>
            <p:cNvPr id="24" name="Rectangle 21"/>
            <p:cNvSpPr>
              <a:spLocks noChangeArrowheads="1"/>
            </p:cNvSpPr>
            <p:nvPr/>
          </p:nvSpPr>
          <p:spPr bwMode="auto">
            <a:xfrm>
              <a:off x="7761288" y="2181225"/>
              <a:ext cx="739775" cy="369887"/>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1-0</a:t>
              </a:r>
            </a:p>
          </p:txBody>
        </p:sp>
        <p:sp>
          <p:nvSpPr>
            <p:cNvPr id="25" name="Rectangle 22"/>
            <p:cNvSpPr>
              <a:spLocks noChangeArrowheads="1"/>
            </p:cNvSpPr>
            <p:nvPr/>
          </p:nvSpPr>
          <p:spPr bwMode="auto">
            <a:xfrm>
              <a:off x="6969685" y="2579687"/>
              <a:ext cx="739775" cy="369888"/>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2-0</a:t>
              </a:r>
            </a:p>
          </p:txBody>
        </p:sp>
        <p:sp>
          <p:nvSpPr>
            <p:cNvPr id="26" name="Rectangle 23"/>
            <p:cNvSpPr>
              <a:spLocks noChangeArrowheads="1"/>
            </p:cNvSpPr>
            <p:nvPr/>
          </p:nvSpPr>
          <p:spPr bwMode="auto">
            <a:xfrm>
              <a:off x="6969685" y="2954337"/>
              <a:ext cx="739775" cy="369888"/>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Rectangle 24"/>
            <p:cNvSpPr>
              <a:spLocks noChangeArrowheads="1"/>
            </p:cNvSpPr>
            <p:nvPr/>
          </p:nvSpPr>
          <p:spPr bwMode="auto">
            <a:xfrm>
              <a:off x="6969685" y="3351212"/>
              <a:ext cx="739775" cy="369888"/>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Rectangle 25"/>
            <p:cNvSpPr>
              <a:spLocks noChangeArrowheads="1"/>
            </p:cNvSpPr>
            <p:nvPr/>
          </p:nvSpPr>
          <p:spPr bwMode="auto">
            <a:xfrm>
              <a:off x="7761288" y="2576512"/>
              <a:ext cx="739775" cy="369888"/>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2-0</a:t>
              </a:r>
            </a:p>
          </p:txBody>
        </p:sp>
        <p:sp>
          <p:nvSpPr>
            <p:cNvPr id="29" name="Rectangle 26"/>
            <p:cNvSpPr>
              <a:spLocks noChangeArrowheads="1"/>
            </p:cNvSpPr>
            <p:nvPr/>
          </p:nvSpPr>
          <p:spPr bwMode="auto">
            <a:xfrm>
              <a:off x="7761288" y="2951162"/>
              <a:ext cx="739775" cy="369888"/>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Rectangle 27"/>
            <p:cNvSpPr>
              <a:spLocks noChangeArrowheads="1"/>
            </p:cNvSpPr>
            <p:nvPr/>
          </p:nvSpPr>
          <p:spPr bwMode="auto">
            <a:xfrm>
              <a:off x="7761288" y="3348037"/>
              <a:ext cx="739775" cy="369888"/>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Rectangle 28"/>
            <p:cNvSpPr>
              <a:spLocks noChangeArrowheads="1"/>
            </p:cNvSpPr>
            <p:nvPr/>
          </p:nvSpPr>
          <p:spPr bwMode="auto">
            <a:xfrm>
              <a:off x="4572000" y="5403850"/>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N Data N</a:t>
              </a:r>
            </a:p>
          </p:txBody>
        </p:sp>
        <p:sp>
          <p:nvSpPr>
            <p:cNvPr id="32" name="Rectangle 29"/>
            <p:cNvSpPr>
              <a:spLocks noChangeArrowheads="1"/>
            </p:cNvSpPr>
            <p:nvPr/>
          </p:nvSpPr>
          <p:spPr bwMode="auto">
            <a:xfrm>
              <a:off x="6920753" y="4133850"/>
              <a:ext cx="1633538" cy="412750"/>
            </a:xfrm>
            <a:prstGeom prst="rect">
              <a:avLst/>
            </a:prstGeom>
            <a:solidFill>
              <a:srgbClr val="FFC000"/>
            </a:solidFill>
            <a:ln w="25400" algn="ctr">
              <a:solidFill>
                <a:srgbClr val="FF0000"/>
              </a:solidFill>
              <a:miter lim="800000"/>
              <a:headEnd/>
              <a:tailEnd type="none" w="lg" len="med"/>
            </a:ln>
            <a:effectLst/>
          </p:spPr>
          <p:txBody>
            <a:bodyPr wrap="none" lIns="0" tIns="0" rIns="0" bIns="0" anchor="ctr"/>
            <a:lstStyle/>
            <a:p>
              <a:pPr marL="354013" marR="0" lvl="0" indent="-354013" algn="ctr" defTabSz="941388"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cxnSp>
          <p:nvCxnSpPr>
            <p:cNvPr id="33" name="AutoShape 30"/>
            <p:cNvCxnSpPr>
              <a:cxnSpLocks noChangeShapeType="1"/>
            </p:cNvCxnSpPr>
            <p:nvPr/>
          </p:nvCxnSpPr>
          <p:spPr bwMode="auto">
            <a:xfrm rot="10800000" flipH="1" flipV="1">
              <a:off x="8511960" y="3536155"/>
              <a:ext cx="48932" cy="804069"/>
            </a:xfrm>
            <a:prstGeom prst="curvedConnector3">
              <a:avLst>
                <a:gd name="adj1" fmla="val 567179"/>
              </a:avLst>
            </a:prstGeom>
            <a:noFill/>
            <a:ln w="25400">
              <a:solidFill>
                <a:srgbClr val="0000FF"/>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31"/>
            <p:cNvCxnSpPr>
              <a:cxnSpLocks noChangeShapeType="1"/>
            </p:cNvCxnSpPr>
            <p:nvPr/>
          </p:nvCxnSpPr>
          <p:spPr bwMode="auto">
            <a:xfrm rot="10800000" flipH="1" flipV="1">
              <a:off x="8502298" y="3139281"/>
              <a:ext cx="48932" cy="1637506"/>
            </a:xfrm>
            <a:prstGeom prst="curvedConnector3">
              <a:avLst>
                <a:gd name="adj1" fmla="val 1061839"/>
              </a:avLst>
            </a:prstGeom>
            <a:noFill/>
            <a:ln w="25400">
              <a:solidFill>
                <a:srgbClr val="0000FF"/>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Text Box 37"/>
            <p:cNvSpPr txBox="1">
              <a:spLocks noChangeArrowheads="1"/>
            </p:cNvSpPr>
            <p:nvPr/>
          </p:nvSpPr>
          <p:spPr bwMode="auto">
            <a:xfrm>
              <a:off x="5032993" y="3727356"/>
              <a:ext cx="605807"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3 Data</a:t>
              </a:r>
            </a:p>
          </p:txBody>
        </p:sp>
        <p:sp>
          <p:nvSpPr>
            <p:cNvPr id="36" name="Text Box 38"/>
            <p:cNvSpPr txBox="1">
              <a:spLocks noChangeArrowheads="1"/>
            </p:cNvSpPr>
            <p:nvPr/>
          </p:nvSpPr>
          <p:spPr bwMode="auto">
            <a:xfrm>
              <a:off x="5694662" y="3725022"/>
              <a:ext cx="123432"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C</a:t>
              </a:r>
            </a:p>
          </p:txBody>
        </p:sp>
        <p:sp>
          <p:nvSpPr>
            <p:cNvPr id="37" name="Text Box 40"/>
            <p:cNvSpPr txBox="1">
              <a:spLocks noChangeArrowheads="1"/>
            </p:cNvSpPr>
            <p:nvPr/>
          </p:nvSpPr>
          <p:spPr bwMode="auto">
            <a:xfrm>
              <a:off x="7298252" y="4643904"/>
              <a:ext cx="756489"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2 Data c</a:t>
              </a:r>
            </a:p>
          </p:txBody>
        </p:sp>
        <p:sp>
          <p:nvSpPr>
            <p:cNvPr id="38" name="Text Box 43"/>
            <p:cNvSpPr txBox="1">
              <a:spLocks noChangeArrowheads="1"/>
            </p:cNvSpPr>
            <p:nvPr/>
          </p:nvSpPr>
          <p:spPr bwMode="auto">
            <a:xfrm>
              <a:off x="7176450" y="2982819"/>
              <a:ext cx="304571"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3-1</a:t>
              </a:r>
            </a:p>
          </p:txBody>
        </p:sp>
        <p:sp>
          <p:nvSpPr>
            <p:cNvPr id="39" name="Text Box 44"/>
            <p:cNvSpPr txBox="1">
              <a:spLocks noChangeArrowheads="1"/>
            </p:cNvSpPr>
            <p:nvPr/>
          </p:nvSpPr>
          <p:spPr bwMode="auto">
            <a:xfrm>
              <a:off x="5031657" y="4156075"/>
              <a:ext cx="605807"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4 Data</a:t>
              </a:r>
            </a:p>
          </p:txBody>
        </p:sp>
        <p:sp>
          <p:nvSpPr>
            <p:cNvPr id="40" name="Text Box 45"/>
            <p:cNvSpPr txBox="1">
              <a:spLocks noChangeArrowheads="1"/>
            </p:cNvSpPr>
            <p:nvPr/>
          </p:nvSpPr>
          <p:spPr bwMode="auto">
            <a:xfrm>
              <a:off x="5684391" y="4156075"/>
              <a:ext cx="142668"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D</a:t>
              </a:r>
            </a:p>
          </p:txBody>
        </p:sp>
        <p:sp>
          <p:nvSpPr>
            <p:cNvPr id="41" name="Text Box 48"/>
            <p:cNvSpPr txBox="1">
              <a:spLocks noChangeArrowheads="1"/>
            </p:cNvSpPr>
            <p:nvPr/>
          </p:nvSpPr>
          <p:spPr bwMode="auto">
            <a:xfrm>
              <a:off x="7290057" y="4179047"/>
              <a:ext cx="780535"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1 Data d</a:t>
              </a:r>
            </a:p>
          </p:txBody>
        </p:sp>
        <p:sp>
          <p:nvSpPr>
            <p:cNvPr id="42" name="Text Box 50"/>
            <p:cNvSpPr txBox="1">
              <a:spLocks noChangeArrowheads="1"/>
            </p:cNvSpPr>
            <p:nvPr/>
          </p:nvSpPr>
          <p:spPr bwMode="auto">
            <a:xfrm>
              <a:off x="7171994" y="3399678"/>
              <a:ext cx="304571"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4-1</a:t>
              </a:r>
            </a:p>
          </p:txBody>
        </p:sp>
        <p:sp>
          <p:nvSpPr>
            <p:cNvPr id="43" name="Text Box 52"/>
            <p:cNvSpPr txBox="1">
              <a:spLocks noChangeArrowheads="1"/>
            </p:cNvSpPr>
            <p:nvPr/>
          </p:nvSpPr>
          <p:spPr bwMode="auto">
            <a:xfrm>
              <a:off x="7974335" y="2998014"/>
              <a:ext cx="304571"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3-2</a:t>
              </a:r>
            </a:p>
          </p:txBody>
        </p:sp>
        <p:sp>
          <p:nvSpPr>
            <p:cNvPr id="44" name="Text Box 54"/>
            <p:cNvSpPr txBox="1">
              <a:spLocks noChangeArrowheads="1"/>
            </p:cNvSpPr>
            <p:nvPr/>
          </p:nvSpPr>
          <p:spPr bwMode="auto">
            <a:xfrm>
              <a:off x="7970320" y="3394048"/>
              <a:ext cx="304571" cy="276999"/>
            </a:xfrm>
            <a:prstGeom prst="rect">
              <a:avLst/>
            </a:prstGeom>
            <a:solidFill>
              <a:srgbClr val="FFC000"/>
            </a:solidFill>
            <a:ln>
              <a:noFill/>
            </a:ln>
            <a:effec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A80000">
                      <a:lumMod val="60000"/>
                      <a:lumOff val="40000"/>
                    </a:srgbClr>
                  </a:solidFill>
                  <a:effectLst/>
                  <a:uLnTx/>
                  <a:uFillTx/>
                  <a:latin typeface="Calibri" pitchFamily="34" charset="0"/>
                  <a:ea typeface="+mn-ea"/>
                  <a:cs typeface="Calibri" pitchFamily="34" charset="0"/>
                </a:rPr>
                <a:t>4-1</a:t>
              </a:r>
            </a:p>
          </p:txBody>
        </p:sp>
        <p:sp>
          <p:nvSpPr>
            <p:cNvPr id="45" name="Oval 44"/>
            <p:cNvSpPr/>
            <p:nvPr/>
          </p:nvSpPr>
          <p:spPr>
            <a:xfrm>
              <a:off x="5311588" y="4800600"/>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taNormalLF-Roman"/>
                <a:ea typeface="+mn-ea"/>
                <a:cs typeface="Arial"/>
              </a:endParaRPr>
            </a:p>
          </p:txBody>
        </p:sp>
        <p:sp>
          <p:nvSpPr>
            <p:cNvPr id="46" name="Oval 45"/>
            <p:cNvSpPr/>
            <p:nvPr/>
          </p:nvSpPr>
          <p:spPr>
            <a:xfrm>
              <a:off x="5311588" y="4953000"/>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taNormalLF-Roman"/>
                <a:ea typeface="+mn-ea"/>
                <a:cs typeface="Arial"/>
              </a:endParaRPr>
            </a:p>
          </p:txBody>
        </p:sp>
        <p:sp>
          <p:nvSpPr>
            <p:cNvPr id="47" name="Oval 46"/>
            <p:cNvSpPr/>
            <p:nvPr/>
          </p:nvSpPr>
          <p:spPr>
            <a:xfrm>
              <a:off x="5311588" y="5105400"/>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etaNormalLF-Roman"/>
                <a:ea typeface="+mn-ea"/>
                <a:cs typeface="Arial"/>
              </a:endParaRPr>
            </a:p>
          </p:txBody>
        </p:sp>
        <p:cxnSp>
          <p:nvCxnSpPr>
            <p:cNvPr id="48" name="Straight Arrow Connector 47"/>
            <p:cNvCxnSpPr>
              <a:stCxn id="15" idx="3"/>
            </p:cNvCxnSpPr>
            <p:nvPr/>
          </p:nvCxnSpPr>
          <p:spPr>
            <a:xfrm>
              <a:off x="6249988" y="3886293"/>
              <a:ext cx="1040069" cy="890494"/>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6" idx="3"/>
            </p:cNvCxnSpPr>
            <p:nvPr/>
          </p:nvCxnSpPr>
          <p:spPr>
            <a:xfrm>
              <a:off x="6249988" y="4318187"/>
              <a:ext cx="926462" cy="22038"/>
            </a:xfrm>
            <a:prstGeom prst="straightConnector1">
              <a:avLst/>
            </a:prstGeom>
            <a:ln w="25400">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0E7FC1A1-5E83-F7AE-F64E-3A0653ED5F4C}"/>
              </a:ext>
            </a:extLst>
          </p:cNvPr>
          <p:cNvSpPr txBox="1"/>
          <p:nvPr/>
        </p:nvSpPr>
        <p:spPr>
          <a:xfrm>
            <a:off x="228600" y="5356124"/>
            <a:ext cx="4572000" cy="292388"/>
          </a:xfrm>
          <a:prstGeom prst="rect">
            <a:avLst/>
          </a:prstGeom>
          <a:noFill/>
        </p:spPr>
        <p:txBody>
          <a:bodyPr wrap="square">
            <a:spAutoFit/>
          </a:bodyPr>
          <a:lstStyle/>
          <a:p>
            <a:r>
              <a:rPr lang="en-GB" sz="1300" b="1" i="0" u="none" strike="noStrike" baseline="0" dirty="0">
                <a:solidFill>
                  <a:srgbClr val="C00000"/>
                </a:solidFill>
                <a:latin typeface="Book Antiqua" panose="02040602050305030304" pitchFamily="18" charset="0"/>
              </a:rPr>
              <a:t>Figure 11-6: </a:t>
            </a:r>
            <a:r>
              <a:rPr lang="en-GB" sz="1300" b="0" i="0" u="none" strike="noStrike" baseline="0" dirty="0">
                <a:solidFill>
                  <a:srgbClr val="C00000"/>
                </a:solidFill>
                <a:latin typeface="Book Antiqua" panose="02040602050305030304" pitchFamily="18" charset="0"/>
              </a:rPr>
              <a:t>Write to production FS</a:t>
            </a:r>
            <a:endParaRPr lang="en-IN" sz="1300" dirty="0">
              <a:solidFill>
                <a:srgbClr val="C00000"/>
              </a:solidFill>
              <a:latin typeface="Book Antiqua" panose="0204060205030503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Storage Array-based Local Replication</a:t>
            </a:r>
          </a:p>
        </p:txBody>
      </p:sp>
      <p:sp>
        <p:nvSpPr>
          <p:cNvPr id="5" name="Content Placeholder 4"/>
          <p:cNvSpPr>
            <a:spLocks noGrp="1"/>
          </p:cNvSpPr>
          <p:nvPr>
            <p:ph idx="1"/>
          </p:nvPr>
        </p:nvSpPr>
        <p:spPr>
          <a:xfrm>
            <a:off x="609600" y="914400"/>
            <a:ext cx="8153400" cy="2201607"/>
          </a:xfrm>
        </p:spPr>
        <p:txBody>
          <a:bodyPr/>
          <a:lstStyle/>
          <a:p>
            <a:r>
              <a:rPr lang="en-US" sz="1700" dirty="0">
                <a:solidFill>
                  <a:schemeClr val="tx1"/>
                </a:solidFill>
                <a:latin typeface="Book Antiqua" panose="02040602050305030304" pitchFamily="18" charset="0"/>
              </a:rPr>
              <a:t>Replication performed by the array operating environment</a:t>
            </a:r>
          </a:p>
          <a:p>
            <a:r>
              <a:rPr lang="en-US" sz="1700" dirty="0">
                <a:solidFill>
                  <a:schemeClr val="tx1"/>
                </a:solidFill>
                <a:latin typeface="Book Antiqua" panose="02040602050305030304" pitchFamily="18" charset="0"/>
              </a:rPr>
              <a:t>Source and replica are on the same array</a:t>
            </a:r>
          </a:p>
          <a:p>
            <a:r>
              <a:rPr lang="en-US" sz="1700" dirty="0">
                <a:solidFill>
                  <a:schemeClr val="tx1"/>
                </a:solidFill>
                <a:latin typeface="Book Antiqua" panose="02040602050305030304" pitchFamily="18" charset="0"/>
              </a:rPr>
              <a:t>Types of array-based replication</a:t>
            </a:r>
          </a:p>
          <a:p>
            <a:pPr lvl="1"/>
            <a:r>
              <a:rPr lang="en-US" sz="1700" dirty="0">
                <a:solidFill>
                  <a:schemeClr val="tx1"/>
                </a:solidFill>
                <a:latin typeface="Book Antiqua" panose="02040602050305030304" pitchFamily="18" charset="0"/>
              </a:rPr>
              <a:t>Full-volume mirroring</a:t>
            </a:r>
          </a:p>
          <a:p>
            <a:pPr lvl="1"/>
            <a:r>
              <a:rPr lang="en-US" sz="1700" dirty="0">
                <a:solidFill>
                  <a:schemeClr val="tx1"/>
                </a:solidFill>
                <a:latin typeface="Book Antiqua" panose="02040602050305030304" pitchFamily="18" charset="0"/>
              </a:rPr>
              <a:t>Pointer-based full-volume replication </a:t>
            </a:r>
          </a:p>
          <a:p>
            <a:pPr lvl="1"/>
            <a:r>
              <a:rPr lang="en-US" sz="1700" dirty="0">
                <a:solidFill>
                  <a:schemeClr val="tx1"/>
                </a:solidFill>
                <a:latin typeface="Book Antiqua" panose="02040602050305030304" pitchFamily="18" charset="0"/>
              </a:rPr>
              <a:t>Pointer-based virtual replication</a:t>
            </a:r>
          </a:p>
          <a:p>
            <a:endParaRPr lang="en-US" sz="1700" dirty="0">
              <a:solidFill>
                <a:schemeClr val="tx1"/>
              </a:solidFill>
              <a:latin typeface="Book Antiqua" panose="02040602050305030304" pitchFamily="18" charset="0"/>
            </a:endParaRPr>
          </a:p>
        </p:txBody>
      </p:sp>
      <p:sp>
        <p:nvSpPr>
          <p:cNvPr id="3" name="Footer Placeholder 2"/>
          <p:cNvSpPr>
            <a:spLocks noGrp="1"/>
          </p:cNvSpPr>
          <p:nvPr>
            <p:ph type="ftr" sz="quarter" idx="10"/>
          </p:nvPr>
        </p:nvSpPr>
        <p:spPr/>
        <p:txBody>
          <a:bodyPr/>
          <a:lstStyle/>
          <a:p>
            <a:pPr>
              <a:defRPr/>
            </a:pPr>
            <a:r>
              <a:rPr lang="en-US"/>
              <a:t>Module 11: Local Replication</a:t>
            </a:r>
            <a:endParaRPr lang="en-US" dirty="0"/>
          </a:p>
        </p:txBody>
      </p:sp>
      <p:sp>
        <p:nvSpPr>
          <p:cNvPr id="4" name="Slide Number Placeholder 3"/>
          <p:cNvSpPr>
            <a:spLocks noGrp="1"/>
          </p:cNvSpPr>
          <p:nvPr>
            <p:ph type="sldNum" sz="quarter" idx="11"/>
          </p:nvPr>
        </p:nvSpPr>
        <p:spPr/>
        <p:txBody>
          <a:bodyPr/>
          <a:lstStyle/>
          <a:p>
            <a:pPr>
              <a:defRPr/>
            </a:pPr>
            <a:fld id="{6ADD0FD0-5DC7-4614-9D2E-5687F653AACB}" type="slidenum">
              <a:rPr lang="en-US" smtClean="0"/>
              <a:pPr>
                <a:defRPr/>
              </a:pPr>
              <a:t>66</a:t>
            </a:fld>
            <a:endParaRPr lang="en-US"/>
          </a:p>
        </p:txBody>
      </p:sp>
      <p:sp>
        <p:nvSpPr>
          <p:cNvPr id="6" name="AutoShape 4"/>
          <p:cNvSpPr>
            <a:spLocks noChangeArrowheads="1"/>
          </p:cNvSpPr>
          <p:nvPr/>
        </p:nvSpPr>
        <p:spPr bwMode="auto">
          <a:xfrm>
            <a:off x="3539836" y="3979339"/>
            <a:ext cx="2576512" cy="1470025"/>
          </a:xfrm>
          <a:prstGeom prst="roundRect">
            <a:avLst>
              <a:gd name="adj" fmla="val 11472"/>
            </a:avLst>
          </a:prstGeom>
          <a:solidFill>
            <a:srgbClr val="B2B2B2">
              <a:alpha val="50000"/>
            </a:srgbClr>
          </a:solidFill>
          <a:ln w="19050" algn="ctr">
            <a:solidFill>
              <a:srgbClr val="000000"/>
            </a:solidFill>
            <a:round/>
            <a:headEnd/>
            <a:tailEnd type="none" w="lg" len="med"/>
          </a:ln>
          <a:effectLst/>
        </p:spPr>
        <p:txBody>
          <a:bodyPr wrap="none" lIns="0" tIns="0" rIns="0" bIns="0" anchor="ctr"/>
          <a:lstStyle/>
          <a:p>
            <a:endParaRPr lang="en-US">
              <a:latin typeface="Calibri" pitchFamily="34" charset="0"/>
              <a:cs typeface="Calibri" pitchFamily="34" charset="0"/>
            </a:endParaRPr>
          </a:p>
        </p:txBody>
      </p:sp>
      <p:sp>
        <p:nvSpPr>
          <p:cNvPr id="9" name="Rectangle 6"/>
          <p:cNvSpPr>
            <a:spLocks noChangeArrowheads="1"/>
          </p:cNvSpPr>
          <p:nvPr/>
        </p:nvSpPr>
        <p:spPr bwMode="gray">
          <a:xfrm>
            <a:off x="6613092" y="5483423"/>
            <a:ext cx="906463"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BC Host</a:t>
            </a:r>
          </a:p>
        </p:txBody>
      </p:sp>
      <p:sp>
        <p:nvSpPr>
          <p:cNvPr id="10" name="Rectangle 7"/>
          <p:cNvSpPr>
            <a:spLocks noChangeArrowheads="1"/>
          </p:cNvSpPr>
          <p:nvPr/>
        </p:nvSpPr>
        <p:spPr bwMode="gray">
          <a:xfrm>
            <a:off x="4405742" y="5429208"/>
            <a:ext cx="1190903" cy="307777"/>
          </a:xfrm>
          <a:prstGeom prst="rect">
            <a:avLst/>
          </a:prstGeom>
          <a:noFill/>
          <a:ln w="12700" algn="ctr">
            <a:noFill/>
            <a:miter lim="800000"/>
            <a:headEnd/>
            <a:tailEnd type="none" w="lg" len="lg"/>
          </a:ln>
          <a:effectLst/>
        </p:spPr>
        <p:txBody>
          <a:bodyPr wrap="none">
            <a:spAutoFit/>
          </a:bodyPr>
          <a:lstStyle/>
          <a:p>
            <a:pPr marL="354013" indent="-354013" defTabSz="941388"/>
            <a:r>
              <a:rPr lang="en-US" sz="1400" b="1" dirty="0">
                <a:solidFill>
                  <a:srgbClr val="000000"/>
                </a:solidFill>
                <a:latin typeface="Calibri" pitchFamily="34" charset="0"/>
                <a:cs typeface="Calibri" pitchFamily="34" charset="0"/>
              </a:rPr>
              <a:t>Storage Array</a:t>
            </a:r>
          </a:p>
        </p:txBody>
      </p:sp>
      <p:sp>
        <p:nvSpPr>
          <p:cNvPr id="15" name="Line 10"/>
          <p:cNvSpPr>
            <a:spLocks noChangeShapeType="1"/>
          </p:cNvSpPr>
          <p:nvPr/>
        </p:nvSpPr>
        <p:spPr bwMode="auto">
          <a:xfrm>
            <a:off x="5747327" y="4632234"/>
            <a:ext cx="9144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Calibri" pitchFamily="34" charset="0"/>
              <a:cs typeface="Calibri" pitchFamily="34" charset="0"/>
            </a:endParaRPr>
          </a:p>
        </p:txBody>
      </p:sp>
      <p:grpSp>
        <p:nvGrpSpPr>
          <p:cNvPr id="24" name="Group 23"/>
          <p:cNvGrpSpPr/>
          <p:nvPr/>
        </p:nvGrpSpPr>
        <p:grpSpPr>
          <a:xfrm>
            <a:off x="5111894" y="4341000"/>
            <a:ext cx="876733" cy="859650"/>
            <a:chOff x="3989676" y="4578928"/>
            <a:chExt cx="876733" cy="859650"/>
          </a:xfrm>
        </p:grpSpPr>
        <p:pic>
          <p:nvPicPr>
            <p:cNvPr id="25"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4038600" y="4578928"/>
              <a:ext cx="609600" cy="609600"/>
            </a:xfrm>
            <a:prstGeom prst="rect">
              <a:avLst/>
            </a:prstGeom>
            <a:noFill/>
          </p:spPr>
        </p:pic>
        <p:sp>
          <p:nvSpPr>
            <p:cNvPr id="26" name="Text Box 15"/>
            <p:cNvSpPr txBox="1">
              <a:spLocks noChangeArrowheads="1"/>
            </p:cNvSpPr>
            <p:nvPr/>
          </p:nvSpPr>
          <p:spPr bwMode="gray">
            <a:xfrm>
              <a:off x="3989676" y="5130801"/>
              <a:ext cx="876733" cy="307777"/>
            </a:xfrm>
            <a:prstGeom prst="rect">
              <a:avLst/>
            </a:prstGeom>
            <a:noFill/>
            <a:ln w="12700" algn="ctr">
              <a:noFill/>
              <a:miter lim="800000"/>
              <a:headEnd/>
              <a:tailEnd type="none" w="lg" len="lg"/>
            </a:ln>
            <a:effectLst/>
          </p:spPr>
          <p:txBody>
            <a:bodyPr>
              <a:spAutoFit/>
            </a:bodyPr>
            <a:lstStyle/>
            <a:p>
              <a:pPr marL="354013" indent="-354013" defTabSz="941388"/>
              <a:r>
                <a:rPr lang="en-US" sz="1400" b="1" dirty="0">
                  <a:solidFill>
                    <a:srgbClr val="000000"/>
                  </a:solidFill>
                  <a:latin typeface="Calibri" pitchFamily="34" charset="0"/>
                  <a:cs typeface="Calibri" pitchFamily="34" charset="0"/>
                </a:rPr>
                <a:t>Replica</a:t>
              </a:r>
            </a:p>
          </p:txBody>
        </p:sp>
      </p:grpSp>
      <p:sp>
        <p:nvSpPr>
          <p:cNvPr id="7" name="Line 11"/>
          <p:cNvSpPr>
            <a:spLocks noChangeShapeType="1"/>
          </p:cNvSpPr>
          <p:nvPr/>
        </p:nvSpPr>
        <p:spPr bwMode="auto">
          <a:xfrm>
            <a:off x="2775527" y="4673509"/>
            <a:ext cx="1325562"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txBody>
          <a:bodyPr/>
          <a:lstStyle/>
          <a:p>
            <a:endParaRPr lang="en-US">
              <a:latin typeface="Calibri" pitchFamily="34" charset="0"/>
              <a:cs typeface="Calibri" pitchFamily="34" charset="0"/>
            </a:endParaRPr>
          </a:p>
        </p:txBody>
      </p:sp>
      <p:grpSp>
        <p:nvGrpSpPr>
          <p:cNvPr id="23" name="Group 22"/>
          <p:cNvGrpSpPr/>
          <p:nvPr/>
        </p:nvGrpSpPr>
        <p:grpSpPr>
          <a:xfrm>
            <a:off x="3806103" y="4337537"/>
            <a:ext cx="876733" cy="844063"/>
            <a:chOff x="3989676" y="4578928"/>
            <a:chExt cx="876733" cy="844063"/>
          </a:xfrm>
        </p:grpSpPr>
        <p:pic>
          <p:nvPicPr>
            <p:cNvPr id="18"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4038600" y="4578928"/>
              <a:ext cx="609600" cy="609600"/>
            </a:xfrm>
            <a:prstGeom prst="rect">
              <a:avLst/>
            </a:prstGeom>
            <a:noFill/>
          </p:spPr>
        </p:pic>
        <p:sp>
          <p:nvSpPr>
            <p:cNvPr id="13" name="Text Box 15"/>
            <p:cNvSpPr txBox="1">
              <a:spLocks noChangeArrowheads="1"/>
            </p:cNvSpPr>
            <p:nvPr/>
          </p:nvSpPr>
          <p:spPr bwMode="gray">
            <a:xfrm>
              <a:off x="3989676" y="5115214"/>
              <a:ext cx="876733" cy="307777"/>
            </a:xfrm>
            <a:prstGeom prst="rect">
              <a:avLst/>
            </a:prstGeom>
            <a:noFill/>
            <a:ln w="12700" algn="ctr">
              <a:noFill/>
              <a:miter lim="800000"/>
              <a:headEnd/>
              <a:tailEnd type="none" w="lg" len="lg"/>
            </a:ln>
            <a:effectLst/>
          </p:spPr>
          <p:txBody>
            <a:bodyPr>
              <a:spAutoFit/>
            </a:bodyPr>
            <a:lstStyle/>
            <a:p>
              <a:pPr marL="354013" indent="-354013" defTabSz="941388"/>
              <a:r>
                <a:rPr lang="en-US" sz="1400" b="1" dirty="0">
                  <a:solidFill>
                    <a:srgbClr val="000000"/>
                  </a:solidFill>
                  <a:latin typeface="Calibri" pitchFamily="34" charset="0"/>
                  <a:cs typeface="Calibri" pitchFamily="34" charset="0"/>
                </a:rPr>
                <a:t>Source</a:t>
              </a:r>
            </a:p>
          </p:txBody>
        </p:sp>
      </p:grpSp>
      <p:sp>
        <p:nvSpPr>
          <p:cNvPr id="8" name="Rectangle 5"/>
          <p:cNvSpPr>
            <a:spLocks noChangeArrowheads="1"/>
          </p:cNvSpPr>
          <p:nvPr/>
        </p:nvSpPr>
        <p:spPr bwMode="gray">
          <a:xfrm>
            <a:off x="1828800" y="5456778"/>
            <a:ext cx="1447800"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Production Host</a:t>
            </a:r>
          </a:p>
        </p:txBody>
      </p:sp>
      <p:pic>
        <p:nvPicPr>
          <p:cNvPr id="19"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2213263" y="3939218"/>
            <a:ext cx="685800" cy="1585211"/>
          </a:xfrm>
          <a:prstGeom prst="rect">
            <a:avLst/>
          </a:prstGeom>
          <a:noFill/>
        </p:spPr>
      </p:pic>
      <p:pic>
        <p:nvPicPr>
          <p:cNvPr id="22"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6629400" y="3954207"/>
            <a:ext cx="685800" cy="1585211"/>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Full-Volume Mirroring</a:t>
            </a:r>
          </a:p>
        </p:txBody>
      </p:sp>
      <p:sp>
        <p:nvSpPr>
          <p:cNvPr id="5" name="Footer Placeholder 4"/>
          <p:cNvSpPr>
            <a:spLocks noGrp="1"/>
          </p:cNvSpPr>
          <p:nvPr>
            <p:ph type="ftr" sz="quarter" idx="13"/>
          </p:nvPr>
        </p:nvSpPr>
        <p:spPr/>
        <p:txBody>
          <a:bodyPr/>
          <a:lstStyle/>
          <a:p>
            <a:pPr>
              <a:defRPr/>
            </a:pPr>
            <a:r>
              <a:rPr lang="en-US"/>
              <a:t>Module 11: Local Replication</a:t>
            </a:r>
            <a:endParaRPr lang="en-US" dirty="0"/>
          </a:p>
        </p:txBody>
      </p:sp>
      <p:sp>
        <p:nvSpPr>
          <p:cNvPr id="6" name="Slide Number Placeholder 5"/>
          <p:cNvSpPr>
            <a:spLocks noGrp="1"/>
          </p:cNvSpPr>
          <p:nvPr>
            <p:ph type="sldNum" sz="quarter" idx="14"/>
          </p:nvPr>
        </p:nvSpPr>
        <p:spPr/>
        <p:txBody>
          <a:bodyPr/>
          <a:lstStyle/>
          <a:p>
            <a:pPr>
              <a:defRPr/>
            </a:pPr>
            <a:fld id="{895683FA-D0FB-447D-82E1-0D3AF418E355}" type="slidenum">
              <a:rPr lang="en-US" smtClean="0"/>
              <a:pPr>
                <a:defRPr/>
              </a:pPr>
              <a:t>67</a:t>
            </a:fld>
            <a:endParaRPr lang="en-US"/>
          </a:p>
        </p:txBody>
      </p:sp>
      <p:sp>
        <p:nvSpPr>
          <p:cNvPr id="7" name="AutoShape 2"/>
          <p:cNvSpPr>
            <a:spLocks noChangeArrowheads="1"/>
          </p:cNvSpPr>
          <p:nvPr/>
        </p:nvSpPr>
        <p:spPr bwMode="gray">
          <a:xfrm>
            <a:off x="533401" y="979486"/>
            <a:ext cx="7905750" cy="2068513"/>
          </a:xfrm>
          <a:prstGeom prst="roundRect">
            <a:avLst>
              <a:gd name="adj" fmla="val 8750"/>
            </a:avLst>
          </a:prstGeom>
          <a:solidFill>
            <a:schemeClr val="bg1"/>
          </a:solidFill>
          <a:ln w="19050" algn="ctr">
            <a:solidFill>
              <a:srgbClr val="000000"/>
            </a:solidFill>
            <a:round/>
            <a:headEnd/>
            <a:tailEnd/>
          </a:ln>
          <a:effectLst/>
        </p:spPr>
        <p:txBody>
          <a:bodyPr wrap="none" anchor="ctr"/>
          <a:lstStyle/>
          <a:p>
            <a:endParaRPr lang="en-US">
              <a:latin typeface="Calibri" pitchFamily="34" charset="0"/>
              <a:cs typeface="Calibri" pitchFamily="34" charset="0"/>
            </a:endParaRPr>
          </a:p>
        </p:txBody>
      </p:sp>
      <p:sp>
        <p:nvSpPr>
          <p:cNvPr id="8" name="AutoShape 4"/>
          <p:cNvSpPr>
            <a:spLocks noChangeArrowheads="1"/>
          </p:cNvSpPr>
          <p:nvPr/>
        </p:nvSpPr>
        <p:spPr bwMode="gray">
          <a:xfrm>
            <a:off x="2681288" y="1184275"/>
            <a:ext cx="3706812" cy="1606550"/>
          </a:xfrm>
          <a:prstGeom prst="roundRect">
            <a:avLst>
              <a:gd name="adj" fmla="val 8750"/>
            </a:avLst>
          </a:prstGeom>
          <a:solidFill>
            <a:srgbClr val="EAEAEA">
              <a:alpha val="73000"/>
            </a:srgbClr>
          </a:solidFill>
          <a:ln w="19050" algn="ctr">
            <a:solidFill>
              <a:schemeClr val="bg1">
                <a:lumMod val="50000"/>
              </a:schemeClr>
            </a:solidFill>
            <a:round/>
            <a:headEnd/>
            <a:tailEnd/>
          </a:ln>
          <a:effectLst/>
        </p:spPr>
        <p:txBody>
          <a:bodyPr wrap="none" anchor="ctr"/>
          <a:lstStyle/>
          <a:p>
            <a:pPr marL="354013" indent="-354013" defTabSz="941388"/>
            <a:endParaRPr lang="en-US" sz="1200">
              <a:latin typeface="Calibri" pitchFamily="34" charset="0"/>
              <a:cs typeface="Calibri" pitchFamily="34" charset="0"/>
            </a:endParaRPr>
          </a:p>
        </p:txBody>
      </p:sp>
      <p:sp>
        <p:nvSpPr>
          <p:cNvPr id="9" name="Rectangle 5"/>
          <p:cNvSpPr>
            <a:spLocks noChangeArrowheads="1"/>
          </p:cNvSpPr>
          <p:nvPr/>
        </p:nvSpPr>
        <p:spPr bwMode="gray">
          <a:xfrm>
            <a:off x="1395413" y="1735137"/>
            <a:ext cx="2008187" cy="255588"/>
          </a:xfrm>
          <a:prstGeom prst="rect">
            <a:avLst/>
          </a:prstGeom>
          <a:solidFill>
            <a:schemeClr val="tx2">
              <a:lumMod val="60000"/>
              <a:lumOff val="40000"/>
            </a:schemeClr>
          </a:solidFill>
          <a:ln w="6350" algn="ctr">
            <a:solidFill>
              <a:srgbClr val="000000"/>
            </a:solidFill>
            <a:miter lim="800000"/>
            <a:headEnd/>
            <a:tailEnd/>
          </a:ln>
          <a:effectLst/>
        </p:spPr>
        <p:txBody>
          <a:bodyPr wrap="none" anchor="ctr"/>
          <a:lstStyle/>
          <a:p>
            <a:endParaRPr lang="en-US">
              <a:latin typeface="Calibri" pitchFamily="34" charset="0"/>
              <a:cs typeface="Calibri" pitchFamily="34" charset="0"/>
            </a:endParaRPr>
          </a:p>
        </p:txBody>
      </p:sp>
      <p:sp>
        <p:nvSpPr>
          <p:cNvPr id="10" name="Rectangle 6"/>
          <p:cNvSpPr>
            <a:spLocks noChangeArrowheads="1"/>
          </p:cNvSpPr>
          <p:nvPr/>
        </p:nvSpPr>
        <p:spPr bwMode="gray">
          <a:xfrm>
            <a:off x="6515100" y="1735137"/>
            <a:ext cx="1158875" cy="255588"/>
          </a:xfrm>
          <a:prstGeom prst="rect">
            <a:avLst/>
          </a:prstGeom>
          <a:solidFill>
            <a:schemeClr val="tx2">
              <a:lumMod val="60000"/>
              <a:lumOff val="40000"/>
            </a:schemeClr>
          </a:solidFill>
          <a:ln w="6350" algn="ctr">
            <a:solidFill>
              <a:srgbClr val="000000"/>
            </a:solidFill>
            <a:miter lim="800000"/>
            <a:headEnd/>
            <a:tailEnd/>
          </a:ln>
          <a:effectLst/>
        </p:spPr>
        <p:txBody>
          <a:bodyPr wrap="none" anchor="ctr"/>
          <a:lstStyle/>
          <a:p>
            <a:endParaRPr lang="en-US">
              <a:latin typeface="Calibri" pitchFamily="34" charset="0"/>
              <a:cs typeface="Calibri" pitchFamily="34" charset="0"/>
            </a:endParaRPr>
          </a:p>
        </p:txBody>
      </p:sp>
      <p:sp>
        <p:nvSpPr>
          <p:cNvPr id="11" name="AutoShape 7"/>
          <p:cNvSpPr>
            <a:spLocks noChangeArrowheads="1"/>
          </p:cNvSpPr>
          <p:nvPr/>
        </p:nvSpPr>
        <p:spPr bwMode="gray">
          <a:xfrm>
            <a:off x="3687763" y="1609725"/>
            <a:ext cx="1554162" cy="508000"/>
          </a:xfrm>
          <a:prstGeom prst="rightArrow">
            <a:avLst>
              <a:gd name="adj1" fmla="val 50000"/>
              <a:gd name="adj2" fmla="val 56244"/>
            </a:avLst>
          </a:prstGeom>
          <a:solidFill>
            <a:schemeClr val="tx2">
              <a:lumMod val="60000"/>
              <a:lumOff val="40000"/>
            </a:schemeClr>
          </a:solidFill>
          <a:ln w="6350" algn="ctr">
            <a:solidFill>
              <a:srgbClr val="000000"/>
            </a:solidFill>
            <a:miter lim="800000"/>
            <a:headEnd/>
            <a:tailEnd/>
          </a:ln>
          <a:effectLst/>
        </p:spPr>
        <p:txBody>
          <a:bodyPr wrap="none" anchor="ctr"/>
          <a:lstStyle/>
          <a:p>
            <a:endParaRPr lang="en-US">
              <a:latin typeface="Calibri" pitchFamily="34" charset="0"/>
              <a:cs typeface="Calibri" pitchFamily="34" charset="0"/>
            </a:endParaRPr>
          </a:p>
        </p:txBody>
      </p:sp>
      <p:sp>
        <p:nvSpPr>
          <p:cNvPr id="12" name="Text Box 8"/>
          <p:cNvSpPr txBox="1">
            <a:spLocks noChangeArrowheads="1"/>
          </p:cNvSpPr>
          <p:nvPr/>
        </p:nvSpPr>
        <p:spPr bwMode="gray">
          <a:xfrm>
            <a:off x="3307773" y="2154382"/>
            <a:ext cx="503984" cy="215444"/>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400" b="1" dirty="0">
                <a:solidFill>
                  <a:srgbClr val="000A18"/>
                </a:solidFill>
                <a:latin typeface="Calibri" pitchFamily="34" charset="0"/>
                <a:cs typeface="Calibri" pitchFamily="34" charset="0"/>
              </a:rPr>
              <a:t>Source</a:t>
            </a:r>
          </a:p>
        </p:txBody>
      </p:sp>
      <p:sp>
        <p:nvSpPr>
          <p:cNvPr id="14" name="Freeform 11"/>
          <p:cNvSpPr>
            <a:spLocks/>
          </p:cNvSpPr>
          <p:nvPr/>
        </p:nvSpPr>
        <p:spPr bwMode="gray">
          <a:xfrm rot="20840647">
            <a:off x="6467475" y="1612900"/>
            <a:ext cx="352425" cy="620712"/>
          </a:xfrm>
          <a:custGeom>
            <a:avLst/>
            <a:gdLst/>
            <a:ahLst/>
            <a:cxnLst>
              <a:cxn ang="0">
                <a:pos x="121" y="47"/>
              </a:cxn>
              <a:cxn ang="0">
                <a:pos x="202" y="146"/>
              </a:cxn>
              <a:cxn ang="0">
                <a:pos x="281" y="250"/>
              </a:cxn>
              <a:cxn ang="0">
                <a:pos x="281" y="336"/>
              </a:cxn>
              <a:cxn ang="0">
                <a:pos x="0" y="336"/>
              </a:cxn>
              <a:cxn ang="0">
                <a:pos x="0" y="0"/>
              </a:cxn>
              <a:cxn ang="0">
                <a:pos x="121" y="0"/>
              </a:cxn>
              <a:cxn ang="0">
                <a:pos x="121" y="47"/>
              </a:cxn>
            </a:cxnLst>
            <a:rect l="0" t="0" r="r" b="b"/>
            <a:pathLst>
              <a:path w="281" h="336">
                <a:moveTo>
                  <a:pt x="121" y="47"/>
                </a:moveTo>
                <a:cubicBezTo>
                  <a:pt x="215" y="44"/>
                  <a:pt x="202" y="146"/>
                  <a:pt x="202" y="146"/>
                </a:cubicBezTo>
                <a:cubicBezTo>
                  <a:pt x="202" y="146"/>
                  <a:pt x="193" y="245"/>
                  <a:pt x="281" y="250"/>
                </a:cubicBezTo>
                <a:cubicBezTo>
                  <a:pt x="281" y="293"/>
                  <a:pt x="281" y="336"/>
                  <a:pt x="281" y="336"/>
                </a:cubicBezTo>
                <a:lnTo>
                  <a:pt x="0" y="336"/>
                </a:lnTo>
                <a:lnTo>
                  <a:pt x="0" y="0"/>
                </a:lnTo>
                <a:lnTo>
                  <a:pt x="121" y="0"/>
                </a:lnTo>
                <a:cubicBezTo>
                  <a:pt x="121" y="0"/>
                  <a:pt x="121" y="23"/>
                  <a:pt x="121" y="47"/>
                </a:cubicBezTo>
                <a:close/>
              </a:path>
            </a:pathLst>
          </a:custGeom>
          <a:solidFill>
            <a:schemeClr val="bg1"/>
          </a:solidFill>
          <a:ln w="12700" cap="flat" cmpd="sng">
            <a:noFill/>
            <a:prstDash val="solid"/>
            <a:round/>
            <a:headEnd/>
            <a:tailEnd/>
          </a:ln>
          <a:effectLst/>
        </p:spPr>
        <p:txBody>
          <a:bodyPr wrap="none" anchor="ctr"/>
          <a:lstStyle/>
          <a:p>
            <a:endParaRPr lang="en-US">
              <a:latin typeface="Calibri" pitchFamily="34" charset="0"/>
              <a:cs typeface="Calibri" pitchFamily="34" charset="0"/>
            </a:endParaRPr>
          </a:p>
        </p:txBody>
      </p:sp>
      <p:sp>
        <p:nvSpPr>
          <p:cNvPr id="23" name="Text Box 21"/>
          <p:cNvSpPr txBox="1">
            <a:spLocks noChangeArrowheads="1"/>
          </p:cNvSpPr>
          <p:nvPr/>
        </p:nvSpPr>
        <p:spPr bwMode="gray">
          <a:xfrm>
            <a:off x="4081463" y="838200"/>
            <a:ext cx="952312" cy="276999"/>
          </a:xfrm>
          <a:prstGeom prst="rect">
            <a:avLst/>
          </a:prstGeom>
          <a:solidFill>
            <a:schemeClr val="bg1"/>
          </a:solidFill>
          <a:ln w="12700" algn="ctr">
            <a:noFill/>
            <a:miter lim="800000"/>
            <a:headEnd/>
            <a:tailEnd type="none" w="lg" len="lg"/>
          </a:ln>
          <a:effectLst/>
        </p:spPr>
        <p:txBody>
          <a:bodyPr wrap="none" lIns="45720" tIns="0" rIns="45720" bIns="0">
            <a:spAutoFit/>
          </a:bodyPr>
          <a:lstStyle/>
          <a:p>
            <a:pPr marL="354013" indent="-354013" algn="l" defTabSz="941388"/>
            <a:r>
              <a:rPr lang="en-US" sz="1800" b="1" dirty="0">
                <a:solidFill>
                  <a:srgbClr val="000A18"/>
                </a:solidFill>
                <a:latin typeface="Calibri" pitchFamily="34" charset="0"/>
                <a:cs typeface="Calibri" pitchFamily="34" charset="0"/>
              </a:rPr>
              <a:t>Attached</a:t>
            </a:r>
          </a:p>
        </p:txBody>
      </p:sp>
      <p:sp>
        <p:nvSpPr>
          <p:cNvPr id="24" name="Text Box 22"/>
          <p:cNvSpPr txBox="1">
            <a:spLocks noChangeArrowheads="1"/>
          </p:cNvSpPr>
          <p:nvPr/>
        </p:nvSpPr>
        <p:spPr bwMode="gray">
          <a:xfrm>
            <a:off x="4114800" y="2773362"/>
            <a:ext cx="1190903" cy="307777"/>
          </a:xfrm>
          <a:prstGeom prst="rect">
            <a:avLst/>
          </a:prstGeom>
          <a:noFill/>
          <a:ln w="12700" algn="ctr">
            <a:noFill/>
            <a:miter lim="800000"/>
            <a:headEnd/>
            <a:tailEnd type="none" w="lg" len="lg"/>
          </a:ln>
          <a:effectLst/>
        </p:spPr>
        <p:txBody>
          <a:bodyPr wrap="none">
            <a:spAutoFit/>
          </a:bodyPr>
          <a:lstStyle/>
          <a:p>
            <a:pPr marL="354013" indent="-354013" defTabSz="941388"/>
            <a:r>
              <a:rPr lang="en-US" sz="1400" b="1" dirty="0">
                <a:solidFill>
                  <a:srgbClr val="000000"/>
                </a:solidFill>
                <a:latin typeface="Calibri" pitchFamily="34" charset="0"/>
                <a:cs typeface="Calibri" pitchFamily="34" charset="0"/>
              </a:rPr>
              <a:t>Storage Array</a:t>
            </a:r>
          </a:p>
        </p:txBody>
      </p:sp>
      <p:sp>
        <p:nvSpPr>
          <p:cNvPr id="25" name="Text Box 23"/>
          <p:cNvSpPr txBox="1">
            <a:spLocks noChangeArrowheads="1"/>
          </p:cNvSpPr>
          <p:nvPr/>
        </p:nvSpPr>
        <p:spPr bwMode="gray">
          <a:xfrm>
            <a:off x="1698812" y="1502615"/>
            <a:ext cx="741870" cy="184666"/>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200" b="1" dirty="0">
                <a:solidFill>
                  <a:srgbClr val="000A18"/>
                </a:solidFill>
                <a:latin typeface="Calibri" pitchFamily="34" charset="0"/>
                <a:cs typeface="Calibri" pitchFamily="34" charset="0"/>
              </a:rPr>
              <a:t>Read/Write</a:t>
            </a:r>
          </a:p>
        </p:txBody>
      </p:sp>
      <p:sp>
        <p:nvSpPr>
          <p:cNvPr id="26" name="Text Box 24"/>
          <p:cNvSpPr txBox="1">
            <a:spLocks noChangeArrowheads="1"/>
          </p:cNvSpPr>
          <p:nvPr/>
        </p:nvSpPr>
        <p:spPr bwMode="gray">
          <a:xfrm>
            <a:off x="6500813" y="1516062"/>
            <a:ext cx="664606" cy="184666"/>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200" b="1" dirty="0">
                <a:solidFill>
                  <a:srgbClr val="000A18"/>
                </a:solidFill>
                <a:latin typeface="Calibri" pitchFamily="34" charset="0"/>
                <a:cs typeface="Calibri" pitchFamily="34" charset="0"/>
              </a:rPr>
              <a:t>Not Ready</a:t>
            </a:r>
          </a:p>
        </p:txBody>
      </p:sp>
      <p:sp>
        <p:nvSpPr>
          <p:cNvPr id="31" name="Rectangle 5"/>
          <p:cNvSpPr>
            <a:spLocks noChangeArrowheads="1"/>
          </p:cNvSpPr>
          <p:nvPr/>
        </p:nvSpPr>
        <p:spPr bwMode="gray">
          <a:xfrm>
            <a:off x="578427" y="2698659"/>
            <a:ext cx="1447800"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Production Host</a:t>
            </a:r>
          </a:p>
        </p:txBody>
      </p:sp>
      <p:sp>
        <p:nvSpPr>
          <p:cNvPr id="32" name="Rectangle 6"/>
          <p:cNvSpPr>
            <a:spLocks noChangeArrowheads="1"/>
          </p:cNvSpPr>
          <p:nvPr/>
        </p:nvSpPr>
        <p:spPr bwMode="gray">
          <a:xfrm>
            <a:off x="7432964" y="2698173"/>
            <a:ext cx="906463"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BC Host</a:t>
            </a:r>
          </a:p>
        </p:txBody>
      </p:sp>
      <p:sp>
        <p:nvSpPr>
          <p:cNvPr id="33" name="Text Box 8"/>
          <p:cNvSpPr txBox="1">
            <a:spLocks noChangeArrowheads="1"/>
          </p:cNvSpPr>
          <p:nvPr/>
        </p:nvSpPr>
        <p:spPr bwMode="gray">
          <a:xfrm>
            <a:off x="5552835" y="2169528"/>
            <a:ext cx="458844" cy="215444"/>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400" b="1" dirty="0">
                <a:solidFill>
                  <a:srgbClr val="000A18"/>
                </a:solidFill>
                <a:latin typeface="Calibri" pitchFamily="34" charset="0"/>
                <a:cs typeface="Calibri" pitchFamily="34" charset="0"/>
              </a:rPr>
              <a:t>Target</a:t>
            </a:r>
          </a:p>
        </p:txBody>
      </p:sp>
      <p:sp>
        <p:nvSpPr>
          <p:cNvPr id="29" name="AutoShape 26"/>
          <p:cNvSpPr>
            <a:spLocks noChangeArrowheads="1"/>
          </p:cNvSpPr>
          <p:nvPr/>
        </p:nvSpPr>
        <p:spPr bwMode="gray">
          <a:xfrm>
            <a:off x="2636837" y="3719513"/>
            <a:ext cx="3802062" cy="1606550"/>
          </a:xfrm>
          <a:prstGeom prst="roundRect">
            <a:avLst>
              <a:gd name="adj" fmla="val 8750"/>
            </a:avLst>
          </a:prstGeom>
          <a:solidFill>
            <a:srgbClr val="EAEAEA">
              <a:alpha val="73000"/>
            </a:srgbClr>
          </a:solidFill>
          <a:ln w="19050" algn="ctr">
            <a:solidFill>
              <a:schemeClr val="bg1">
                <a:lumMod val="50000"/>
              </a:schemeClr>
            </a:solidFill>
            <a:round/>
            <a:headEnd/>
            <a:tailEnd/>
          </a:ln>
          <a:effectLst/>
        </p:spPr>
        <p:txBody>
          <a:bodyPr wrap="none" anchor="ctr"/>
          <a:lstStyle/>
          <a:p>
            <a:pPr marL="354013" indent="-354013" defTabSz="941388"/>
            <a:endParaRPr lang="en-US" sz="1200">
              <a:latin typeface="Calibri" pitchFamily="34" charset="0"/>
              <a:cs typeface="Calibri" pitchFamily="34" charset="0"/>
            </a:endParaRPr>
          </a:p>
        </p:txBody>
      </p:sp>
      <p:sp>
        <p:nvSpPr>
          <p:cNvPr id="30" name="Rectangle 27"/>
          <p:cNvSpPr>
            <a:spLocks noChangeArrowheads="1"/>
          </p:cNvSpPr>
          <p:nvPr/>
        </p:nvSpPr>
        <p:spPr bwMode="gray">
          <a:xfrm>
            <a:off x="5753099" y="4278313"/>
            <a:ext cx="2008188" cy="255587"/>
          </a:xfrm>
          <a:prstGeom prst="rect">
            <a:avLst/>
          </a:prstGeom>
          <a:solidFill>
            <a:schemeClr val="tx2">
              <a:lumMod val="60000"/>
              <a:lumOff val="40000"/>
            </a:schemeClr>
          </a:solidFill>
          <a:ln w="6350" algn="ctr">
            <a:solidFill>
              <a:srgbClr val="000000"/>
            </a:solidFill>
            <a:miter lim="800000"/>
            <a:headEnd/>
            <a:tailEnd/>
          </a:ln>
          <a:effectLst/>
        </p:spPr>
        <p:txBody>
          <a:bodyPr wrap="none" anchor="ctr"/>
          <a:lstStyle/>
          <a:p>
            <a:endParaRPr lang="en-US">
              <a:latin typeface="Calibri" pitchFamily="34" charset="0"/>
              <a:cs typeface="Calibri" pitchFamily="34" charset="0"/>
            </a:endParaRPr>
          </a:p>
        </p:txBody>
      </p:sp>
      <p:sp>
        <p:nvSpPr>
          <p:cNvPr id="36" name="AutoShape 28"/>
          <p:cNvSpPr>
            <a:spLocks noChangeArrowheads="1"/>
          </p:cNvSpPr>
          <p:nvPr/>
        </p:nvSpPr>
        <p:spPr bwMode="gray">
          <a:xfrm>
            <a:off x="533400" y="3522663"/>
            <a:ext cx="7905749" cy="2192337"/>
          </a:xfrm>
          <a:prstGeom prst="roundRect">
            <a:avLst>
              <a:gd name="adj" fmla="val 8750"/>
            </a:avLst>
          </a:prstGeom>
          <a:noFill/>
          <a:ln w="19050" algn="ctr">
            <a:solidFill>
              <a:srgbClr val="000000"/>
            </a:solidFill>
            <a:round/>
            <a:headEnd/>
            <a:tailEnd/>
          </a:ln>
          <a:effectLst/>
        </p:spPr>
        <p:txBody>
          <a:bodyPr wrap="none" anchor="ctr"/>
          <a:lstStyle/>
          <a:p>
            <a:endParaRPr lang="en-US">
              <a:latin typeface="Calibri" pitchFamily="34" charset="0"/>
              <a:cs typeface="Calibri" pitchFamily="34" charset="0"/>
            </a:endParaRPr>
          </a:p>
        </p:txBody>
      </p:sp>
      <p:sp>
        <p:nvSpPr>
          <p:cNvPr id="37" name="Rectangle 29"/>
          <p:cNvSpPr>
            <a:spLocks noChangeArrowheads="1"/>
          </p:cNvSpPr>
          <p:nvPr/>
        </p:nvSpPr>
        <p:spPr bwMode="gray">
          <a:xfrm>
            <a:off x="1379537" y="4278313"/>
            <a:ext cx="2008187" cy="255587"/>
          </a:xfrm>
          <a:prstGeom prst="rect">
            <a:avLst/>
          </a:prstGeom>
          <a:solidFill>
            <a:schemeClr val="tx2">
              <a:lumMod val="60000"/>
              <a:lumOff val="40000"/>
            </a:schemeClr>
          </a:solidFill>
          <a:ln w="6350" algn="ctr">
            <a:solidFill>
              <a:srgbClr val="000000"/>
            </a:solidFill>
            <a:miter lim="800000"/>
            <a:headEnd/>
            <a:tailEnd/>
          </a:ln>
          <a:effectLst/>
        </p:spPr>
        <p:txBody>
          <a:bodyPr wrap="none" anchor="ctr"/>
          <a:lstStyle/>
          <a:p>
            <a:endParaRPr lang="en-US">
              <a:latin typeface="Calibri" pitchFamily="34" charset="0"/>
              <a:cs typeface="Calibri" pitchFamily="34" charset="0"/>
            </a:endParaRPr>
          </a:p>
        </p:txBody>
      </p:sp>
      <p:sp>
        <p:nvSpPr>
          <p:cNvPr id="38" name="Text Box 32"/>
          <p:cNvSpPr txBox="1">
            <a:spLocks noChangeArrowheads="1"/>
          </p:cNvSpPr>
          <p:nvPr/>
        </p:nvSpPr>
        <p:spPr bwMode="gray">
          <a:xfrm>
            <a:off x="3714749" y="3381375"/>
            <a:ext cx="1476686" cy="276999"/>
          </a:xfrm>
          <a:prstGeom prst="rect">
            <a:avLst/>
          </a:prstGeom>
          <a:solidFill>
            <a:schemeClr val="bg1"/>
          </a:solidFill>
          <a:ln w="12700" algn="ctr">
            <a:noFill/>
            <a:miter lim="800000"/>
            <a:headEnd/>
            <a:tailEnd type="none" w="lg" len="lg"/>
          </a:ln>
          <a:effectLst/>
        </p:spPr>
        <p:txBody>
          <a:bodyPr wrap="none" lIns="45720" tIns="0" rIns="45720" bIns="0">
            <a:spAutoFit/>
          </a:bodyPr>
          <a:lstStyle/>
          <a:p>
            <a:pPr marL="354013" indent="-354013" algn="l" defTabSz="941388"/>
            <a:r>
              <a:rPr lang="en-US" sz="1800" b="1" dirty="0">
                <a:solidFill>
                  <a:srgbClr val="000A18"/>
                </a:solidFill>
                <a:latin typeface="Calibri" pitchFamily="34" charset="0"/>
                <a:cs typeface="Calibri" pitchFamily="34" charset="0"/>
              </a:rPr>
              <a:t>Detached - PIT</a:t>
            </a:r>
          </a:p>
        </p:txBody>
      </p:sp>
      <p:sp>
        <p:nvSpPr>
          <p:cNvPr id="42" name="Text Box 42"/>
          <p:cNvSpPr txBox="1">
            <a:spLocks noChangeArrowheads="1"/>
          </p:cNvSpPr>
          <p:nvPr/>
        </p:nvSpPr>
        <p:spPr bwMode="gray">
          <a:xfrm>
            <a:off x="1670704" y="4030009"/>
            <a:ext cx="741870" cy="184666"/>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200" b="1" dirty="0">
                <a:solidFill>
                  <a:srgbClr val="000A18"/>
                </a:solidFill>
                <a:latin typeface="Calibri" pitchFamily="34" charset="0"/>
                <a:cs typeface="Calibri" pitchFamily="34" charset="0"/>
              </a:rPr>
              <a:t>Read/Write</a:t>
            </a:r>
          </a:p>
        </p:txBody>
      </p:sp>
      <p:sp>
        <p:nvSpPr>
          <p:cNvPr id="43" name="Text Box 43"/>
          <p:cNvSpPr txBox="1">
            <a:spLocks noChangeArrowheads="1"/>
          </p:cNvSpPr>
          <p:nvPr/>
        </p:nvSpPr>
        <p:spPr bwMode="gray">
          <a:xfrm>
            <a:off x="6555722" y="4038600"/>
            <a:ext cx="741870" cy="184666"/>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200" b="1" dirty="0">
                <a:solidFill>
                  <a:srgbClr val="000A18"/>
                </a:solidFill>
                <a:latin typeface="Calibri" pitchFamily="34" charset="0"/>
                <a:cs typeface="Calibri" pitchFamily="34" charset="0"/>
              </a:rPr>
              <a:t>Read/Write</a:t>
            </a:r>
          </a:p>
        </p:txBody>
      </p:sp>
      <p:sp>
        <p:nvSpPr>
          <p:cNvPr id="44" name="Line 44"/>
          <p:cNvSpPr>
            <a:spLocks noChangeShapeType="1"/>
          </p:cNvSpPr>
          <p:nvPr/>
        </p:nvSpPr>
        <p:spPr bwMode="gray">
          <a:xfrm>
            <a:off x="4462462" y="3816350"/>
            <a:ext cx="0" cy="1285875"/>
          </a:xfrm>
          <a:prstGeom prst="line">
            <a:avLst/>
          </a:prstGeom>
          <a:noFill/>
          <a:ln w="28575">
            <a:solidFill>
              <a:srgbClr val="000000"/>
            </a:solidFill>
            <a:round/>
            <a:headEnd/>
            <a:tailEnd type="none" w="lg" len="lg"/>
          </a:ln>
          <a:effectLst/>
        </p:spPr>
        <p:txBody>
          <a:bodyPr/>
          <a:lstStyle/>
          <a:p>
            <a:endParaRPr lang="en-US">
              <a:latin typeface="Calibri" pitchFamily="34" charset="0"/>
              <a:cs typeface="Calibri" pitchFamily="34" charset="0"/>
            </a:endParaRPr>
          </a:p>
        </p:txBody>
      </p:sp>
      <p:sp>
        <p:nvSpPr>
          <p:cNvPr id="47" name="Text Box 8"/>
          <p:cNvSpPr txBox="1">
            <a:spLocks noChangeArrowheads="1"/>
          </p:cNvSpPr>
          <p:nvPr/>
        </p:nvSpPr>
        <p:spPr bwMode="gray">
          <a:xfrm>
            <a:off x="3345873" y="4717472"/>
            <a:ext cx="503984" cy="215444"/>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400" b="1" dirty="0">
                <a:solidFill>
                  <a:srgbClr val="000A18"/>
                </a:solidFill>
                <a:latin typeface="Calibri" pitchFamily="34" charset="0"/>
                <a:cs typeface="Calibri" pitchFamily="34" charset="0"/>
              </a:rPr>
              <a:t>Source</a:t>
            </a:r>
          </a:p>
        </p:txBody>
      </p:sp>
      <p:sp>
        <p:nvSpPr>
          <p:cNvPr id="48" name="Text Box 22"/>
          <p:cNvSpPr txBox="1">
            <a:spLocks noChangeArrowheads="1"/>
          </p:cNvSpPr>
          <p:nvPr/>
        </p:nvSpPr>
        <p:spPr bwMode="gray">
          <a:xfrm>
            <a:off x="3948625" y="5331023"/>
            <a:ext cx="1190903" cy="307777"/>
          </a:xfrm>
          <a:prstGeom prst="rect">
            <a:avLst/>
          </a:prstGeom>
          <a:noFill/>
          <a:ln w="12700" algn="ctr">
            <a:noFill/>
            <a:miter lim="800000"/>
            <a:headEnd/>
            <a:tailEnd type="none" w="lg" len="lg"/>
          </a:ln>
          <a:effectLst/>
        </p:spPr>
        <p:txBody>
          <a:bodyPr wrap="none">
            <a:spAutoFit/>
          </a:bodyPr>
          <a:lstStyle/>
          <a:p>
            <a:pPr marL="354013" indent="-354013" defTabSz="941388"/>
            <a:r>
              <a:rPr lang="en-US" sz="1400" b="1" dirty="0">
                <a:solidFill>
                  <a:srgbClr val="000000"/>
                </a:solidFill>
                <a:latin typeface="Calibri" pitchFamily="34" charset="0"/>
                <a:cs typeface="Calibri" pitchFamily="34" charset="0"/>
              </a:rPr>
              <a:t>Storage Array</a:t>
            </a:r>
          </a:p>
        </p:txBody>
      </p:sp>
      <p:sp>
        <p:nvSpPr>
          <p:cNvPr id="49" name="Rectangle 5"/>
          <p:cNvSpPr>
            <a:spLocks noChangeArrowheads="1"/>
          </p:cNvSpPr>
          <p:nvPr/>
        </p:nvSpPr>
        <p:spPr bwMode="gray">
          <a:xfrm>
            <a:off x="496307" y="5232075"/>
            <a:ext cx="1447800"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Production Host</a:t>
            </a:r>
          </a:p>
        </p:txBody>
      </p:sp>
      <p:sp>
        <p:nvSpPr>
          <p:cNvPr id="50" name="Rectangle 6"/>
          <p:cNvSpPr>
            <a:spLocks noChangeArrowheads="1"/>
          </p:cNvSpPr>
          <p:nvPr/>
        </p:nvSpPr>
        <p:spPr bwMode="gray">
          <a:xfrm>
            <a:off x="7430509" y="5263248"/>
            <a:ext cx="906463"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BC Host</a:t>
            </a:r>
          </a:p>
        </p:txBody>
      </p:sp>
      <p:sp>
        <p:nvSpPr>
          <p:cNvPr id="51" name="Text Box 8"/>
          <p:cNvSpPr txBox="1">
            <a:spLocks noChangeArrowheads="1"/>
          </p:cNvSpPr>
          <p:nvPr/>
        </p:nvSpPr>
        <p:spPr bwMode="gray">
          <a:xfrm>
            <a:off x="5414652" y="4729083"/>
            <a:ext cx="458844" cy="215444"/>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400" b="1" dirty="0">
                <a:solidFill>
                  <a:srgbClr val="000A18"/>
                </a:solidFill>
                <a:latin typeface="Calibri" pitchFamily="34" charset="0"/>
                <a:cs typeface="Calibri" pitchFamily="34" charset="0"/>
              </a:rPr>
              <a:t>Target</a:t>
            </a:r>
          </a:p>
        </p:txBody>
      </p:sp>
      <p:pic>
        <p:nvPicPr>
          <p:cNvPr id="55"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3252355" y="1544782"/>
            <a:ext cx="609600" cy="609600"/>
          </a:xfrm>
          <a:prstGeom prst="rect">
            <a:avLst/>
          </a:prstGeom>
          <a:noFill/>
        </p:spPr>
      </p:pic>
      <p:pic>
        <p:nvPicPr>
          <p:cNvPr id="57"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838200" y="1143000"/>
            <a:ext cx="685800" cy="1585211"/>
          </a:xfrm>
          <a:prstGeom prst="rect">
            <a:avLst/>
          </a:prstGeom>
          <a:noFill/>
        </p:spPr>
      </p:pic>
      <p:pic>
        <p:nvPicPr>
          <p:cNvPr id="58"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5486400" y="1558636"/>
            <a:ext cx="609600" cy="609600"/>
          </a:xfrm>
          <a:prstGeom prst="rect">
            <a:avLst/>
          </a:prstGeom>
          <a:noFill/>
        </p:spPr>
      </p:pic>
      <p:pic>
        <p:nvPicPr>
          <p:cNvPr id="59"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7467600" y="1143000"/>
            <a:ext cx="685800" cy="1585211"/>
          </a:xfrm>
          <a:prstGeom prst="rect">
            <a:avLst/>
          </a:prstGeom>
          <a:noFill/>
        </p:spPr>
      </p:pic>
      <p:pic>
        <p:nvPicPr>
          <p:cNvPr id="60"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838200" y="3699164"/>
            <a:ext cx="685800" cy="1585211"/>
          </a:xfrm>
          <a:prstGeom prst="rect">
            <a:avLst/>
          </a:prstGeom>
          <a:noFill/>
        </p:spPr>
      </p:pic>
      <p:pic>
        <p:nvPicPr>
          <p:cNvPr id="61"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3276600" y="4104409"/>
            <a:ext cx="609600" cy="609600"/>
          </a:xfrm>
          <a:prstGeom prst="rect">
            <a:avLst/>
          </a:prstGeom>
          <a:noFill/>
        </p:spPr>
      </p:pic>
      <p:pic>
        <p:nvPicPr>
          <p:cNvPr id="62"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5334000" y="4114800"/>
            <a:ext cx="609600" cy="609600"/>
          </a:xfrm>
          <a:prstGeom prst="rect">
            <a:avLst/>
          </a:prstGeom>
          <a:noFill/>
        </p:spPr>
      </p:pic>
      <p:pic>
        <p:nvPicPr>
          <p:cNvPr id="63"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7467600" y="3728007"/>
            <a:ext cx="685800" cy="1585211"/>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Pointer-based Full-Volume Replication</a:t>
            </a:r>
          </a:p>
        </p:txBody>
      </p:sp>
      <p:sp>
        <p:nvSpPr>
          <p:cNvPr id="7" name="Content Placeholder 6"/>
          <p:cNvSpPr>
            <a:spLocks noGrp="1"/>
          </p:cNvSpPr>
          <p:nvPr>
            <p:ph idx="1"/>
          </p:nvPr>
        </p:nvSpPr>
        <p:spPr/>
        <p:txBody>
          <a:bodyPr/>
          <a:lstStyle/>
          <a:p>
            <a:r>
              <a:rPr lang="en-US" sz="1700" dirty="0">
                <a:solidFill>
                  <a:schemeClr val="tx1"/>
                </a:solidFill>
                <a:latin typeface="Book Antiqua" panose="02040602050305030304" pitchFamily="18" charset="0"/>
              </a:rPr>
              <a:t>Provides full copy of source data on the target</a:t>
            </a:r>
          </a:p>
          <a:p>
            <a:r>
              <a:rPr lang="en-US" sz="1700" dirty="0">
                <a:solidFill>
                  <a:schemeClr val="tx1"/>
                </a:solidFill>
                <a:latin typeface="Book Antiqua" panose="02040602050305030304" pitchFamily="18" charset="0"/>
              </a:rPr>
              <a:t>Target device is immediately accessible by the BC host after the replication session is activated</a:t>
            </a:r>
          </a:p>
          <a:p>
            <a:r>
              <a:rPr lang="en-US" sz="1700" dirty="0">
                <a:solidFill>
                  <a:schemeClr val="tx1"/>
                </a:solidFill>
                <a:latin typeface="Book Antiqua" panose="02040602050305030304" pitchFamily="18" charset="0"/>
              </a:rPr>
              <a:t>PIT is determined by time of session activation</a:t>
            </a:r>
          </a:p>
          <a:p>
            <a:r>
              <a:rPr lang="en-US" sz="1700" dirty="0">
                <a:solidFill>
                  <a:schemeClr val="tx1"/>
                </a:solidFill>
                <a:latin typeface="Book Antiqua" panose="02040602050305030304" pitchFamily="18" charset="0"/>
              </a:rPr>
              <a:t>Target device is at least as large as the source device</a:t>
            </a:r>
          </a:p>
          <a:p>
            <a:r>
              <a:rPr lang="en-US" sz="1700" dirty="0">
                <a:solidFill>
                  <a:schemeClr val="tx1"/>
                </a:solidFill>
                <a:latin typeface="Book Antiqua" panose="02040602050305030304" pitchFamily="18" charset="0"/>
              </a:rPr>
              <a:t>Two modes</a:t>
            </a:r>
          </a:p>
          <a:p>
            <a:pPr lvl="1"/>
            <a:r>
              <a:rPr lang="en-US" sz="1700" dirty="0">
                <a:solidFill>
                  <a:schemeClr val="tx1"/>
                </a:solidFill>
                <a:latin typeface="Book Antiqua" panose="02040602050305030304" pitchFamily="18" charset="0"/>
              </a:rPr>
              <a:t>Full copy mode</a:t>
            </a:r>
          </a:p>
          <a:p>
            <a:pPr lvl="2"/>
            <a:r>
              <a:rPr lang="en-US" sz="1700" dirty="0">
                <a:solidFill>
                  <a:schemeClr val="tx1"/>
                </a:solidFill>
                <a:latin typeface="Book Antiqua" panose="02040602050305030304" pitchFamily="18" charset="0"/>
              </a:rPr>
              <a:t>After session starts, all the data from source is copied to the target in the background</a:t>
            </a:r>
          </a:p>
          <a:p>
            <a:pPr lvl="1"/>
            <a:r>
              <a:rPr lang="en-US" sz="1700" dirty="0">
                <a:solidFill>
                  <a:schemeClr val="tx1"/>
                </a:solidFill>
                <a:latin typeface="Book Antiqua" panose="02040602050305030304" pitchFamily="18" charset="0"/>
              </a:rPr>
              <a:t>Copy on First Access (deferred) </a:t>
            </a:r>
          </a:p>
          <a:p>
            <a:endParaRPr lang="en-US" sz="1700" dirty="0">
              <a:solidFill>
                <a:schemeClr val="tx1"/>
              </a:solidFill>
              <a:latin typeface="Book Antiqua" panose="02040602050305030304" pitchFamily="18" charset="0"/>
            </a:endParaRPr>
          </a:p>
        </p:txBody>
      </p:sp>
      <p:sp>
        <p:nvSpPr>
          <p:cNvPr id="5" name="Footer Placeholder 4"/>
          <p:cNvSpPr>
            <a:spLocks noGrp="1"/>
          </p:cNvSpPr>
          <p:nvPr>
            <p:ph type="ftr" sz="quarter" idx="10"/>
          </p:nvPr>
        </p:nvSpPr>
        <p:spPr/>
        <p:txBody>
          <a:bodyPr/>
          <a:lstStyle/>
          <a:p>
            <a:pPr>
              <a:defRPr/>
            </a:pPr>
            <a:r>
              <a:rPr lang="en-US"/>
              <a:t>Module 11: Local Replication</a:t>
            </a:r>
            <a:endParaRPr lang="en-US" dirty="0"/>
          </a:p>
        </p:txBody>
      </p:sp>
      <p:sp>
        <p:nvSpPr>
          <p:cNvPr id="6" name="Slide Number Placeholder 5"/>
          <p:cNvSpPr>
            <a:spLocks noGrp="1"/>
          </p:cNvSpPr>
          <p:nvPr>
            <p:ph type="sldNum" sz="quarter" idx="11"/>
          </p:nvPr>
        </p:nvSpPr>
        <p:spPr/>
        <p:txBody>
          <a:bodyPr/>
          <a:lstStyle/>
          <a:p>
            <a:pPr>
              <a:defRPr/>
            </a:pPr>
            <a:fld id="{895683FA-D0FB-447D-82E1-0D3AF418E355}" type="slidenum">
              <a:rPr lang="en-US" smtClean="0"/>
              <a:pPr>
                <a:defRPr/>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30"/>
          <p:cNvSpPr>
            <a:spLocks noGrp="1"/>
          </p:cNvSpPr>
          <p:nvPr>
            <p:ph type="title"/>
          </p:nvPr>
        </p:nvSpPr>
        <p:spPr/>
        <p:txBody>
          <a:bodyPr/>
          <a:lstStyle/>
          <a:p>
            <a:r>
              <a:rPr lang="en-US" sz="2100" b="1" dirty="0">
                <a:solidFill>
                  <a:srgbClr val="C00000"/>
                </a:solidFill>
                <a:latin typeface="Book Antiqua" panose="02040602050305030304" pitchFamily="18" charset="0"/>
              </a:rPr>
              <a:t>Copy on First Access: Write to the Source</a:t>
            </a:r>
          </a:p>
        </p:txBody>
      </p:sp>
      <p:sp>
        <p:nvSpPr>
          <p:cNvPr id="3" name="Footer Placeholder 2"/>
          <p:cNvSpPr>
            <a:spLocks noGrp="1"/>
          </p:cNvSpPr>
          <p:nvPr>
            <p:ph type="ftr" sz="quarter" idx="10"/>
          </p:nvPr>
        </p:nvSpPr>
        <p:spPr/>
        <p:txBody>
          <a:bodyPr/>
          <a:lstStyle/>
          <a:p>
            <a:pPr>
              <a:defRPr/>
            </a:pPr>
            <a:r>
              <a:rPr lang="en-US"/>
              <a:t>Module 11: Local Replication</a:t>
            </a:r>
            <a:endParaRPr lang="en-US" dirty="0"/>
          </a:p>
        </p:txBody>
      </p:sp>
      <p:sp>
        <p:nvSpPr>
          <p:cNvPr id="4" name="Slide Number Placeholder 3"/>
          <p:cNvSpPr>
            <a:spLocks noGrp="1"/>
          </p:cNvSpPr>
          <p:nvPr>
            <p:ph type="sldNum" sz="quarter" idx="11"/>
          </p:nvPr>
        </p:nvSpPr>
        <p:spPr/>
        <p:txBody>
          <a:bodyPr/>
          <a:lstStyle/>
          <a:p>
            <a:pPr>
              <a:defRPr/>
            </a:pPr>
            <a:fld id="{6ADD0FD0-5DC7-4614-9D2E-5687F653AACB}" type="slidenum">
              <a:rPr lang="en-US" smtClean="0"/>
              <a:pPr>
                <a:defRPr/>
              </a:pPr>
              <a:t>69</a:t>
            </a:fld>
            <a:endParaRPr lang="en-US"/>
          </a:p>
        </p:txBody>
      </p:sp>
      <p:sp>
        <p:nvSpPr>
          <p:cNvPr id="5" name="Text Box 7"/>
          <p:cNvSpPr txBox="1">
            <a:spLocks noChangeArrowheads="1"/>
          </p:cNvSpPr>
          <p:nvPr/>
        </p:nvSpPr>
        <p:spPr bwMode="gray">
          <a:xfrm>
            <a:off x="3428944" y="2679469"/>
            <a:ext cx="503984" cy="215444"/>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400" b="1" dirty="0">
                <a:solidFill>
                  <a:srgbClr val="000A18"/>
                </a:solidFill>
                <a:latin typeface="Calibri" pitchFamily="34" charset="0"/>
                <a:cs typeface="Calibri" pitchFamily="34" charset="0"/>
              </a:rPr>
              <a:t>Source</a:t>
            </a:r>
          </a:p>
        </p:txBody>
      </p:sp>
      <p:sp>
        <p:nvSpPr>
          <p:cNvPr id="40" name="Line 188"/>
          <p:cNvSpPr>
            <a:spLocks noChangeShapeType="1"/>
          </p:cNvSpPr>
          <p:nvPr/>
        </p:nvSpPr>
        <p:spPr bwMode="auto">
          <a:xfrm>
            <a:off x="2365306" y="2339259"/>
            <a:ext cx="719137" cy="0"/>
          </a:xfrm>
          <a:prstGeom prst="line">
            <a:avLst/>
          </a:prstGeom>
          <a:noFill/>
          <a:ln w="31750">
            <a:solidFill>
              <a:srgbClr val="FF0000"/>
            </a:solidFill>
            <a:round/>
            <a:headEnd/>
            <a:tailEnd type="triangle" w="lg" len="med"/>
          </a:ln>
          <a:effectLst/>
        </p:spPr>
        <p:txBody>
          <a:bodyPr lIns="0" tIns="0" rIns="0" bIns="0"/>
          <a:lstStyle/>
          <a:p>
            <a:endParaRPr lang="en-US">
              <a:latin typeface="Calibri" pitchFamily="34" charset="0"/>
              <a:cs typeface="Calibri" pitchFamily="34" charset="0"/>
            </a:endParaRPr>
          </a:p>
        </p:txBody>
      </p:sp>
      <p:sp>
        <p:nvSpPr>
          <p:cNvPr id="45" name="Text Box 193"/>
          <p:cNvSpPr txBox="1">
            <a:spLocks noChangeArrowheads="1"/>
          </p:cNvSpPr>
          <p:nvPr/>
        </p:nvSpPr>
        <p:spPr bwMode="auto">
          <a:xfrm>
            <a:off x="2659515" y="2075731"/>
            <a:ext cx="223837" cy="215444"/>
          </a:xfrm>
          <a:prstGeom prst="rect">
            <a:avLst/>
          </a:prstGeom>
          <a:noFill/>
          <a:ln w="25400" algn="ctr">
            <a:noFill/>
            <a:miter lim="800000"/>
            <a:headEnd/>
            <a:tailEnd type="none" w="lg" len="med"/>
          </a:ln>
          <a:effectLst/>
        </p:spPr>
        <p:txBody>
          <a:bodyPr lIns="0" tIns="0" rIns="0" bIns="0">
            <a:spAutoFit/>
          </a:bodyPr>
          <a:lstStyle/>
          <a:p>
            <a:pPr marL="354013" indent="-354013" defTabSz="941388"/>
            <a:r>
              <a:rPr lang="en-US" sz="1400" b="1" dirty="0">
                <a:latin typeface="Calibri" pitchFamily="34" charset="0"/>
                <a:cs typeface="Calibri" pitchFamily="34" charset="0"/>
              </a:rPr>
              <a:t>C’</a:t>
            </a:r>
          </a:p>
        </p:txBody>
      </p:sp>
      <p:sp>
        <p:nvSpPr>
          <p:cNvPr id="128" name="Text Box 7"/>
          <p:cNvSpPr txBox="1">
            <a:spLocks noChangeArrowheads="1"/>
          </p:cNvSpPr>
          <p:nvPr/>
        </p:nvSpPr>
        <p:spPr bwMode="gray">
          <a:xfrm>
            <a:off x="5661660" y="2687724"/>
            <a:ext cx="458844" cy="215444"/>
          </a:xfrm>
          <a:prstGeom prst="rect">
            <a:avLst/>
          </a:prstGeom>
          <a:noFill/>
          <a:ln w="12700" algn="ctr">
            <a:noFill/>
            <a:miter lim="800000"/>
            <a:headEnd/>
            <a:tailEnd type="none" w="lg" len="lg"/>
          </a:ln>
          <a:effectLst/>
        </p:spPr>
        <p:txBody>
          <a:bodyPr wrap="none" lIns="0" tIns="0" rIns="0" bIns="0">
            <a:spAutoFit/>
          </a:bodyPr>
          <a:lstStyle/>
          <a:p>
            <a:pPr marL="354013" indent="-354013" defTabSz="941388"/>
            <a:r>
              <a:rPr lang="en-US" sz="1400" b="1" dirty="0">
                <a:solidFill>
                  <a:srgbClr val="000A18"/>
                </a:solidFill>
                <a:latin typeface="Calibri" pitchFamily="34" charset="0"/>
                <a:cs typeface="Calibri" pitchFamily="34" charset="0"/>
              </a:rPr>
              <a:t>Target</a:t>
            </a:r>
          </a:p>
        </p:txBody>
      </p:sp>
      <p:sp>
        <p:nvSpPr>
          <p:cNvPr id="130" name="Rectangle 32"/>
          <p:cNvSpPr txBox="1">
            <a:spLocks noChangeArrowheads="1"/>
          </p:cNvSpPr>
          <p:nvPr/>
        </p:nvSpPr>
        <p:spPr>
          <a:xfrm>
            <a:off x="242888" y="3678237"/>
            <a:ext cx="8705850" cy="2493963"/>
          </a:xfrm>
          <a:prstGeom prst="rect">
            <a:avLst/>
          </a:prstGeom>
        </p:spPr>
        <p:txBody>
          <a:bodyPr/>
          <a:lstStyle/>
          <a:p>
            <a:pPr marL="231775" marR="0" lvl="0" indent="-231775" algn="l" defTabSz="914400" rtl="0" eaLnBrk="1" fontAlgn="base" latinLnBrk="0" hangingPunct="1">
              <a:lnSpc>
                <a:spcPct val="100000"/>
              </a:lnSpc>
              <a:spcBef>
                <a:spcPct val="20000"/>
              </a:spcBef>
              <a:spcAft>
                <a:spcPct val="0"/>
              </a:spcAft>
              <a:buClr>
                <a:srgbClr val="92D050"/>
              </a:buClr>
              <a:buSzPct val="120000"/>
              <a:buFont typeface="Arial" charset="0"/>
              <a:buChar char="•"/>
              <a:tabLst/>
              <a:defRPr/>
            </a:pPr>
            <a:r>
              <a:rPr kumimoji="0" lang="en-US" sz="1700" b="0" i="0" u="none" strike="noStrike" kern="1200" cap="none" spc="0" normalizeH="0" baseline="0" noProof="0" dirty="0">
                <a:ln>
                  <a:noFill/>
                </a:ln>
                <a:effectLst/>
                <a:uLnTx/>
                <a:uFillTx/>
                <a:latin typeface="Book Antiqua" panose="02040602050305030304" pitchFamily="18" charset="0"/>
              </a:rPr>
              <a:t>When a write is issued to the source for the first time after replication</a:t>
            </a:r>
            <a:r>
              <a:rPr kumimoji="0" lang="en-US" sz="1700" b="0" i="0" u="none" strike="noStrike" kern="1200" cap="none" spc="0" normalizeH="0" noProof="0" dirty="0">
                <a:ln>
                  <a:noFill/>
                </a:ln>
                <a:effectLst/>
                <a:uLnTx/>
                <a:uFillTx/>
                <a:latin typeface="Book Antiqua" panose="02040602050305030304" pitchFamily="18" charset="0"/>
              </a:rPr>
              <a:t> </a:t>
            </a:r>
            <a:r>
              <a:rPr kumimoji="0" lang="en-US" sz="1700" b="0" i="0" u="none" strike="noStrike" kern="1200" cap="none" spc="0" normalizeH="0" baseline="0" noProof="0" dirty="0">
                <a:ln>
                  <a:noFill/>
                </a:ln>
                <a:effectLst/>
                <a:uLnTx/>
                <a:uFillTx/>
                <a:latin typeface="Book Antiqua" panose="02040602050305030304" pitchFamily="18" charset="0"/>
              </a:rPr>
              <a:t>session activation: </a:t>
            </a:r>
          </a:p>
          <a:p>
            <a:pPr marL="682625" marR="0" lvl="1" indent="-341313" algn="l" defTabSz="914400" rtl="0" eaLnBrk="1" fontAlgn="base" latinLnBrk="0" hangingPunct="1">
              <a:lnSpc>
                <a:spcPct val="100000"/>
              </a:lnSpc>
              <a:spcBef>
                <a:spcPct val="20000"/>
              </a:spcBef>
              <a:spcAft>
                <a:spcPct val="0"/>
              </a:spcAft>
              <a:buClr>
                <a:srgbClr val="FFC425"/>
              </a:buClr>
              <a:buSzPct val="90000"/>
              <a:buFont typeface="Webdings" pitchFamily="18" charset="2"/>
              <a:buChar char="4"/>
              <a:tabLst/>
              <a:defRPr/>
            </a:pPr>
            <a:r>
              <a:rPr kumimoji="0" lang="en-US" sz="1700" b="0" i="0" u="none" strike="noStrike" kern="1200" cap="none" spc="0" normalizeH="0" baseline="0" noProof="0" dirty="0">
                <a:ln>
                  <a:noFill/>
                </a:ln>
                <a:effectLst/>
                <a:uLnTx/>
                <a:uFillTx/>
                <a:latin typeface="Book Antiqua" panose="02040602050305030304" pitchFamily="18" charset="0"/>
              </a:rPr>
              <a:t>Original data at that address is copied to the target</a:t>
            </a:r>
          </a:p>
          <a:p>
            <a:pPr marL="682625" marR="0" lvl="1" indent="-341313" algn="l" defTabSz="914400" rtl="0" eaLnBrk="1" fontAlgn="base" latinLnBrk="0" hangingPunct="1">
              <a:lnSpc>
                <a:spcPct val="100000"/>
              </a:lnSpc>
              <a:spcBef>
                <a:spcPct val="20000"/>
              </a:spcBef>
              <a:spcAft>
                <a:spcPct val="0"/>
              </a:spcAft>
              <a:buClr>
                <a:srgbClr val="FFC425"/>
              </a:buClr>
              <a:buSzPct val="90000"/>
              <a:buFont typeface="Webdings" pitchFamily="18" charset="2"/>
              <a:buChar char="4"/>
              <a:tabLst/>
              <a:defRPr/>
            </a:pPr>
            <a:r>
              <a:rPr kumimoji="0" lang="en-US" sz="1700" b="0" i="0" u="none" strike="noStrike" kern="1200" cap="none" spc="0" normalizeH="0" baseline="0" noProof="0" dirty="0">
                <a:ln>
                  <a:noFill/>
                </a:ln>
                <a:effectLst/>
                <a:uLnTx/>
                <a:uFillTx/>
                <a:latin typeface="Book Antiqua" panose="02040602050305030304" pitchFamily="18" charset="0"/>
              </a:rPr>
              <a:t>Then the new data is updated on the source </a:t>
            </a:r>
          </a:p>
          <a:p>
            <a:pPr marL="682625" marR="0" lvl="1" indent="-341313" algn="l" defTabSz="914400" rtl="0" eaLnBrk="1" fontAlgn="base" latinLnBrk="0" hangingPunct="1">
              <a:lnSpc>
                <a:spcPct val="100000"/>
              </a:lnSpc>
              <a:spcBef>
                <a:spcPct val="20000"/>
              </a:spcBef>
              <a:spcAft>
                <a:spcPct val="0"/>
              </a:spcAft>
              <a:buClr>
                <a:srgbClr val="FFC425"/>
              </a:buClr>
              <a:buSzPct val="90000"/>
              <a:buFont typeface="Webdings" pitchFamily="18" charset="2"/>
              <a:buChar char="4"/>
              <a:tabLst/>
              <a:defRPr/>
            </a:pPr>
            <a:r>
              <a:rPr kumimoji="0" lang="en-US" sz="1700" b="0" i="0" u="none" strike="noStrike" kern="1200" cap="none" spc="0" normalizeH="0" baseline="0" noProof="0" dirty="0">
                <a:ln>
                  <a:noFill/>
                </a:ln>
                <a:effectLst/>
                <a:uLnTx/>
                <a:uFillTx/>
                <a:latin typeface="Book Antiqua" panose="02040602050305030304" pitchFamily="18" charset="0"/>
              </a:rPr>
              <a:t>This ensures that original data at the point-in-time of activation is preserved on the target</a:t>
            </a:r>
          </a:p>
        </p:txBody>
      </p:sp>
      <p:sp>
        <p:nvSpPr>
          <p:cNvPr id="133" name="Line 75"/>
          <p:cNvSpPr>
            <a:spLocks noChangeShapeType="1"/>
          </p:cNvSpPr>
          <p:nvPr/>
        </p:nvSpPr>
        <p:spPr bwMode="auto">
          <a:xfrm>
            <a:off x="4379843" y="2356714"/>
            <a:ext cx="731520" cy="0"/>
          </a:xfrm>
          <a:prstGeom prst="line">
            <a:avLst/>
          </a:prstGeom>
          <a:noFill/>
          <a:ln w="31750">
            <a:solidFill>
              <a:srgbClr val="FF0000"/>
            </a:solidFill>
            <a:round/>
            <a:headEnd/>
            <a:tailEnd type="triangle" w="lg" len="med"/>
          </a:ln>
          <a:effectLst/>
        </p:spPr>
        <p:txBody>
          <a:bodyPr lIns="0" tIns="0" rIns="0" bIns="0"/>
          <a:lstStyle/>
          <a:p>
            <a:endParaRPr lang="en-US">
              <a:latin typeface="Calibri" pitchFamily="34" charset="0"/>
              <a:cs typeface="Calibri" pitchFamily="34" charset="0"/>
            </a:endParaRPr>
          </a:p>
        </p:txBody>
      </p:sp>
      <p:sp>
        <p:nvSpPr>
          <p:cNvPr id="134" name="Rectangle 5"/>
          <p:cNvSpPr>
            <a:spLocks noChangeArrowheads="1"/>
          </p:cNvSpPr>
          <p:nvPr/>
        </p:nvSpPr>
        <p:spPr bwMode="gray">
          <a:xfrm>
            <a:off x="889906" y="3113021"/>
            <a:ext cx="1447800"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Production Host</a:t>
            </a:r>
          </a:p>
        </p:txBody>
      </p:sp>
      <p:sp>
        <p:nvSpPr>
          <p:cNvPr id="135" name="Rectangle 6"/>
          <p:cNvSpPr>
            <a:spLocks noChangeArrowheads="1"/>
          </p:cNvSpPr>
          <p:nvPr/>
        </p:nvSpPr>
        <p:spPr bwMode="gray">
          <a:xfrm>
            <a:off x="6923809" y="3120505"/>
            <a:ext cx="906463" cy="307777"/>
          </a:xfrm>
          <a:prstGeom prst="rect">
            <a:avLst/>
          </a:prstGeom>
          <a:noFill/>
          <a:ln w="12700" algn="ctr">
            <a:noFill/>
            <a:miter lim="800000"/>
            <a:headEnd/>
            <a:tailEnd type="none" w="lg" len="lg"/>
          </a:ln>
          <a:effectLst/>
        </p:spPr>
        <p:txBody>
          <a:bodyPr wrap="square">
            <a:spAutoFit/>
          </a:bodyPr>
          <a:lstStyle/>
          <a:p>
            <a:pPr defTabSz="941388"/>
            <a:r>
              <a:rPr lang="en-US" sz="1400" b="1" dirty="0">
                <a:solidFill>
                  <a:srgbClr val="000000"/>
                </a:solidFill>
                <a:latin typeface="Calibri" pitchFamily="34" charset="0"/>
                <a:cs typeface="Calibri" pitchFamily="34" charset="0"/>
              </a:rPr>
              <a:t>BC Host</a:t>
            </a:r>
          </a:p>
        </p:txBody>
      </p:sp>
      <p:sp>
        <p:nvSpPr>
          <p:cNvPr id="140" name="AutoShape 2"/>
          <p:cNvSpPr>
            <a:spLocks noChangeArrowheads="1"/>
          </p:cNvSpPr>
          <p:nvPr/>
        </p:nvSpPr>
        <p:spPr bwMode="gray">
          <a:xfrm>
            <a:off x="762000" y="1080370"/>
            <a:ext cx="7315200" cy="2362200"/>
          </a:xfrm>
          <a:prstGeom prst="roundRect">
            <a:avLst>
              <a:gd name="adj" fmla="val 8750"/>
            </a:avLst>
          </a:prstGeom>
          <a:noFill/>
          <a:ln w="19050" algn="ctr">
            <a:solidFill>
              <a:srgbClr val="000000"/>
            </a:solidFill>
            <a:round/>
            <a:headEnd/>
            <a:tailEnd/>
          </a:ln>
          <a:effectLst/>
        </p:spPr>
        <p:txBody>
          <a:bodyPr wrap="none" anchor="ctr"/>
          <a:lstStyle/>
          <a:p>
            <a:endParaRPr lang="en-US">
              <a:latin typeface="Calibri" pitchFamily="34" charset="0"/>
              <a:cs typeface="Calibri" pitchFamily="34" charset="0"/>
            </a:endParaRPr>
          </a:p>
        </p:txBody>
      </p:sp>
      <p:sp>
        <p:nvSpPr>
          <p:cNvPr id="141" name="Text Box 193"/>
          <p:cNvSpPr txBox="1">
            <a:spLocks noChangeArrowheads="1"/>
          </p:cNvSpPr>
          <p:nvPr/>
        </p:nvSpPr>
        <p:spPr bwMode="auto">
          <a:xfrm>
            <a:off x="4711673" y="2087380"/>
            <a:ext cx="223837" cy="215444"/>
          </a:xfrm>
          <a:prstGeom prst="rect">
            <a:avLst/>
          </a:prstGeom>
          <a:noFill/>
          <a:ln w="25400" algn="ctr">
            <a:noFill/>
            <a:miter lim="800000"/>
            <a:headEnd/>
            <a:tailEnd type="none" w="lg" len="med"/>
          </a:ln>
          <a:effectLst/>
        </p:spPr>
        <p:txBody>
          <a:bodyPr lIns="0" tIns="0" rIns="0" bIns="0">
            <a:spAutoFit/>
          </a:bodyPr>
          <a:lstStyle/>
          <a:p>
            <a:pPr marL="354013" indent="-354013" defTabSz="941388"/>
            <a:r>
              <a:rPr lang="en-US" sz="1400" b="1" dirty="0">
                <a:latin typeface="Calibri" pitchFamily="34" charset="0"/>
                <a:cs typeface="Calibri" pitchFamily="34" charset="0"/>
              </a:rPr>
              <a:t>C</a:t>
            </a:r>
          </a:p>
        </p:txBody>
      </p:sp>
      <p:sp>
        <p:nvSpPr>
          <p:cNvPr id="142" name="Text Box 8"/>
          <p:cNvSpPr txBox="1">
            <a:spLocks noChangeArrowheads="1"/>
          </p:cNvSpPr>
          <p:nvPr/>
        </p:nvSpPr>
        <p:spPr bwMode="gray">
          <a:xfrm>
            <a:off x="2391955" y="1597700"/>
            <a:ext cx="654795" cy="387798"/>
          </a:xfrm>
          <a:prstGeom prst="rect">
            <a:avLst/>
          </a:prstGeom>
          <a:noFill/>
          <a:ln w="12700" algn="ctr">
            <a:noFill/>
            <a:miter lim="800000"/>
            <a:headEnd/>
            <a:tailEnd type="none" w="lg" len="lg"/>
          </a:ln>
          <a:effectLst/>
        </p:spPr>
        <p:txBody>
          <a:bodyPr wrap="none" lIns="0" tIns="0" rIns="0" bIns="0">
            <a:spAutoFit/>
          </a:bodyPr>
          <a:lstStyle/>
          <a:p>
            <a:pPr algn="ctr" defTabSz="941388">
              <a:lnSpc>
                <a:spcPct val="90000"/>
              </a:lnSpc>
            </a:pPr>
            <a:r>
              <a:rPr lang="en-US" sz="1400" b="1" dirty="0">
                <a:solidFill>
                  <a:srgbClr val="000A18"/>
                </a:solidFill>
                <a:latin typeface="Calibri" pitchFamily="34" charset="0"/>
                <a:cs typeface="Calibri" pitchFamily="34" charset="0"/>
              </a:rPr>
              <a:t>Write to </a:t>
            </a:r>
          </a:p>
          <a:p>
            <a:pPr algn="ctr" defTabSz="941388">
              <a:lnSpc>
                <a:spcPct val="90000"/>
              </a:lnSpc>
            </a:pPr>
            <a:r>
              <a:rPr lang="en-US" sz="1400" b="1" dirty="0">
                <a:solidFill>
                  <a:srgbClr val="000A18"/>
                </a:solidFill>
                <a:latin typeface="Calibri" pitchFamily="34" charset="0"/>
                <a:cs typeface="Calibri" pitchFamily="34" charset="0"/>
              </a:rPr>
              <a:t>Source</a:t>
            </a:r>
          </a:p>
        </p:txBody>
      </p:sp>
      <p:pic>
        <p:nvPicPr>
          <p:cNvPr id="125"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118755" y="1231747"/>
            <a:ext cx="838200" cy="1937480"/>
          </a:xfrm>
          <a:prstGeom prst="rect">
            <a:avLst/>
          </a:prstGeom>
          <a:noFill/>
        </p:spPr>
      </p:pic>
      <p:grpSp>
        <p:nvGrpSpPr>
          <p:cNvPr id="147" name="Group 146"/>
          <p:cNvGrpSpPr/>
          <p:nvPr/>
        </p:nvGrpSpPr>
        <p:grpSpPr>
          <a:xfrm>
            <a:off x="3276600" y="1905000"/>
            <a:ext cx="796636" cy="796636"/>
            <a:chOff x="3276600" y="1905000"/>
            <a:chExt cx="796636" cy="796636"/>
          </a:xfrm>
        </p:grpSpPr>
        <p:pic>
          <p:nvPicPr>
            <p:cNvPr id="139" name="Picture 13" descr="C:\Documents and Settings\sridhs\Desktop\ISM Book L3\colored Icons\Stripped disk.png"/>
            <p:cNvPicPr>
              <a:picLocks noChangeAspect="1" noChangeArrowheads="1"/>
            </p:cNvPicPr>
            <p:nvPr/>
          </p:nvPicPr>
          <p:blipFill>
            <a:blip r:embed="rId4" cstate="print"/>
            <a:srcRect/>
            <a:stretch>
              <a:fillRect/>
            </a:stretch>
          </p:blipFill>
          <p:spPr bwMode="auto">
            <a:xfrm>
              <a:off x="3276600" y="1905000"/>
              <a:ext cx="796636" cy="796636"/>
            </a:xfrm>
            <a:prstGeom prst="rect">
              <a:avLst/>
            </a:prstGeom>
            <a:noFill/>
          </p:spPr>
        </p:pic>
        <p:sp>
          <p:nvSpPr>
            <p:cNvPr id="41" name="Text Box 189"/>
            <p:cNvSpPr txBox="1">
              <a:spLocks noChangeArrowheads="1"/>
            </p:cNvSpPr>
            <p:nvPr/>
          </p:nvSpPr>
          <p:spPr bwMode="auto">
            <a:xfrm>
              <a:off x="3586418" y="2134902"/>
              <a:ext cx="177000" cy="152400"/>
            </a:xfrm>
            <a:prstGeom prst="rect">
              <a:avLst/>
            </a:prstGeom>
            <a:noFill/>
            <a:ln w="25400" algn="ctr">
              <a:noFill/>
              <a:miter lim="800000"/>
              <a:headEnd/>
              <a:tailEnd type="none" w="lg" len="med"/>
            </a:ln>
            <a:effectLst/>
          </p:spPr>
          <p:txBody>
            <a:bodyPr lIns="0" tIns="0" rIns="0" bIns="0">
              <a:spAutoFit/>
            </a:bodyPr>
            <a:lstStyle/>
            <a:p>
              <a:pPr marL="354013" indent="-354013" algn="ctr" defTabSz="941388"/>
              <a:r>
                <a:rPr lang="en-US" sz="1000" b="1" dirty="0">
                  <a:latin typeface="Calibri" pitchFamily="34" charset="0"/>
                  <a:cs typeface="Calibri" pitchFamily="34" charset="0"/>
                </a:rPr>
                <a:t>A</a:t>
              </a:r>
            </a:p>
          </p:txBody>
        </p:sp>
        <p:sp>
          <p:nvSpPr>
            <p:cNvPr id="42" name="Text Box 190"/>
            <p:cNvSpPr txBox="1">
              <a:spLocks noChangeArrowheads="1"/>
            </p:cNvSpPr>
            <p:nvPr/>
          </p:nvSpPr>
          <p:spPr bwMode="auto">
            <a:xfrm>
              <a:off x="3586418" y="2350942"/>
              <a:ext cx="177001" cy="152400"/>
            </a:xfrm>
            <a:prstGeom prst="rect">
              <a:avLst/>
            </a:prstGeom>
            <a:noFill/>
            <a:ln w="25400" algn="ctr">
              <a:noFill/>
              <a:miter lim="800000"/>
              <a:headEnd/>
              <a:tailEnd type="none" w="lg" len="med"/>
            </a:ln>
            <a:effectLst/>
          </p:spPr>
          <p:txBody>
            <a:bodyPr lIns="0" tIns="0" rIns="0" bIns="0">
              <a:spAutoFit/>
            </a:bodyPr>
            <a:lstStyle/>
            <a:p>
              <a:pPr marL="354013" indent="-354013" algn="ctr" defTabSz="941388"/>
              <a:r>
                <a:rPr lang="en-US" sz="1000" b="1" dirty="0">
                  <a:latin typeface="Calibri" pitchFamily="34" charset="0"/>
                  <a:cs typeface="Calibri" pitchFamily="34" charset="0"/>
                </a:rPr>
                <a:t>B</a:t>
              </a:r>
            </a:p>
          </p:txBody>
        </p:sp>
        <p:sp>
          <p:nvSpPr>
            <p:cNvPr id="43" name="Text Box 191"/>
            <p:cNvSpPr txBox="1">
              <a:spLocks noChangeArrowheads="1"/>
            </p:cNvSpPr>
            <p:nvPr/>
          </p:nvSpPr>
          <p:spPr bwMode="auto">
            <a:xfrm>
              <a:off x="3586418" y="2545773"/>
              <a:ext cx="177001" cy="152400"/>
            </a:xfrm>
            <a:prstGeom prst="rect">
              <a:avLst/>
            </a:prstGeom>
            <a:noFill/>
            <a:ln w="25400" algn="ctr">
              <a:noFill/>
              <a:miter lim="800000"/>
              <a:headEnd/>
              <a:tailEnd type="none" w="lg" len="med"/>
            </a:ln>
            <a:effectLst/>
          </p:spPr>
          <p:txBody>
            <a:bodyPr lIns="0" tIns="0" rIns="0" bIns="0">
              <a:spAutoFit/>
            </a:bodyPr>
            <a:lstStyle/>
            <a:p>
              <a:pPr marL="354013" indent="-354013" algn="ctr" defTabSz="941388"/>
              <a:r>
                <a:rPr lang="en-US" sz="1000" b="1" dirty="0">
                  <a:latin typeface="Calibri" pitchFamily="34" charset="0"/>
                  <a:cs typeface="Calibri" pitchFamily="34" charset="0"/>
                </a:rPr>
                <a:t> C’</a:t>
              </a:r>
            </a:p>
          </p:txBody>
        </p:sp>
      </p:grpSp>
      <p:pic>
        <p:nvPicPr>
          <p:cNvPr id="138"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6858000" y="1229591"/>
            <a:ext cx="838200" cy="1937480"/>
          </a:xfrm>
          <a:prstGeom prst="rect">
            <a:avLst/>
          </a:prstGeom>
          <a:noFill/>
        </p:spPr>
      </p:pic>
      <p:grpSp>
        <p:nvGrpSpPr>
          <p:cNvPr id="148" name="Group 147"/>
          <p:cNvGrpSpPr/>
          <p:nvPr/>
        </p:nvGrpSpPr>
        <p:grpSpPr>
          <a:xfrm>
            <a:off x="5486400" y="1905000"/>
            <a:ext cx="796636" cy="796636"/>
            <a:chOff x="5486400" y="1905000"/>
            <a:chExt cx="796636" cy="796636"/>
          </a:xfrm>
        </p:grpSpPr>
        <p:pic>
          <p:nvPicPr>
            <p:cNvPr id="143" name="Picture 13" descr="C:\Documents and Settings\sridhs\Desktop\ISM Book L3\colored Icons\Stripped disk.png"/>
            <p:cNvPicPr>
              <a:picLocks noChangeAspect="1" noChangeArrowheads="1"/>
            </p:cNvPicPr>
            <p:nvPr/>
          </p:nvPicPr>
          <p:blipFill>
            <a:blip r:embed="rId4" cstate="print"/>
            <a:srcRect/>
            <a:stretch>
              <a:fillRect/>
            </a:stretch>
          </p:blipFill>
          <p:spPr bwMode="auto">
            <a:xfrm>
              <a:off x="5486400" y="1905000"/>
              <a:ext cx="796636" cy="796636"/>
            </a:xfrm>
            <a:prstGeom prst="rect">
              <a:avLst/>
            </a:prstGeom>
            <a:noFill/>
          </p:spPr>
        </p:pic>
        <p:sp>
          <p:nvSpPr>
            <p:cNvPr id="146" name="Text Box 191"/>
            <p:cNvSpPr txBox="1">
              <a:spLocks noChangeArrowheads="1"/>
            </p:cNvSpPr>
            <p:nvPr/>
          </p:nvSpPr>
          <p:spPr bwMode="auto">
            <a:xfrm>
              <a:off x="5796218" y="2545773"/>
              <a:ext cx="177001" cy="152400"/>
            </a:xfrm>
            <a:prstGeom prst="rect">
              <a:avLst/>
            </a:prstGeom>
            <a:noFill/>
            <a:ln w="25400" algn="ctr">
              <a:noFill/>
              <a:miter lim="800000"/>
              <a:headEnd/>
              <a:tailEnd type="none" w="lg" len="med"/>
            </a:ln>
            <a:effectLst/>
          </p:spPr>
          <p:txBody>
            <a:bodyPr lIns="0" tIns="0" rIns="0" bIns="0">
              <a:spAutoFit/>
            </a:bodyPr>
            <a:lstStyle/>
            <a:p>
              <a:pPr marL="354013" indent="-354013" algn="ctr" defTabSz="941388"/>
              <a:r>
                <a:rPr lang="en-US" sz="1000" b="1" dirty="0">
                  <a:latin typeface="Calibri" pitchFamily="34" charset="0"/>
                  <a:cs typeface="Calibri" pitchFamily="34" charset="0"/>
                </a:rPr>
                <a:t>C</a:t>
              </a: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30"/>
          <p:cNvSpPr>
            <a:spLocks noGrp="1"/>
          </p:cNvSpPr>
          <p:nvPr>
            <p:ph type="title"/>
          </p:nvPr>
        </p:nvSpPr>
        <p:spPr/>
        <p:txBody>
          <a:bodyPr/>
          <a:lstStyle/>
          <a:p>
            <a:r>
              <a:rPr lang="en-US" sz="2100" b="1" dirty="0">
                <a:solidFill>
                  <a:srgbClr val="C00000"/>
                </a:solidFill>
                <a:latin typeface="Book Antiqua" panose="02040602050305030304" pitchFamily="18" charset="0"/>
              </a:rPr>
              <a:t>Copy on First Access: Write to the Target</a:t>
            </a:r>
          </a:p>
        </p:txBody>
      </p:sp>
      <p:sp>
        <p:nvSpPr>
          <p:cNvPr id="3" name="Footer Placeholder 2"/>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124" name="Rectangle 32"/>
          <p:cNvSpPr txBox="1">
            <a:spLocks noChangeArrowheads="1"/>
          </p:cNvSpPr>
          <p:nvPr/>
        </p:nvSpPr>
        <p:spPr>
          <a:xfrm>
            <a:off x="242888" y="3678237"/>
            <a:ext cx="8705850" cy="2493963"/>
          </a:xfrm>
          <a:prstGeom prst="rect">
            <a:avLst/>
          </a:prstGeom>
        </p:spPr>
        <p:txBody>
          <a:bodyPr/>
          <a:lstStyle/>
          <a:p>
            <a:pPr marL="231775" marR="0" lvl="0" indent="-231775" algn="l" defTabSz="914400" rtl="0" eaLnBrk="1" fontAlgn="base" latinLnBrk="0" hangingPunct="1">
              <a:lnSpc>
                <a:spcPct val="100000"/>
              </a:lnSpc>
              <a:spcBef>
                <a:spcPct val="20000"/>
              </a:spcBef>
              <a:spcAft>
                <a:spcPct val="0"/>
              </a:spcAft>
              <a:buClr>
                <a:srgbClr val="92D050"/>
              </a:buClr>
              <a:buSzPct val="120000"/>
              <a:buFont typeface="Arial" charset="0"/>
              <a:buChar char="•"/>
              <a:tabLst/>
              <a:defRPr/>
            </a:pPr>
            <a:r>
              <a:rPr kumimoji="0" lang="en-US" sz="1700" b="0" i="0" u="none" strike="noStrike" kern="1200" cap="none" spc="0" normalizeH="0" baseline="0" noProof="0" dirty="0">
                <a:ln>
                  <a:noFill/>
                </a:ln>
                <a:effectLst/>
                <a:uLnTx/>
                <a:uFillTx/>
                <a:latin typeface="Book Antiqua" panose="02040602050305030304" pitchFamily="18" charset="0"/>
                <a:cs typeface="Arial"/>
              </a:rPr>
              <a:t>When a write is issued to the target for the first time after replication session activation: </a:t>
            </a:r>
          </a:p>
          <a:p>
            <a:pPr marL="682625" marR="0" lvl="1" indent="-341313" algn="l" defTabSz="914400" rtl="0" eaLnBrk="1" fontAlgn="base" latinLnBrk="0" hangingPunct="1">
              <a:lnSpc>
                <a:spcPct val="100000"/>
              </a:lnSpc>
              <a:spcBef>
                <a:spcPct val="20000"/>
              </a:spcBef>
              <a:spcAft>
                <a:spcPct val="0"/>
              </a:spcAft>
              <a:buClr>
                <a:srgbClr val="FFC425"/>
              </a:buClr>
              <a:buSzPct val="90000"/>
              <a:buFont typeface="Webdings" pitchFamily="18" charset="2"/>
              <a:buChar char="4"/>
              <a:tabLst/>
              <a:defRPr/>
            </a:pPr>
            <a:r>
              <a:rPr kumimoji="0" lang="en-US" sz="1700" b="0" i="0" u="none" strike="noStrike" kern="1200" cap="none" spc="0" normalizeH="0" baseline="0" noProof="0" dirty="0">
                <a:ln>
                  <a:noFill/>
                </a:ln>
                <a:effectLst/>
                <a:uLnTx/>
                <a:uFillTx/>
                <a:latin typeface="Book Antiqua" panose="02040602050305030304" pitchFamily="18" charset="0"/>
                <a:cs typeface="Arial"/>
              </a:rPr>
              <a:t>The original data is copied from the source to the target</a:t>
            </a:r>
          </a:p>
          <a:p>
            <a:pPr marL="682625" marR="0" lvl="1" indent="-341313" algn="l" defTabSz="914400" rtl="0" eaLnBrk="1" fontAlgn="base" latinLnBrk="0" hangingPunct="1">
              <a:lnSpc>
                <a:spcPct val="100000"/>
              </a:lnSpc>
              <a:spcBef>
                <a:spcPct val="20000"/>
              </a:spcBef>
              <a:spcAft>
                <a:spcPct val="0"/>
              </a:spcAft>
              <a:buClr>
                <a:srgbClr val="FFC425"/>
              </a:buClr>
              <a:buSzPct val="90000"/>
              <a:buFont typeface="Webdings" pitchFamily="18" charset="2"/>
              <a:buChar char="4"/>
              <a:tabLst/>
              <a:defRPr/>
            </a:pPr>
            <a:r>
              <a:rPr kumimoji="0" lang="en-US" sz="1700" b="0" i="0" u="none" strike="noStrike" kern="1200" cap="none" spc="0" normalizeH="0" baseline="0" noProof="0" dirty="0">
                <a:ln>
                  <a:noFill/>
                </a:ln>
                <a:effectLst/>
                <a:uLnTx/>
                <a:uFillTx/>
                <a:latin typeface="Book Antiqua" panose="02040602050305030304" pitchFamily="18" charset="0"/>
                <a:cs typeface="Arial"/>
              </a:rPr>
              <a:t>Then the new data is updated on the target</a:t>
            </a:r>
          </a:p>
          <a:p>
            <a:pPr marL="682625" marR="0" lvl="1" indent="-341313" algn="l" defTabSz="914400" rtl="0" eaLnBrk="1" fontAlgn="base" latinLnBrk="0" hangingPunct="1">
              <a:lnSpc>
                <a:spcPct val="100000"/>
              </a:lnSpc>
              <a:spcBef>
                <a:spcPct val="20000"/>
              </a:spcBef>
              <a:spcAft>
                <a:spcPct val="0"/>
              </a:spcAft>
              <a:buClr>
                <a:srgbClr val="FFC425"/>
              </a:buClr>
              <a:buSzPct val="90000"/>
              <a:buFont typeface="Webdings" pitchFamily="18" charset="2"/>
              <a:buChar char="4"/>
              <a:tabLst/>
              <a:defRPr/>
            </a:pPr>
            <a:endParaRPr kumimoji="0" lang="en-US" sz="1700" b="0" i="0" u="none" strike="noStrike" kern="1200" cap="none" spc="0" normalizeH="0" baseline="0" noProof="0" dirty="0">
              <a:ln>
                <a:noFill/>
              </a:ln>
              <a:effectLst/>
              <a:uLnTx/>
              <a:uFillTx/>
              <a:latin typeface="Book Antiqua" panose="02040602050305030304" pitchFamily="18" charset="0"/>
              <a:cs typeface="Arial"/>
            </a:endParaRPr>
          </a:p>
        </p:txBody>
      </p:sp>
      <p:sp>
        <p:nvSpPr>
          <p:cNvPr id="157" name="Text Box 7"/>
          <p:cNvSpPr txBox="1">
            <a:spLocks noChangeArrowheads="1"/>
          </p:cNvSpPr>
          <p:nvPr/>
        </p:nvSpPr>
        <p:spPr bwMode="gray">
          <a:xfrm>
            <a:off x="2743144" y="2679469"/>
            <a:ext cx="503984"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Source</a:t>
            </a:r>
          </a:p>
        </p:txBody>
      </p:sp>
      <p:sp>
        <p:nvSpPr>
          <p:cNvPr id="158" name="Line 188"/>
          <p:cNvSpPr>
            <a:spLocks noChangeShapeType="1"/>
          </p:cNvSpPr>
          <p:nvPr/>
        </p:nvSpPr>
        <p:spPr bwMode="auto">
          <a:xfrm>
            <a:off x="5910263" y="2339259"/>
            <a:ext cx="719137" cy="0"/>
          </a:xfrm>
          <a:prstGeom prst="line">
            <a:avLst/>
          </a:prstGeom>
          <a:noFill/>
          <a:ln w="31750">
            <a:solidFill>
              <a:srgbClr val="FF0000"/>
            </a:solidFill>
            <a:round/>
            <a:headEnd type="triangle" w="lg" len="med"/>
            <a:tailEnd type="non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9" name="Text Box 193"/>
          <p:cNvSpPr txBox="1">
            <a:spLocks noChangeArrowheads="1"/>
          </p:cNvSpPr>
          <p:nvPr/>
        </p:nvSpPr>
        <p:spPr bwMode="auto">
          <a:xfrm>
            <a:off x="6204472" y="2075731"/>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
        <p:nvSpPr>
          <p:cNvPr id="160" name="Text Box 7"/>
          <p:cNvSpPr txBox="1">
            <a:spLocks noChangeArrowheads="1"/>
          </p:cNvSpPr>
          <p:nvPr/>
        </p:nvSpPr>
        <p:spPr bwMode="gray">
          <a:xfrm>
            <a:off x="4975860" y="2687724"/>
            <a:ext cx="458844"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Target</a:t>
            </a:r>
          </a:p>
        </p:txBody>
      </p:sp>
      <p:sp>
        <p:nvSpPr>
          <p:cNvPr id="161" name="Line 75"/>
          <p:cNvSpPr>
            <a:spLocks noChangeShapeType="1"/>
          </p:cNvSpPr>
          <p:nvPr/>
        </p:nvSpPr>
        <p:spPr bwMode="auto">
          <a:xfrm>
            <a:off x="3694043" y="2356714"/>
            <a:ext cx="731520"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2" name="Rectangle 5"/>
          <p:cNvSpPr>
            <a:spLocks noChangeArrowheads="1"/>
          </p:cNvSpPr>
          <p:nvPr/>
        </p:nvSpPr>
        <p:spPr bwMode="gray">
          <a:xfrm>
            <a:off x="889906" y="3113021"/>
            <a:ext cx="1447800" cy="307777"/>
          </a:xfrm>
          <a:prstGeom prst="rect">
            <a:avLst/>
          </a:prstGeom>
          <a:noFill/>
          <a:ln w="12700" algn="ctr">
            <a:noFill/>
            <a:miter lim="800000"/>
            <a:headEnd/>
            <a:tailEnd type="none" w="lg" len="lg"/>
          </a:ln>
          <a:effectLst/>
        </p:spPr>
        <p:txBody>
          <a:bodyPr wrap="square">
            <a:spAutoFit/>
          </a:bodyPr>
          <a:lstStyle/>
          <a:p>
            <a:pPr marL="0" marR="0" lvl="0" indent="0"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Production Host</a:t>
            </a:r>
          </a:p>
        </p:txBody>
      </p:sp>
      <p:sp>
        <p:nvSpPr>
          <p:cNvPr id="163" name="Rectangle 6"/>
          <p:cNvSpPr>
            <a:spLocks noChangeArrowheads="1"/>
          </p:cNvSpPr>
          <p:nvPr/>
        </p:nvSpPr>
        <p:spPr bwMode="gray">
          <a:xfrm>
            <a:off x="6923809" y="3120505"/>
            <a:ext cx="906463" cy="307777"/>
          </a:xfrm>
          <a:prstGeom prst="rect">
            <a:avLst/>
          </a:prstGeom>
          <a:noFill/>
          <a:ln w="12700" algn="ctr">
            <a:noFill/>
            <a:miter lim="800000"/>
            <a:headEnd/>
            <a:tailEnd type="none" w="lg" len="lg"/>
          </a:ln>
          <a:effectLst/>
        </p:spPr>
        <p:txBody>
          <a:bodyPr wrap="square">
            <a:spAutoFit/>
          </a:bodyPr>
          <a:lstStyle/>
          <a:p>
            <a:pPr marL="0" marR="0" lvl="0" indent="0"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BC Host</a:t>
            </a:r>
          </a:p>
        </p:txBody>
      </p:sp>
      <p:sp>
        <p:nvSpPr>
          <p:cNvPr id="164" name="AutoShape 2"/>
          <p:cNvSpPr>
            <a:spLocks noChangeArrowheads="1"/>
          </p:cNvSpPr>
          <p:nvPr/>
        </p:nvSpPr>
        <p:spPr bwMode="gray">
          <a:xfrm>
            <a:off x="762000" y="1080370"/>
            <a:ext cx="7315200" cy="2362200"/>
          </a:xfrm>
          <a:prstGeom prst="roundRect">
            <a:avLst>
              <a:gd name="adj" fmla="val 8750"/>
            </a:avLst>
          </a:prstGeom>
          <a:noFill/>
          <a:ln w="19050" algn="ctr">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5" name="Text Box 193"/>
          <p:cNvSpPr txBox="1">
            <a:spLocks noChangeArrowheads="1"/>
          </p:cNvSpPr>
          <p:nvPr/>
        </p:nvSpPr>
        <p:spPr bwMode="auto">
          <a:xfrm>
            <a:off x="4025873" y="2087380"/>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
        <p:nvSpPr>
          <p:cNvPr id="166" name="Text Box 8"/>
          <p:cNvSpPr txBox="1">
            <a:spLocks noChangeArrowheads="1"/>
          </p:cNvSpPr>
          <p:nvPr/>
        </p:nvSpPr>
        <p:spPr bwMode="gray">
          <a:xfrm>
            <a:off x="5936912" y="1597700"/>
            <a:ext cx="654795" cy="387798"/>
          </a:xfrm>
          <a:prstGeom prst="rect">
            <a:avLst/>
          </a:prstGeom>
          <a:noFill/>
          <a:ln w="12700" algn="ctr">
            <a:noFill/>
            <a:miter lim="800000"/>
            <a:headEnd/>
            <a:tailEnd type="none" w="lg" len="lg"/>
          </a:ln>
          <a:effectLst/>
        </p:spPr>
        <p:txBody>
          <a:bodyPr wrap="none" lIns="0" tIns="0" rIns="0" bIns="0">
            <a:spAutoFit/>
          </a:bodyPr>
          <a:lstStyle/>
          <a:p>
            <a:pPr marL="0" marR="0" lvl="0" indent="0" algn="ctr"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Write to </a:t>
            </a:r>
          </a:p>
          <a:p>
            <a:pPr marL="0" marR="0" lvl="0" indent="0" algn="ctr"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Target</a:t>
            </a:r>
          </a:p>
        </p:txBody>
      </p:sp>
      <p:pic>
        <p:nvPicPr>
          <p:cNvPr id="167"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118755" y="1231747"/>
            <a:ext cx="838200" cy="1937480"/>
          </a:xfrm>
          <a:prstGeom prst="rect">
            <a:avLst/>
          </a:prstGeom>
          <a:noFill/>
        </p:spPr>
      </p:pic>
      <p:grpSp>
        <p:nvGrpSpPr>
          <p:cNvPr id="168" name="Group 167"/>
          <p:cNvGrpSpPr/>
          <p:nvPr/>
        </p:nvGrpSpPr>
        <p:grpSpPr>
          <a:xfrm>
            <a:off x="2590800" y="1905000"/>
            <a:ext cx="796636" cy="796636"/>
            <a:chOff x="3276600" y="1905000"/>
            <a:chExt cx="796636" cy="796636"/>
          </a:xfrm>
        </p:grpSpPr>
        <p:pic>
          <p:nvPicPr>
            <p:cNvPr id="169" name="Picture 13" descr="C:\Documents and Settings\sridhs\Desktop\ISM Book L3\colored Icons\Stripped disk.png"/>
            <p:cNvPicPr>
              <a:picLocks noChangeAspect="1" noChangeArrowheads="1"/>
            </p:cNvPicPr>
            <p:nvPr/>
          </p:nvPicPr>
          <p:blipFill>
            <a:blip r:embed="rId4" cstate="print"/>
            <a:srcRect/>
            <a:stretch>
              <a:fillRect/>
            </a:stretch>
          </p:blipFill>
          <p:spPr bwMode="auto">
            <a:xfrm>
              <a:off x="3276600" y="1905000"/>
              <a:ext cx="796636" cy="796636"/>
            </a:xfrm>
            <a:prstGeom prst="rect">
              <a:avLst/>
            </a:prstGeom>
            <a:noFill/>
          </p:spPr>
        </p:pic>
        <p:sp>
          <p:nvSpPr>
            <p:cNvPr id="170" name="Text Box 189"/>
            <p:cNvSpPr txBox="1">
              <a:spLocks noChangeArrowheads="1"/>
            </p:cNvSpPr>
            <p:nvPr/>
          </p:nvSpPr>
          <p:spPr bwMode="auto">
            <a:xfrm>
              <a:off x="3586418" y="2134902"/>
              <a:ext cx="177000"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171" name="Text Box 190"/>
            <p:cNvSpPr txBox="1">
              <a:spLocks noChangeArrowheads="1"/>
            </p:cNvSpPr>
            <p:nvPr/>
          </p:nvSpPr>
          <p:spPr bwMode="auto">
            <a:xfrm>
              <a:off x="3586418" y="2350942"/>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
          <p:nvSpPr>
            <p:cNvPr id="172" name="Text Box 191"/>
            <p:cNvSpPr txBox="1">
              <a:spLocks noChangeArrowheads="1"/>
            </p:cNvSpPr>
            <p:nvPr/>
          </p:nvSpPr>
          <p:spPr bwMode="auto">
            <a:xfrm>
              <a:off x="3586418" y="2545773"/>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C’</a:t>
              </a:r>
            </a:p>
          </p:txBody>
        </p:sp>
      </p:grpSp>
      <p:pic>
        <p:nvPicPr>
          <p:cNvPr id="173"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6858000" y="1229591"/>
            <a:ext cx="838200" cy="1937480"/>
          </a:xfrm>
          <a:prstGeom prst="rect">
            <a:avLst/>
          </a:prstGeom>
          <a:noFill/>
        </p:spPr>
      </p:pic>
      <p:pic>
        <p:nvPicPr>
          <p:cNvPr id="175" name="Picture 13" descr="C:\Documents and Settings\sridhs\Desktop\ISM Book L3\colored Icons\Stripped disk.png"/>
          <p:cNvPicPr>
            <a:picLocks noChangeAspect="1" noChangeArrowheads="1"/>
          </p:cNvPicPr>
          <p:nvPr/>
        </p:nvPicPr>
        <p:blipFill>
          <a:blip r:embed="rId4" cstate="print"/>
          <a:srcRect/>
          <a:stretch>
            <a:fillRect/>
          </a:stretch>
        </p:blipFill>
        <p:spPr bwMode="auto">
          <a:xfrm>
            <a:off x="4800600" y="1905000"/>
            <a:ext cx="796636" cy="796636"/>
          </a:xfrm>
          <a:prstGeom prst="rect">
            <a:avLst/>
          </a:prstGeom>
          <a:noFill/>
        </p:spPr>
      </p:pic>
      <p:sp>
        <p:nvSpPr>
          <p:cNvPr id="176" name="Text Box 191"/>
          <p:cNvSpPr txBox="1">
            <a:spLocks noChangeArrowheads="1"/>
          </p:cNvSpPr>
          <p:nvPr/>
        </p:nvSpPr>
        <p:spPr bwMode="auto">
          <a:xfrm>
            <a:off x="5110418" y="2545773"/>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a:t>
            </a:r>
          </a:p>
        </p:txBody>
      </p:sp>
      <p:sp>
        <p:nvSpPr>
          <p:cNvPr id="177" name="Text Box 191"/>
          <p:cNvSpPr txBox="1">
            <a:spLocks noChangeArrowheads="1"/>
          </p:cNvSpPr>
          <p:nvPr/>
        </p:nvSpPr>
        <p:spPr bwMode="auto">
          <a:xfrm>
            <a:off x="5127978" y="2350911"/>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30"/>
          <p:cNvSpPr>
            <a:spLocks noGrp="1"/>
          </p:cNvSpPr>
          <p:nvPr>
            <p:ph type="title"/>
          </p:nvPr>
        </p:nvSpPr>
        <p:spPr/>
        <p:txBody>
          <a:bodyPr/>
          <a:lstStyle/>
          <a:p>
            <a:r>
              <a:rPr lang="en-US" sz="2100" b="1" dirty="0">
                <a:solidFill>
                  <a:srgbClr val="C00000"/>
                </a:solidFill>
                <a:latin typeface="Book Antiqua" panose="02040602050305030304" pitchFamily="18" charset="0"/>
              </a:rPr>
              <a:t>Copy on First Access: Read from Target</a:t>
            </a:r>
          </a:p>
        </p:txBody>
      </p:sp>
      <p:sp>
        <p:nvSpPr>
          <p:cNvPr id="3" name="Footer Placeholder 2"/>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124" name="Rectangle 32"/>
          <p:cNvSpPr txBox="1">
            <a:spLocks noChangeArrowheads="1"/>
          </p:cNvSpPr>
          <p:nvPr/>
        </p:nvSpPr>
        <p:spPr>
          <a:xfrm>
            <a:off x="605560" y="3652449"/>
            <a:ext cx="7224712" cy="2493963"/>
          </a:xfrm>
          <a:prstGeom prst="rect">
            <a:avLst/>
          </a:prstGeom>
        </p:spPr>
        <p:txBody>
          <a:bodyPr/>
          <a:lstStyle/>
          <a:p>
            <a:pPr marL="231775" marR="0" lvl="0" indent="-231775" algn="l" defTabSz="914400" rtl="0" eaLnBrk="1" fontAlgn="base" latinLnBrk="0" hangingPunct="1">
              <a:lnSpc>
                <a:spcPct val="100000"/>
              </a:lnSpc>
              <a:spcBef>
                <a:spcPct val="20000"/>
              </a:spcBef>
              <a:spcAft>
                <a:spcPct val="0"/>
              </a:spcAft>
              <a:buClr>
                <a:srgbClr val="92D050"/>
              </a:buClr>
              <a:buSzPct val="120000"/>
              <a:buFont typeface="Arial" charset="0"/>
              <a:buChar char="•"/>
              <a:tabLst/>
              <a:defRPr/>
            </a:pPr>
            <a:r>
              <a:rPr kumimoji="0" lang="en-US" sz="1700" b="0" i="0" u="none" strike="noStrike" kern="1200" cap="none" spc="0" normalizeH="0" baseline="0" noProof="0" dirty="0">
                <a:ln>
                  <a:noFill/>
                </a:ln>
                <a:effectLst/>
                <a:uLnTx/>
                <a:uFillTx/>
                <a:latin typeface="Book Antiqua" panose="02040602050305030304" pitchFamily="18" charset="0"/>
                <a:cs typeface="Arial"/>
              </a:rPr>
              <a:t>When a read is issued to the target for the first time after replication session activation: </a:t>
            </a:r>
          </a:p>
          <a:p>
            <a:pPr marL="682625" marR="0" lvl="1" indent="-341313" algn="l" defTabSz="914400" rtl="0" eaLnBrk="1" fontAlgn="base" latinLnBrk="0" hangingPunct="1">
              <a:lnSpc>
                <a:spcPct val="100000"/>
              </a:lnSpc>
              <a:spcBef>
                <a:spcPct val="20000"/>
              </a:spcBef>
              <a:spcAft>
                <a:spcPct val="0"/>
              </a:spcAft>
              <a:buClr>
                <a:srgbClr val="FFC425"/>
              </a:buClr>
              <a:buSzPct val="90000"/>
              <a:buFont typeface="Webdings" pitchFamily="18" charset="2"/>
              <a:buChar char="4"/>
              <a:tabLst/>
              <a:defRPr/>
            </a:pPr>
            <a:r>
              <a:rPr kumimoji="0" lang="en-US" sz="1700" b="0" i="0" u="none" strike="noStrike" kern="1200" cap="none" spc="0" normalizeH="0" baseline="0" noProof="0" dirty="0">
                <a:ln>
                  <a:noFill/>
                </a:ln>
                <a:effectLst/>
                <a:uLnTx/>
                <a:uFillTx/>
                <a:latin typeface="Book Antiqua" panose="02040602050305030304" pitchFamily="18" charset="0"/>
                <a:cs typeface="Arial"/>
              </a:rPr>
              <a:t>The original data is copied from the source to the target and is made available to the BC host</a:t>
            </a:r>
          </a:p>
          <a:p>
            <a:pPr marL="682625" marR="0" lvl="1" indent="-341313" algn="l" defTabSz="914400" rtl="0" eaLnBrk="1" fontAlgn="base" latinLnBrk="0" hangingPunct="1">
              <a:lnSpc>
                <a:spcPct val="100000"/>
              </a:lnSpc>
              <a:spcBef>
                <a:spcPct val="20000"/>
              </a:spcBef>
              <a:spcAft>
                <a:spcPct val="0"/>
              </a:spcAft>
              <a:buClr>
                <a:srgbClr val="FFC425"/>
              </a:buClr>
              <a:buSzPct val="90000"/>
              <a:buFontTx/>
              <a:buNone/>
              <a:tabLst/>
              <a:defRPr/>
            </a:pPr>
            <a:endParaRPr kumimoji="0" lang="en-US" sz="1700" b="0" i="0" u="none" strike="noStrike" kern="1200" cap="none" spc="0" normalizeH="0" baseline="0" noProof="0" dirty="0">
              <a:ln>
                <a:noFill/>
              </a:ln>
              <a:effectLst/>
              <a:uLnTx/>
              <a:uFillTx/>
              <a:latin typeface="Book Antiqua" panose="02040602050305030304" pitchFamily="18" charset="0"/>
              <a:cs typeface="Arial"/>
            </a:endParaRPr>
          </a:p>
        </p:txBody>
      </p:sp>
      <p:sp>
        <p:nvSpPr>
          <p:cNvPr id="138" name="Text Box 7"/>
          <p:cNvSpPr txBox="1">
            <a:spLocks noChangeArrowheads="1"/>
          </p:cNvSpPr>
          <p:nvPr/>
        </p:nvSpPr>
        <p:spPr bwMode="gray">
          <a:xfrm>
            <a:off x="2743144" y="2679469"/>
            <a:ext cx="503984"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Source</a:t>
            </a:r>
          </a:p>
        </p:txBody>
      </p:sp>
      <p:sp>
        <p:nvSpPr>
          <p:cNvPr id="141" name="Text Box 193"/>
          <p:cNvSpPr txBox="1">
            <a:spLocks noChangeArrowheads="1"/>
          </p:cNvSpPr>
          <p:nvPr/>
        </p:nvSpPr>
        <p:spPr bwMode="auto">
          <a:xfrm>
            <a:off x="6204472" y="2075731"/>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142" name="Text Box 7"/>
          <p:cNvSpPr txBox="1">
            <a:spLocks noChangeArrowheads="1"/>
          </p:cNvSpPr>
          <p:nvPr/>
        </p:nvSpPr>
        <p:spPr bwMode="gray">
          <a:xfrm>
            <a:off x="4962413" y="2687724"/>
            <a:ext cx="458844"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Target</a:t>
            </a:r>
          </a:p>
        </p:txBody>
      </p:sp>
      <p:sp>
        <p:nvSpPr>
          <p:cNvPr id="143" name="Line 75"/>
          <p:cNvSpPr>
            <a:spLocks noChangeShapeType="1"/>
          </p:cNvSpPr>
          <p:nvPr/>
        </p:nvSpPr>
        <p:spPr bwMode="auto">
          <a:xfrm>
            <a:off x="3694043" y="2356714"/>
            <a:ext cx="731520"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4" name="Rectangle 5"/>
          <p:cNvSpPr>
            <a:spLocks noChangeArrowheads="1"/>
          </p:cNvSpPr>
          <p:nvPr/>
        </p:nvSpPr>
        <p:spPr bwMode="gray">
          <a:xfrm>
            <a:off x="889906" y="3113021"/>
            <a:ext cx="1447800" cy="307777"/>
          </a:xfrm>
          <a:prstGeom prst="rect">
            <a:avLst/>
          </a:prstGeom>
          <a:noFill/>
          <a:ln w="12700" algn="ctr">
            <a:noFill/>
            <a:miter lim="800000"/>
            <a:headEnd/>
            <a:tailEnd type="none" w="lg" len="lg"/>
          </a:ln>
          <a:effectLst/>
        </p:spPr>
        <p:txBody>
          <a:bodyPr wrap="square">
            <a:spAutoFit/>
          </a:bodyPr>
          <a:lstStyle/>
          <a:p>
            <a:pPr marL="0" marR="0" lvl="0" indent="0"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Production Host</a:t>
            </a:r>
          </a:p>
        </p:txBody>
      </p:sp>
      <p:sp>
        <p:nvSpPr>
          <p:cNvPr id="145" name="Rectangle 6"/>
          <p:cNvSpPr>
            <a:spLocks noChangeArrowheads="1"/>
          </p:cNvSpPr>
          <p:nvPr/>
        </p:nvSpPr>
        <p:spPr bwMode="gray">
          <a:xfrm>
            <a:off x="6923809" y="3120505"/>
            <a:ext cx="906463" cy="307777"/>
          </a:xfrm>
          <a:prstGeom prst="rect">
            <a:avLst/>
          </a:prstGeom>
          <a:noFill/>
          <a:ln w="12700" algn="ctr">
            <a:noFill/>
            <a:miter lim="800000"/>
            <a:headEnd/>
            <a:tailEnd type="none" w="lg" len="lg"/>
          </a:ln>
          <a:effectLst/>
        </p:spPr>
        <p:txBody>
          <a:bodyPr wrap="square">
            <a:spAutoFit/>
          </a:bodyPr>
          <a:lstStyle/>
          <a:p>
            <a:pPr marL="0" marR="0" lvl="0" indent="0"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BC Host</a:t>
            </a:r>
          </a:p>
        </p:txBody>
      </p:sp>
      <p:sp>
        <p:nvSpPr>
          <p:cNvPr id="146" name="AutoShape 2"/>
          <p:cNvSpPr>
            <a:spLocks noChangeArrowheads="1"/>
          </p:cNvSpPr>
          <p:nvPr/>
        </p:nvSpPr>
        <p:spPr bwMode="gray">
          <a:xfrm>
            <a:off x="762000" y="1080370"/>
            <a:ext cx="7315200" cy="2362200"/>
          </a:xfrm>
          <a:prstGeom prst="roundRect">
            <a:avLst>
              <a:gd name="adj" fmla="val 8750"/>
            </a:avLst>
          </a:prstGeom>
          <a:noFill/>
          <a:ln w="19050" algn="ctr">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7" name="Text Box 193"/>
          <p:cNvSpPr txBox="1">
            <a:spLocks noChangeArrowheads="1"/>
          </p:cNvSpPr>
          <p:nvPr/>
        </p:nvSpPr>
        <p:spPr bwMode="auto">
          <a:xfrm>
            <a:off x="4025873" y="2087380"/>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148" name="Text Box 8"/>
          <p:cNvSpPr txBox="1">
            <a:spLocks noChangeArrowheads="1"/>
          </p:cNvSpPr>
          <p:nvPr/>
        </p:nvSpPr>
        <p:spPr bwMode="gray">
          <a:xfrm>
            <a:off x="5800302" y="1147482"/>
            <a:ext cx="900631" cy="646331"/>
          </a:xfrm>
          <a:prstGeom prst="rect">
            <a:avLst/>
          </a:prstGeom>
          <a:noFill/>
          <a:ln w="12700" algn="ctr">
            <a:noFill/>
            <a:miter lim="800000"/>
            <a:headEnd/>
            <a:tailEnd type="none" w="lg" len="lg"/>
          </a:ln>
          <a:effectLst/>
        </p:spPr>
        <p:txBody>
          <a:bodyPr wrap="none"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Read</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request for </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 “A”</a:t>
            </a:r>
          </a:p>
        </p:txBody>
      </p:sp>
      <p:pic>
        <p:nvPicPr>
          <p:cNvPr id="149"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1118755" y="1231747"/>
            <a:ext cx="838200" cy="1937480"/>
          </a:xfrm>
          <a:prstGeom prst="rect">
            <a:avLst/>
          </a:prstGeom>
          <a:noFill/>
        </p:spPr>
      </p:pic>
      <p:grpSp>
        <p:nvGrpSpPr>
          <p:cNvPr id="150" name="Group 149"/>
          <p:cNvGrpSpPr/>
          <p:nvPr/>
        </p:nvGrpSpPr>
        <p:grpSpPr>
          <a:xfrm>
            <a:off x="2590800" y="1905000"/>
            <a:ext cx="796636" cy="796636"/>
            <a:chOff x="3276600" y="1905000"/>
            <a:chExt cx="796636" cy="796636"/>
          </a:xfrm>
        </p:grpSpPr>
        <p:pic>
          <p:nvPicPr>
            <p:cNvPr id="151" name="Picture 13" descr="C:\Documents and Settings\sridhs\Desktop\ISM Book L3\colored Icons\Stripped disk.png"/>
            <p:cNvPicPr>
              <a:picLocks noChangeAspect="1" noChangeArrowheads="1"/>
            </p:cNvPicPr>
            <p:nvPr/>
          </p:nvPicPr>
          <p:blipFill>
            <a:blip r:embed="rId4" cstate="print"/>
            <a:srcRect/>
            <a:stretch>
              <a:fillRect/>
            </a:stretch>
          </p:blipFill>
          <p:spPr bwMode="auto">
            <a:xfrm>
              <a:off x="3276600" y="1905000"/>
              <a:ext cx="796636" cy="796636"/>
            </a:xfrm>
            <a:prstGeom prst="rect">
              <a:avLst/>
            </a:prstGeom>
            <a:noFill/>
          </p:spPr>
        </p:pic>
        <p:sp>
          <p:nvSpPr>
            <p:cNvPr id="152" name="Text Box 189"/>
            <p:cNvSpPr txBox="1">
              <a:spLocks noChangeArrowheads="1"/>
            </p:cNvSpPr>
            <p:nvPr/>
          </p:nvSpPr>
          <p:spPr bwMode="auto">
            <a:xfrm>
              <a:off x="3586418" y="2134902"/>
              <a:ext cx="177000"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153" name="Text Box 190"/>
            <p:cNvSpPr txBox="1">
              <a:spLocks noChangeArrowheads="1"/>
            </p:cNvSpPr>
            <p:nvPr/>
          </p:nvSpPr>
          <p:spPr bwMode="auto">
            <a:xfrm>
              <a:off x="3586418" y="2350942"/>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
          <p:nvSpPr>
            <p:cNvPr id="154" name="Text Box 191"/>
            <p:cNvSpPr txBox="1">
              <a:spLocks noChangeArrowheads="1"/>
            </p:cNvSpPr>
            <p:nvPr/>
          </p:nvSpPr>
          <p:spPr bwMode="auto">
            <a:xfrm>
              <a:off x="3586418" y="2545773"/>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C’</a:t>
              </a:r>
            </a:p>
          </p:txBody>
        </p:sp>
      </p:grpSp>
      <p:pic>
        <p:nvPicPr>
          <p:cNvPr id="155"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6858000" y="1229591"/>
            <a:ext cx="838200" cy="1937480"/>
          </a:xfrm>
          <a:prstGeom prst="rect">
            <a:avLst/>
          </a:prstGeom>
          <a:noFill/>
        </p:spPr>
      </p:pic>
      <p:pic>
        <p:nvPicPr>
          <p:cNvPr id="156" name="Picture 13" descr="C:\Documents and Settings\sridhs\Desktop\ISM Book L3\colored Icons\Stripped disk.png"/>
          <p:cNvPicPr>
            <a:picLocks noChangeAspect="1" noChangeArrowheads="1"/>
          </p:cNvPicPr>
          <p:nvPr/>
        </p:nvPicPr>
        <p:blipFill>
          <a:blip r:embed="rId4" cstate="print"/>
          <a:srcRect/>
          <a:stretch>
            <a:fillRect/>
          </a:stretch>
        </p:blipFill>
        <p:spPr bwMode="auto">
          <a:xfrm>
            <a:off x="4800600" y="1905000"/>
            <a:ext cx="796636" cy="796636"/>
          </a:xfrm>
          <a:prstGeom prst="rect">
            <a:avLst/>
          </a:prstGeom>
          <a:noFill/>
        </p:spPr>
      </p:pic>
      <p:sp>
        <p:nvSpPr>
          <p:cNvPr id="157" name="Text Box 191"/>
          <p:cNvSpPr txBox="1">
            <a:spLocks noChangeArrowheads="1"/>
          </p:cNvSpPr>
          <p:nvPr/>
        </p:nvSpPr>
        <p:spPr bwMode="auto">
          <a:xfrm>
            <a:off x="5110418" y="2545773"/>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a:t>
            </a:r>
          </a:p>
        </p:txBody>
      </p:sp>
      <p:sp>
        <p:nvSpPr>
          <p:cNvPr id="158" name="Text Box 191"/>
          <p:cNvSpPr txBox="1">
            <a:spLocks noChangeArrowheads="1"/>
          </p:cNvSpPr>
          <p:nvPr/>
        </p:nvSpPr>
        <p:spPr bwMode="auto">
          <a:xfrm>
            <a:off x="5127978" y="2350911"/>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
        <p:nvSpPr>
          <p:cNvPr id="159" name="Line 75"/>
          <p:cNvSpPr>
            <a:spLocks noChangeShapeType="1"/>
          </p:cNvSpPr>
          <p:nvPr/>
        </p:nvSpPr>
        <p:spPr bwMode="auto">
          <a:xfrm>
            <a:off x="5897880" y="2348753"/>
            <a:ext cx="731520"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0" name="Line 188"/>
          <p:cNvSpPr>
            <a:spLocks noChangeShapeType="1"/>
          </p:cNvSpPr>
          <p:nvPr/>
        </p:nvSpPr>
        <p:spPr bwMode="auto">
          <a:xfrm flipH="1">
            <a:off x="5862918" y="1828800"/>
            <a:ext cx="652463"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1" name="Text Box 191"/>
          <p:cNvSpPr txBox="1">
            <a:spLocks noChangeArrowheads="1"/>
          </p:cNvSpPr>
          <p:nvPr/>
        </p:nvSpPr>
        <p:spPr bwMode="auto">
          <a:xfrm>
            <a:off x="5105400" y="2147047"/>
            <a:ext cx="177001" cy="152400"/>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Pointer-based Virtual Replication</a:t>
            </a:r>
          </a:p>
        </p:txBody>
      </p:sp>
      <p:sp>
        <p:nvSpPr>
          <p:cNvPr id="7" name="Content Placeholder 6"/>
          <p:cNvSpPr>
            <a:spLocks noGrp="1"/>
          </p:cNvSpPr>
          <p:nvPr>
            <p:ph idx="1"/>
          </p:nvPr>
        </p:nvSpPr>
        <p:spPr>
          <a:xfrm>
            <a:off x="304800" y="838200"/>
            <a:ext cx="8458200" cy="5181600"/>
          </a:xfrm>
        </p:spPr>
        <p:txBody>
          <a:bodyPr/>
          <a:lstStyle/>
          <a:p>
            <a:pPr algn="just"/>
            <a:r>
              <a:rPr lang="en-US" sz="1700" dirty="0">
                <a:solidFill>
                  <a:schemeClr val="tx1"/>
                </a:solidFill>
                <a:latin typeface="Book Antiqua" panose="02040602050305030304" pitchFamily="18" charset="0"/>
              </a:rPr>
              <a:t>Targets do not hold data, but hold pointers</a:t>
            </a:r>
            <a:r>
              <a:rPr lang="en-US" sz="1700" b="1" i="1" dirty="0">
                <a:solidFill>
                  <a:schemeClr val="tx1"/>
                </a:solidFill>
                <a:latin typeface="Book Antiqua" panose="02040602050305030304" pitchFamily="18" charset="0"/>
              </a:rPr>
              <a:t> </a:t>
            </a:r>
            <a:r>
              <a:rPr lang="en-US" sz="1700" dirty="0">
                <a:solidFill>
                  <a:schemeClr val="tx1"/>
                </a:solidFill>
                <a:latin typeface="Book Antiqua" panose="02040602050305030304" pitchFamily="18" charset="0"/>
              </a:rPr>
              <a:t>to where the data is located </a:t>
            </a:r>
          </a:p>
          <a:p>
            <a:pPr lvl="1" algn="just"/>
            <a:r>
              <a:rPr lang="en-US" sz="1700" dirty="0">
                <a:solidFill>
                  <a:schemeClr val="tx1"/>
                </a:solidFill>
                <a:latin typeface="Book Antiqua" panose="02040602050305030304" pitchFamily="18" charset="0"/>
              </a:rPr>
              <a:t>At the start of the session the target device holds pointers to data on source device</a:t>
            </a:r>
          </a:p>
          <a:p>
            <a:pPr lvl="1" algn="just"/>
            <a:r>
              <a:rPr lang="en-US" sz="1700" dirty="0">
                <a:solidFill>
                  <a:schemeClr val="tx1"/>
                </a:solidFill>
                <a:latin typeface="Book Antiqua" panose="02040602050305030304" pitchFamily="18" charset="0"/>
              </a:rPr>
              <a:t>Target requires a small fraction of the size of the source volumes</a:t>
            </a:r>
          </a:p>
          <a:p>
            <a:pPr algn="just"/>
            <a:r>
              <a:rPr lang="en-US" sz="1700" dirty="0">
                <a:solidFill>
                  <a:schemeClr val="tx1"/>
                </a:solidFill>
                <a:latin typeface="Book Antiqua" panose="02040602050305030304" pitchFamily="18" charset="0"/>
              </a:rPr>
              <a:t>Target devices are accessible immediately when the session is started </a:t>
            </a:r>
          </a:p>
          <a:p>
            <a:pPr algn="just"/>
            <a:r>
              <a:rPr lang="en-US" sz="1700" dirty="0">
                <a:solidFill>
                  <a:schemeClr val="tx1"/>
                </a:solidFill>
                <a:latin typeface="Book Antiqua" panose="02040602050305030304" pitchFamily="18" charset="0"/>
              </a:rPr>
              <a:t>Uses </a:t>
            </a:r>
            <a:r>
              <a:rPr lang="en-US" sz="1700" dirty="0" err="1">
                <a:solidFill>
                  <a:schemeClr val="tx1"/>
                </a:solidFill>
                <a:latin typeface="Book Antiqua" panose="02040602050305030304" pitchFamily="18" charset="0"/>
              </a:rPr>
              <a:t>CoFW</a:t>
            </a:r>
            <a:r>
              <a:rPr lang="en-US" sz="1700" dirty="0">
                <a:solidFill>
                  <a:schemeClr val="tx1"/>
                </a:solidFill>
                <a:latin typeface="Book Antiqua" panose="02040602050305030304" pitchFamily="18" charset="0"/>
              </a:rPr>
              <a:t> principle</a:t>
            </a:r>
          </a:p>
          <a:p>
            <a:pPr algn="just"/>
            <a:r>
              <a:rPr lang="en-US" sz="1700" dirty="0">
                <a:solidFill>
                  <a:schemeClr val="tx1"/>
                </a:solidFill>
                <a:latin typeface="Book Antiqua" panose="02040602050305030304" pitchFamily="18" charset="0"/>
              </a:rPr>
              <a:t>This method is recommended, if the changes to the source are typically less than 30%</a:t>
            </a:r>
          </a:p>
          <a:p>
            <a:pPr algn="just"/>
            <a:endParaRPr lang="en-US" sz="1700" dirty="0">
              <a:solidFill>
                <a:schemeClr val="tx1"/>
              </a:solidFill>
              <a:latin typeface="Book Antiqua" panose="02040602050305030304" pitchFamily="18" charset="0"/>
            </a:endParaRPr>
          </a:p>
        </p:txBody>
      </p:sp>
      <p:sp>
        <p:nvSpPr>
          <p:cNvPr id="5"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8981" name="Rectangle 5"/>
          <p:cNvSpPr>
            <a:spLocks noGrp="1" noChangeArrowheads="1"/>
          </p:cNvSpPr>
          <p:nvPr>
            <p:ph type="title"/>
          </p:nvPr>
        </p:nvSpPr>
        <p:spPr>
          <a:xfrm>
            <a:off x="304800" y="76200"/>
            <a:ext cx="8839200" cy="762000"/>
          </a:xfrm>
        </p:spPr>
        <p:txBody>
          <a:bodyPr/>
          <a:lstStyle/>
          <a:p>
            <a:r>
              <a:rPr lang="en-US" sz="2100" b="1" dirty="0">
                <a:solidFill>
                  <a:srgbClr val="C00000"/>
                </a:solidFill>
                <a:latin typeface="Book Antiqua" panose="02040602050305030304" pitchFamily="18" charset="0"/>
              </a:rPr>
              <a:t>Pointer-based Virtual Replication (CoFW): Write to Source </a:t>
            </a:r>
          </a:p>
        </p:txBody>
      </p:sp>
      <p:sp>
        <p:nvSpPr>
          <p:cNvPr id="3198982" name="Rectangle 6"/>
          <p:cNvSpPr>
            <a:spLocks noGrp="1" noChangeArrowheads="1"/>
          </p:cNvSpPr>
          <p:nvPr>
            <p:ph idx="1"/>
          </p:nvPr>
        </p:nvSpPr>
        <p:spPr>
          <a:xfrm>
            <a:off x="336932" y="3854068"/>
            <a:ext cx="8458200" cy="2133600"/>
          </a:xfrm>
        </p:spPr>
        <p:txBody>
          <a:bodyPr/>
          <a:lstStyle/>
          <a:p>
            <a:r>
              <a:rPr lang="en-US" sz="1700" dirty="0">
                <a:solidFill>
                  <a:schemeClr val="tx1"/>
                </a:solidFill>
                <a:latin typeface="Book Antiqua" panose="02040602050305030304" pitchFamily="18" charset="0"/>
              </a:rPr>
              <a:t>When a write is issued to the source for the first time after replication session activation: </a:t>
            </a:r>
          </a:p>
          <a:p>
            <a:pPr lvl="1"/>
            <a:r>
              <a:rPr lang="en-US" sz="1700" dirty="0">
                <a:solidFill>
                  <a:schemeClr val="tx1"/>
                </a:solidFill>
                <a:latin typeface="Book Antiqua" panose="02040602050305030304" pitchFamily="18" charset="0"/>
              </a:rPr>
              <a:t>Original data at that address is copied to save location</a:t>
            </a:r>
          </a:p>
          <a:p>
            <a:pPr lvl="1"/>
            <a:r>
              <a:rPr lang="en-US" sz="1700" dirty="0">
                <a:solidFill>
                  <a:schemeClr val="tx1"/>
                </a:solidFill>
                <a:latin typeface="Book Antiqua" panose="02040602050305030304" pitchFamily="18" charset="0"/>
              </a:rPr>
              <a:t>The pointer in the target is updated to point to this data in the save location</a:t>
            </a:r>
          </a:p>
          <a:p>
            <a:pPr lvl="1"/>
            <a:r>
              <a:rPr lang="en-US" sz="1700" dirty="0">
                <a:solidFill>
                  <a:schemeClr val="tx1"/>
                </a:solidFill>
                <a:latin typeface="Book Antiqua" panose="02040602050305030304" pitchFamily="18" charset="0"/>
              </a:rPr>
              <a:t>Finally, the new write is updated on the source</a:t>
            </a:r>
          </a:p>
        </p:txBody>
      </p:sp>
      <p:sp>
        <p:nvSpPr>
          <p:cNvPr id="198"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11: Local Replication</a:t>
            </a:r>
          </a:p>
        </p:txBody>
      </p:sp>
      <p:sp>
        <p:nvSpPr>
          <p:cNvPr id="199"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198983" name="Text Box 7"/>
          <p:cNvSpPr txBox="1">
            <a:spLocks noChangeArrowheads="1"/>
          </p:cNvSpPr>
          <p:nvPr/>
        </p:nvSpPr>
        <p:spPr bwMode="gray">
          <a:xfrm>
            <a:off x="1723698" y="1999596"/>
            <a:ext cx="503984"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Source</a:t>
            </a:r>
          </a:p>
        </p:txBody>
      </p:sp>
      <p:sp>
        <p:nvSpPr>
          <p:cNvPr id="3198984" name="Text Box 8"/>
          <p:cNvSpPr txBox="1">
            <a:spLocks noChangeArrowheads="1"/>
          </p:cNvSpPr>
          <p:nvPr/>
        </p:nvSpPr>
        <p:spPr bwMode="gray">
          <a:xfrm>
            <a:off x="7086600" y="1326932"/>
            <a:ext cx="1015791" cy="193899"/>
          </a:xfrm>
          <a:prstGeom prst="rect">
            <a:avLst/>
          </a:prstGeom>
          <a:noFill/>
          <a:ln w="12700" algn="ctr">
            <a:noFill/>
            <a:miter lim="800000"/>
            <a:headEnd/>
            <a:tailEnd type="none" w="lg" len="lg"/>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Save Location</a:t>
            </a:r>
          </a:p>
        </p:txBody>
      </p:sp>
      <p:sp>
        <p:nvSpPr>
          <p:cNvPr id="3198985" name="Text Box 9"/>
          <p:cNvSpPr txBox="1">
            <a:spLocks noChangeArrowheads="1"/>
          </p:cNvSpPr>
          <p:nvPr/>
        </p:nvSpPr>
        <p:spPr bwMode="gray">
          <a:xfrm>
            <a:off x="3924504" y="2228196"/>
            <a:ext cx="1044260" cy="387798"/>
          </a:xfrm>
          <a:prstGeom prst="rect">
            <a:avLst/>
          </a:prstGeom>
          <a:noFill/>
          <a:ln w="12700" algn="ctr">
            <a:noFill/>
            <a:miter lim="800000"/>
            <a:headEnd/>
            <a:tailEnd type="none" w="lg" len="lg"/>
          </a:ln>
          <a:effectLst/>
        </p:spPr>
        <p:txBody>
          <a:bodyPr wrap="none" lIns="0" tIns="0" rIns="0" bIns="0">
            <a:spAutoFit/>
          </a:bodyPr>
          <a:lstStyle/>
          <a:p>
            <a:pPr marL="0" marR="0" lvl="0" indent="0" algn="ctr"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Target</a:t>
            </a:r>
            <a:b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b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Virtual Device</a:t>
            </a:r>
          </a:p>
        </p:txBody>
      </p:sp>
      <p:sp>
        <p:nvSpPr>
          <p:cNvPr id="3199164" name="Line 188"/>
          <p:cNvSpPr>
            <a:spLocks noChangeShapeType="1"/>
          </p:cNvSpPr>
          <p:nvPr/>
        </p:nvSpPr>
        <p:spPr bwMode="auto">
          <a:xfrm>
            <a:off x="563127" y="3290299"/>
            <a:ext cx="719137"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99169" name="Text Box 193"/>
          <p:cNvSpPr txBox="1">
            <a:spLocks noChangeArrowheads="1"/>
          </p:cNvSpPr>
          <p:nvPr/>
        </p:nvSpPr>
        <p:spPr bwMode="auto">
          <a:xfrm>
            <a:off x="829827" y="3048000"/>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a:t>
            </a:r>
          </a:p>
        </p:txBody>
      </p:sp>
      <p:sp>
        <p:nvSpPr>
          <p:cNvPr id="200" name="Line 188"/>
          <p:cNvSpPr>
            <a:spLocks noChangeShapeType="1"/>
          </p:cNvSpPr>
          <p:nvPr/>
        </p:nvSpPr>
        <p:spPr bwMode="auto">
          <a:xfrm>
            <a:off x="3755034" y="3255580"/>
            <a:ext cx="1636776"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1" name="Text Box 193"/>
          <p:cNvSpPr txBox="1">
            <a:spLocks noChangeArrowheads="1"/>
          </p:cNvSpPr>
          <p:nvPr/>
        </p:nvSpPr>
        <p:spPr bwMode="auto">
          <a:xfrm>
            <a:off x="4489317" y="2950780"/>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a:t>
            </a:r>
          </a:p>
        </p:txBody>
      </p:sp>
      <p:sp>
        <p:nvSpPr>
          <p:cNvPr id="202" name="Text Box 8"/>
          <p:cNvSpPr txBox="1">
            <a:spLocks noChangeArrowheads="1"/>
          </p:cNvSpPr>
          <p:nvPr/>
        </p:nvSpPr>
        <p:spPr bwMode="gray">
          <a:xfrm>
            <a:off x="265771" y="3387501"/>
            <a:ext cx="1158779" cy="193899"/>
          </a:xfrm>
          <a:prstGeom prst="rect">
            <a:avLst/>
          </a:prstGeom>
          <a:noFill/>
          <a:ln w="12700" algn="ctr">
            <a:noFill/>
            <a:miter lim="800000"/>
            <a:headEnd/>
            <a:tailEnd type="none" w="lg" len="lg"/>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Write to Source</a:t>
            </a:r>
          </a:p>
        </p:txBody>
      </p:sp>
      <p:pic>
        <p:nvPicPr>
          <p:cNvPr id="204" name="Picture 13" descr="C:\Documents and Settings\sridhs\Desktop\ISM Book L3\colored Icons\Stripped disk.png"/>
          <p:cNvPicPr>
            <a:picLocks noChangeAspect="1" noChangeArrowheads="1"/>
          </p:cNvPicPr>
          <p:nvPr/>
        </p:nvPicPr>
        <p:blipFill>
          <a:blip r:embed="rId3" cstate="print"/>
          <a:srcRect/>
          <a:stretch>
            <a:fillRect/>
          </a:stretch>
        </p:blipFill>
        <p:spPr bwMode="auto">
          <a:xfrm>
            <a:off x="1330036" y="2251364"/>
            <a:ext cx="1336964" cy="1253836"/>
          </a:xfrm>
          <a:prstGeom prst="rect">
            <a:avLst/>
          </a:prstGeom>
          <a:noFill/>
        </p:spPr>
      </p:pic>
      <p:sp>
        <p:nvSpPr>
          <p:cNvPr id="205" name="Text Box 189"/>
          <p:cNvSpPr txBox="1">
            <a:spLocks noChangeArrowheads="1"/>
          </p:cNvSpPr>
          <p:nvPr/>
        </p:nvSpPr>
        <p:spPr bwMode="auto">
          <a:xfrm>
            <a:off x="1849992" y="2613210"/>
            <a:ext cx="297052"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206" name="Text Box 190"/>
          <p:cNvSpPr txBox="1">
            <a:spLocks noChangeArrowheads="1"/>
          </p:cNvSpPr>
          <p:nvPr/>
        </p:nvSpPr>
        <p:spPr bwMode="auto">
          <a:xfrm>
            <a:off x="1849992" y="2953238"/>
            <a:ext cx="297054"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
        <p:nvSpPr>
          <p:cNvPr id="207" name="Text Box 191"/>
          <p:cNvSpPr txBox="1">
            <a:spLocks noChangeArrowheads="1"/>
          </p:cNvSpPr>
          <p:nvPr/>
        </p:nvSpPr>
        <p:spPr bwMode="auto">
          <a:xfrm>
            <a:off x="1849992" y="3259885"/>
            <a:ext cx="297054"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C’</a:t>
            </a:r>
          </a:p>
        </p:txBody>
      </p:sp>
      <p:pic>
        <p:nvPicPr>
          <p:cNvPr id="208" name="Picture 13" descr="C:\Documents and Settings\sridhs\Desktop\ISM Book L3\colored Icons\Stripped disk.png"/>
          <p:cNvPicPr>
            <a:picLocks noChangeAspect="1" noChangeArrowheads="1"/>
          </p:cNvPicPr>
          <p:nvPr/>
        </p:nvPicPr>
        <p:blipFill>
          <a:blip r:embed="rId3" cstate="print">
            <a:lum/>
          </a:blip>
          <a:srcRect/>
          <a:stretch>
            <a:fillRect/>
          </a:stretch>
        </p:blipFill>
        <p:spPr bwMode="auto">
          <a:xfrm>
            <a:off x="3883570" y="943302"/>
            <a:ext cx="1069430" cy="1214462"/>
          </a:xfrm>
          <a:prstGeom prst="rect">
            <a:avLst/>
          </a:prstGeom>
          <a:noFill/>
        </p:spPr>
      </p:pic>
      <p:sp>
        <p:nvSpPr>
          <p:cNvPr id="210" name="AutoShape 78"/>
          <p:cNvSpPr>
            <a:spLocks noChangeArrowheads="1"/>
          </p:cNvSpPr>
          <p:nvPr/>
        </p:nvSpPr>
        <p:spPr bwMode="gray">
          <a:xfrm>
            <a:off x="3885813" y="927537"/>
            <a:ext cx="1051092" cy="1222374"/>
          </a:xfrm>
          <a:prstGeom prst="can">
            <a:avLst>
              <a:gd name="adj" fmla="val 30654"/>
            </a:avLst>
          </a:prstGeom>
          <a:noFill/>
          <a:ln w="38100">
            <a:solidFill>
              <a:srgbClr val="000000"/>
            </a:solidFill>
            <a:prstDash val="sysDot"/>
            <a:round/>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1" name="AutoShape 3"/>
          <p:cNvSpPr>
            <a:spLocks noChangeArrowheads="1"/>
          </p:cNvSpPr>
          <p:nvPr/>
        </p:nvSpPr>
        <p:spPr bwMode="gray">
          <a:xfrm>
            <a:off x="6553200" y="1600200"/>
            <a:ext cx="1981200" cy="2120900"/>
          </a:xfrm>
          <a:prstGeom prst="roundRect">
            <a:avLst>
              <a:gd name="adj" fmla="val 10954"/>
            </a:avLst>
          </a:prstGeom>
          <a:gradFill rotWithShape="1">
            <a:gsLst>
              <a:gs pos="0">
                <a:srgbClr val="DDDDDD">
                  <a:gamma/>
                  <a:tint val="49412"/>
                  <a:invGamma/>
                </a:srgbClr>
              </a:gs>
              <a:gs pos="100000">
                <a:srgbClr val="DDDDDD"/>
              </a:gs>
            </a:gsLst>
            <a:lin ang="5400000" scaled="1"/>
          </a:gradFill>
          <a:ln w="19050" algn="ctr">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213" name="Picture 13" descr="C:\Documents and Settings\sridhs\Desktop\ISM Book L3\colored Icons\Stripped disk.png"/>
          <p:cNvPicPr>
            <a:picLocks noChangeAspect="1" noChangeArrowheads="1"/>
          </p:cNvPicPr>
          <p:nvPr/>
        </p:nvPicPr>
        <p:blipFill>
          <a:blip r:embed="rId3" cstate="print"/>
          <a:srcRect/>
          <a:stretch>
            <a:fillRect/>
          </a:stretch>
        </p:blipFill>
        <p:spPr bwMode="auto">
          <a:xfrm>
            <a:off x="7110730" y="1733730"/>
            <a:ext cx="1336964" cy="1253836"/>
          </a:xfrm>
          <a:prstGeom prst="rect">
            <a:avLst/>
          </a:prstGeom>
          <a:noFill/>
        </p:spPr>
      </p:pic>
      <p:pic>
        <p:nvPicPr>
          <p:cNvPr id="212" name="Picture 13" descr="C:\Documents and Settings\sridhs\Desktop\ISM Book L3\colored Icons\Stripped disk.png"/>
          <p:cNvPicPr>
            <a:picLocks noChangeAspect="1" noChangeArrowheads="1"/>
          </p:cNvPicPr>
          <p:nvPr/>
        </p:nvPicPr>
        <p:blipFill>
          <a:blip r:embed="rId3" cstate="print"/>
          <a:srcRect/>
          <a:stretch>
            <a:fillRect/>
          </a:stretch>
        </p:blipFill>
        <p:spPr bwMode="auto">
          <a:xfrm>
            <a:off x="6664036" y="2311798"/>
            <a:ext cx="1336964" cy="1253836"/>
          </a:xfrm>
          <a:prstGeom prst="rect">
            <a:avLst/>
          </a:prstGeom>
          <a:noFill/>
        </p:spPr>
      </p:pic>
      <p:sp>
        <p:nvSpPr>
          <p:cNvPr id="214" name="Text Box 193"/>
          <p:cNvSpPr txBox="1">
            <a:spLocks noChangeArrowheads="1"/>
          </p:cNvSpPr>
          <p:nvPr/>
        </p:nvSpPr>
        <p:spPr bwMode="auto">
          <a:xfrm>
            <a:off x="7333099" y="3337381"/>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a:t>
            </a:r>
          </a:p>
        </p:txBody>
      </p:sp>
      <p:sp>
        <p:nvSpPr>
          <p:cNvPr id="215" name="Line 4"/>
          <p:cNvSpPr>
            <a:spLocks noChangeShapeType="1"/>
          </p:cNvSpPr>
          <p:nvPr/>
        </p:nvSpPr>
        <p:spPr bwMode="gray">
          <a:xfrm>
            <a:off x="4953000" y="1905000"/>
            <a:ext cx="1828800" cy="1447800"/>
          </a:xfrm>
          <a:prstGeom prst="line">
            <a:avLst/>
          </a:prstGeom>
          <a:noFill/>
          <a:ln w="38100">
            <a:solidFill>
              <a:srgbClr val="148C86"/>
            </a:solidFill>
            <a:round/>
            <a:headEnd/>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6" name="Line 13"/>
          <p:cNvSpPr>
            <a:spLocks noChangeShapeType="1"/>
          </p:cNvSpPr>
          <p:nvPr/>
        </p:nvSpPr>
        <p:spPr bwMode="gray">
          <a:xfrm flipH="1">
            <a:off x="2590800" y="1676401"/>
            <a:ext cx="1295400" cy="1295400"/>
          </a:xfrm>
          <a:prstGeom prst="line">
            <a:avLst/>
          </a:prstGeom>
          <a:noFill/>
          <a:ln w="38100">
            <a:solidFill>
              <a:srgbClr val="148C86"/>
            </a:solidFill>
            <a:round/>
            <a:headEnd/>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7" name="Line 14"/>
          <p:cNvSpPr>
            <a:spLocks noChangeShapeType="1"/>
          </p:cNvSpPr>
          <p:nvPr/>
        </p:nvSpPr>
        <p:spPr bwMode="gray">
          <a:xfrm flipH="1">
            <a:off x="2612090" y="1349157"/>
            <a:ext cx="1271016" cy="1273175"/>
          </a:xfrm>
          <a:prstGeom prst="line">
            <a:avLst/>
          </a:prstGeom>
          <a:noFill/>
          <a:ln w="38100">
            <a:solidFill>
              <a:srgbClr val="148C86"/>
            </a:solidFill>
            <a:round/>
            <a:headEnd/>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1029" name="Rectangle 5"/>
          <p:cNvSpPr>
            <a:spLocks noGrp="1" noChangeArrowheads="1"/>
          </p:cNvSpPr>
          <p:nvPr>
            <p:ph type="title"/>
          </p:nvPr>
        </p:nvSpPr>
        <p:spPr>
          <a:xfrm>
            <a:off x="304800" y="76200"/>
            <a:ext cx="8839200" cy="762000"/>
          </a:xfrm>
        </p:spPr>
        <p:txBody>
          <a:bodyPr/>
          <a:lstStyle/>
          <a:p>
            <a:r>
              <a:rPr lang="en-US" sz="2100" b="1" dirty="0">
                <a:solidFill>
                  <a:srgbClr val="C00000"/>
                </a:solidFill>
                <a:latin typeface="Book Antiqua" panose="02040602050305030304" pitchFamily="18" charset="0"/>
              </a:rPr>
              <a:t>Pointer-based Virtual Replication (CoFW): Write to Target </a:t>
            </a:r>
          </a:p>
        </p:txBody>
      </p:sp>
      <p:sp>
        <p:nvSpPr>
          <p:cNvPr id="3201030" name="Rectangle 6"/>
          <p:cNvSpPr>
            <a:spLocks noGrp="1" noChangeArrowheads="1"/>
          </p:cNvSpPr>
          <p:nvPr>
            <p:ph idx="1"/>
          </p:nvPr>
        </p:nvSpPr>
        <p:spPr>
          <a:xfrm>
            <a:off x="315817" y="3842132"/>
            <a:ext cx="8458200" cy="2743200"/>
          </a:xfrm>
        </p:spPr>
        <p:txBody>
          <a:bodyPr/>
          <a:lstStyle/>
          <a:p>
            <a:r>
              <a:rPr lang="en-US" sz="1700" dirty="0">
                <a:solidFill>
                  <a:schemeClr val="tx1"/>
                </a:solidFill>
                <a:latin typeface="Book Antiqua" panose="02040602050305030304" pitchFamily="18" charset="0"/>
              </a:rPr>
              <a:t>When a write is issued to the target for the first time after replication session activation:</a:t>
            </a:r>
          </a:p>
          <a:p>
            <a:pPr lvl="1"/>
            <a:r>
              <a:rPr lang="en-US" sz="1700" dirty="0">
                <a:solidFill>
                  <a:schemeClr val="tx1"/>
                </a:solidFill>
                <a:latin typeface="Book Antiqua" panose="02040602050305030304" pitchFamily="18" charset="0"/>
              </a:rPr>
              <a:t>Original data from the source device is copied to the save location</a:t>
            </a:r>
          </a:p>
          <a:p>
            <a:pPr lvl="1"/>
            <a:r>
              <a:rPr lang="en-US" sz="1700" dirty="0">
                <a:solidFill>
                  <a:schemeClr val="tx1"/>
                </a:solidFill>
                <a:latin typeface="Book Antiqua" panose="02040602050305030304" pitchFamily="18" charset="0"/>
              </a:rPr>
              <a:t>The pointer is updated to the data in save location</a:t>
            </a:r>
          </a:p>
          <a:p>
            <a:pPr lvl="1"/>
            <a:r>
              <a:rPr lang="en-US" sz="1700" dirty="0">
                <a:solidFill>
                  <a:schemeClr val="tx1"/>
                </a:solidFill>
                <a:latin typeface="Book Antiqua" panose="02040602050305030304" pitchFamily="18" charset="0"/>
              </a:rPr>
              <a:t>Another copy of the original data is created in the save location before the new write is updated on the save location</a:t>
            </a:r>
          </a:p>
        </p:txBody>
      </p:sp>
      <p:sp>
        <p:nvSpPr>
          <p:cNvPr id="200"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11: Local Replication</a:t>
            </a:r>
          </a:p>
        </p:txBody>
      </p:sp>
      <p:sp>
        <p:nvSpPr>
          <p:cNvPr id="201"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207" name="Text Box 7"/>
          <p:cNvSpPr txBox="1">
            <a:spLocks noChangeArrowheads="1"/>
          </p:cNvSpPr>
          <p:nvPr/>
        </p:nvSpPr>
        <p:spPr bwMode="gray">
          <a:xfrm>
            <a:off x="1723698" y="1999596"/>
            <a:ext cx="503984" cy="215444"/>
          </a:xfrm>
          <a:prstGeom prst="rect">
            <a:avLst/>
          </a:prstGeom>
          <a:noFill/>
          <a:ln w="12700" algn="ctr">
            <a:noFill/>
            <a:miter lim="800000"/>
            <a:headEnd/>
            <a:tailEnd type="none" w="lg" len="lg"/>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Source</a:t>
            </a:r>
          </a:p>
        </p:txBody>
      </p:sp>
      <p:sp>
        <p:nvSpPr>
          <p:cNvPr id="208" name="Text Box 8"/>
          <p:cNvSpPr txBox="1">
            <a:spLocks noChangeArrowheads="1"/>
          </p:cNvSpPr>
          <p:nvPr/>
        </p:nvSpPr>
        <p:spPr bwMode="gray">
          <a:xfrm>
            <a:off x="7037294" y="1371600"/>
            <a:ext cx="1015791" cy="193899"/>
          </a:xfrm>
          <a:prstGeom prst="rect">
            <a:avLst/>
          </a:prstGeom>
          <a:noFill/>
          <a:ln w="12700" algn="ctr">
            <a:noFill/>
            <a:miter lim="800000"/>
            <a:headEnd/>
            <a:tailEnd type="none" w="lg" len="lg"/>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Save Location</a:t>
            </a:r>
          </a:p>
        </p:txBody>
      </p:sp>
      <p:sp>
        <p:nvSpPr>
          <p:cNvPr id="209" name="Text Box 9"/>
          <p:cNvSpPr txBox="1">
            <a:spLocks noChangeArrowheads="1"/>
          </p:cNvSpPr>
          <p:nvPr/>
        </p:nvSpPr>
        <p:spPr bwMode="gray">
          <a:xfrm>
            <a:off x="3924504" y="2228196"/>
            <a:ext cx="1044260" cy="387798"/>
          </a:xfrm>
          <a:prstGeom prst="rect">
            <a:avLst/>
          </a:prstGeom>
          <a:noFill/>
          <a:ln w="12700" algn="ctr">
            <a:noFill/>
            <a:miter lim="800000"/>
            <a:headEnd/>
            <a:tailEnd type="none" w="lg" len="lg"/>
          </a:ln>
          <a:effectLst/>
        </p:spPr>
        <p:txBody>
          <a:bodyPr wrap="none" lIns="0" tIns="0" rIns="0" bIns="0">
            <a:spAutoFit/>
          </a:bodyPr>
          <a:lstStyle/>
          <a:p>
            <a:pPr marL="0" marR="0" lvl="0" indent="0" algn="ctr"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Target</a:t>
            </a:r>
            <a:b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b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Virtual Device</a:t>
            </a:r>
          </a:p>
        </p:txBody>
      </p:sp>
      <p:sp>
        <p:nvSpPr>
          <p:cNvPr id="212" name="Line 188"/>
          <p:cNvSpPr>
            <a:spLocks noChangeShapeType="1"/>
          </p:cNvSpPr>
          <p:nvPr/>
        </p:nvSpPr>
        <p:spPr bwMode="auto">
          <a:xfrm>
            <a:off x="3697224" y="3124200"/>
            <a:ext cx="1636776"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3" name="Text Box 193"/>
          <p:cNvSpPr txBox="1">
            <a:spLocks noChangeArrowheads="1"/>
          </p:cNvSpPr>
          <p:nvPr/>
        </p:nvSpPr>
        <p:spPr bwMode="auto">
          <a:xfrm>
            <a:off x="4431507" y="2819400"/>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pic>
        <p:nvPicPr>
          <p:cNvPr id="215" name="Picture 13" descr="C:\Documents and Settings\sridhs\Desktop\ISM Book L3\colored Icons\Stripped disk.png"/>
          <p:cNvPicPr>
            <a:picLocks noChangeAspect="1" noChangeArrowheads="1"/>
          </p:cNvPicPr>
          <p:nvPr/>
        </p:nvPicPr>
        <p:blipFill>
          <a:blip r:embed="rId3" cstate="print"/>
          <a:srcRect/>
          <a:stretch>
            <a:fillRect/>
          </a:stretch>
        </p:blipFill>
        <p:spPr bwMode="auto">
          <a:xfrm>
            <a:off x="1330036" y="2251364"/>
            <a:ext cx="1336964" cy="1253836"/>
          </a:xfrm>
          <a:prstGeom prst="rect">
            <a:avLst/>
          </a:prstGeom>
          <a:noFill/>
        </p:spPr>
      </p:pic>
      <p:sp>
        <p:nvSpPr>
          <p:cNvPr id="216" name="Text Box 189"/>
          <p:cNvSpPr txBox="1">
            <a:spLocks noChangeArrowheads="1"/>
          </p:cNvSpPr>
          <p:nvPr/>
        </p:nvSpPr>
        <p:spPr bwMode="auto">
          <a:xfrm>
            <a:off x="1849992" y="2613210"/>
            <a:ext cx="297052"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217" name="Text Box 190"/>
          <p:cNvSpPr txBox="1">
            <a:spLocks noChangeArrowheads="1"/>
          </p:cNvSpPr>
          <p:nvPr/>
        </p:nvSpPr>
        <p:spPr bwMode="auto">
          <a:xfrm>
            <a:off x="1849992" y="2953238"/>
            <a:ext cx="297054"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t>
            </a:r>
          </a:p>
        </p:txBody>
      </p:sp>
      <p:sp>
        <p:nvSpPr>
          <p:cNvPr id="218" name="Text Box 191"/>
          <p:cNvSpPr txBox="1">
            <a:spLocks noChangeArrowheads="1"/>
          </p:cNvSpPr>
          <p:nvPr/>
        </p:nvSpPr>
        <p:spPr bwMode="auto">
          <a:xfrm>
            <a:off x="1849992" y="3259885"/>
            <a:ext cx="297054"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C’</a:t>
            </a:r>
          </a:p>
        </p:txBody>
      </p:sp>
      <p:pic>
        <p:nvPicPr>
          <p:cNvPr id="219" name="Picture 13" descr="C:\Documents and Settings\sridhs\Desktop\ISM Book L3\colored Icons\Stripped disk.png"/>
          <p:cNvPicPr>
            <a:picLocks noChangeAspect="1" noChangeArrowheads="1"/>
          </p:cNvPicPr>
          <p:nvPr/>
        </p:nvPicPr>
        <p:blipFill>
          <a:blip r:embed="rId3" cstate="print">
            <a:lum/>
          </a:blip>
          <a:srcRect/>
          <a:stretch>
            <a:fillRect/>
          </a:stretch>
        </p:blipFill>
        <p:spPr bwMode="auto">
          <a:xfrm>
            <a:off x="3883570" y="943302"/>
            <a:ext cx="1069430" cy="1214462"/>
          </a:xfrm>
          <a:prstGeom prst="rect">
            <a:avLst/>
          </a:prstGeom>
          <a:noFill/>
        </p:spPr>
      </p:pic>
      <p:sp>
        <p:nvSpPr>
          <p:cNvPr id="220" name="AutoShape 78"/>
          <p:cNvSpPr>
            <a:spLocks noChangeArrowheads="1"/>
          </p:cNvSpPr>
          <p:nvPr/>
        </p:nvSpPr>
        <p:spPr bwMode="gray">
          <a:xfrm>
            <a:off x="3885813" y="927537"/>
            <a:ext cx="1051092" cy="1222374"/>
          </a:xfrm>
          <a:prstGeom prst="can">
            <a:avLst>
              <a:gd name="adj" fmla="val 30654"/>
            </a:avLst>
          </a:prstGeom>
          <a:noFill/>
          <a:ln w="38100">
            <a:solidFill>
              <a:srgbClr val="000000"/>
            </a:solidFill>
            <a:prstDash val="sysDot"/>
            <a:round/>
            <a:headEnd/>
            <a:tailEnd type="none" w="lg" len="lg"/>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1" name="AutoShape 3"/>
          <p:cNvSpPr>
            <a:spLocks noChangeArrowheads="1"/>
          </p:cNvSpPr>
          <p:nvPr/>
        </p:nvSpPr>
        <p:spPr bwMode="gray">
          <a:xfrm>
            <a:off x="6553200" y="1600200"/>
            <a:ext cx="1981200" cy="2120900"/>
          </a:xfrm>
          <a:prstGeom prst="roundRect">
            <a:avLst>
              <a:gd name="adj" fmla="val 10954"/>
            </a:avLst>
          </a:prstGeom>
          <a:gradFill rotWithShape="1">
            <a:gsLst>
              <a:gs pos="0">
                <a:srgbClr val="DDDDDD">
                  <a:gamma/>
                  <a:tint val="49412"/>
                  <a:invGamma/>
                </a:srgbClr>
              </a:gs>
              <a:gs pos="100000">
                <a:srgbClr val="DDDDDD"/>
              </a:gs>
            </a:gsLst>
            <a:lin ang="5400000" scaled="1"/>
          </a:gradFill>
          <a:ln w="19050" algn="ctr">
            <a:solidFill>
              <a:srgbClr val="000000"/>
            </a:solidFill>
            <a:round/>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222" name="Picture 13" descr="C:\Documents and Settings\sridhs\Desktop\ISM Book L3\colored Icons\Stripped disk.png"/>
          <p:cNvPicPr>
            <a:picLocks noChangeAspect="1" noChangeArrowheads="1"/>
          </p:cNvPicPr>
          <p:nvPr/>
        </p:nvPicPr>
        <p:blipFill>
          <a:blip r:embed="rId3" cstate="print"/>
          <a:srcRect/>
          <a:stretch>
            <a:fillRect/>
          </a:stretch>
        </p:blipFill>
        <p:spPr bwMode="auto">
          <a:xfrm>
            <a:off x="7110730" y="1733730"/>
            <a:ext cx="1336964" cy="1253836"/>
          </a:xfrm>
          <a:prstGeom prst="rect">
            <a:avLst/>
          </a:prstGeom>
          <a:noFill/>
        </p:spPr>
      </p:pic>
      <p:pic>
        <p:nvPicPr>
          <p:cNvPr id="223" name="Picture 13" descr="C:\Documents and Settings\sridhs\Desktop\ISM Book L3\colored Icons\Stripped disk.png"/>
          <p:cNvPicPr>
            <a:picLocks noChangeAspect="1" noChangeArrowheads="1"/>
          </p:cNvPicPr>
          <p:nvPr/>
        </p:nvPicPr>
        <p:blipFill>
          <a:blip r:embed="rId3" cstate="print"/>
          <a:srcRect/>
          <a:stretch>
            <a:fillRect/>
          </a:stretch>
        </p:blipFill>
        <p:spPr bwMode="auto">
          <a:xfrm>
            <a:off x="6664036" y="2311798"/>
            <a:ext cx="1336964" cy="1253836"/>
          </a:xfrm>
          <a:prstGeom prst="rect">
            <a:avLst/>
          </a:prstGeom>
          <a:noFill/>
        </p:spPr>
      </p:pic>
      <p:sp>
        <p:nvSpPr>
          <p:cNvPr id="224" name="Text Box 193"/>
          <p:cNvSpPr txBox="1">
            <a:spLocks noChangeArrowheads="1"/>
          </p:cNvSpPr>
          <p:nvPr/>
        </p:nvSpPr>
        <p:spPr bwMode="auto">
          <a:xfrm>
            <a:off x="7333099" y="3289756"/>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a:t>
            </a:r>
          </a:p>
        </p:txBody>
      </p:sp>
      <p:sp>
        <p:nvSpPr>
          <p:cNvPr id="225" name="Line 4"/>
          <p:cNvSpPr>
            <a:spLocks noChangeShapeType="1"/>
          </p:cNvSpPr>
          <p:nvPr/>
        </p:nvSpPr>
        <p:spPr bwMode="gray">
          <a:xfrm>
            <a:off x="4953000" y="1905000"/>
            <a:ext cx="1828800" cy="1447800"/>
          </a:xfrm>
          <a:prstGeom prst="line">
            <a:avLst/>
          </a:prstGeom>
          <a:noFill/>
          <a:ln w="38100">
            <a:solidFill>
              <a:srgbClr val="148C86"/>
            </a:solidFill>
            <a:round/>
            <a:headEnd/>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6" name="Line 13"/>
          <p:cNvSpPr>
            <a:spLocks noChangeShapeType="1"/>
          </p:cNvSpPr>
          <p:nvPr/>
        </p:nvSpPr>
        <p:spPr bwMode="gray">
          <a:xfrm flipH="1">
            <a:off x="2590800" y="1676401"/>
            <a:ext cx="1295400" cy="1295400"/>
          </a:xfrm>
          <a:prstGeom prst="line">
            <a:avLst/>
          </a:prstGeom>
          <a:noFill/>
          <a:ln w="38100">
            <a:solidFill>
              <a:srgbClr val="148C86"/>
            </a:solidFill>
            <a:round/>
            <a:headEnd/>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8" name="Line 188"/>
          <p:cNvSpPr>
            <a:spLocks noChangeShapeType="1"/>
          </p:cNvSpPr>
          <p:nvPr/>
        </p:nvSpPr>
        <p:spPr bwMode="auto">
          <a:xfrm flipH="1">
            <a:off x="5015699" y="1283672"/>
            <a:ext cx="652463" cy="0"/>
          </a:xfrm>
          <a:prstGeom prst="line">
            <a:avLst/>
          </a:prstGeom>
          <a:noFill/>
          <a:ln w="31750">
            <a:solidFill>
              <a:srgbClr val="FF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9" name="Text Box 193"/>
          <p:cNvSpPr txBox="1">
            <a:spLocks noChangeArrowheads="1"/>
          </p:cNvSpPr>
          <p:nvPr/>
        </p:nvSpPr>
        <p:spPr bwMode="auto">
          <a:xfrm>
            <a:off x="5286118" y="1093694"/>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230" name="Text Box 8"/>
          <p:cNvSpPr txBox="1">
            <a:spLocks noChangeArrowheads="1"/>
          </p:cNvSpPr>
          <p:nvPr/>
        </p:nvSpPr>
        <p:spPr bwMode="gray">
          <a:xfrm>
            <a:off x="5744362" y="1165973"/>
            <a:ext cx="1113638" cy="193899"/>
          </a:xfrm>
          <a:prstGeom prst="rect">
            <a:avLst/>
          </a:prstGeom>
          <a:noFill/>
          <a:ln w="12700" algn="ctr">
            <a:noFill/>
            <a:miter lim="800000"/>
            <a:headEnd/>
            <a:tailEnd type="none" w="lg" len="lg"/>
          </a:ln>
          <a:effectLst/>
        </p:spPr>
        <p:txBody>
          <a:bodyPr wrap="none" lIns="0" tIns="0" rIns="0" bIns="0">
            <a:spAutoFit/>
          </a:bodyPr>
          <a:lstStyle/>
          <a:p>
            <a:pPr marL="0" marR="0" lvl="0" indent="0" algn="l" defTabSz="941388" rtl="0" eaLnBrk="1" fontAlgn="base" latinLnBrk="0" hangingPunct="1">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Calibri" pitchFamily="34" charset="0"/>
                <a:ea typeface="+mn-ea"/>
                <a:cs typeface="Calibri" pitchFamily="34" charset="0"/>
              </a:rPr>
              <a:t>Write to Target</a:t>
            </a:r>
          </a:p>
        </p:txBody>
      </p:sp>
      <p:sp>
        <p:nvSpPr>
          <p:cNvPr id="231" name="Line 4"/>
          <p:cNvSpPr>
            <a:spLocks noChangeShapeType="1"/>
          </p:cNvSpPr>
          <p:nvPr/>
        </p:nvSpPr>
        <p:spPr bwMode="gray">
          <a:xfrm>
            <a:off x="4953000" y="1317812"/>
            <a:ext cx="1828800" cy="1447800"/>
          </a:xfrm>
          <a:prstGeom prst="line">
            <a:avLst/>
          </a:prstGeom>
          <a:noFill/>
          <a:ln w="38100">
            <a:solidFill>
              <a:srgbClr val="148C86"/>
            </a:solidFill>
            <a:round/>
            <a:headEnd/>
            <a:tailEnd type="triangle" w="med" len="lg"/>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32" name="Text Box 193"/>
          <p:cNvSpPr txBox="1">
            <a:spLocks noChangeArrowheads="1"/>
          </p:cNvSpPr>
          <p:nvPr/>
        </p:nvSpPr>
        <p:spPr bwMode="auto">
          <a:xfrm>
            <a:off x="7328928" y="2707341"/>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233" name="Text Box 193"/>
          <p:cNvSpPr txBox="1">
            <a:spLocks noChangeArrowheads="1"/>
          </p:cNvSpPr>
          <p:nvPr/>
        </p:nvSpPr>
        <p:spPr bwMode="auto">
          <a:xfrm>
            <a:off x="7328647" y="3011850"/>
            <a:ext cx="223837"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a:t>
            </a:r>
          </a:p>
        </p:txBody>
      </p:sp>
      <p:sp>
        <p:nvSpPr>
          <p:cNvPr id="234" name="Arc 233"/>
          <p:cNvSpPr/>
          <p:nvPr/>
        </p:nvSpPr>
        <p:spPr>
          <a:xfrm>
            <a:off x="7543801" y="2743200"/>
            <a:ext cx="76200" cy="381000"/>
          </a:xfrm>
          <a:prstGeom prst="arc">
            <a:avLst>
              <a:gd name="adj1" fmla="val 16200000"/>
              <a:gd name="adj2" fmla="val 5629600"/>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Tracking Changes to Source and Target</a:t>
            </a:r>
          </a:p>
        </p:txBody>
      </p:sp>
      <p:sp>
        <p:nvSpPr>
          <p:cNvPr id="3" name="Footer Placeholder 2"/>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pSp>
        <p:nvGrpSpPr>
          <p:cNvPr id="7" name="Group 6"/>
          <p:cNvGrpSpPr/>
          <p:nvPr/>
        </p:nvGrpSpPr>
        <p:grpSpPr>
          <a:xfrm>
            <a:off x="947723" y="1376784"/>
            <a:ext cx="6629416" cy="4262016"/>
            <a:chOff x="947723" y="1411288"/>
            <a:chExt cx="6629416" cy="4262016"/>
          </a:xfrm>
        </p:grpSpPr>
        <p:sp>
          <p:nvSpPr>
            <p:cNvPr id="8" name="Rectangle 85"/>
            <p:cNvSpPr>
              <a:spLocks noChangeArrowheads="1"/>
            </p:cNvSpPr>
            <p:nvPr/>
          </p:nvSpPr>
          <p:spPr bwMode="gray">
            <a:xfrm>
              <a:off x="5462930" y="5310238"/>
              <a:ext cx="302392"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 name="Rectangle 85"/>
            <p:cNvSpPr>
              <a:spLocks noChangeArrowheads="1"/>
            </p:cNvSpPr>
            <p:nvPr/>
          </p:nvSpPr>
          <p:spPr bwMode="gray">
            <a:xfrm>
              <a:off x="3831545" y="5310238"/>
              <a:ext cx="302392"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0" name="AutoShape 2"/>
            <p:cNvSpPr>
              <a:spLocks noChangeAspect="1" noChangeArrowheads="1"/>
            </p:cNvSpPr>
            <p:nvPr/>
          </p:nvSpPr>
          <p:spPr bwMode="gray">
            <a:xfrm>
              <a:off x="2347009" y="1411288"/>
              <a:ext cx="5217628" cy="595025"/>
            </a:xfrm>
            <a:prstGeom prst="roundRect">
              <a:avLst>
                <a:gd name="adj" fmla="val 16667"/>
              </a:avLst>
            </a:prstGeom>
            <a:solidFill>
              <a:srgbClr val="B2DEDC"/>
            </a:solidFill>
            <a:ln w="28575" algn="ctr">
              <a:solidFill>
                <a:srgbClr val="25A39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 name="Text Box 3"/>
            <p:cNvSpPr txBox="1">
              <a:spLocks noChangeAspect="1" noChangeArrowheads="1"/>
            </p:cNvSpPr>
            <p:nvPr/>
          </p:nvSpPr>
          <p:spPr bwMode="gray">
            <a:xfrm>
              <a:off x="2732791" y="1587779"/>
              <a:ext cx="55784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Source</a:t>
              </a:r>
            </a:p>
          </p:txBody>
        </p:sp>
        <p:sp>
          <p:nvSpPr>
            <p:cNvPr id="12" name="AutoShape 4"/>
            <p:cNvSpPr>
              <a:spLocks noChangeAspect="1" noChangeArrowheads="1"/>
            </p:cNvSpPr>
            <p:nvPr/>
          </p:nvSpPr>
          <p:spPr bwMode="gray">
            <a:xfrm>
              <a:off x="2347009" y="2085734"/>
              <a:ext cx="5217628" cy="595025"/>
            </a:xfrm>
            <a:prstGeom prst="roundRect">
              <a:avLst>
                <a:gd name="adj" fmla="val 16667"/>
              </a:avLst>
            </a:prstGeom>
            <a:solidFill>
              <a:srgbClr val="B2DEDC"/>
            </a:solidFill>
            <a:ln w="28575" algn="ctr">
              <a:solidFill>
                <a:srgbClr val="25A39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3" name="Text Box 5"/>
            <p:cNvSpPr txBox="1">
              <a:spLocks noChangeAspect="1" noChangeArrowheads="1"/>
            </p:cNvSpPr>
            <p:nvPr/>
          </p:nvSpPr>
          <p:spPr bwMode="gray">
            <a:xfrm>
              <a:off x="2748607" y="2262225"/>
              <a:ext cx="52899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Target</a:t>
              </a:r>
            </a:p>
          </p:txBody>
        </p:sp>
        <p:sp>
          <p:nvSpPr>
            <p:cNvPr id="14" name="AutoShape 7"/>
            <p:cNvSpPr>
              <a:spLocks noChangeAspect="1" noChangeArrowheads="1"/>
            </p:cNvSpPr>
            <p:nvPr/>
          </p:nvSpPr>
          <p:spPr bwMode="gray">
            <a:xfrm>
              <a:off x="2345619" y="4628460"/>
              <a:ext cx="5231520" cy="582419"/>
            </a:xfrm>
            <a:prstGeom prst="roundRect">
              <a:avLst>
                <a:gd name="adj" fmla="val 16667"/>
              </a:avLst>
            </a:prstGeom>
            <a:solidFill>
              <a:srgbClr val="BCD1E8"/>
            </a:solidFill>
            <a:ln w="28575" algn="ctr">
              <a:solidFill>
                <a:srgbClr val="1660B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5" name="Text Box 8"/>
            <p:cNvSpPr txBox="1">
              <a:spLocks noChangeAspect="1" noChangeArrowheads="1"/>
            </p:cNvSpPr>
            <p:nvPr/>
          </p:nvSpPr>
          <p:spPr bwMode="gray">
            <a:xfrm>
              <a:off x="3014461" y="4893196"/>
              <a:ext cx="6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endPar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endParaRPr>
            </a:p>
          </p:txBody>
        </p:sp>
        <p:sp>
          <p:nvSpPr>
            <p:cNvPr id="16" name="Text Box 10"/>
            <p:cNvSpPr txBox="1">
              <a:spLocks noChangeArrowheads="1"/>
            </p:cNvSpPr>
            <p:nvPr/>
          </p:nvSpPr>
          <p:spPr bwMode="gray">
            <a:xfrm>
              <a:off x="3949544" y="5389097"/>
              <a:ext cx="9137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17" name="Text Box 11"/>
            <p:cNvSpPr txBox="1">
              <a:spLocks noChangeArrowheads="1"/>
            </p:cNvSpPr>
            <p:nvPr/>
          </p:nvSpPr>
          <p:spPr bwMode="gray">
            <a:xfrm>
              <a:off x="4161233" y="5389097"/>
              <a:ext cx="99386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l"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Book Antiqua" panose="02040602050305030304" pitchFamily="18" charset="0"/>
                  <a:cs typeface="Calibri" pitchFamily="34" charset="0"/>
                </a:rPr>
                <a:t>  unchanged</a:t>
              </a:r>
            </a:p>
          </p:txBody>
        </p:sp>
        <p:sp>
          <p:nvSpPr>
            <p:cNvPr id="18" name="Text Box 12"/>
            <p:cNvSpPr txBox="1">
              <a:spLocks noChangeArrowheads="1"/>
            </p:cNvSpPr>
            <p:nvPr/>
          </p:nvSpPr>
          <p:spPr bwMode="gray">
            <a:xfrm>
              <a:off x="5796255" y="5389097"/>
              <a:ext cx="77585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l"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dirty="0">
                  <a:ln>
                    <a:noFill/>
                  </a:ln>
                  <a:solidFill>
                    <a:srgbClr val="000A18"/>
                  </a:solidFill>
                  <a:effectLst/>
                  <a:uLnTx/>
                  <a:uFillTx/>
                  <a:latin typeface="Book Antiqua" panose="02040602050305030304" pitchFamily="18" charset="0"/>
                  <a:cs typeface="Calibri" pitchFamily="34" charset="0"/>
                </a:rPr>
                <a:t>  changed</a:t>
              </a:r>
            </a:p>
          </p:txBody>
        </p:sp>
        <p:sp>
          <p:nvSpPr>
            <p:cNvPr id="19" name="Text Box 13"/>
            <p:cNvSpPr txBox="1">
              <a:spLocks noChangeArrowheads="1"/>
            </p:cNvSpPr>
            <p:nvPr/>
          </p:nvSpPr>
          <p:spPr bwMode="gray">
            <a:xfrm>
              <a:off x="965945" y="4802429"/>
              <a:ext cx="920124" cy="19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lgn="l" defTabSz="941388">
                <a:spcBef>
                  <a:spcPct val="0"/>
                </a:spcBef>
                <a:defRPr>
                  <a:solidFill>
                    <a:schemeClr val="tx1"/>
                  </a:solidFill>
                  <a:latin typeface="Arial" charset="0"/>
                  <a:cs typeface="Arial" charset="0"/>
                </a:defRPr>
              </a:lvl1pPr>
              <a:lvl2pPr marL="458788"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0" marR="0" lvl="0" indent="0" algn="ctr" defTabSz="941388" rtl="0" eaLnBrk="1" fontAlgn="base" latinLnBrk="0" hangingPunct="1">
                <a:lnSpc>
                  <a:spcPct val="90000"/>
                </a:lnSpc>
                <a:spcBef>
                  <a:spcPct val="30000"/>
                </a:spcBef>
                <a:spcAft>
                  <a:spcPct val="0"/>
                </a:spcAft>
                <a:buClrTx/>
                <a:buSzTx/>
                <a:buFontTx/>
                <a:buNone/>
                <a:tabLst/>
                <a:defRPr/>
              </a:pPr>
              <a:r>
                <a:rPr kumimoji="0" lang="en-US" sz="1400" b="1" i="0" u="none" strike="noStrike" kern="1200" cap="none" spc="0" normalizeH="0" baseline="0" noProof="0">
                  <a:ln>
                    <a:noFill/>
                  </a:ln>
                  <a:solidFill>
                    <a:srgbClr val="1660B2"/>
                  </a:solidFill>
                  <a:effectLst/>
                  <a:uLnTx/>
                  <a:uFillTx/>
                  <a:latin typeface="Book Antiqua" panose="02040602050305030304" pitchFamily="18" charset="0"/>
                  <a:cs typeface="Calibri" pitchFamily="34" charset="0"/>
                </a:rPr>
                <a:t>Logical OR</a:t>
              </a:r>
            </a:p>
          </p:txBody>
        </p:sp>
        <p:sp>
          <p:nvSpPr>
            <p:cNvPr id="20" name="Text Box 14"/>
            <p:cNvSpPr txBox="1">
              <a:spLocks noChangeArrowheads="1"/>
            </p:cNvSpPr>
            <p:nvPr/>
          </p:nvSpPr>
          <p:spPr bwMode="gray">
            <a:xfrm>
              <a:off x="1152908" y="1928153"/>
              <a:ext cx="54341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dirty="0">
                  <a:ln>
                    <a:noFill/>
                  </a:ln>
                  <a:solidFill>
                    <a:srgbClr val="008080"/>
                  </a:solidFill>
                  <a:effectLst/>
                  <a:uLnTx/>
                  <a:uFillTx/>
                  <a:latin typeface="Book Antiqua" panose="02040602050305030304" pitchFamily="18" charset="0"/>
                  <a:cs typeface="Calibri" pitchFamily="34" charset="0"/>
                </a:rPr>
                <a:t>At PIT</a:t>
              </a:r>
            </a:p>
          </p:txBody>
        </p:sp>
        <p:sp>
          <p:nvSpPr>
            <p:cNvPr id="21" name="AutoShape 15"/>
            <p:cNvSpPr>
              <a:spLocks noChangeAspect="1" noChangeArrowheads="1"/>
            </p:cNvSpPr>
            <p:nvPr/>
          </p:nvSpPr>
          <p:spPr bwMode="gray">
            <a:xfrm>
              <a:off x="2359511" y="3575819"/>
              <a:ext cx="5200958" cy="592504"/>
            </a:xfrm>
            <a:prstGeom prst="roundRect">
              <a:avLst>
                <a:gd name="adj" fmla="val 16667"/>
              </a:avLst>
            </a:prstGeom>
            <a:solidFill>
              <a:srgbClr val="D0D0E8"/>
            </a:solidFill>
            <a:ln w="28575" algn="ctr">
              <a:solidFill>
                <a:srgbClr val="6B4DCB"/>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22" name="Text Box 16"/>
            <p:cNvSpPr txBox="1">
              <a:spLocks noChangeAspect="1" noChangeArrowheads="1"/>
            </p:cNvSpPr>
            <p:nvPr/>
          </p:nvSpPr>
          <p:spPr bwMode="gray">
            <a:xfrm>
              <a:off x="2761111" y="3751049"/>
              <a:ext cx="52899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Target</a:t>
              </a:r>
            </a:p>
          </p:txBody>
        </p:sp>
        <p:sp>
          <p:nvSpPr>
            <p:cNvPr id="23" name="AutoShape 17"/>
            <p:cNvSpPr>
              <a:spLocks noChangeAspect="1" noChangeArrowheads="1"/>
            </p:cNvSpPr>
            <p:nvPr/>
          </p:nvSpPr>
          <p:spPr bwMode="gray">
            <a:xfrm>
              <a:off x="2366457" y="2905155"/>
              <a:ext cx="5200958" cy="592504"/>
            </a:xfrm>
            <a:prstGeom prst="roundRect">
              <a:avLst>
                <a:gd name="adj" fmla="val 16667"/>
              </a:avLst>
            </a:prstGeom>
            <a:solidFill>
              <a:srgbClr val="D0D0E8"/>
            </a:solidFill>
            <a:ln w="28575" algn="ctr">
              <a:solidFill>
                <a:srgbClr val="6A4DCB"/>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24" name="Text Box 18"/>
            <p:cNvSpPr txBox="1">
              <a:spLocks noChangeAspect="1" noChangeArrowheads="1"/>
            </p:cNvSpPr>
            <p:nvPr/>
          </p:nvSpPr>
          <p:spPr bwMode="gray">
            <a:xfrm>
              <a:off x="2753629" y="3080385"/>
              <a:ext cx="557845"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Source</a:t>
              </a:r>
            </a:p>
          </p:txBody>
        </p:sp>
        <p:sp>
          <p:nvSpPr>
            <p:cNvPr id="25" name="Text Box 19"/>
            <p:cNvSpPr txBox="1">
              <a:spLocks noChangeArrowheads="1"/>
            </p:cNvSpPr>
            <p:nvPr/>
          </p:nvSpPr>
          <p:spPr bwMode="gray">
            <a:xfrm>
              <a:off x="947723" y="3295955"/>
              <a:ext cx="95378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6A4DCB"/>
                  </a:solidFill>
                  <a:effectLst/>
                  <a:uLnTx/>
                  <a:uFillTx/>
                  <a:latin typeface="Book Antiqua" panose="02040602050305030304" pitchFamily="18" charset="0"/>
                  <a:cs typeface="Calibri" pitchFamily="34" charset="0"/>
                </a:rPr>
                <a:t>After PIT…</a:t>
              </a:r>
            </a:p>
          </p:txBody>
        </p:sp>
        <p:sp>
          <p:nvSpPr>
            <p:cNvPr id="26" name="Rectangle 21"/>
            <p:cNvSpPr>
              <a:spLocks noChangeArrowheads="1"/>
            </p:cNvSpPr>
            <p:nvPr/>
          </p:nvSpPr>
          <p:spPr bwMode="gray">
            <a:xfrm>
              <a:off x="3712538"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27" name="Rectangle 22"/>
            <p:cNvSpPr>
              <a:spLocks noChangeArrowheads="1"/>
            </p:cNvSpPr>
            <p:nvPr/>
          </p:nvSpPr>
          <p:spPr bwMode="gray">
            <a:xfrm>
              <a:off x="4112612"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28" name="Rectangle 23"/>
            <p:cNvSpPr>
              <a:spLocks noChangeArrowheads="1"/>
            </p:cNvSpPr>
            <p:nvPr/>
          </p:nvSpPr>
          <p:spPr bwMode="gray">
            <a:xfrm>
              <a:off x="4512685"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29" name="Rectangle 24"/>
            <p:cNvSpPr>
              <a:spLocks noChangeArrowheads="1"/>
            </p:cNvSpPr>
            <p:nvPr/>
          </p:nvSpPr>
          <p:spPr bwMode="gray">
            <a:xfrm>
              <a:off x="4912759"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30" name="Rectangle 25"/>
            <p:cNvSpPr>
              <a:spLocks noChangeArrowheads="1"/>
            </p:cNvSpPr>
            <p:nvPr/>
          </p:nvSpPr>
          <p:spPr bwMode="gray">
            <a:xfrm>
              <a:off x="5312833"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31" name="Rectangle 26"/>
            <p:cNvSpPr>
              <a:spLocks noChangeArrowheads="1"/>
            </p:cNvSpPr>
            <p:nvPr/>
          </p:nvSpPr>
          <p:spPr bwMode="gray">
            <a:xfrm>
              <a:off x="5712907"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32" name="Rectangle 27"/>
            <p:cNvSpPr>
              <a:spLocks noChangeArrowheads="1"/>
            </p:cNvSpPr>
            <p:nvPr/>
          </p:nvSpPr>
          <p:spPr bwMode="gray">
            <a:xfrm>
              <a:off x="6112980"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33" name="Rectangle 28"/>
            <p:cNvSpPr>
              <a:spLocks noChangeArrowheads="1"/>
            </p:cNvSpPr>
            <p:nvPr/>
          </p:nvSpPr>
          <p:spPr bwMode="gray">
            <a:xfrm>
              <a:off x="6513054" y="152726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34" name="Text Box 29"/>
            <p:cNvSpPr txBox="1">
              <a:spLocks noChangeAspect="1" noChangeArrowheads="1"/>
            </p:cNvSpPr>
            <p:nvPr/>
          </p:nvSpPr>
          <p:spPr bwMode="gray">
            <a:xfrm>
              <a:off x="3866996"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35" name="Text Box 30"/>
            <p:cNvSpPr txBox="1">
              <a:spLocks noChangeAspect="1" noChangeArrowheads="1"/>
            </p:cNvSpPr>
            <p:nvPr/>
          </p:nvSpPr>
          <p:spPr bwMode="gray">
            <a:xfrm>
              <a:off x="4267069"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36" name="Text Box 31"/>
            <p:cNvSpPr txBox="1">
              <a:spLocks noChangeAspect="1" noChangeArrowheads="1"/>
            </p:cNvSpPr>
            <p:nvPr/>
          </p:nvSpPr>
          <p:spPr bwMode="gray">
            <a:xfrm>
              <a:off x="4667142"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37" name="Text Box 32"/>
            <p:cNvSpPr txBox="1">
              <a:spLocks noChangeAspect="1" noChangeArrowheads="1"/>
            </p:cNvSpPr>
            <p:nvPr/>
          </p:nvSpPr>
          <p:spPr bwMode="gray">
            <a:xfrm>
              <a:off x="5067217"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38" name="Text Box 33"/>
            <p:cNvSpPr txBox="1">
              <a:spLocks noChangeAspect="1" noChangeArrowheads="1"/>
            </p:cNvSpPr>
            <p:nvPr/>
          </p:nvSpPr>
          <p:spPr bwMode="gray">
            <a:xfrm>
              <a:off x="5467291"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39" name="Text Box 34"/>
            <p:cNvSpPr txBox="1">
              <a:spLocks noChangeAspect="1" noChangeArrowheads="1"/>
            </p:cNvSpPr>
            <p:nvPr/>
          </p:nvSpPr>
          <p:spPr bwMode="gray">
            <a:xfrm>
              <a:off x="5867365"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40" name="Text Box 35"/>
            <p:cNvSpPr txBox="1">
              <a:spLocks noChangeAspect="1" noChangeArrowheads="1"/>
            </p:cNvSpPr>
            <p:nvPr/>
          </p:nvSpPr>
          <p:spPr bwMode="gray">
            <a:xfrm>
              <a:off x="6267438"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41" name="Text Box 36"/>
            <p:cNvSpPr txBox="1">
              <a:spLocks noChangeAspect="1" noChangeArrowheads="1"/>
            </p:cNvSpPr>
            <p:nvPr/>
          </p:nvSpPr>
          <p:spPr bwMode="gray">
            <a:xfrm>
              <a:off x="6668902" y="158777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42" name="Rectangle 37"/>
            <p:cNvSpPr>
              <a:spLocks noChangeArrowheads="1"/>
            </p:cNvSpPr>
            <p:nvPr/>
          </p:nvSpPr>
          <p:spPr bwMode="gray">
            <a:xfrm>
              <a:off x="3712538"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43" name="Rectangle 38"/>
            <p:cNvSpPr>
              <a:spLocks noChangeArrowheads="1"/>
            </p:cNvSpPr>
            <p:nvPr/>
          </p:nvSpPr>
          <p:spPr bwMode="gray">
            <a:xfrm>
              <a:off x="4112612"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44" name="Rectangle 39"/>
            <p:cNvSpPr>
              <a:spLocks noChangeArrowheads="1"/>
            </p:cNvSpPr>
            <p:nvPr/>
          </p:nvSpPr>
          <p:spPr bwMode="gray">
            <a:xfrm>
              <a:off x="4512685"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45" name="Rectangle 40"/>
            <p:cNvSpPr>
              <a:spLocks noChangeArrowheads="1"/>
            </p:cNvSpPr>
            <p:nvPr/>
          </p:nvSpPr>
          <p:spPr bwMode="gray">
            <a:xfrm>
              <a:off x="4912759"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46" name="Rectangle 41"/>
            <p:cNvSpPr>
              <a:spLocks noChangeArrowheads="1"/>
            </p:cNvSpPr>
            <p:nvPr/>
          </p:nvSpPr>
          <p:spPr bwMode="gray">
            <a:xfrm>
              <a:off x="5312833"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47" name="Rectangle 42"/>
            <p:cNvSpPr>
              <a:spLocks noChangeArrowheads="1"/>
            </p:cNvSpPr>
            <p:nvPr/>
          </p:nvSpPr>
          <p:spPr bwMode="gray">
            <a:xfrm>
              <a:off x="5712907"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48" name="Rectangle 43"/>
            <p:cNvSpPr>
              <a:spLocks noChangeArrowheads="1"/>
            </p:cNvSpPr>
            <p:nvPr/>
          </p:nvSpPr>
          <p:spPr bwMode="gray">
            <a:xfrm>
              <a:off x="6112980"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49" name="Rectangle 44"/>
            <p:cNvSpPr>
              <a:spLocks noChangeArrowheads="1"/>
            </p:cNvSpPr>
            <p:nvPr/>
          </p:nvSpPr>
          <p:spPr bwMode="gray">
            <a:xfrm>
              <a:off x="6513054" y="2201713"/>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50" name="Text Box 45"/>
            <p:cNvSpPr txBox="1">
              <a:spLocks noChangeAspect="1" noChangeArrowheads="1"/>
            </p:cNvSpPr>
            <p:nvPr/>
          </p:nvSpPr>
          <p:spPr bwMode="gray">
            <a:xfrm>
              <a:off x="3866996"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1" name="Text Box 46"/>
            <p:cNvSpPr txBox="1">
              <a:spLocks noChangeAspect="1" noChangeArrowheads="1"/>
            </p:cNvSpPr>
            <p:nvPr/>
          </p:nvSpPr>
          <p:spPr bwMode="gray">
            <a:xfrm>
              <a:off x="4267069"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2" name="Text Box 47"/>
            <p:cNvSpPr txBox="1">
              <a:spLocks noChangeAspect="1" noChangeArrowheads="1"/>
            </p:cNvSpPr>
            <p:nvPr/>
          </p:nvSpPr>
          <p:spPr bwMode="gray">
            <a:xfrm>
              <a:off x="4667142"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3" name="Text Box 48"/>
            <p:cNvSpPr txBox="1">
              <a:spLocks noChangeAspect="1" noChangeArrowheads="1"/>
            </p:cNvSpPr>
            <p:nvPr/>
          </p:nvSpPr>
          <p:spPr bwMode="gray">
            <a:xfrm>
              <a:off x="5067217"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4" name="Text Box 49"/>
            <p:cNvSpPr txBox="1">
              <a:spLocks noChangeAspect="1" noChangeArrowheads="1"/>
            </p:cNvSpPr>
            <p:nvPr/>
          </p:nvSpPr>
          <p:spPr bwMode="gray">
            <a:xfrm>
              <a:off x="5467291"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5" name="Text Box 50"/>
            <p:cNvSpPr txBox="1">
              <a:spLocks noChangeAspect="1" noChangeArrowheads="1"/>
            </p:cNvSpPr>
            <p:nvPr/>
          </p:nvSpPr>
          <p:spPr bwMode="gray">
            <a:xfrm>
              <a:off x="5867365"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6" name="Text Box 51"/>
            <p:cNvSpPr txBox="1">
              <a:spLocks noChangeAspect="1" noChangeArrowheads="1"/>
            </p:cNvSpPr>
            <p:nvPr/>
          </p:nvSpPr>
          <p:spPr bwMode="gray">
            <a:xfrm>
              <a:off x="6267438"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7" name="Text Box 52"/>
            <p:cNvSpPr txBox="1">
              <a:spLocks noChangeAspect="1" noChangeArrowheads="1"/>
            </p:cNvSpPr>
            <p:nvPr/>
          </p:nvSpPr>
          <p:spPr bwMode="gray">
            <a:xfrm>
              <a:off x="6668902" y="2262224"/>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58" name="Rectangle 53"/>
            <p:cNvSpPr>
              <a:spLocks noChangeArrowheads="1"/>
            </p:cNvSpPr>
            <p:nvPr/>
          </p:nvSpPr>
          <p:spPr bwMode="gray">
            <a:xfrm>
              <a:off x="3712538"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59" name="Rectangle 54"/>
            <p:cNvSpPr>
              <a:spLocks noChangeArrowheads="1"/>
            </p:cNvSpPr>
            <p:nvPr/>
          </p:nvSpPr>
          <p:spPr bwMode="gray">
            <a:xfrm>
              <a:off x="4112612"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60" name="Rectangle 55"/>
            <p:cNvSpPr>
              <a:spLocks noChangeArrowheads="1"/>
            </p:cNvSpPr>
            <p:nvPr/>
          </p:nvSpPr>
          <p:spPr bwMode="gray">
            <a:xfrm>
              <a:off x="4512685"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61" name="Rectangle 56"/>
            <p:cNvSpPr>
              <a:spLocks noChangeArrowheads="1"/>
            </p:cNvSpPr>
            <p:nvPr/>
          </p:nvSpPr>
          <p:spPr bwMode="gray">
            <a:xfrm>
              <a:off x="4912759"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62" name="Rectangle 57"/>
            <p:cNvSpPr>
              <a:spLocks noChangeArrowheads="1"/>
            </p:cNvSpPr>
            <p:nvPr/>
          </p:nvSpPr>
          <p:spPr bwMode="gray">
            <a:xfrm>
              <a:off x="5312833"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63" name="Rectangle 58"/>
            <p:cNvSpPr>
              <a:spLocks noChangeArrowheads="1"/>
            </p:cNvSpPr>
            <p:nvPr/>
          </p:nvSpPr>
          <p:spPr bwMode="gray">
            <a:xfrm>
              <a:off x="5712907"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64" name="Rectangle 59"/>
            <p:cNvSpPr>
              <a:spLocks noChangeArrowheads="1"/>
            </p:cNvSpPr>
            <p:nvPr/>
          </p:nvSpPr>
          <p:spPr bwMode="gray">
            <a:xfrm>
              <a:off x="6112980"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65" name="Rectangle 60"/>
            <p:cNvSpPr>
              <a:spLocks noChangeArrowheads="1"/>
            </p:cNvSpPr>
            <p:nvPr/>
          </p:nvSpPr>
          <p:spPr bwMode="gray">
            <a:xfrm>
              <a:off x="6513054" y="3019874"/>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66" name="Text Box 61"/>
            <p:cNvSpPr txBox="1">
              <a:spLocks noChangeAspect="1" noChangeArrowheads="1"/>
            </p:cNvSpPr>
            <p:nvPr/>
          </p:nvSpPr>
          <p:spPr bwMode="gray">
            <a:xfrm>
              <a:off x="3866996"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67" name="Text Box 62"/>
            <p:cNvSpPr txBox="1">
              <a:spLocks noChangeAspect="1" noChangeArrowheads="1"/>
            </p:cNvSpPr>
            <p:nvPr/>
          </p:nvSpPr>
          <p:spPr bwMode="gray">
            <a:xfrm>
              <a:off x="4267069"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68" name="Text Box 63"/>
            <p:cNvSpPr txBox="1">
              <a:spLocks noChangeAspect="1" noChangeArrowheads="1"/>
            </p:cNvSpPr>
            <p:nvPr/>
          </p:nvSpPr>
          <p:spPr bwMode="gray">
            <a:xfrm>
              <a:off x="4667142"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69" name="Text Box 64"/>
            <p:cNvSpPr txBox="1">
              <a:spLocks noChangeAspect="1" noChangeArrowheads="1"/>
            </p:cNvSpPr>
            <p:nvPr/>
          </p:nvSpPr>
          <p:spPr bwMode="gray">
            <a:xfrm>
              <a:off x="5067217"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70" name="Text Box 65"/>
            <p:cNvSpPr txBox="1">
              <a:spLocks noChangeAspect="1" noChangeArrowheads="1"/>
            </p:cNvSpPr>
            <p:nvPr/>
          </p:nvSpPr>
          <p:spPr bwMode="gray">
            <a:xfrm>
              <a:off x="5467291"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71" name="Text Box 66"/>
            <p:cNvSpPr txBox="1">
              <a:spLocks noChangeAspect="1" noChangeArrowheads="1"/>
            </p:cNvSpPr>
            <p:nvPr/>
          </p:nvSpPr>
          <p:spPr bwMode="gray">
            <a:xfrm>
              <a:off x="5867365"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72" name="Text Box 67"/>
            <p:cNvSpPr txBox="1">
              <a:spLocks noChangeAspect="1" noChangeArrowheads="1"/>
            </p:cNvSpPr>
            <p:nvPr/>
          </p:nvSpPr>
          <p:spPr bwMode="gray">
            <a:xfrm>
              <a:off x="6267438"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73" name="Text Box 68"/>
            <p:cNvSpPr txBox="1">
              <a:spLocks noChangeAspect="1" noChangeArrowheads="1"/>
            </p:cNvSpPr>
            <p:nvPr/>
          </p:nvSpPr>
          <p:spPr bwMode="gray">
            <a:xfrm>
              <a:off x="6668902" y="3080385"/>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74" name="Rectangle 69"/>
            <p:cNvSpPr>
              <a:spLocks noChangeArrowheads="1"/>
            </p:cNvSpPr>
            <p:nvPr/>
          </p:nvSpPr>
          <p:spPr bwMode="gray">
            <a:xfrm>
              <a:off x="3712538"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75" name="Rectangle 70"/>
            <p:cNvSpPr>
              <a:spLocks noChangeArrowheads="1"/>
            </p:cNvSpPr>
            <p:nvPr/>
          </p:nvSpPr>
          <p:spPr bwMode="gray">
            <a:xfrm>
              <a:off x="4112612"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76" name="Rectangle 71"/>
            <p:cNvSpPr>
              <a:spLocks noChangeArrowheads="1"/>
            </p:cNvSpPr>
            <p:nvPr/>
          </p:nvSpPr>
          <p:spPr bwMode="gray">
            <a:xfrm>
              <a:off x="4512685"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77" name="Rectangle 72"/>
            <p:cNvSpPr>
              <a:spLocks noChangeArrowheads="1"/>
            </p:cNvSpPr>
            <p:nvPr/>
          </p:nvSpPr>
          <p:spPr bwMode="gray">
            <a:xfrm>
              <a:off x="4912759"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78" name="Rectangle 73"/>
            <p:cNvSpPr>
              <a:spLocks noChangeArrowheads="1"/>
            </p:cNvSpPr>
            <p:nvPr/>
          </p:nvSpPr>
          <p:spPr bwMode="gray">
            <a:xfrm>
              <a:off x="5312833"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79" name="Rectangle 74"/>
            <p:cNvSpPr>
              <a:spLocks noChangeArrowheads="1"/>
            </p:cNvSpPr>
            <p:nvPr/>
          </p:nvSpPr>
          <p:spPr bwMode="gray">
            <a:xfrm>
              <a:off x="5712907"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80" name="Rectangle 75"/>
            <p:cNvSpPr>
              <a:spLocks noChangeArrowheads="1"/>
            </p:cNvSpPr>
            <p:nvPr/>
          </p:nvSpPr>
          <p:spPr bwMode="gray">
            <a:xfrm>
              <a:off x="6112980"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81" name="Rectangle 76"/>
            <p:cNvSpPr>
              <a:spLocks noChangeArrowheads="1"/>
            </p:cNvSpPr>
            <p:nvPr/>
          </p:nvSpPr>
          <p:spPr bwMode="gray">
            <a:xfrm>
              <a:off x="6513054" y="3690538"/>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82" name="Text Box 77"/>
            <p:cNvSpPr txBox="1">
              <a:spLocks noChangeAspect="1" noChangeArrowheads="1"/>
            </p:cNvSpPr>
            <p:nvPr/>
          </p:nvSpPr>
          <p:spPr bwMode="gray">
            <a:xfrm>
              <a:off x="3866996"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83" name="Text Box 78"/>
            <p:cNvSpPr txBox="1">
              <a:spLocks noChangeAspect="1" noChangeArrowheads="1"/>
            </p:cNvSpPr>
            <p:nvPr/>
          </p:nvSpPr>
          <p:spPr bwMode="gray">
            <a:xfrm>
              <a:off x="4267069"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84" name="Text Box 79"/>
            <p:cNvSpPr txBox="1">
              <a:spLocks noChangeAspect="1" noChangeArrowheads="1"/>
            </p:cNvSpPr>
            <p:nvPr/>
          </p:nvSpPr>
          <p:spPr bwMode="gray">
            <a:xfrm>
              <a:off x="4667142"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85" name="Text Box 80"/>
            <p:cNvSpPr txBox="1">
              <a:spLocks noChangeAspect="1" noChangeArrowheads="1"/>
            </p:cNvSpPr>
            <p:nvPr/>
          </p:nvSpPr>
          <p:spPr bwMode="gray">
            <a:xfrm>
              <a:off x="5067217"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86" name="Text Box 81"/>
            <p:cNvSpPr txBox="1">
              <a:spLocks noChangeAspect="1" noChangeArrowheads="1"/>
            </p:cNvSpPr>
            <p:nvPr/>
          </p:nvSpPr>
          <p:spPr bwMode="gray">
            <a:xfrm>
              <a:off x="5467291"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87" name="Text Box 82"/>
            <p:cNvSpPr txBox="1">
              <a:spLocks noChangeAspect="1" noChangeArrowheads="1"/>
            </p:cNvSpPr>
            <p:nvPr/>
          </p:nvSpPr>
          <p:spPr bwMode="gray">
            <a:xfrm>
              <a:off x="5867365"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88" name="Text Box 83"/>
            <p:cNvSpPr txBox="1">
              <a:spLocks noChangeAspect="1" noChangeArrowheads="1"/>
            </p:cNvSpPr>
            <p:nvPr/>
          </p:nvSpPr>
          <p:spPr bwMode="gray">
            <a:xfrm>
              <a:off x="6267438"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89" name="Text Box 84"/>
            <p:cNvSpPr txBox="1">
              <a:spLocks noChangeAspect="1" noChangeArrowheads="1"/>
            </p:cNvSpPr>
            <p:nvPr/>
          </p:nvSpPr>
          <p:spPr bwMode="gray">
            <a:xfrm>
              <a:off x="6668902" y="3751049"/>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90" name="Rectangle 85"/>
            <p:cNvSpPr>
              <a:spLocks noChangeArrowheads="1"/>
            </p:cNvSpPr>
            <p:nvPr/>
          </p:nvSpPr>
          <p:spPr bwMode="gray">
            <a:xfrm>
              <a:off x="3712538"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1" name="Rectangle 86"/>
            <p:cNvSpPr>
              <a:spLocks noChangeArrowheads="1"/>
            </p:cNvSpPr>
            <p:nvPr/>
          </p:nvSpPr>
          <p:spPr bwMode="gray">
            <a:xfrm>
              <a:off x="4112612"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2" name="Rectangle 87"/>
            <p:cNvSpPr>
              <a:spLocks noChangeArrowheads="1"/>
            </p:cNvSpPr>
            <p:nvPr/>
          </p:nvSpPr>
          <p:spPr bwMode="gray">
            <a:xfrm>
              <a:off x="4512685"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3" name="Rectangle 88"/>
            <p:cNvSpPr>
              <a:spLocks noChangeArrowheads="1"/>
            </p:cNvSpPr>
            <p:nvPr/>
          </p:nvSpPr>
          <p:spPr bwMode="gray">
            <a:xfrm>
              <a:off x="4912759"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4" name="Rectangle 89"/>
            <p:cNvSpPr>
              <a:spLocks noChangeArrowheads="1"/>
            </p:cNvSpPr>
            <p:nvPr/>
          </p:nvSpPr>
          <p:spPr bwMode="gray">
            <a:xfrm>
              <a:off x="5312833"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5" name="Rectangle 90"/>
            <p:cNvSpPr>
              <a:spLocks noChangeArrowheads="1"/>
            </p:cNvSpPr>
            <p:nvPr/>
          </p:nvSpPr>
          <p:spPr bwMode="gray">
            <a:xfrm>
              <a:off x="5712907"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6" name="Rectangle 91"/>
            <p:cNvSpPr>
              <a:spLocks noChangeArrowheads="1"/>
            </p:cNvSpPr>
            <p:nvPr/>
          </p:nvSpPr>
          <p:spPr bwMode="gray">
            <a:xfrm>
              <a:off x="6112980"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7" name="Rectangle 92"/>
            <p:cNvSpPr>
              <a:spLocks noChangeArrowheads="1"/>
            </p:cNvSpPr>
            <p:nvPr/>
          </p:nvSpPr>
          <p:spPr bwMode="gray">
            <a:xfrm>
              <a:off x="6513054" y="4738136"/>
              <a:ext cx="400074" cy="363066"/>
            </a:xfrm>
            <a:prstGeom prst="rect">
              <a:avLst/>
            </a:prstGeom>
            <a:solidFill>
              <a:srgbClr val="C0C0C0"/>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98" name="Text Box 93"/>
            <p:cNvSpPr txBox="1">
              <a:spLocks noChangeAspect="1" noChangeArrowheads="1"/>
            </p:cNvSpPr>
            <p:nvPr/>
          </p:nvSpPr>
          <p:spPr bwMode="gray">
            <a:xfrm>
              <a:off x="3866996"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99" name="Text Box 94"/>
            <p:cNvSpPr txBox="1">
              <a:spLocks noChangeAspect="1" noChangeArrowheads="1"/>
            </p:cNvSpPr>
            <p:nvPr/>
          </p:nvSpPr>
          <p:spPr bwMode="gray">
            <a:xfrm>
              <a:off x="4267069"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100" name="Text Box 95"/>
            <p:cNvSpPr txBox="1">
              <a:spLocks noChangeAspect="1" noChangeArrowheads="1"/>
            </p:cNvSpPr>
            <p:nvPr/>
          </p:nvSpPr>
          <p:spPr bwMode="gray">
            <a:xfrm>
              <a:off x="4667142"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101" name="Text Box 96"/>
            <p:cNvSpPr txBox="1">
              <a:spLocks noChangeAspect="1" noChangeArrowheads="1"/>
            </p:cNvSpPr>
            <p:nvPr/>
          </p:nvSpPr>
          <p:spPr bwMode="gray">
            <a:xfrm>
              <a:off x="5067217"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102" name="Text Box 97"/>
            <p:cNvSpPr txBox="1">
              <a:spLocks noChangeAspect="1" noChangeArrowheads="1"/>
            </p:cNvSpPr>
            <p:nvPr/>
          </p:nvSpPr>
          <p:spPr bwMode="gray">
            <a:xfrm>
              <a:off x="5467291"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103" name="Text Box 98"/>
            <p:cNvSpPr txBox="1">
              <a:spLocks noChangeAspect="1" noChangeArrowheads="1"/>
            </p:cNvSpPr>
            <p:nvPr/>
          </p:nvSpPr>
          <p:spPr bwMode="gray">
            <a:xfrm>
              <a:off x="5867365"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104" name="Text Box 99"/>
            <p:cNvSpPr txBox="1">
              <a:spLocks noChangeAspect="1" noChangeArrowheads="1"/>
            </p:cNvSpPr>
            <p:nvPr/>
          </p:nvSpPr>
          <p:spPr bwMode="gray">
            <a:xfrm>
              <a:off x="6267438"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0</a:t>
              </a:r>
            </a:p>
          </p:txBody>
        </p:sp>
        <p:sp>
          <p:nvSpPr>
            <p:cNvPr id="105" name="Text Box 100"/>
            <p:cNvSpPr txBox="1">
              <a:spLocks noChangeAspect="1" noChangeArrowheads="1"/>
            </p:cNvSpPr>
            <p:nvPr/>
          </p:nvSpPr>
          <p:spPr bwMode="gray">
            <a:xfrm>
              <a:off x="6668902" y="4798647"/>
              <a:ext cx="8976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106" name="Freeform 101"/>
            <p:cNvSpPr>
              <a:spLocks noChangeAspect="1"/>
            </p:cNvSpPr>
            <p:nvPr/>
          </p:nvSpPr>
          <p:spPr bwMode="gray">
            <a:xfrm>
              <a:off x="6850617" y="1470538"/>
              <a:ext cx="231987" cy="486610"/>
            </a:xfrm>
            <a:custGeom>
              <a:avLst/>
              <a:gdLst>
                <a:gd name="T0" fmla="*/ 30 w 208"/>
                <a:gd name="T1" fmla="*/ 0 h 481"/>
                <a:gd name="T2" fmla="*/ 0 w 208"/>
                <a:gd name="T3" fmla="*/ 155 h 481"/>
                <a:gd name="T4" fmla="*/ 36 w 208"/>
                <a:gd name="T5" fmla="*/ 214 h 481"/>
                <a:gd name="T6" fmla="*/ 12 w 208"/>
                <a:gd name="T7" fmla="*/ 321 h 481"/>
                <a:gd name="T8" fmla="*/ 42 w 208"/>
                <a:gd name="T9" fmla="*/ 481 h 481"/>
                <a:gd name="T10" fmla="*/ 208 w 208"/>
                <a:gd name="T11" fmla="*/ 481 h 481"/>
                <a:gd name="T12" fmla="*/ 208 w 208"/>
                <a:gd name="T13" fmla="*/ 18 h 481"/>
                <a:gd name="T14" fmla="*/ 30 w 208"/>
                <a:gd name="T15" fmla="*/ 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481">
                  <a:moveTo>
                    <a:pt x="30" y="0"/>
                  </a:moveTo>
                  <a:lnTo>
                    <a:pt x="0" y="155"/>
                  </a:lnTo>
                  <a:lnTo>
                    <a:pt x="36" y="214"/>
                  </a:lnTo>
                  <a:lnTo>
                    <a:pt x="12" y="321"/>
                  </a:lnTo>
                  <a:lnTo>
                    <a:pt x="42" y="481"/>
                  </a:lnTo>
                  <a:lnTo>
                    <a:pt x="208" y="481"/>
                  </a:lnTo>
                  <a:lnTo>
                    <a:pt x="208" y="18"/>
                  </a:lnTo>
                  <a:lnTo>
                    <a:pt x="30" y="0"/>
                  </a:lnTo>
                  <a:close/>
                </a:path>
              </a:pathLst>
            </a:custGeom>
            <a:solidFill>
              <a:srgbClr val="B2DEDC"/>
            </a:solidFill>
            <a:ln>
              <a:noFill/>
            </a:ln>
            <a:effectLst/>
            <a:extLst>
              <a:ext uri="{91240B29-F687-4F45-9708-019B960494DF}">
                <a14:hiddenLine xmlns:a14="http://schemas.microsoft.com/office/drawing/2010/main" w="12700"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07" name="Oval 102"/>
            <p:cNvSpPr>
              <a:spLocks noChangeAspect="1" noChangeArrowheads="1"/>
            </p:cNvSpPr>
            <p:nvPr/>
          </p:nvSpPr>
          <p:spPr bwMode="gray">
            <a:xfrm>
              <a:off x="6936744" y="1688630"/>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08" name="Oval 103"/>
            <p:cNvSpPr>
              <a:spLocks noChangeAspect="1" noChangeArrowheads="1"/>
            </p:cNvSpPr>
            <p:nvPr/>
          </p:nvSpPr>
          <p:spPr bwMode="gray">
            <a:xfrm>
              <a:off x="7029816" y="1688630"/>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09" name="Oval 104"/>
            <p:cNvSpPr>
              <a:spLocks noChangeAspect="1" noChangeArrowheads="1"/>
            </p:cNvSpPr>
            <p:nvPr/>
          </p:nvSpPr>
          <p:spPr bwMode="gray">
            <a:xfrm>
              <a:off x="7122889" y="1688630"/>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0" name="Freeform 105"/>
            <p:cNvSpPr>
              <a:spLocks noChangeAspect="1"/>
            </p:cNvSpPr>
            <p:nvPr/>
          </p:nvSpPr>
          <p:spPr bwMode="gray">
            <a:xfrm>
              <a:off x="6850617" y="2144985"/>
              <a:ext cx="231987" cy="486610"/>
            </a:xfrm>
            <a:custGeom>
              <a:avLst/>
              <a:gdLst>
                <a:gd name="T0" fmla="*/ 30 w 208"/>
                <a:gd name="T1" fmla="*/ 0 h 481"/>
                <a:gd name="T2" fmla="*/ 0 w 208"/>
                <a:gd name="T3" fmla="*/ 155 h 481"/>
                <a:gd name="T4" fmla="*/ 36 w 208"/>
                <a:gd name="T5" fmla="*/ 214 h 481"/>
                <a:gd name="T6" fmla="*/ 12 w 208"/>
                <a:gd name="T7" fmla="*/ 321 h 481"/>
                <a:gd name="T8" fmla="*/ 42 w 208"/>
                <a:gd name="T9" fmla="*/ 481 h 481"/>
                <a:gd name="T10" fmla="*/ 208 w 208"/>
                <a:gd name="T11" fmla="*/ 481 h 481"/>
                <a:gd name="T12" fmla="*/ 208 w 208"/>
                <a:gd name="T13" fmla="*/ 18 h 481"/>
                <a:gd name="T14" fmla="*/ 30 w 208"/>
                <a:gd name="T15" fmla="*/ 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481">
                  <a:moveTo>
                    <a:pt x="30" y="0"/>
                  </a:moveTo>
                  <a:lnTo>
                    <a:pt x="0" y="155"/>
                  </a:lnTo>
                  <a:lnTo>
                    <a:pt x="36" y="214"/>
                  </a:lnTo>
                  <a:lnTo>
                    <a:pt x="12" y="321"/>
                  </a:lnTo>
                  <a:lnTo>
                    <a:pt x="42" y="481"/>
                  </a:lnTo>
                  <a:lnTo>
                    <a:pt x="208" y="481"/>
                  </a:lnTo>
                  <a:lnTo>
                    <a:pt x="208" y="18"/>
                  </a:lnTo>
                  <a:lnTo>
                    <a:pt x="30" y="0"/>
                  </a:lnTo>
                  <a:close/>
                </a:path>
              </a:pathLst>
            </a:custGeom>
            <a:solidFill>
              <a:srgbClr val="B2DEDC"/>
            </a:solidFill>
            <a:ln>
              <a:noFill/>
            </a:ln>
            <a:effectLst/>
            <a:extLst>
              <a:ext uri="{91240B29-F687-4F45-9708-019B960494DF}">
                <a14:hiddenLine xmlns:a14="http://schemas.microsoft.com/office/drawing/2010/main" w="12700"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1" name="Oval 106"/>
            <p:cNvSpPr>
              <a:spLocks noChangeAspect="1" noChangeArrowheads="1"/>
            </p:cNvSpPr>
            <p:nvPr/>
          </p:nvSpPr>
          <p:spPr bwMode="gray">
            <a:xfrm>
              <a:off x="6936744" y="2363076"/>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2" name="Oval 107"/>
            <p:cNvSpPr>
              <a:spLocks noChangeAspect="1" noChangeArrowheads="1"/>
            </p:cNvSpPr>
            <p:nvPr/>
          </p:nvSpPr>
          <p:spPr bwMode="gray">
            <a:xfrm>
              <a:off x="7029816" y="2363076"/>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3" name="Oval 108"/>
            <p:cNvSpPr>
              <a:spLocks noChangeAspect="1" noChangeArrowheads="1"/>
            </p:cNvSpPr>
            <p:nvPr/>
          </p:nvSpPr>
          <p:spPr bwMode="gray">
            <a:xfrm>
              <a:off x="7122889" y="2363076"/>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4" name="Freeform 109"/>
            <p:cNvSpPr>
              <a:spLocks noChangeAspect="1"/>
            </p:cNvSpPr>
            <p:nvPr/>
          </p:nvSpPr>
          <p:spPr bwMode="gray">
            <a:xfrm>
              <a:off x="6853395" y="4668800"/>
              <a:ext cx="233376" cy="499216"/>
            </a:xfrm>
            <a:custGeom>
              <a:avLst/>
              <a:gdLst>
                <a:gd name="T0" fmla="*/ 30 w 208"/>
                <a:gd name="T1" fmla="*/ 0 h 481"/>
                <a:gd name="T2" fmla="*/ 0 w 208"/>
                <a:gd name="T3" fmla="*/ 155 h 481"/>
                <a:gd name="T4" fmla="*/ 36 w 208"/>
                <a:gd name="T5" fmla="*/ 214 h 481"/>
                <a:gd name="T6" fmla="*/ 12 w 208"/>
                <a:gd name="T7" fmla="*/ 321 h 481"/>
                <a:gd name="T8" fmla="*/ 42 w 208"/>
                <a:gd name="T9" fmla="*/ 481 h 481"/>
                <a:gd name="T10" fmla="*/ 208 w 208"/>
                <a:gd name="T11" fmla="*/ 481 h 481"/>
                <a:gd name="T12" fmla="*/ 208 w 208"/>
                <a:gd name="T13" fmla="*/ 18 h 481"/>
                <a:gd name="T14" fmla="*/ 30 w 208"/>
                <a:gd name="T15" fmla="*/ 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481">
                  <a:moveTo>
                    <a:pt x="30" y="0"/>
                  </a:moveTo>
                  <a:lnTo>
                    <a:pt x="0" y="155"/>
                  </a:lnTo>
                  <a:lnTo>
                    <a:pt x="36" y="214"/>
                  </a:lnTo>
                  <a:lnTo>
                    <a:pt x="12" y="321"/>
                  </a:lnTo>
                  <a:lnTo>
                    <a:pt x="42" y="481"/>
                  </a:lnTo>
                  <a:lnTo>
                    <a:pt x="208" y="481"/>
                  </a:lnTo>
                  <a:lnTo>
                    <a:pt x="208" y="18"/>
                  </a:lnTo>
                  <a:lnTo>
                    <a:pt x="30" y="0"/>
                  </a:lnTo>
                  <a:close/>
                </a:path>
              </a:pathLst>
            </a:custGeom>
            <a:solidFill>
              <a:srgbClr val="BCD1E8"/>
            </a:solidFill>
            <a:ln>
              <a:noFill/>
            </a:ln>
            <a:effectLst/>
            <a:extLst>
              <a:ext uri="{91240B29-F687-4F45-9708-019B960494DF}">
                <a14:hiddenLine xmlns:a14="http://schemas.microsoft.com/office/drawing/2010/main" w="12700"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5" name="Oval 110"/>
            <p:cNvSpPr>
              <a:spLocks noChangeAspect="1" noChangeArrowheads="1"/>
            </p:cNvSpPr>
            <p:nvPr/>
          </p:nvSpPr>
          <p:spPr bwMode="gray">
            <a:xfrm>
              <a:off x="6947857" y="4903281"/>
              <a:ext cx="44453" cy="32777"/>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6" name="Oval 111"/>
            <p:cNvSpPr>
              <a:spLocks noChangeAspect="1" noChangeArrowheads="1"/>
            </p:cNvSpPr>
            <p:nvPr/>
          </p:nvSpPr>
          <p:spPr bwMode="gray">
            <a:xfrm>
              <a:off x="7040929" y="4903281"/>
              <a:ext cx="44453" cy="32777"/>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7" name="Oval 112"/>
            <p:cNvSpPr>
              <a:spLocks noChangeAspect="1" noChangeArrowheads="1"/>
            </p:cNvSpPr>
            <p:nvPr/>
          </p:nvSpPr>
          <p:spPr bwMode="gray">
            <a:xfrm>
              <a:off x="7134002" y="4903281"/>
              <a:ext cx="44453" cy="32777"/>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8" name="Freeform 113"/>
            <p:cNvSpPr>
              <a:spLocks noChangeAspect="1"/>
            </p:cNvSpPr>
            <p:nvPr/>
          </p:nvSpPr>
          <p:spPr bwMode="gray">
            <a:xfrm>
              <a:off x="6849227" y="3635070"/>
              <a:ext cx="231988" cy="485349"/>
            </a:xfrm>
            <a:custGeom>
              <a:avLst/>
              <a:gdLst>
                <a:gd name="T0" fmla="*/ 30 w 208"/>
                <a:gd name="T1" fmla="*/ 0 h 481"/>
                <a:gd name="T2" fmla="*/ 0 w 208"/>
                <a:gd name="T3" fmla="*/ 155 h 481"/>
                <a:gd name="T4" fmla="*/ 36 w 208"/>
                <a:gd name="T5" fmla="*/ 214 h 481"/>
                <a:gd name="T6" fmla="*/ 12 w 208"/>
                <a:gd name="T7" fmla="*/ 321 h 481"/>
                <a:gd name="T8" fmla="*/ 42 w 208"/>
                <a:gd name="T9" fmla="*/ 481 h 481"/>
                <a:gd name="T10" fmla="*/ 208 w 208"/>
                <a:gd name="T11" fmla="*/ 481 h 481"/>
                <a:gd name="T12" fmla="*/ 208 w 208"/>
                <a:gd name="T13" fmla="*/ 18 h 481"/>
                <a:gd name="T14" fmla="*/ 30 w 208"/>
                <a:gd name="T15" fmla="*/ 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481">
                  <a:moveTo>
                    <a:pt x="30" y="0"/>
                  </a:moveTo>
                  <a:lnTo>
                    <a:pt x="0" y="155"/>
                  </a:lnTo>
                  <a:lnTo>
                    <a:pt x="36" y="214"/>
                  </a:lnTo>
                  <a:lnTo>
                    <a:pt x="12" y="321"/>
                  </a:lnTo>
                  <a:lnTo>
                    <a:pt x="42" y="481"/>
                  </a:lnTo>
                  <a:lnTo>
                    <a:pt x="208" y="481"/>
                  </a:lnTo>
                  <a:lnTo>
                    <a:pt x="208" y="18"/>
                  </a:lnTo>
                  <a:lnTo>
                    <a:pt x="30" y="0"/>
                  </a:lnTo>
                  <a:close/>
                </a:path>
              </a:pathLst>
            </a:custGeom>
            <a:solidFill>
              <a:srgbClr val="D0D0E8"/>
            </a:solidFill>
            <a:ln>
              <a:noFill/>
            </a:ln>
            <a:effectLst/>
            <a:extLst>
              <a:ext uri="{91240B29-F687-4F45-9708-019B960494DF}">
                <a14:hiddenLine xmlns:a14="http://schemas.microsoft.com/office/drawing/2010/main" w="12700"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19" name="Oval 114"/>
            <p:cNvSpPr>
              <a:spLocks noChangeAspect="1" noChangeArrowheads="1"/>
            </p:cNvSpPr>
            <p:nvPr/>
          </p:nvSpPr>
          <p:spPr bwMode="gray">
            <a:xfrm>
              <a:off x="6935354" y="3851901"/>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20" name="Oval 115"/>
            <p:cNvSpPr>
              <a:spLocks noChangeAspect="1" noChangeArrowheads="1"/>
            </p:cNvSpPr>
            <p:nvPr/>
          </p:nvSpPr>
          <p:spPr bwMode="gray">
            <a:xfrm>
              <a:off x="7027038" y="3851901"/>
              <a:ext cx="45842"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21" name="Oval 116"/>
            <p:cNvSpPr>
              <a:spLocks noChangeAspect="1" noChangeArrowheads="1"/>
            </p:cNvSpPr>
            <p:nvPr/>
          </p:nvSpPr>
          <p:spPr bwMode="gray">
            <a:xfrm>
              <a:off x="7120111" y="3851901"/>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22" name="Freeform 117"/>
            <p:cNvSpPr>
              <a:spLocks noChangeAspect="1"/>
            </p:cNvSpPr>
            <p:nvPr/>
          </p:nvSpPr>
          <p:spPr bwMode="gray">
            <a:xfrm>
              <a:off x="6856173" y="2964405"/>
              <a:ext cx="230598" cy="485349"/>
            </a:xfrm>
            <a:custGeom>
              <a:avLst/>
              <a:gdLst>
                <a:gd name="T0" fmla="*/ 30 w 208"/>
                <a:gd name="T1" fmla="*/ 0 h 481"/>
                <a:gd name="T2" fmla="*/ 0 w 208"/>
                <a:gd name="T3" fmla="*/ 155 h 481"/>
                <a:gd name="T4" fmla="*/ 36 w 208"/>
                <a:gd name="T5" fmla="*/ 214 h 481"/>
                <a:gd name="T6" fmla="*/ 12 w 208"/>
                <a:gd name="T7" fmla="*/ 321 h 481"/>
                <a:gd name="T8" fmla="*/ 42 w 208"/>
                <a:gd name="T9" fmla="*/ 481 h 481"/>
                <a:gd name="T10" fmla="*/ 208 w 208"/>
                <a:gd name="T11" fmla="*/ 481 h 481"/>
                <a:gd name="T12" fmla="*/ 208 w 208"/>
                <a:gd name="T13" fmla="*/ 18 h 481"/>
                <a:gd name="T14" fmla="*/ 30 w 208"/>
                <a:gd name="T15" fmla="*/ 0 h 4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481">
                  <a:moveTo>
                    <a:pt x="30" y="0"/>
                  </a:moveTo>
                  <a:lnTo>
                    <a:pt x="0" y="155"/>
                  </a:lnTo>
                  <a:lnTo>
                    <a:pt x="36" y="214"/>
                  </a:lnTo>
                  <a:lnTo>
                    <a:pt x="12" y="321"/>
                  </a:lnTo>
                  <a:lnTo>
                    <a:pt x="42" y="481"/>
                  </a:lnTo>
                  <a:lnTo>
                    <a:pt x="208" y="481"/>
                  </a:lnTo>
                  <a:lnTo>
                    <a:pt x="208" y="18"/>
                  </a:lnTo>
                  <a:lnTo>
                    <a:pt x="30" y="0"/>
                  </a:lnTo>
                  <a:close/>
                </a:path>
              </a:pathLst>
            </a:custGeom>
            <a:solidFill>
              <a:srgbClr val="D0D0E8"/>
            </a:solidFill>
            <a:ln>
              <a:noFill/>
            </a:ln>
            <a:effectLst/>
            <a:extLst>
              <a:ext uri="{91240B29-F687-4F45-9708-019B960494DF}">
                <a14:hiddenLine xmlns:a14="http://schemas.microsoft.com/office/drawing/2010/main" w="12700"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23" name="Oval 118"/>
            <p:cNvSpPr>
              <a:spLocks noChangeAspect="1" noChangeArrowheads="1"/>
            </p:cNvSpPr>
            <p:nvPr/>
          </p:nvSpPr>
          <p:spPr bwMode="gray">
            <a:xfrm>
              <a:off x="6940911" y="3181237"/>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24" name="Oval 119"/>
            <p:cNvSpPr>
              <a:spLocks noChangeAspect="1" noChangeArrowheads="1"/>
            </p:cNvSpPr>
            <p:nvPr/>
          </p:nvSpPr>
          <p:spPr bwMode="gray">
            <a:xfrm>
              <a:off x="7032594" y="3181237"/>
              <a:ext cx="45842"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25" name="Oval 120"/>
            <p:cNvSpPr>
              <a:spLocks noChangeAspect="1" noChangeArrowheads="1"/>
            </p:cNvSpPr>
            <p:nvPr/>
          </p:nvSpPr>
          <p:spPr bwMode="gray">
            <a:xfrm>
              <a:off x="7125667" y="3181237"/>
              <a:ext cx="44453" cy="40341"/>
            </a:xfrm>
            <a:prstGeom prst="ellipse">
              <a:avLst/>
            </a:prstGeom>
            <a:solidFill>
              <a:srgbClr val="000000"/>
            </a:solidFill>
            <a:ln w="1270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Book Antiqua" panose="02040602050305030304" pitchFamily="18" charset="0"/>
                <a:cs typeface="Calibri" pitchFamily="34" charset="0"/>
              </a:endParaRPr>
            </a:p>
          </p:txBody>
        </p:sp>
        <p:sp>
          <p:nvSpPr>
            <p:cNvPr id="126" name="Text Box 122"/>
            <p:cNvSpPr txBox="1">
              <a:spLocks noChangeArrowheads="1"/>
            </p:cNvSpPr>
            <p:nvPr/>
          </p:nvSpPr>
          <p:spPr bwMode="gray">
            <a:xfrm>
              <a:off x="5552616" y="5389097"/>
              <a:ext cx="9137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0A18"/>
                  </a:solidFill>
                  <a:effectLst/>
                  <a:uLnTx/>
                  <a:uFillTx/>
                  <a:latin typeface="Book Antiqua" panose="02040602050305030304" pitchFamily="18" charset="0"/>
                  <a:cs typeface="Calibri" pitchFamily="34" charset="0"/>
                </a:rPr>
                <a:t>1</a:t>
              </a:r>
            </a:p>
          </p:txBody>
        </p:sp>
        <p:sp>
          <p:nvSpPr>
            <p:cNvPr id="127" name="Text Box 123"/>
            <p:cNvSpPr txBox="1">
              <a:spLocks noChangeArrowheads="1"/>
            </p:cNvSpPr>
            <p:nvPr/>
          </p:nvSpPr>
          <p:spPr bwMode="auto">
            <a:xfrm>
              <a:off x="3812288" y="4328426"/>
              <a:ext cx="240931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marL="354013" marR="0" lvl="0" indent="-354013" algn="ctr" defTabSz="941388" rtl="0" eaLnBrk="1" fontAlgn="base" latinLnBrk="0" hangingPunct="1">
                <a:lnSpc>
                  <a:spcPct val="100000"/>
                </a:lnSpc>
                <a:spcBef>
                  <a:spcPct val="50000"/>
                </a:spcBef>
                <a:spcAft>
                  <a:spcPct val="0"/>
                </a:spcAft>
                <a:buClrTx/>
                <a:buSzTx/>
                <a:buFontTx/>
                <a:buNone/>
                <a:tabLst/>
                <a:defRPr/>
              </a:pPr>
              <a:r>
                <a:rPr kumimoji="0" lang="en-US" sz="1400" b="1" i="0" u="none" strike="noStrike" kern="1200" cap="none" spc="0" normalizeH="0" baseline="0" noProof="0">
                  <a:ln>
                    <a:noFill/>
                  </a:ln>
                  <a:solidFill>
                    <a:srgbClr val="003580"/>
                  </a:solidFill>
                  <a:effectLst/>
                  <a:uLnTx/>
                  <a:uFillTx/>
                  <a:latin typeface="Book Antiqua" panose="02040602050305030304" pitchFamily="18" charset="0"/>
                  <a:cs typeface="Calibri" pitchFamily="34" charset="0"/>
                </a:rPr>
                <a:t>For resynchronization/restore</a:t>
              </a: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Restore and Restart Considerations</a:t>
            </a:r>
          </a:p>
        </p:txBody>
      </p:sp>
      <p:sp>
        <p:nvSpPr>
          <p:cNvPr id="7" name="Content Placeholder 6"/>
          <p:cNvSpPr>
            <a:spLocks noGrp="1"/>
          </p:cNvSpPr>
          <p:nvPr>
            <p:ph idx="1"/>
          </p:nvPr>
        </p:nvSpPr>
        <p:spPr/>
        <p:txBody>
          <a:bodyPr/>
          <a:lstStyle/>
          <a:p>
            <a:r>
              <a:rPr lang="en-US" sz="1700" dirty="0">
                <a:solidFill>
                  <a:schemeClr val="tx1"/>
                </a:solidFill>
                <a:latin typeface="Book Antiqua" panose="02040602050305030304" pitchFamily="18" charset="0"/>
              </a:rPr>
              <a:t>Source has a failure</a:t>
            </a:r>
          </a:p>
          <a:p>
            <a:pPr lvl="1"/>
            <a:r>
              <a:rPr lang="en-US" sz="1700" dirty="0">
                <a:solidFill>
                  <a:schemeClr val="tx1"/>
                </a:solidFill>
                <a:latin typeface="Book Antiqua" panose="02040602050305030304" pitchFamily="18" charset="0"/>
              </a:rPr>
              <a:t>Logical corruption or physical failure of source devices</a:t>
            </a:r>
          </a:p>
          <a:p>
            <a:r>
              <a:rPr lang="en-US" sz="1700" dirty="0">
                <a:solidFill>
                  <a:schemeClr val="tx1"/>
                </a:solidFill>
                <a:latin typeface="Book Antiqua" panose="02040602050305030304" pitchFamily="18" charset="0"/>
              </a:rPr>
              <a:t>Solution</a:t>
            </a:r>
          </a:p>
          <a:p>
            <a:pPr lvl="1"/>
            <a:r>
              <a:rPr lang="en-US" sz="1700" dirty="0">
                <a:solidFill>
                  <a:schemeClr val="tx1"/>
                </a:solidFill>
                <a:latin typeface="Book Antiqua" panose="02040602050305030304" pitchFamily="18" charset="0"/>
              </a:rPr>
              <a:t>Restore data from target to source</a:t>
            </a:r>
          </a:p>
          <a:p>
            <a:pPr lvl="2"/>
            <a:r>
              <a:rPr lang="en-US" sz="1700" dirty="0">
                <a:solidFill>
                  <a:schemeClr val="tx1"/>
                </a:solidFill>
                <a:latin typeface="Book Antiqua" panose="02040602050305030304" pitchFamily="18" charset="0"/>
              </a:rPr>
              <a:t>Restore would typically be done incrementally </a:t>
            </a:r>
          </a:p>
          <a:p>
            <a:pPr lvl="2"/>
            <a:r>
              <a:rPr lang="en-US" sz="1700" dirty="0">
                <a:solidFill>
                  <a:schemeClr val="tx1"/>
                </a:solidFill>
                <a:latin typeface="Book Antiqua" panose="02040602050305030304" pitchFamily="18" charset="0"/>
              </a:rPr>
              <a:t>Applications can be restarted even before synchronization is complete</a:t>
            </a:r>
          </a:p>
          <a:p>
            <a:pPr lvl="1" algn="ctr">
              <a:buFont typeface="Times New Roman" pitchFamily="18" charset="0"/>
              <a:buNone/>
            </a:pPr>
            <a:r>
              <a:rPr lang="en-US" sz="1700" b="1" i="1" dirty="0">
                <a:solidFill>
                  <a:schemeClr val="tx1"/>
                </a:solidFill>
                <a:latin typeface="Book Antiqua" panose="02040602050305030304" pitchFamily="18" charset="0"/>
              </a:rPr>
              <a:t>-----OR------</a:t>
            </a:r>
          </a:p>
          <a:p>
            <a:pPr lvl="1"/>
            <a:r>
              <a:rPr lang="en-US" sz="1700" dirty="0">
                <a:solidFill>
                  <a:schemeClr val="tx1"/>
                </a:solidFill>
                <a:latin typeface="Book Antiqua" panose="02040602050305030304" pitchFamily="18" charset="0"/>
              </a:rPr>
              <a:t>Start production on target</a:t>
            </a:r>
          </a:p>
          <a:p>
            <a:pPr lvl="2"/>
            <a:r>
              <a:rPr lang="en-US" sz="1700" dirty="0">
                <a:solidFill>
                  <a:schemeClr val="tx1"/>
                </a:solidFill>
                <a:latin typeface="Book Antiqua" panose="02040602050305030304" pitchFamily="18" charset="0"/>
              </a:rPr>
              <a:t>Create a “Gold” copy of target device before restarting on target</a:t>
            </a:r>
          </a:p>
          <a:p>
            <a:pPr lvl="2"/>
            <a:r>
              <a:rPr lang="en-US" sz="1700" dirty="0">
                <a:solidFill>
                  <a:schemeClr val="tx1"/>
                </a:solidFill>
                <a:latin typeface="Book Antiqua" panose="02040602050305030304" pitchFamily="18" charset="0"/>
              </a:rPr>
              <a:t>Resolve issues with source while continuing operations on target</a:t>
            </a:r>
          </a:p>
          <a:p>
            <a:pPr lvl="2"/>
            <a:r>
              <a:rPr lang="en-US" sz="1700" dirty="0">
                <a:solidFill>
                  <a:schemeClr val="tx1"/>
                </a:solidFill>
                <a:latin typeface="Book Antiqua" panose="02040602050305030304" pitchFamily="18" charset="0"/>
              </a:rPr>
              <a:t>After resolving the issue, restore latest data on target to source</a:t>
            </a:r>
          </a:p>
          <a:p>
            <a:endParaRPr lang="en-US" sz="1700" dirty="0">
              <a:solidFill>
                <a:schemeClr val="tx1"/>
              </a:solidFill>
              <a:latin typeface="Book Antiqua" panose="02040602050305030304" pitchFamily="18" charset="0"/>
            </a:endParaRPr>
          </a:p>
          <a:p>
            <a:endParaRPr lang="en-US" sz="1700" dirty="0">
              <a:solidFill>
                <a:schemeClr val="tx1"/>
              </a:solidFill>
              <a:latin typeface="Book Antiqua" panose="02040602050305030304" pitchFamily="18" charset="0"/>
            </a:endParaRPr>
          </a:p>
        </p:txBody>
      </p:sp>
      <p:sp>
        <p:nvSpPr>
          <p:cNvPr id="5"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100" b="1" dirty="0">
                <a:solidFill>
                  <a:srgbClr val="C00000"/>
                </a:solidFill>
                <a:latin typeface="Book Antiqua" panose="02040602050305030304" pitchFamily="18" charset="0"/>
              </a:rPr>
              <a:t>Comparison of Local Replication Technologies</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083595434"/>
              </p:ext>
            </p:extLst>
          </p:nvPr>
        </p:nvGraphicFramePr>
        <p:xfrm>
          <a:off x="431800" y="1021080"/>
          <a:ext cx="8305800" cy="303276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tblGrid>
              <a:tr h="0">
                <a:tc>
                  <a:txBody>
                    <a:bodyPr/>
                    <a:lstStyle/>
                    <a:p>
                      <a:pPr algn="l"/>
                      <a:r>
                        <a:rPr lang="en-US" sz="1300" b="1" dirty="0">
                          <a:solidFill>
                            <a:srgbClr val="0000FF"/>
                          </a:solidFill>
                          <a:latin typeface="Book Antiqua" panose="02040602050305030304" pitchFamily="18" charset="0"/>
                        </a:rPr>
                        <a:t>Factor</a:t>
                      </a:r>
                    </a:p>
                  </a:txBody>
                  <a:tcPr anchor="ctr">
                    <a:solidFill>
                      <a:schemeClr val="accent4">
                        <a:lumMod val="20000"/>
                        <a:lumOff val="80000"/>
                      </a:schemeClr>
                    </a:solidFill>
                  </a:tcPr>
                </a:tc>
                <a:tc>
                  <a:txBody>
                    <a:bodyPr/>
                    <a:lstStyle/>
                    <a:p>
                      <a:pPr algn="l"/>
                      <a:r>
                        <a:rPr lang="en-US" sz="1300" b="1" dirty="0">
                          <a:solidFill>
                            <a:srgbClr val="0000FF"/>
                          </a:solidFill>
                          <a:latin typeface="Book Antiqua" panose="02040602050305030304" pitchFamily="18" charset="0"/>
                        </a:rPr>
                        <a:t>Full-Volume Mirroring</a:t>
                      </a:r>
                    </a:p>
                  </a:txBody>
                  <a:tcPr anchor="ctr">
                    <a:solidFill>
                      <a:schemeClr val="accent4">
                        <a:lumMod val="20000"/>
                        <a:lumOff val="80000"/>
                      </a:schemeClr>
                    </a:solidFill>
                  </a:tcPr>
                </a:tc>
                <a:tc>
                  <a:txBody>
                    <a:bodyPr/>
                    <a:lstStyle/>
                    <a:p>
                      <a:pPr algn="l"/>
                      <a:r>
                        <a:rPr lang="en-US" sz="1300" b="1" dirty="0">
                          <a:solidFill>
                            <a:srgbClr val="0000FF"/>
                          </a:solidFill>
                          <a:latin typeface="Book Antiqua" panose="02040602050305030304" pitchFamily="18" charset="0"/>
                        </a:rPr>
                        <a:t>Pointer-based</a:t>
                      </a:r>
                      <a:r>
                        <a:rPr lang="en-US" sz="1300" b="1" baseline="0" dirty="0">
                          <a:solidFill>
                            <a:srgbClr val="0000FF"/>
                          </a:solidFill>
                          <a:latin typeface="Book Antiqua" panose="02040602050305030304" pitchFamily="18" charset="0"/>
                        </a:rPr>
                        <a:t> </a:t>
                      </a:r>
                      <a:r>
                        <a:rPr lang="en-US" sz="1300" b="1" dirty="0">
                          <a:solidFill>
                            <a:srgbClr val="0000FF"/>
                          </a:solidFill>
                          <a:latin typeface="Book Antiqua" panose="02040602050305030304" pitchFamily="18" charset="0"/>
                        </a:rPr>
                        <a:t>Full-Volume Replication</a:t>
                      </a:r>
                    </a:p>
                  </a:txBody>
                  <a:tcPr anchor="ctr">
                    <a:solidFill>
                      <a:schemeClr val="accent4">
                        <a:lumMod val="20000"/>
                        <a:lumOff val="80000"/>
                      </a:schemeClr>
                    </a:solidFill>
                  </a:tcPr>
                </a:tc>
                <a:tc>
                  <a:txBody>
                    <a:bodyPr/>
                    <a:lstStyle/>
                    <a:p>
                      <a:pPr algn="l"/>
                      <a:r>
                        <a:rPr lang="en-US" sz="1300" b="1" dirty="0">
                          <a:solidFill>
                            <a:srgbClr val="0000FF"/>
                          </a:solidFill>
                          <a:latin typeface="Book Antiqua" panose="02040602050305030304" pitchFamily="18" charset="0"/>
                        </a:rPr>
                        <a:t>Pointer-based Virtual Replication</a:t>
                      </a:r>
                    </a:p>
                  </a:txBody>
                  <a:tcPr anchor="ctr">
                    <a:solidFill>
                      <a:schemeClr val="accent4">
                        <a:lumMod val="20000"/>
                        <a:lumOff val="80000"/>
                      </a:schemeClr>
                    </a:solidFill>
                  </a:tcPr>
                </a:tc>
                <a:extLst>
                  <a:ext uri="{0D108BD9-81ED-4DB2-BD59-A6C34878D82A}">
                    <a16:rowId xmlns:a16="http://schemas.microsoft.com/office/drawing/2014/main" val="10000"/>
                  </a:ext>
                </a:extLst>
              </a:tr>
              <a:tr h="0">
                <a:tc>
                  <a:txBody>
                    <a:bodyPr/>
                    <a:lstStyle/>
                    <a:p>
                      <a:pPr algn="l"/>
                      <a:r>
                        <a:rPr lang="en-US" sz="1300" b="1" dirty="0">
                          <a:solidFill>
                            <a:srgbClr val="0000FF"/>
                          </a:solidFill>
                          <a:latin typeface="Book Antiqua" panose="02040602050305030304" pitchFamily="18" charset="0"/>
                        </a:rPr>
                        <a:t>Performance impact on source due to replica</a:t>
                      </a:r>
                    </a:p>
                  </a:txBody>
                  <a:tcPr anchor="ctr"/>
                </a:tc>
                <a:tc>
                  <a:txBody>
                    <a:bodyPr/>
                    <a:lstStyle/>
                    <a:p>
                      <a:pPr algn="l"/>
                      <a:r>
                        <a:rPr lang="en-US" sz="1300" dirty="0">
                          <a:solidFill>
                            <a:schemeClr val="tx1"/>
                          </a:solidFill>
                          <a:latin typeface="Book Antiqua" panose="02040602050305030304" pitchFamily="18" charset="0"/>
                        </a:rPr>
                        <a:t>No impact</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baseline="0" dirty="0">
                          <a:solidFill>
                            <a:schemeClr val="tx1"/>
                          </a:solidFill>
                          <a:latin typeface="Book Antiqua" panose="02040602050305030304" pitchFamily="18" charset="0"/>
                        </a:rPr>
                        <a:t>Full copy mode – no impact</a:t>
                      </a:r>
                      <a:endParaRPr lang="en-US" sz="1300" dirty="0">
                        <a:solidFill>
                          <a:schemeClr val="tx1"/>
                        </a:solidFill>
                        <a:latin typeface="Book Antiqua" panose="02040602050305030304" pitchFamily="18" charset="0"/>
                      </a:endParaRPr>
                    </a:p>
                    <a:p>
                      <a:pPr algn="l"/>
                      <a:r>
                        <a:rPr lang="en-US" sz="1300" dirty="0" err="1">
                          <a:solidFill>
                            <a:schemeClr val="tx1"/>
                          </a:solidFill>
                          <a:latin typeface="Book Antiqua" panose="02040602050305030304" pitchFamily="18" charset="0"/>
                        </a:rPr>
                        <a:t>CoFA</a:t>
                      </a:r>
                      <a:r>
                        <a:rPr lang="en-US" sz="1300" baseline="0" dirty="0">
                          <a:solidFill>
                            <a:schemeClr val="tx1"/>
                          </a:solidFill>
                          <a:latin typeface="Book Antiqua" panose="02040602050305030304" pitchFamily="18" charset="0"/>
                        </a:rPr>
                        <a:t> mode – some impact</a:t>
                      </a:r>
                    </a:p>
                  </a:txBody>
                  <a:tcPr anchor="ctr"/>
                </a:tc>
                <a:tc>
                  <a:txBody>
                    <a:bodyPr/>
                    <a:lstStyle/>
                    <a:p>
                      <a:pPr algn="l"/>
                      <a:r>
                        <a:rPr lang="en-US" sz="1300" dirty="0">
                          <a:solidFill>
                            <a:schemeClr val="tx1"/>
                          </a:solidFill>
                          <a:latin typeface="Book Antiqua" panose="02040602050305030304" pitchFamily="18" charset="0"/>
                        </a:rPr>
                        <a:t>High impact</a:t>
                      </a:r>
                    </a:p>
                  </a:txBody>
                  <a:tcPr anchor="ctr"/>
                </a:tc>
                <a:extLst>
                  <a:ext uri="{0D108BD9-81ED-4DB2-BD59-A6C34878D82A}">
                    <a16:rowId xmlns:a16="http://schemas.microsoft.com/office/drawing/2014/main" val="10001"/>
                  </a:ext>
                </a:extLst>
              </a:tr>
              <a:tr h="0">
                <a:tc>
                  <a:txBody>
                    <a:bodyPr/>
                    <a:lstStyle/>
                    <a:p>
                      <a:pPr algn="l"/>
                      <a:r>
                        <a:rPr lang="en-US" sz="1300" b="1" dirty="0">
                          <a:solidFill>
                            <a:srgbClr val="0000FF"/>
                          </a:solidFill>
                          <a:latin typeface="Book Antiqua" panose="02040602050305030304" pitchFamily="18" charset="0"/>
                        </a:rPr>
                        <a:t>Size of target</a:t>
                      </a:r>
                    </a:p>
                  </a:txBody>
                  <a:tcPr anchor="ctr"/>
                </a:tc>
                <a:tc>
                  <a:txBody>
                    <a:bodyPr/>
                    <a:lstStyle/>
                    <a:p>
                      <a:pPr algn="l"/>
                      <a:r>
                        <a:rPr lang="en-US" sz="1300" dirty="0">
                          <a:solidFill>
                            <a:schemeClr val="tx1"/>
                          </a:solidFill>
                          <a:latin typeface="Book Antiqua" panose="02040602050305030304" pitchFamily="18" charset="0"/>
                        </a:rPr>
                        <a:t>At</a:t>
                      </a:r>
                      <a:r>
                        <a:rPr lang="en-US" sz="1300" baseline="0" dirty="0">
                          <a:solidFill>
                            <a:schemeClr val="tx1"/>
                          </a:solidFill>
                          <a:latin typeface="Book Antiqua" panose="02040602050305030304" pitchFamily="18" charset="0"/>
                        </a:rPr>
                        <a:t> least the same as the source</a:t>
                      </a:r>
                      <a:endParaRPr lang="en-US" sz="1300" dirty="0">
                        <a:solidFill>
                          <a:schemeClr val="tx1"/>
                        </a:solidFill>
                        <a:latin typeface="Book Antiqua" panose="02040602050305030304" pitchFamily="18" charset="0"/>
                      </a:endParaRPr>
                    </a:p>
                  </a:txBody>
                  <a:tcPr anchor="ctr"/>
                </a:tc>
                <a:tc>
                  <a:txBody>
                    <a:bodyPr/>
                    <a:lstStyle/>
                    <a:p>
                      <a:pPr algn="l"/>
                      <a:r>
                        <a:rPr lang="en-US" sz="1300" dirty="0">
                          <a:solidFill>
                            <a:schemeClr val="tx1"/>
                          </a:solidFill>
                          <a:latin typeface="Book Antiqua" panose="02040602050305030304" pitchFamily="18" charset="0"/>
                        </a:rPr>
                        <a:t>At least the same as the source </a:t>
                      </a:r>
                    </a:p>
                  </a:txBody>
                  <a:tcPr anchor="ctr"/>
                </a:tc>
                <a:tc>
                  <a:txBody>
                    <a:bodyPr/>
                    <a:lstStyle/>
                    <a:p>
                      <a:pPr algn="l"/>
                      <a:r>
                        <a:rPr lang="en-US" sz="1300" dirty="0">
                          <a:solidFill>
                            <a:schemeClr val="tx1"/>
                          </a:solidFill>
                          <a:latin typeface="Book Antiqua" panose="02040602050305030304" pitchFamily="18" charset="0"/>
                        </a:rPr>
                        <a:t>Small fraction of the source</a:t>
                      </a:r>
                    </a:p>
                  </a:txBody>
                  <a:tcPr anchor="ctr"/>
                </a:tc>
                <a:extLst>
                  <a:ext uri="{0D108BD9-81ED-4DB2-BD59-A6C34878D82A}">
                    <a16:rowId xmlns:a16="http://schemas.microsoft.com/office/drawing/2014/main" val="10002"/>
                  </a:ext>
                </a:extLst>
              </a:tr>
              <a:tr h="0">
                <a:tc>
                  <a:txBody>
                    <a:bodyPr/>
                    <a:lstStyle/>
                    <a:p>
                      <a:pPr algn="l"/>
                      <a:r>
                        <a:rPr lang="en-US" sz="1300" b="1" dirty="0">
                          <a:solidFill>
                            <a:srgbClr val="0000FF"/>
                          </a:solidFill>
                          <a:latin typeface="Book Antiqua" panose="02040602050305030304" pitchFamily="18" charset="0"/>
                        </a:rPr>
                        <a:t>Availability of source for restoration </a:t>
                      </a:r>
                    </a:p>
                  </a:txBody>
                  <a:tcPr anchor="ctr"/>
                </a:tc>
                <a:tc>
                  <a:txBody>
                    <a:bodyPr/>
                    <a:lstStyle/>
                    <a:p>
                      <a:pPr algn="l"/>
                      <a:r>
                        <a:rPr lang="en-US" sz="1300" dirty="0">
                          <a:solidFill>
                            <a:schemeClr val="tx1"/>
                          </a:solidFill>
                          <a:latin typeface="Book Antiqua" panose="02040602050305030304" pitchFamily="18" charset="0"/>
                        </a:rPr>
                        <a:t>Not required</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baseline="0" dirty="0">
                          <a:solidFill>
                            <a:schemeClr val="tx1"/>
                          </a:solidFill>
                          <a:latin typeface="Book Antiqua" panose="02040602050305030304" pitchFamily="18" charset="0"/>
                        </a:rPr>
                        <a:t>Full copy mode – not required</a:t>
                      </a:r>
                      <a:endParaRPr lang="en-US" sz="1300" dirty="0">
                        <a:solidFill>
                          <a:schemeClr val="tx1"/>
                        </a:solidFill>
                        <a:latin typeface="Book Antiqua" panose="02040602050305030304" pitchFamily="18" charset="0"/>
                      </a:endParaRPr>
                    </a:p>
                    <a:p>
                      <a:pPr algn="l"/>
                      <a:r>
                        <a:rPr lang="en-US" sz="1300" dirty="0" err="1">
                          <a:solidFill>
                            <a:schemeClr val="tx1"/>
                          </a:solidFill>
                          <a:latin typeface="Book Antiqua" panose="02040602050305030304" pitchFamily="18" charset="0"/>
                        </a:rPr>
                        <a:t>CoFA</a:t>
                      </a:r>
                      <a:r>
                        <a:rPr lang="en-US" sz="1300" baseline="0" dirty="0">
                          <a:solidFill>
                            <a:schemeClr val="tx1"/>
                          </a:solidFill>
                          <a:latin typeface="Book Antiqua" panose="02040602050305030304" pitchFamily="18" charset="0"/>
                        </a:rPr>
                        <a:t> mode – required</a:t>
                      </a:r>
                    </a:p>
                  </a:txBody>
                  <a:tcPr anchor="ctr"/>
                </a:tc>
                <a:tc>
                  <a:txBody>
                    <a:bodyPr/>
                    <a:lstStyle/>
                    <a:p>
                      <a:pPr algn="l"/>
                      <a:r>
                        <a:rPr lang="en-US" sz="1300" dirty="0">
                          <a:solidFill>
                            <a:schemeClr val="tx1"/>
                          </a:solidFill>
                          <a:latin typeface="Book Antiqua" panose="02040602050305030304" pitchFamily="18" charset="0"/>
                        </a:rPr>
                        <a:t>Required</a:t>
                      </a:r>
                    </a:p>
                  </a:txBody>
                  <a:tcPr anchor="ctr"/>
                </a:tc>
                <a:extLst>
                  <a:ext uri="{0D108BD9-81ED-4DB2-BD59-A6C34878D82A}">
                    <a16:rowId xmlns:a16="http://schemas.microsoft.com/office/drawing/2014/main" val="10003"/>
                  </a:ext>
                </a:extLst>
              </a:tr>
              <a:tr h="0">
                <a:tc>
                  <a:txBody>
                    <a:bodyPr/>
                    <a:lstStyle/>
                    <a:p>
                      <a:pPr algn="l"/>
                      <a:r>
                        <a:rPr lang="en-US" sz="1300" b="1" dirty="0">
                          <a:solidFill>
                            <a:srgbClr val="0000FF"/>
                          </a:solidFill>
                          <a:latin typeface="Book Antiqua" panose="02040602050305030304" pitchFamily="18" charset="0"/>
                        </a:rPr>
                        <a:t>Accessibility to target</a:t>
                      </a:r>
                    </a:p>
                  </a:txBody>
                  <a:tcPr anchor="ctr"/>
                </a:tc>
                <a:tc>
                  <a:txBody>
                    <a:bodyPr/>
                    <a:lstStyle/>
                    <a:p>
                      <a:pPr algn="l"/>
                      <a:r>
                        <a:rPr lang="en-US" sz="1300" dirty="0">
                          <a:solidFill>
                            <a:schemeClr val="tx1"/>
                          </a:solidFill>
                          <a:latin typeface="Book Antiqua" panose="02040602050305030304" pitchFamily="18" charset="0"/>
                        </a:rPr>
                        <a:t>Only after synchronization and detachment from the source</a:t>
                      </a:r>
                    </a:p>
                  </a:txBody>
                  <a:tcPr anchor="ctr"/>
                </a:tc>
                <a:tc>
                  <a:txBody>
                    <a:bodyPr/>
                    <a:lstStyle/>
                    <a:p>
                      <a:pPr algn="l"/>
                      <a:r>
                        <a:rPr lang="en-US" sz="1300" dirty="0">
                          <a:solidFill>
                            <a:schemeClr val="tx1"/>
                          </a:solidFill>
                          <a:latin typeface="Book Antiqua" panose="02040602050305030304" pitchFamily="18" charset="0"/>
                        </a:rPr>
                        <a:t>Immediately accessible</a:t>
                      </a:r>
                    </a:p>
                  </a:txBody>
                  <a:tcPr anchor="ctr"/>
                </a:tc>
                <a:tc>
                  <a:txBody>
                    <a:bodyPr/>
                    <a:lstStyle/>
                    <a:p>
                      <a:pPr algn="l"/>
                      <a:r>
                        <a:rPr lang="en-US" sz="1300" dirty="0">
                          <a:solidFill>
                            <a:schemeClr val="tx1"/>
                          </a:solidFill>
                          <a:latin typeface="Book Antiqua" panose="02040602050305030304" pitchFamily="18" charset="0"/>
                        </a:rPr>
                        <a:t>Immediately accessible</a:t>
                      </a:r>
                    </a:p>
                  </a:txBody>
                  <a:tcPr anchor="ctr"/>
                </a:tc>
                <a:extLst>
                  <a:ext uri="{0D108BD9-81ED-4DB2-BD59-A6C34878D82A}">
                    <a16:rowId xmlns:a16="http://schemas.microsoft.com/office/drawing/2014/main" val="10004"/>
                  </a:ext>
                </a:extLst>
              </a:tr>
            </a:tbl>
          </a:graphicData>
        </a:graphic>
      </p:graphicFrame>
      <p:sp>
        <p:nvSpPr>
          <p:cNvPr id="5"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2533"/>
            <a:ext cx="8458200" cy="762000"/>
          </a:xfrm>
        </p:spPr>
        <p:txBody>
          <a:bodyPr/>
          <a:lstStyle/>
          <a:p>
            <a:r>
              <a:rPr lang="en-US" sz="2100" b="1" dirty="0">
                <a:solidFill>
                  <a:srgbClr val="C00000"/>
                </a:solidFill>
                <a:latin typeface="Book Antiqua" panose="02040602050305030304" pitchFamily="18" charset="0"/>
              </a:rPr>
              <a:t>Network-based Local Replication: Continuous Data Protection</a:t>
            </a:r>
          </a:p>
        </p:txBody>
      </p:sp>
      <p:sp>
        <p:nvSpPr>
          <p:cNvPr id="7" name="Content Placeholder 6"/>
          <p:cNvSpPr>
            <a:spLocks noGrp="1"/>
          </p:cNvSpPr>
          <p:nvPr>
            <p:ph idx="1"/>
          </p:nvPr>
        </p:nvSpPr>
        <p:spPr>
          <a:xfrm>
            <a:off x="304800" y="1295400"/>
            <a:ext cx="8458200" cy="5181600"/>
          </a:xfrm>
        </p:spPr>
        <p:txBody>
          <a:bodyPr/>
          <a:lstStyle/>
          <a:p>
            <a:r>
              <a:rPr lang="en-US" sz="1700" dirty="0">
                <a:solidFill>
                  <a:schemeClr val="tx1"/>
                </a:solidFill>
                <a:latin typeface="Book Antiqua" panose="02040602050305030304" pitchFamily="18" charset="0"/>
              </a:rPr>
              <a:t>Replication occurs at the network layer between the hosts and storage arrays</a:t>
            </a:r>
          </a:p>
          <a:p>
            <a:pPr lvl="1"/>
            <a:r>
              <a:rPr lang="en-US" sz="1700" dirty="0">
                <a:solidFill>
                  <a:schemeClr val="tx1"/>
                </a:solidFill>
                <a:latin typeface="Book Antiqua" panose="02040602050305030304" pitchFamily="18" charset="0"/>
              </a:rPr>
              <a:t>Ideal for highly heterogeneous environment</a:t>
            </a:r>
          </a:p>
          <a:p>
            <a:r>
              <a:rPr lang="en-US" sz="1700" dirty="0">
                <a:solidFill>
                  <a:schemeClr val="tx1"/>
                </a:solidFill>
                <a:latin typeface="Book Antiqua" panose="02040602050305030304" pitchFamily="18" charset="0"/>
              </a:rPr>
              <a:t>Typically provides the ability to restore data to any previous point-in-time</a:t>
            </a:r>
          </a:p>
          <a:p>
            <a:pPr lvl="1"/>
            <a:r>
              <a:rPr lang="en-US" sz="1700" dirty="0">
                <a:solidFill>
                  <a:schemeClr val="tx1"/>
                </a:solidFill>
                <a:latin typeface="Book Antiqua" panose="02040602050305030304" pitchFamily="18" charset="0"/>
              </a:rPr>
              <a:t>RPOs are random and do not need to be defined in advance</a:t>
            </a:r>
          </a:p>
          <a:p>
            <a:r>
              <a:rPr lang="en-US" sz="1700" dirty="0">
                <a:solidFill>
                  <a:schemeClr val="tx1"/>
                </a:solidFill>
                <a:latin typeface="Book Antiqua" panose="02040602050305030304" pitchFamily="18" charset="0"/>
              </a:rPr>
              <a:t>Data changes are continuously captured and stored in a separate location from the production data</a:t>
            </a:r>
          </a:p>
          <a:p>
            <a:r>
              <a:rPr lang="en-US" sz="1700" dirty="0">
                <a:solidFill>
                  <a:schemeClr val="tx1"/>
                </a:solidFill>
                <a:latin typeface="Book Antiqua" panose="02040602050305030304" pitchFamily="18" charset="0"/>
              </a:rPr>
              <a:t>CDP is implemented by using</a:t>
            </a:r>
          </a:p>
          <a:p>
            <a:pPr lvl="1"/>
            <a:r>
              <a:rPr lang="en-US" sz="1700" dirty="0">
                <a:solidFill>
                  <a:schemeClr val="tx1"/>
                </a:solidFill>
                <a:latin typeface="Book Antiqua" panose="02040602050305030304" pitchFamily="18" charset="0"/>
              </a:rPr>
              <a:t>Journal volume</a:t>
            </a:r>
          </a:p>
          <a:p>
            <a:pPr lvl="1"/>
            <a:r>
              <a:rPr lang="en-US" sz="1700" dirty="0">
                <a:solidFill>
                  <a:schemeClr val="tx1"/>
                </a:solidFill>
                <a:latin typeface="Book Antiqua" panose="02040602050305030304" pitchFamily="18" charset="0"/>
              </a:rPr>
              <a:t>CDP appliance</a:t>
            </a:r>
          </a:p>
          <a:p>
            <a:pPr lvl="1"/>
            <a:r>
              <a:rPr lang="en-US" sz="1700" dirty="0">
                <a:solidFill>
                  <a:schemeClr val="tx1"/>
                </a:solidFill>
                <a:latin typeface="Book Antiqua" panose="02040602050305030304" pitchFamily="18" charset="0"/>
              </a:rPr>
              <a:t>Write splitter</a:t>
            </a:r>
          </a:p>
        </p:txBody>
      </p:sp>
      <p:sp>
        <p:nvSpPr>
          <p:cNvPr id="5" name="Footer Placeholder 4"/>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extLst>
      <p:ext uri="{BB962C8B-B14F-4D97-AF65-F5344CB8AC3E}">
        <p14:creationId xmlns:p14="http://schemas.microsoft.com/office/powerpoint/2010/main" val="26215527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Picture 15"/>
          <p:cNvPicPr>
            <a:picLocks noChangeAspect="1" noChangeArrowheads="1"/>
          </p:cNvPicPr>
          <p:nvPr/>
        </p:nvPicPr>
        <p:blipFill>
          <a:blip r:embed="rId3" cstate="print"/>
          <a:srcRect/>
          <a:stretch>
            <a:fillRect/>
          </a:stretch>
        </p:blipFill>
        <p:spPr bwMode="auto">
          <a:xfrm>
            <a:off x="3671047" y="3213846"/>
            <a:ext cx="1115568" cy="723541"/>
          </a:xfrm>
          <a:prstGeom prst="rect">
            <a:avLst/>
          </a:prstGeom>
          <a:noFill/>
          <a:ln w="9525">
            <a:noFill/>
            <a:miter lim="800000"/>
            <a:headEnd/>
            <a:tailEnd/>
          </a:ln>
          <a:effectLst/>
        </p:spPr>
      </p:pic>
      <p:pic>
        <p:nvPicPr>
          <p:cNvPr id="179"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4989995" y="4903693"/>
            <a:ext cx="635358" cy="635358"/>
          </a:xfrm>
          <a:prstGeom prst="rect">
            <a:avLst/>
          </a:prstGeom>
          <a:noFill/>
        </p:spPr>
      </p:pic>
      <p:sp>
        <p:nvSpPr>
          <p:cNvPr id="16" name="Line 37"/>
          <p:cNvSpPr>
            <a:spLocks noChangeShapeType="1"/>
          </p:cNvSpPr>
          <p:nvPr/>
        </p:nvSpPr>
        <p:spPr bwMode="auto">
          <a:xfrm flipV="1">
            <a:off x="4753583" y="3572163"/>
            <a:ext cx="1981200"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Line 37"/>
          <p:cNvSpPr>
            <a:spLocks noChangeShapeType="1"/>
          </p:cNvSpPr>
          <p:nvPr/>
        </p:nvSpPr>
        <p:spPr bwMode="auto">
          <a:xfrm flipH="1" flipV="1">
            <a:off x="4185551" y="2093258"/>
            <a:ext cx="0" cy="114300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 name="Title 1"/>
          <p:cNvSpPr>
            <a:spLocks noGrp="1"/>
          </p:cNvSpPr>
          <p:nvPr>
            <p:ph type="title"/>
          </p:nvPr>
        </p:nvSpPr>
        <p:spPr>
          <a:xfrm>
            <a:off x="557515" y="118120"/>
            <a:ext cx="8458200" cy="762000"/>
          </a:xfrm>
        </p:spPr>
        <p:txBody>
          <a:bodyPr/>
          <a:lstStyle/>
          <a:p>
            <a:r>
              <a:rPr lang="en-US" sz="2100" b="1" dirty="0">
                <a:solidFill>
                  <a:srgbClr val="C00000"/>
                </a:solidFill>
                <a:latin typeface="Book Antiqua" panose="02040602050305030304" pitchFamily="18" charset="0"/>
              </a:rPr>
              <a:t>CDP Local Replication Operation</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11: Local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3" name="Rectangle 1910"/>
          <p:cNvSpPr>
            <a:spLocks noChangeArrowheads="1"/>
          </p:cNvSpPr>
          <p:nvPr/>
        </p:nvSpPr>
        <p:spPr bwMode="auto">
          <a:xfrm>
            <a:off x="3988648" y="3425357"/>
            <a:ext cx="430952" cy="307777"/>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SAN</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7" name="Rectangle 6"/>
          <p:cNvSpPr>
            <a:spLocks noChangeArrowheads="1"/>
          </p:cNvSpPr>
          <p:nvPr/>
        </p:nvSpPr>
        <p:spPr bwMode="gray">
          <a:xfrm>
            <a:off x="3069914" y="1690356"/>
            <a:ext cx="906463" cy="30777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Host</a:t>
            </a:r>
          </a:p>
        </p:txBody>
      </p:sp>
      <p:sp>
        <p:nvSpPr>
          <p:cNvPr id="18" name="Rectangle 6"/>
          <p:cNvSpPr>
            <a:spLocks noChangeArrowheads="1"/>
          </p:cNvSpPr>
          <p:nvPr/>
        </p:nvSpPr>
        <p:spPr bwMode="gray">
          <a:xfrm>
            <a:off x="2579873" y="5517992"/>
            <a:ext cx="1143000" cy="523220"/>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Production Volume</a:t>
            </a:r>
          </a:p>
        </p:txBody>
      </p:sp>
      <p:sp>
        <p:nvSpPr>
          <p:cNvPr id="19" name="Rectangle 6"/>
          <p:cNvSpPr>
            <a:spLocks noChangeArrowheads="1"/>
          </p:cNvSpPr>
          <p:nvPr/>
        </p:nvSpPr>
        <p:spPr bwMode="gray">
          <a:xfrm>
            <a:off x="6074421" y="3756211"/>
            <a:ext cx="1295400" cy="30777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CDP Appliance</a:t>
            </a:r>
          </a:p>
        </p:txBody>
      </p:sp>
      <p:sp>
        <p:nvSpPr>
          <p:cNvPr id="22" name="Rectangle 6"/>
          <p:cNvSpPr>
            <a:spLocks noChangeArrowheads="1"/>
          </p:cNvSpPr>
          <p:nvPr/>
        </p:nvSpPr>
        <p:spPr bwMode="gray">
          <a:xfrm>
            <a:off x="3736815" y="5542645"/>
            <a:ext cx="925948" cy="30777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Replica</a:t>
            </a:r>
          </a:p>
        </p:txBody>
      </p:sp>
      <p:sp>
        <p:nvSpPr>
          <p:cNvPr id="23" name="Rectangle 6"/>
          <p:cNvSpPr>
            <a:spLocks noChangeArrowheads="1"/>
          </p:cNvSpPr>
          <p:nvPr/>
        </p:nvSpPr>
        <p:spPr bwMode="gray">
          <a:xfrm>
            <a:off x="4742110" y="5512027"/>
            <a:ext cx="1143000" cy="30777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CDP Journal</a:t>
            </a:r>
          </a:p>
        </p:txBody>
      </p:sp>
      <p:grpSp>
        <p:nvGrpSpPr>
          <p:cNvPr id="29" name="Group 346"/>
          <p:cNvGrpSpPr>
            <a:grpSpLocks/>
          </p:cNvGrpSpPr>
          <p:nvPr/>
        </p:nvGrpSpPr>
        <p:grpSpPr bwMode="auto">
          <a:xfrm>
            <a:off x="5110770" y="5132292"/>
            <a:ext cx="390408" cy="252779"/>
            <a:chOff x="2529" y="3760"/>
            <a:chExt cx="432" cy="192"/>
          </a:xfrm>
        </p:grpSpPr>
        <p:sp>
          <p:nvSpPr>
            <p:cNvPr id="30"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2"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6"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8"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9"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0"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1"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2"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4"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5"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6"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7"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8"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9"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0"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1"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2"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3"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4"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5"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6"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7"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8"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9"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0"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1"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2"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3"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4"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5"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6"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7"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8"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9"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0"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1"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2"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3"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4"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5"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6"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7"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8"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9"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0"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1"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2"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3"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4"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5"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6"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7"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8"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9"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0"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1"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2"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3"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4"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5"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6"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7"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8"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9"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0"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1"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2"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3"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4"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5"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6"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7"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8"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9"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0"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1"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2"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3"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4"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5"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6"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7"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8"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9"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0"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1"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2"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3"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4"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5"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6"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7"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8"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9"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0"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1"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2"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3"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4"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5"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6"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7"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8"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9"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0"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1"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2"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3"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4"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5"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6"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153" name="Rectangle 6"/>
          <p:cNvSpPr>
            <a:spLocks noChangeArrowheads="1"/>
          </p:cNvSpPr>
          <p:nvPr/>
        </p:nvSpPr>
        <p:spPr bwMode="gray">
          <a:xfrm>
            <a:off x="5419165" y="2219979"/>
            <a:ext cx="1143000" cy="523220"/>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Write Splitter</a:t>
            </a:r>
          </a:p>
        </p:txBody>
      </p:sp>
      <p:sp>
        <p:nvSpPr>
          <p:cNvPr id="147" name="Rectangle 146"/>
          <p:cNvSpPr/>
          <p:nvPr/>
        </p:nvSpPr>
        <p:spPr>
          <a:xfrm>
            <a:off x="2496451" y="4571999"/>
            <a:ext cx="3429000" cy="1447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149" name="Line 37"/>
          <p:cNvSpPr>
            <a:spLocks noChangeShapeType="1"/>
          </p:cNvSpPr>
          <p:nvPr/>
        </p:nvSpPr>
        <p:spPr bwMode="auto">
          <a:xfrm flipH="1" flipV="1">
            <a:off x="4198251" y="3886199"/>
            <a:ext cx="0" cy="676656"/>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5" name="Arc 154"/>
          <p:cNvSpPr/>
          <p:nvPr/>
        </p:nvSpPr>
        <p:spPr>
          <a:xfrm rot="348943" flipH="1">
            <a:off x="4300826" y="3603622"/>
            <a:ext cx="2087669" cy="1213293"/>
          </a:xfrm>
          <a:prstGeom prst="arc">
            <a:avLst>
              <a:gd name="adj1" fmla="val 13270649"/>
              <a:gd name="adj2" fmla="val 4896516"/>
            </a:avLst>
          </a:prstGeom>
          <a:noFill/>
          <a:ln w="15875">
            <a:solidFill>
              <a:schemeClr val="tx1"/>
            </a:solidFill>
            <a:round/>
            <a:headEnd type="none" w="lg" len="med"/>
            <a:tailEnd type="triangle" w="lg"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6" name="Rectangle 6"/>
          <p:cNvSpPr>
            <a:spLocks noChangeArrowheads="1"/>
          </p:cNvSpPr>
          <p:nvPr/>
        </p:nvSpPr>
        <p:spPr bwMode="gray">
          <a:xfrm>
            <a:off x="5838544" y="5123328"/>
            <a:ext cx="1525962" cy="30777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p>
        </p:txBody>
      </p:sp>
      <p:sp>
        <p:nvSpPr>
          <p:cNvPr id="157" name="Arc 156"/>
          <p:cNvSpPr/>
          <p:nvPr/>
        </p:nvSpPr>
        <p:spPr>
          <a:xfrm rot="808532">
            <a:off x="2941623" y="1676051"/>
            <a:ext cx="990600" cy="3249078"/>
          </a:xfrm>
          <a:prstGeom prst="arc">
            <a:avLst>
              <a:gd name="adj1" fmla="val 17164541"/>
              <a:gd name="adj2" fmla="val 5123962"/>
            </a:avLst>
          </a:prstGeom>
          <a:noFill/>
          <a:ln w="15875">
            <a:solidFill>
              <a:schemeClr val="tx1"/>
            </a:solidFill>
            <a:round/>
            <a:headEnd type="none" w="lg" len="med"/>
            <a:tailEnd type="triangle"/>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8" name="Arc 157"/>
          <p:cNvSpPr/>
          <p:nvPr/>
        </p:nvSpPr>
        <p:spPr>
          <a:xfrm rot="21319135" flipH="1">
            <a:off x="4248670" y="1575243"/>
            <a:ext cx="2558437" cy="1970910"/>
          </a:xfrm>
          <a:prstGeom prst="arc">
            <a:avLst>
              <a:gd name="adj1" fmla="val 20318714"/>
              <a:gd name="adj2" fmla="val 6412650"/>
            </a:avLst>
          </a:prstGeom>
          <a:noFill/>
          <a:ln w="15875">
            <a:solidFill>
              <a:schemeClr val="tx1"/>
            </a:solidFill>
            <a:round/>
            <a:headEnd type="none" w="lg" len="med"/>
            <a:tailEnd type="triangle"/>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1" name="Freeform 160"/>
          <p:cNvSpPr/>
          <p:nvPr/>
        </p:nvSpPr>
        <p:spPr>
          <a:xfrm>
            <a:off x="4481693" y="4724399"/>
            <a:ext cx="575732" cy="190500"/>
          </a:xfrm>
          <a:custGeom>
            <a:avLst/>
            <a:gdLst>
              <a:gd name="connsiteX0" fmla="*/ 0 w 626533"/>
              <a:gd name="connsiteY0" fmla="*/ 12700 h 12700"/>
              <a:gd name="connsiteX1" fmla="*/ 626533 w 626533"/>
              <a:gd name="connsiteY1" fmla="*/ 12700 h 12700"/>
            </a:gdLst>
            <a:ahLst/>
            <a:cxnLst>
              <a:cxn ang="0">
                <a:pos x="connsiteX0" y="connsiteY0"/>
              </a:cxn>
              <a:cxn ang="0">
                <a:pos x="connsiteX1" y="connsiteY1"/>
              </a:cxn>
            </a:cxnLst>
            <a:rect l="l" t="t" r="r" b="b"/>
            <a:pathLst>
              <a:path w="626533" h="12700">
                <a:moveTo>
                  <a:pt x="0" y="12700"/>
                </a:moveTo>
                <a:cubicBezTo>
                  <a:pt x="238477" y="6350"/>
                  <a:pt x="476955" y="0"/>
                  <a:pt x="626533" y="12700"/>
                </a:cubicBezTo>
              </a:path>
            </a:pathLst>
          </a:custGeom>
          <a:noFill/>
          <a:ln w="15875">
            <a:solidFill>
              <a:schemeClr val="tx1"/>
            </a:solidFill>
            <a:round/>
            <a:headEnd type="triangle" w="lg" len="med"/>
            <a:tailEnd type="none" w="lg"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pic>
        <p:nvPicPr>
          <p:cNvPr id="151"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2805953" y="4917140"/>
            <a:ext cx="635358" cy="635358"/>
          </a:xfrm>
          <a:prstGeom prst="rect">
            <a:avLst/>
          </a:prstGeom>
          <a:noFill/>
        </p:spPr>
      </p:pic>
      <p:pic>
        <p:nvPicPr>
          <p:cNvPr id="173" name="Picture 7" descr="C:\Documents and Settings\sridhs\Desktop\ISM Book L3\colored Icons\Host.png"/>
          <p:cNvPicPr>
            <a:picLocks noChangeAspect="1" noChangeArrowheads="1"/>
          </p:cNvPicPr>
          <p:nvPr/>
        </p:nvPicPr>
        <p:blipFill>
          <a:blip r:embed="rId5" cstate="print"/>
          <a:srcRect/>
          <a:stretch>
            <a:fillRect/>
          </a:stretch>
        </p:blipFill>
        <p:spPr bwMode="auto">
          <a:xfrm>
            <a:off x="3810000" y="969509"/>
            <a:ext cx="762000" cy="1761346"/>
          </a:xfrm>
          <a:prstGeom prst="rect">
            <a:avLst/>
          </a:prstGeom>
          <a:noFill/>
        </p:spPr>
      </p:pic>
      <p:pic>
        <p:nvPicPr>
          <p:cNvPr id="175" name="Picture 2"/>
          <p:cNvPicPr>
            <a:picLocks noChangeAspect="1" noChangeArrowheads="1"/>
          </p:cNvPicPr>
          <p:nvPr/>
        </p:nvPicPr>
        <p:blipFill>
          <a:blip r:embed="rId6" cstate="print"/>
          <a:srcRect/>
          <a:stretch>
            <a:fillRect/>
          </a:stretch>
        </p:blipFill>
        <p:spPr bwMode="auto">
          <a:xfrm rot="-5400000">
            <a:off x="4062370" y="2239817"/>
            <a:ext cx="304800" cy="397164"/>
          </a:xfrm>
          <a:prstGeom prst="rect">
            <a:avLst/>
          </a:prstGeom>
          <a:noFill/>
          <a:ln w="9525">
            <a:noFill/>
            <a:miter lim="800000"/>
            <a:headEnd/>
            <a:tailEnd/>
          </a:ln>
          <a:effectLst/>
        </p:spPr>
      </p:pic>
      <p:cxnSp>
        <p:nvCxnSpPr>
          <p:cNvPr id="152" name="Straight Arrow Connector 151"/>
          <p:cNvCxnSpPr/>
          <p:nvPr/>
        </p:nvCxnSpPr>
        <p:spPr>
          <a:xfrm>
            <a:off x="4433047" y="2490599"/>
            <a:ext cx="1219200" cy="1588"/>
          </a:xfrm>
          <a:prstGeom prst="straightConnector1">
            <a:avLst/>
          </a:prstGeom>
          <a:ln w="1905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pic>
        <p:nvPicPr>
          <p:cNvPr id="177" name="Picture 8"/>
          <p:cNvPicPr>
            <a:picLocks noChangeAspect="1" noChangeArrowheads="1"/>
          </p:cNvPicPr>
          <p:nvPr/>
        </p:nvPicPr>
        <p:blipFill>
          <a:blip r:embed="rId7" cstate="print"/>
          <a:srcRect/>
          <a:stretch>
            <a:fillRect/>
          </a:stretch>
        </p:blipFill>
        <p:spPr bwMode="auto">
          <a:xfrm>
            <a:off x="5876365" y="3388658"/>
            <a:ext cx="1554480" cy="380626"/>
          </a:xfrm>
          <a:prstGeom prst="rect">
            <a:avLst/>
          </a:prstGeom>
          <a:noFill/>
          <a:ln w="9525">
            <a:noFill/>
            <a:miter lim="800000"/>
            <a:headEnd/>
            <a:tailEnd/>
          </a:ln>
          <a:effectLst/>
        </p:spPr>
      </p:pic>
      <p:pic>
        <p:nvPicPr>
          <p:cNvPr id="178"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3864924" y="4899211"/>
            <a:ext cx="635358" cy="635358"/>
          </a:xfrm>
          <a:prstGeom prst="rect">
            <a:avLst/>
          </a:prstGeom>
          <a:noFill/>
        </p:spPr>
      </p:pic>
    </p:spTree>
    <p:extLst>
      <p:ext uri="{BB962C8B-B14F-4D97-AF65-F5344CB8AC3E}">
        <p14:creationId xmlns:p14="http://schemas.microsoft.com/office/powerpoint/2010/main" val="6833775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789113" y="1524000"/>
            <a:ext cx="6705600" cy="2819400"/>
          </a:xfrm>
          <a:ln>
            <a:noFill/>
          </a:ln>
        </p:spPr>
        <p:txBody>
          <a:bodyPr/>
          <a:lstStyle/>
          <a:p>
            <a:r>
              <a:rPr lang="en-US" sz="4400" dirty="0">
                <a:solidFill>
                  <a:srgbClr val="2C95DD"/>
                </a:solidFill>
              </a:rPr>
              <a:t>Module – 12  </a:t>
            </a:r>
            <a:br>
              <a:rPr lang="en-US" sz="4400" dirty="0">
                <a:solidFill>
                  <a:srgbClr val="2C95DD"/>
                </a:solidFill>
              </a:rPr>
            </a:br>
            <a:br>
              <a:rPr lang="en-US" sz="4400" dirty="0">
                <a:solidFill>
                  <a:srgbClr val="2C95DD"/>
                </a:solidFill>
              </a:rPr>
            </a:br>
            <a:r>
              <a:rPr lang="en-US" sz="4400" dirty="0">
                <a:solidFill>
                  <a:srgbClr val="2C95DD"/>
                </a:solidFill>
              </a:rPr>
              <a:t>Remote Replication</a:t>
            </a:r>
          </a:p>
        </p:txBody>
      </p:sp>
      <p:sp>
        <p:nvSpPr>
          <p:cNvPr id="3" name="Slide Number Placeholder 7"/>
          <p:cNvSpPr>
            <a:spLocks noGrp="1"/>
          </p:cNvSpPr>
          <p:nvPr>
            <p:ph type="sldNum" sz="quarter" idx="11"/>
          </p:nvPr>
        </p:nvSpPr>
        <p:spPr>
          <a:xfrm>
            <a:off x="8686800" y="6629400"/>
            <a:ext cx="457200" cy="2286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0CDAE9-9707-4120-A90B-FABB84BE074E}"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4" name="Footer Placeholder 8"/>
          <p:cNvSpPr txBox="1">
            <a:spLocks/>
          </p:cNvSpPr>
          <p:nvPr/>
        </p:nvSpPr>
        <p:spPr>
          <a:xfrm>
            <a:off x="4495800" y="6629400"/>
            <a:ext cx="4191000" cy="228600"/>
          </a:xfrm>
          <a:prstGeom prst="rect">
            <a:avLst/>
          </a:prstGeom>
        </p:spPr>
        <p:txBody>
          <a:bodyPr vert="horz" lIns="91440" tIns="45720" rIns="91440" bIns="4572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extLst>
      <p:ext uri="{BB962C8B-B14F-4D97-AF65-F5344CB8AC3E}">
        <p14:creationId xmlns:p14="http://schemas.microsoft.com/office/powerpoint/2010/main" val="16355536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subTitle" idx="1"/>
          </p:nvPr>
        </p:nvSpPr>
        <p:spPr>
          <a:xfrm>
            <a:off x="1371600" y="2438400"/>
            <a:ext cx="7467600" cy="3124200"/>
          </a:xfrm>
        </p:spPr>
        <p:txBody>
          <a:bodyPr>
            <a:normAutofit/>
          </a:bodyPr>
          <a:lstStyle/>
          <a:p>
            <a:pPr>
              <a:spcBef>
                <a:spcPts val="1200"/>
              </a:spcBef>
              <a:defRPr/>
            </a:pPr>
            <a:r>
              <a:rPr lang="en-US" dirty="0">
                <a:solidFill>
                  <a:schemeClr val="bg2">
                    <a:lumMod val="75000"/>
                  </a:schemeClr>
                </a:solidFill>
              </a:rPr>
              <a:t>Upon completion of this module, you should be able to:</a:t>
            </a:r>
          </a:p>
          <a:p>
            <a:pPr lvl="1" indent="-223838" algn="l">
              <a:buClr>
                <a:srgbClr val="92D050"/>
              </a:buClr>
              <a:buSzPct val="110000"/>
              <a:buFont typeface="Arial" pitchFamily="34" charset="0"/>
              <a:buChar char="•"/>
              <a:defRPr/>
            </a:pPr>
            <a:r>
              <a:rPr lang="en-US" sz="2000" dirty="0">
                <a:solidFill>
                  <a:schemeClr val="bg2">
                    <a:lumMod val="75000"/>
                  </a:schemeClr>
                </a:solidFill>
              </a:rPr>
              <a:t>Explain synchronous and asynchronous replication mode</a:t>
            </a:r>
          </a:p>
          <a:p>
            <a:pPr lvl="1" indent="-223838" algn="l">
              <a:buClr>
                <a:srgbClr val="92D050"/>
              </a:buClr>
              <a:buSzPct val="110000"/>
              <a:buFont typeface="Arial" pitchFamily="34" charset="0"/>
              <a:buChar char="•"/>
              <a:defRPr/>
            </a:pPr>
            <a:r>
              <a:rPr lang="en-US" sz="2000" dirty="0">
                <a:solidFill>
                  <a:schemeClr val="bg2">
                    <a:lumMod val="75000"/>
                  </a:schemeClr>
                </a:solidFill>
              </a:rPr>
              <a:t>Describe host-based, array-based, and network-based remote replication technologies</a:t>
            </a:r>
          </a:p>
          <a:p>
            <a:pPr lvl="1" indent="-223838" algn="l">
              <a:buClr>
                <a:srgbClr val="92D050"/>
              </a:buClr>
              <a:buSzPct val="110000"/>
              <a:buFont typeface="Arial" pitchFamily="34" charset="0"/>
              <a:buChar char="•"/>
              <a:defRPr/>
            </a:pPr>
            <a:r>
              <a:rPr lang="en-US" sz="2000" dirty="0">
                <a:solidFill>
                  <a:schemeClr val="bg2">
                    <a:lumMod val="75000"/>
                  </a:schemeClr>
                </a:solidFill>
              </a:rPr>
              <a:t>Describe three-site remote replication</a:t>
            </a:r>
          </a:p>
          <a:p>
            <a:pPr lvl="1" indent="-223838" algn="l">
              <a:buClr>
                <a:srgbClr val="92D050"/>
              </a:buClr>
              <a:buSzPct val="110000"/>
              <a:buFont typeface="Arial" pitchFamily="34" charset="0"/>
              <a:buChar char="•"/>
              <a:defRPr/>
            </a:pPr>
            <a:r>
              <a:rPr lang="en-US" sz="2000" dirty="0">
                <a:solidFill>
                  <a:schemeClr val="bg2">
                    <a:lumMod val="75000"/>
                  </a:schemeClr>
                </a:solidFill>
              </a:rPr>
              <a:t>Explain data migration solution</a:t>
            </a:r>
          </a:p>
          <a:p>
            <a:pPr lvl="1" indent="-223838" algn="l">
              <a:buClr>
                <a:srgbClr val="92D050"/>
              </a:buClr>
              <a:buSzPct val="110000"/>
              <a:buFont typeface="Arial" pitchFamily="34" charset="0"/>
              <a:buChar char="•"/>
              <a:defRPr/>
            </a:pPr>
            <a:r>
              <a:rPr lang="en-US" sz="2000" dirty="0">
                <a:solidFill>
                  <a:schemeClr val="bg2">
                    <a:lumMod val="75000"/>
                  </a:schemeClr>
                </a:solidFill>
              </a:rPr>
              <a:t>Describe remote replication and migration in virtualized environment</a:t>
            </a:r>
          </a:p>
        </p:txBody>
      </p:sp>
      <p:sp>
        <p:nvSpPr>
          <p:cNvPr id="7" name="Title 4"/>
          <p:cNvSpPr txBox="1">
            <a:spLocks/>
          </p:cNvSpPr>
          <p:nvPr/>
        </p:nvSpPr>
        <p:spPr bwMode="auto">
          <a:xfrm>
            <a:off x="1066800" y="1143000"/>
            <a:ext cx="6705600" cy="688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srgbClr val="2C95DD"/>
                </a:solidFill>
                <a:effectLst/>
                <a:uLnTx/>
                <a:uFillTx/>
                <a:latin typeface="MetaNormalLF-Roman"/>
                <a:ea typeface="+mn-ea"/>
                <a:cs typeface="Arial"/>
              </a:rPr>
              <a:t>Module 12: Remote Replication</a:t>
            </a:r>
          </a:p>
        </p:txBody>
      </p:sp>
      <p:sp>
        <p:nvSpPr>
          <p:cNvPr id="8" name="Slide Number Placeholder 7"/>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50CDAE9-9707-4120-A90B-FABB84BE074E}"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9" name="Footer Placeholder 8"/>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12: Remote Replication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txBox="1">
            <a:spLocks/>
          </p:cNvSpPr>
          <p:nvPr/>
        </p:nvSpPr>
        <p:spPr bwMode="auto">
          <a:xfrm>
            <a:off x="685800" y="609600"/>
            <a:ext cx="7239000" cy="121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srgbClr val="000000">
                    <a:lumMod val="50000"/>
                    <a:lumOff val="50000"/>
                  </a:srgbClr>
                </a:solidFill>
                <a:effectLst/>
                <a:uLnTx/>
                <a:uFillTx/>
                <a:latin typeface="MetaNormalLF-Roman"/>
                <a:ea typeface="+mn-ea"/>
                <a:cs typeface="Arial"/>
              </a:rPr>
              <a:t>Module 12: Remote Replication</a:t>
            </a:r>
          </a:p>
        </p:txBody>
      </p:sp>
      <p:sp>
        <p:nvSpPr>
          <p:cNvPr id="9" name="Content Placeholder 7"/>
          <p:cNvSpPr txBox="1">
            <a:spLocks/>
          </p:cNvSpPr>
          <p:nvPr/>
        </p:nvSpPr>
        <p:spPr bwMode="auto">
          <a:xfrm>
            <a:off x="762000" y="1981200"/>
            <a:ext cx="77724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31775" marR="0" lvl="0" indent="-231775" algn="l" defTabSz="914400" rtl="0" eaLnBrk="1" fontAlgn="base" latinLnBrk="0" hangingPunct="1">
              <a:lnSpc>
                <a:spcPct val="100000"/>
              </a:lnSpc>
              <a:spcBef>
                <a:spcPct val="20000"/>
              </a:spcBef>
              <a:spcAft>
                <a:spcPct val="0"/>
              </a:spcAft>
              <a:buClr>
                <a:srgbClr val="92D050"/>
              </a:buClr>
              <a:buSzPct val="120000"/>
              <a:buFontTx/>
              <a:buNone/>
              <a:tabLst/>
              <a:defRPr/>
            </a:pPr>
            <a:r>
              <a:rPr kumimoji="0" lang="en-US" sz="2400" b="0" i="0" u="none" strike="noStrike" kern="1200" cap="none" spc="0" normalizeH="0" baseline="0" noProof="0" dirty="0">
                <a:ln>
                  <a:noFill/>
                </a:ln>
                <a:solidFill>
                  <a:srgbClr val="2C95DD"/>
                </a:solidFill>
                <a:effectLst/>
                <a:uLnTx/>
                <a:uFillTx/>
                <a:latin typeface="Calibri" pitchFamily="34" charset="0"/>
                <a:ea typeface="+mn-ea"/>
                <a:cs typeface="Arial"/>
              </a:rPr>
              <a:t>Lesson 1: Remote Replication Overview</a:t>
            </a:r>
          </a:p>
        </p:txBody>
      </p:sp>
      <p:sp>
        <p:nvSpPr>
          <p:cNvPr id="11" name="Subtitle 6"/>
          <p:cNvSpPr txBox="1">
            <a:spLocks/>
          </p:cNvSpPr>
          <p:nvPr/>
        </p:nvSpPr>
        <p:spPr bwMode="auto">
          <a:xfrm>
            <a:off x="1447800" y="2590800"/>
            <a:ext cx="7086600" cy="2667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marL="457200" marR="0" lvl="1" indent="-223838" algn="l" defTabSz="914400" rtl="0" eaLnBrk="1" fontAlgn="base" latinLnBrk="0" hangingPunct="1">
              <a:lnSpc>
                <a:spcPct val="100000"/>
              </a:lnSpc>
              <a:spcBef>
                <a:spcPct val="20000"/>
              </a:spcBef>
              <a:spcAft>
                <a:spcPct val="0"/>
              </a:spcAft>
              <a:buClr>
                <a:srgbClr val="92D050"/>
              </a:buClr>
              <a:buSzPct val="110000"/>
              <a:buFontTx/>
              <a:buNone/>
              <a:tabLst/>
              <a:defRPr/>
            </a:pPr>
            <a:r>
              <a:rPr kumimoji="0" lang="en-US" sz="2000" b="0" i="0" u="none" strike="noStrike" kern="1200" cap="none" spc="0" normalizeH="0" baseline="0" noProof="0" dirty="0">
                <a:ln>
                  <a:noFill/>
                </a:ln>
                <a:solidFill>
                  <a:srgbClr val="5F5F5F">
                    <a:lumMod val="75000"/>
                  </a:srgbClr>
                </a:solidFill>
                <a:effectLst/>
                <a:uLnTx/>
                <a:uFillTx/>
                <a:latin typeface="Calibri" pitchFamily="34" charset="0"/>
                <a:ea typeface="+mn-ea"/>
                <a:cs typeface="Arial"/>
              </a:rPr>
              <a:t>During this lesson the following topics are covered:</a:t>
            </a:r>
          </a:p>
          <a:p>
            <a:pPr marL="457200" marR="0" lvl="1" indent="-223838" algn="l" defTabSz="914400" rtl="0" eaLnBrk="1" fontAlgn="base" latinLnBrk="0" hangingPunct="1">
              <a:lnSpc>
                <a:spcPct val="100000"/>
              </a:lnSpc>
              <a:spcBef>
                <a:spcPct val="20000"/>
              </a:spcBef>
              <a:spcAft>
                <a:spcPct val="0"/>
              </a:spcAft>
              <a:buClr>
                <a:srgbClr val="92D050"/>
              </a:buClr>
              <a:buSzPct val="110000"/>
              <a:buFont typeface="Arial" pitchFamily="34" charset="0"/>
              <a:buChar char="•"/>
              <a:tabLst/>
              <a:defRPr/>
            </a:pPr>
            <a:r>
              <a:rPr kumimoji="0" lang="en-US" sz="2000" b="0" i="0" u="none" strike="noStrike" kern="1200" cap="none" spc="0" normalizeH="0" baseline="0" noProof="0" dirty="0">
                <a:ln>
                  <a:noFill/>
                </a:ln>
                <a:solidFill>
                  <a:srgbClr val="5F5F5F">
                    <a:lumMod val="75000"/>
                  </a:srgbClr>
                </a:solidFill>
                <a:effectLst/>
                <a:uLnTx/>
                <a:uFillTx/>
                <a:latin typeface="Calibri" pitchFamily="34" charset="0"/>
                <a:ea typeface="+mn-ea"/>
                <a:cs typeface="Arial"/>
              </a:rPr>
              <a:t>Synchronous and asynchronous remote replication</a:t>
            </a:r>
          </a:p>
          <a:p>
            <a:pPr marL="457200" marR="0" lvl="1" indent="-223838" algn="l" defTabSz="914400" rtl="0" eaLnBrk="1" fontAlgn="base" latinLnBrk="0" hangingPunct="1">
              <a:lnSpc>
                <a:spcPct val="100000"/>
              </a:lnSpc>
              <a:spcBef>
                <a:spcPct val="20000"/>
              </a:spcBef>
              <a:spcAft>
                <a:spcPct val="0"/>
              </a:spcAft>
              <a:buClr>
                <a:srgbClr val="92D050"/>
              </a:buClr>
              <a:buSzPct val="110000"/>
              <a:buFont typeface="Arial" pitchFamily="34" charset="0"/>
              <a:buChar char="•"/>
              <a:tabLst/>
              <a:defRPr/>
            </a:pPr>
            <a:r>
              <a:rPr kumimoji="0" lang="en-US" sz="2000" b="0" i="0" u="none" strike="noStrike" kern="1200" cap="none" spc="0" normalizeH="0" baseline="0" noProof="0" dirty="0">
                <a:ln>
                  <a:noFill/>
                </a:ln>
                <a:solidFill>
                  <a:srgbClr val="5F5F5F">
                    <a:lumMod val="75000"/>
                  </a:srgbClr>
                </a:solidFill>
                <a:effectLst/>
                <a:uLnTx/>
                <a:uFillTx/>
                <a:latin typeface="Calibri" pitchFamily="34" charset="0"/>
                <a:ea typeface="+mn-ea"/>
                <a:cs typeface="Arial"/>
              </a:rPr>
              <a:t>Bandwidth requirement for synchronous and asynchronous remote replication</a:t>
            </a:r>
          </a:p>
          <a:p>
            <a:pPr marL="457200" marR="0" lvl="1" indent="-223838" algn="l" defTabSz="914400" rtl="0" eaLnBrk="1" fontAlgn="base" latinLnBrk="0" hangingPunct="1">
              <a:lnSpc>
                <a:spcPct val="100000"/>
              </a:lnSpc>
              <a:spcBef>
                <a:spcPct val="20000"/>
              </a:spcBef>
              <a:spcAft>
                <a:spcPct val="0"/>
              </a:spcAft>
              <a:buClr>
                <a:srgbClr val="92D050"/>
              </a:buClr>
              <a:buSzPct val="110000"/>
              <a:buFont typeface="Arial" pitchFamily="34" charset="0"/>
              <a:buChar char="•"/>
              <a:tabLst/>
              <a:defRPr/>
            </a:pPr>
            <a:endParaRPr kumimoji="0" lang="en-US" sz="2000" b="0" i="0" u="none" strike="noStrike" kern="1200" cap="none" spc="0" normalizeH="0" baseline="0" noProof="0" dirty="0">
              <a:ln>
                <a:noFill/>
              </a:ln>
              <a:solidFill>
                <a:srgbClr val="5F5F5F">
                  <a:lumMod val="75000"/>
                </a:srgbClr>
              </a:solidFill>
              <a:effectLst/>
              <a:uLnTx/>
              <a:uFillTx/>
              <a:latin typeface="Calibri" pitchFamily="34" charset="0"/>
              <a:ea typeface="+mn-ea"/>
              <a:cs typeface="Arial"/>
            </a:endParaRPr>
          </a:p>
          <a:p>
            <a:pPr marL="457200" marR="0" lvl="1" indent="-223838" algn="l" defTabSz="914400" rtl="0" eaLnBrk="1" fontAlgn="base" latinLnBrk="0" hangingPunct="1">
              <a:lnSpc>
                <a:spcPct val="100000"/>
              </a:lnSpc>
              <a:spcBef>
                <a:spcPct val="20000"/>
              </a:spcBef>
              <a:spcAft>
                <a:spcPct val="0"/>
              </a:spcAft>
              <a:buClr>
                <a:srgbClr val="92D050"/>
              </a:buClr>
              <a:buSzPct val="110000"/>
              <a:buFontTx/>
              <a:buNone/>
              <a:tabLst/>
              <a:defRPr/>
            </a:pPr>
            <a:endParaRPr kumimoji="0" lang="en-US" sz="2000" b="0" i="0" u="none" strike="noStrike" kern="1200" cap="none" spc="0" normalizeH="0" baseline="0" noProof="0" dirty="0">
              <a:ln>
                <a:noFill/>
              </a:ln>
              <a:solidFill>
                <a:srgbClr val="5F5F5F">
                  <a:lumMod val="75000"/>
                </a:srgbClr>
              </a:solidFill>
              <a:effectLst/>
              <a:uLnTx/>
              <a:uFillTx/>
              <a:latin typeface="Calibri" pitchFamily="34" charset="0"/>
              <a:ea typeface="+mn-ea"/>
              <a:cs typeface="Arial"/>
            </a:endParaRPr>
          </a:p>
        </p:txBody>
      </p:sp>
      <p:sp>
        <p:nvSpPr>
          <p:cNvPr id="7" name="Slide Number Placeholder 6"/>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10" name="Footer Placeholder 9"/>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What is Remote Replication?</a:t>
            </a:r>
          </a:p>
        </p:txBody>
      </p:sp>
      <p:sp>
        <p:nvSpPr>
          <p:cNvPr id="8" name="Content Placeholder 7"/>
          <p:cNvSpPr>
            <a:spLocks noGrp="1"/>
          </p:cNvSpPr>
          <p:nvPr>
            <p:ph idx="1"/>
          </p:nvPr>
        </p:nvSpPr>
        <p:spPr/>
        <p:txBody>
          <a:bodyPr/>
          <a:lstStyle/>
          <a:p>
            <a:r>
              <a:rPr lang="en-US" dirty="0"/>
              <a:t>Process of creating replicas at remote sites </a:t>
            </a:r>
          </a:p>
          <a:p>
            <a:pPr lvl="1"/>
            <a:r>
              <a:rPr lang="en-US" dirty="0"/>
              <a:t>Addresses risk associated with regionally driven outages </a:t>
            </a:r>
          </a:p>
          <a:p>
            <a:r>
              <a:rPr lang="en-US" dirty="0"/>
              <a:t>Modes of remote replication </a:t>
            </a:r>
          </a:p>
          <a:p>
            <a:pPr lvl="1"/>
            <a:r>
              <a:rPr lang="en-US" dirty="0"/>
              <a:t>Synchronous </a:t>
            </a:r>
          </a:p>
          <a:p>
            <a:pPr lvl="1"/>
            <a:r>
              <a:rPr lang="en-US" dirty="0"/>
              <a:t>Asynchronous </a:t>
            </a:r>
          </a:p>
          <a:p>
            <a:pPr>
              <a:buNone/>
            </a:pPr>
            <a:endParaRPr lang="en-US" dirty="0"/>
          </a:p>
          <a:p>
            <a:endParaRPr lang="en-US" dirty="0"/>
          </a:p>
          <a:p>
            <a:endParaRPr lang="en-US" dirty="0"/>
          </a:p>
        </p:txBody>
      </p:sp>
      <p:sp>
        <p:nvSpPr>
          <p:cNvPr id="2" name="Slide Number Placeholder 1"/>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6" name="Group 5"/>
          <p:cNvGrpSpPr/>
          <p:nvPr/>
        </p:nvGrpSpPr>
        <p:grpSpPr>
          <a:xfrm>
            <a:off x="1447800" y="3581400"/>
            <a:ext cx="6298198" cy="1923620"/>
            <a:chOff x="1539977" y="4019980"/>
            <a:chExt cx="6298198" cy="1923620"/>
          </a:xfrm>
        </p:grpSpPr>
        <p:sp>
          <p:nvSpPr>
            <p:cNvPr id="9" name="Text Box 9"/>
            <p:cNvSpPr txBox="1">
              <a:spLocks noChangeArrowheads="1"/>
            </p:cNvSpPr>
            <p:nvPr/>
          </p:nvSpPr>
          <p:spPr bwMode="auto">
            <a:xfrm>
              <a:off x="1539977" y="5728156"/>
              <a:ext cx="2027414" cy="215444"/>
            </a:xfrm>
            <a:prstGeom prst="rect">
              <a:avLst/>
            </a:prstGeom>
            <a:noFill/>
            <a:ln w="25400" algn="ctr">
              <a:noFill/>
              <a:miter lim="800000"/>
              <a:headEnd/>
              <a:tailEnd type="none" w="lg" len="me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 – Source site</a:t>
              </a:r>
            </a:p>
          </p:txBody>
        </p:sp>
        <p:sp>
          <p:nvSpPr>
            <p:cNvPr id="10" name="Text Box 9"/>
            <p:cNvSpPr txBox="1">
              <a:spLocks noChangeArrowheads="1"/>
            </p:cNvSpPr>
            <p:nvPr/>
          </p:nvSpPr>
          <p:spPr bwMode="auto">
            <a:xfrm>
              <a:off x="5774533" y="5715630"/>
              <a:ext cx="2063642" cy="215444"/>
            </a:xfrm>
            <a:prstGeom prst="rect">
              <a:avLst/>
            </a:prstGeom>
            <a:noFill/>
            <a:ln w="25400" algn="ctr">
              <a:noFill/>
              <a:miter lim="800000"/>
              <a:headEnd/>
              <a:tailEnd type="none" w="lg" len="med"/>
            </a:ln>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 – Remote site</a:t>
              </a:r>
            </a:p>
          </p:txBody>
        </p:sp>
        <p:sp>
          <p:nvSpPr>
            <p:cNvPr id="11" name="AutoShape 48"/>
            <p:cNvSpPr>
              <a:spLocks noChangeArrowheads="1"/>
            </p:cNvSpPr>
            <p:nvPr/>
          </p:nvSpPr>
          <p:spPr bwMode="gray">
            <a:xfrm>
              <a:off x="3497437" y="4570707"/>
              <a:ext cx="2344911" cy="592273"/>
            </a:xfrm>
            <a:prstGeom prst="rightArrow">
              <a:avLst>
                <a:gd name="adj1" fmla="val 57981"/>
                <a:gd name="adj2" fmla="val 57464"/>
              </a:avLst>
            </a:prstGeom>
            <a:gradFill rotWithShape="1">
              <a:gsLst>
                <a:gs pos="0">
                  <a:srgbClr val="777777"/>
                </a:gs>
                <a:gs pos="50000">
                  <a:srgbClr val="777777">
                    <a:gamma/>
                    <a:shade val="36471"/>
                    <a:invGamma/>
                  </a:srgbClr>
                </a:gs>
                <a:gs pos="100000">
                  <a:srgbClr val="777777"/>
                </a:gs>
              </a:gsLst>
              <a:lin ang="0" scaled="1"/>
            </a:gradFill>
            <a:ln w="12700" algn="ctr">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Text Box 49"/>
            <p:cNvSpPr txBox="1">
              <a:spLocks noChangeArrowheads="1"/>
            </p:cNvSpPr>
            <p:nvPr/>
          </p:nvSpPr>
          <p:spPr bwMode="gray">
            <a:xfrm>
              <a:off x="3934830" y="4772058"/>
              <a:ext cx="975011" cy="215444"/>
            </a:xfrm>
            <a:prstGeom prst="rect">
              <a:avLst/>
            </a:prstGeom>
            <a:noFill/>
            <a:ln w="12700" algn="ctr">
              <a:noFill/>
              <a:miter lim="800000"/>
              <a:headEnd/>
              <a:tailEnd type="none" w="lg" len="lg"/>
            </a:ln>
            <a:effectLst>
              <a:outerShdw dist="17961" dir="2700000" algn="ctr" rotWithShape="0">
                <a:srgbClr val="000000"/>
              </a:outerShdw>
            </a:effectLst>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REPLICATION</a:t>
              </a:r>
            </a:p>
          </p:txBody>
        </p:sp>
        <p:pic>
          <p:nvPicPr>
            <p:cNvPr id="13" name="Picture 12" descr="C:\Documents and Settings\sridhs\Desktop\ISM Book L3\colored Icons\Storage Array.png"/>
            <p:cNvPicPr>
              <a:picLocks noChangeAspect="1" noChangeArrowheads="1"/>
            </p:cNvPicPr>
            <p:nvPr/>
          </p:nvPicPr>
          <p:blipFill>
            <a:blip r:embed="rId3" cstate="print"/>
            <a:srcRect/>
            <a:stretch>
              <a:fillRect/>
            </a:stretch>
          </p:blipFill>
          <p:spPr bwMode="auto">
            <a:xfrm>
              <a:off x="2057400" y="4019980"/>
              <a:ext cx="969093" cy="1645920"/>
            </a:xfrm>
            <a:prstGeom prst="rect">
              <a:avLst/>
            </a:prstGeom>
            <a:noFill/>
          </p:spPr>
        </p:pic>
        <p:pic>
          <p:nvPicPr>
            <p:cNvPr id="14" name="Picture 13" descr="C:\Documents and Settings\sridhs\Desktop\ISM Book L3\colored Icons\Storage Array.png"/>
            <p:cNvPicPr>
              <a:picLocks noChangeAspect="1" noChangeArrowheads="1"/>
            </p:cNvPicPr>
            <p:nvPr/>
          </p:nvPicPr>
          <p:blipFill>
            <a:blip r:embed="rId3" cstate="print"/>
            <a:srcRect/>
            <a:stretch>
              <a:fillRect/>
            </a:stretch>
          </p:blipFill>
          <p:spPr bwMode="auto">
            <a:xfrm>
              <a:off x="6269907" y="4019980"/>
              <a:ext cx="969093" cy="1645920"/>
            </a:xfrm>
            <a:prstGeom prst="rect">
              <a:avLst/>
            </a:prstGeom>
            <a:noFill/>
          </p:spPr>
        </p:pic>
      </p:grpSp>
      <p:sp>
        <p:nvSpPr>
          <p:cNvPr id="15" name="Footer Placeholder 14"/>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Replication – 1 </a:t>
            </a:r>
          </a:p>
        </p:txBody>
      </p:sp>
      <p:sp>
        <p:nvSpPr>
          <p:cNvPr id="3" name="Content Placeholder 2"/>
          <p:cNvSpPr>
            <a:spLocks noGrp="1"/>
          </p:cNvSpPr>
          <p:nvPr>
            <p:ph idx="1"/>
          </p:nvPr>
        </p:nvSpPr>
        <p:spPr>
          <a:xfrm>
            <a:off x="304800" y="914400"/>
            <a:ext cx="5029200" cy="5181600"/>
          </a:xfrm>
        </p:spPr>
        <p:txBody>
          <a:bodyPr/>
          <a:lstStyle/>
          <a:p>
            <a:r>
              <a:rPr lang="en-US" dirty="0"/>
              <a:t>A write is committed to both source and remote replica before it is acknowledged to the host</a:t>
            </a:r>
            <a:endParaRPr lang="en-US" sz="2200" dirty="0"/>
          </a:p>
          <a:p>
            <a:r>
              <a:rPr lang="en-US" dirty="0"/>
              <a:t>Ensures source and replica have identical data at all times</a:t>
            </a:r>
          </a:p>
          <a:p>
            <a:pPr lvl="1"/>
            <a:r>
              <a:rPr lang="en-US" dirty="0"/>
              <a:t>Maintains write ordering</a:t>
            </a:r>
          </a:p>
          <a:p>
            <a:r>
              <a:rPr lang="en-US" dirty="0"/>
              <a:t>Provides near-zero RPO</a:t>
            </a:r>
          </a:p>
          <a:p>
            <a:endParaRPr lang="en-US" dirty="0"/>
          </a:p>
          <a:p>
            <a:endParaRPr lang="en-US" dirty="0"/>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6" name="Footer Placeholder 5"/>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7" name="Group 34"/>
          <p:cNvGrpSpPr>
            <a:grpSpLocks/>
          </p:cNvGrpSpPr>
          <p:nvPr/>
        </p:nvGrpSpPr>
        <p:grpSpPr bwMode="auto">
          <a:xfrm>
            <a:off x="6704368" y="1570038"/>
            <a:ext cx="919163" cy="300038"/>
            <a:chOff x="4180" y="1514"/>
            <a:chExt cx="579" cy="189"/>
          </a:xfrm>
        </p:grpSpPr>
        <p:sp>
          <p:nvSpPr>
            <p:cNvPr id="8" name="Line 15"/>
            <p:cNvSpPr>
              <a:spLocks noChangeShapeType="1"/>
            </p:cNvSpPr>
            <p:nvPr/>
          </p:nvSpPr>
          <p:spPr bwMode="auto">
            <a:xfrm>
              <a:off x="4180" y="1703"/>
              <a:ext cx="579" cy="0"/>
            </a:xfrm>
            <a:prstGeom prst="line">
              <a:avLst/>
            </a:prstGeom>
            <a:noFill/>
            <a:ln w="38100">
              <a:solidFill>
                <a:schemeClr val="tx1"/>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Text Box 19"/>
            <p:cNvSpPr txBox="1">
              <a:spLocks noChangeArrowheads="1"/>
            </p:cNvSpPr>
            <p:nvPr/>
          </p:nvSpPr>
          <p:spPr bwMode="auto">
            <a:xfrm>
              <a:off x="4371" y="1514"/>
              <a:ext cx="116"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1</a:t>
              </a:r>
            </a:p>
          </p:txBody>
        </p:sp>
      </p:grpSp>
      <p:grpSp>
        <p:nvGrpSpPr>
          <p:cNvPr id="10" name="Group 35"/>
          <p:cNvGrpSpPr>
            <a:grpSpLocks/>
          </p:cNvGrpSpPr>
          <p:nvPr/>
        </p:nvGrpSpPr>
        <p:grpSpPr bwMode="auto">
          <a:xfrm>
            <a:off x="7643820" y="2439988"/>
            <a:ext cx="280988" cy="906463"/>
            <a:chOff x="4802" y="2062"/>
            <a:chExt cx="177" cy="571"/>
          </a:xfrm>
        </p:grpSpPr>
        <p:sp>
          <p:nvSpPr>
            <p:cNvPr id="11" name="Line 18"/>
            <p:cNvSpPr>
              <a:spLocks noChangeShapeType="1"/>
            </p:cNvSpPr>
            <p:nvPr/>
          </p:nvSpPr>
          <p:spPr bwMode="auto">
            <a:xfrm>
              <a:off x="4979" y="2062"/>
              <a:ext cx="0" cy="571"/>
            </a:xfrm>
            <a:prstGeom prst="line">
              <a:avLst/>
            </a:prstGeom>
            <a:noFill/>
            <a:ln w="38100">
              <a:solidFill>
                <a:schemeClr val="accent2"/>
              </a:solidFill>
              <a:round/>
              <a:headEnd type="triangle" w="med" len="med"/>
              <a:tailEnd type="non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Text Box 20"/>
            <p:cNvSpPr txBox="1">
              <a:spLocks noChangeArrowheads="1"/>
            </p:cNvSpPr>
            <p:nvPr/>
          </p:nvSpPr>
          <p:spPr bwMode="auto">
            <a:xfrm>
              <a:off x="4802" y="2267"/>
              <a:ext cx="115"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3</a:t>
              </a:r>
            </a:p>
          </p:txBody>
        </p:sp>
      </p:grpSp>
      <p:grpSp>
        <p:nvGrpSpPr>
          <p:cNvPr id="13" name="Group 36"/>
          <p:cNvGrpSpPr>
            <a:grpSpLocks/>
          </p:cNvGrpSpPr>
          <p:nvPr/>
        </p:nvGrpSpPr>
        <p:grpSpPr bwMode="auto">
          <a:xfrm>
            <a:off x="6672096" y="2120901"/>
            <a:ext cx="919163" cy="373062"/>
            <a:chOff x="4182" y="1861"/>
            <a:chExt cx="579" cy="235"/>
          </a:xfrm>
        </p:grpSpPr>
        <p:sp>
          <p:nvSpPr>
            <p:cNvPr id="14" name="Line 16"/>
            <p:cNvSpPr>
              <a:spLocks noChangeShapeType="1"/>
            </p:cNvSpPr>
            <p:nvPr/>
          </p:nvSpPr>
          <p:spPr bwMode="auto">
            <a:xfrm>
              <a:off x="4182" y="1861"/>
              <a:ext cx="579" cy="0"/>
            </a:xfrm>
            <a:prstGeom prst="line">
              <a:avLst/>
            </a:prstGeom>
            <a:noFill/>
            <a:ln w="38100">
              <a:solidFill>
                <a:schemeClr val="accent2"/>
              </a:solidFill>
              <a:round/>
              <a:headEnd type="triangle" w="med" len="med"/>
              <a:tailEnd type="non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Text Box 21"/>
            <p:cNvSpPr txBox="1">
              <a:spLocks noChangeArrowheads="1"/>
            </p:cNvSpPr>
            <p:nvPr/>
          </p:nvSpPr>
          <p:spPr bwMode="auto">
            <a:xfrm>
              <a:off x="4386" y="1923"/>
              <a:ext cx="115"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4</a:t>
              </a:r>
            </a:p>
          </p:txBody>
        </p:sp>
      </p:grpSp>
      <p:grpSp>
        <p:nvGrpSpPr>
          <p:cNvPr id="16" name="Group 33"/>
          <p:cNvGrpSpPr>
            <a:grpSpLocks/>
          </p:cNvGrpSpPr>
          <p:nvPr/>
        </p:nvGrpSpPr>
        <p:grpSpPr bwMode="auto">
          <a:xfrm>
            <a:off x="8199445" y="2433638"/>
            <a:ext cx="246063" cy="906463"/>
            <a:chOff x="5152" y="2058"/>
            <a:chExt cx="155" cy="571"/>
          </a:xfrm>
        </p:grpSpPr>
        <p:sp>
          <p:nvSpPr>
            <p:cNvPr id="17" name="Line 17"/>
            <p:cNvSpPr>
              <a:spLocks noChangeShapeType="1"/>
            </p:cNvSpPr>
            <p:nvPr/>
          </p:nvSpPr>
          <p:spPr bwMode="auto">
            <a:xfrm>
              <a:off x="5152" y="2058"/>
              <a:ext cx="0" cy="571"/>
            </a:xfrm>
            <a:prstGeom prst="line">
              <a:avLst/>
            </a:prstGeom>
            <a:noFill/>
            <a:ln w="38100">
              <a:solidFill>
                <a:schemeClr val="tx1"/>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Text Box 22"/>
            <p:cNvSpPr txBox="1">
              <a:spLocks noChangeArrowheads="1"/>
            </p:cNvSpPr>
            <p:nvPr/>
          </p:nvSpPr>
          <p:spPr bwMode="auto">
            <a:xfrm>
              <a:off x="5192" y="2265"/>
              <a:ext cx="115"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2</a:t>
              </a:r>
            </a:p>
          </p:txBody>
        </p:sp>
      </p:grpSp>
      <p:grpSp>
        <p:nvGrpSpPr>
          <p:cNvPr id="30" name="Group 29"/>
          <p:cNvGrpSpPr/>
          <p:nvPr/>
        </p:nvGrpSpPr>
        <p:grpSpPr>
          <a:xfrm>
            <a:off x="5943600" y="4614863"/>
            <a:ext cx="1538288" cy="566737"/>
            <a:chOff x="5943600" y="4462463"/>
            <a:chExt cx="1538288" cy="566737"/>
          </a:xfrm>
        </p:grpSpPr>
        <p:sp>
          <p:nvSpPr>
            <p:cNvPr id="19" name="Line 23"/>
            <p:cNvSpPr>
              <a:spLocks noChangeShapeType="1"/>
            </p:cNvSpPr>
            <p:nvPr/>
          </p:nvSpPr>
          <p:spPr bwMode="auto">
            <a:xfrm>
              <a:off x="5943600" y="4662488"/>
              <a:ext cx="919163" cy="0"/>
            </a:xfrm>
            <a:prstGeom prst="line">
              <a:avLst/>
            </a:prstGeom>
            <a:noFill/>
            <a:ln w="38100">
              <a:solidFill>
                <a:schemeClr val="tx1"/>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 name="Line 24"/>
            <p:cNvSpPr>
              <a:spLocks noChangeShapeType="1"/>
            </p:cNvSpPr>
            <p:nvPr/>
          </p:nvSpPr>
          <p:spPr bwMode="auto">
            <a:xfrm>
              <a:off x="5961063" y="5029200"/>
              <a:ext cx="919162" cy="0"/>
            </a:xfrm>
            <a:prstGeom prst="line">
              <a:avLst/>
            </a:prstGeom>
            <a:noFill/>
            <a:ln w="38100">
              <a:solidFill>
                <a:schemeClr val="accent2"/>
              </a:solidFill>
              <a:round/>
              <a:headEnd type="triangle" w="med" len="med"/>
              <a:tailEnd type="non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1" name="Text Box 25"/>
            <p:cNvSpPr txBox="1">
              <a:spLocks noChangeArrowheads="1"/>
            </p:cNvSpPr>
            <p:nvPr/>
          </p:nvSpPr>
          <p:spPr bwMode="auto">
            <a:xfrm>
              <a:off x="5965825" y="4462463"/>
              <a:ext cx="795338" cy="152400"/>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 Write</a:t>
              </a:r>
            </a:p>
          </p:txBody>
        </p:sp>
        <p:sp>
          <p:nvSpPr>
            <p:cNvPr id="22" name="Text Box 26"/>
            <p:cNvSpPr txBox="1">
              <a:spLocks noChangeArrowheads="1"/>
            </p:cNvSpPr>
            <p:nvPr/>
          </p:nvSpPr>
          <p:spPr bwMode="auto">
            <a:xfrm>
              <a:off x="5957888" y="4779963"/>
              <a:ext cx="1524000" cy="152400"/>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 Acknowledgment</a:t>
              </a:r>
            </a:p>
          </p:txBody>
        </p:sp>
      </p:grpSp>
      <p:sp>
        <p:nvSpPr>
          <p:cNvPr id="23" name="Text Box 27"/>
          <p:cNvSpPr txBox="1">
            <a:spLocks noChangeArrowheads="1"/>
          </p:cNvSpPr>
          <p:nvPr/>
        </p:nvSpPr>
        <p:spPr bwMode="auto">
          <a:xfrm>
            <a:off x="5867400" y="2673208"/>
            <a:ext cx="765175"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Host</a:t>
            </a:r>
          </a:p>
        </p:txBody>
      </p:sp>
      <p:sp>
        <p:nvSpPr>
          <p:cNvPr id="24" name="Text Box 28"/>
          <p:cNvSpPr txBox="1">
            <a:spLocks noChangeArrowheads="1"/>
          </p:cNvSpPr>
          <p:nvPr/>
        </p:nvSpPr>
        <p:spPr bwMode="auto">
          <a:xfrm>
            <a:off x="7496183" y="4119309"/>
            <a:ext cx="1251876" cy="430887"/>
          </a:xfrm>
          <a:prstGeom prst="rect">
            <a:avLst/>
          </a:prstGeom>
          <a:noFill/>
          <a:ln w="25400" algn="ctr">
            <a:noFill/>
            <a:miter lim="800000"/>
            <a:headEnd/>
            <a:tailEnd type="none" w="lg" len="med"/>
          </a:ln>
          <a:effectLst/>
        </p:spPr>
        <p:txBody>
          <a:bodyPr wrap="square"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Target  at </a:t>
            </a:r>
          </a:p>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Site</a:t>
            </a:r>
          </a:p>
        </p:txBody>
      </p:sp>
      <p:sp>
        <p:nvSpPr>
          <p:cNvPr id="25" name="Text Box 29"/>
          <p:cNvSpPr txBox="1">
            <a:spLocks noChangeArrowheads="1"/>
          </p:cNvSpPr>
          <p:nvPr/>
        </p:nvSpPr>
        <p:spPr bwMode="auto">
          <a:xfrm>
            <a:off x="7816708" y="1372203"/>
            <a:ext cx="525463"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a:t>
            </a:r>
          </a:p>
        </p:txBody>
      </p:sp>
      <p:pic>
        <p:nvPicPr>
          <p:cNvPr id="26"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5906251" y="1108076"/>
            <a:ext cx="675532" cy="1561476"/>
          </a:xfrm>
          <a:prstGeom prst="rect">
            <a:avLst/>
          </a:prstGeom>
          <a:noFill/>
        </p:spPr>
      </p:pic>
      <p:pic>
        <p:nvPicPr>
          <p:cNvPr id="27"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7789435" y="1641476"/>
            <a:ext cx="533400" cy="533400"/>
          </a:xfrm>
          <a:prstGeom prst="rect">
            <a:avLst/>
          </a:prstGeom>
          <a:noFill/>
        </p:spPr>
      </p:pic>
      <p:pic>
        <p:nvPicPr>
          <p:cNvPr id="28"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7810219" y="3555712"/>
            <a:ext cx="533400" cy="533400"/>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Replication – 2 </a:t>
            </a:r>
          </a:p>
        </p:txBody>
      </p:sp>
      <p:sp>
        <p:nvSpPr>
          <p:cNvPr id="3" name="Content Placeholder 2"/>
          <p:cNvSpPr>
            <a:spLocks noGrp="1"/>
          </p:cNvSpPr>
          <p:nvPr>
            <p:ph idx="1"/>
          </p:nvPr>
        </p:nvSpPr>
        <p:spPr>
          <a:xfrm>
            <a:off x="304800" y="914400"/>
            <a:ext cx="4419600" cy="5181600"/>
          </a:xfrm>
        </p:spPr>
        <p:txBody>
          <a:bodyPr/>
          <a:lstStyle/>
          <a:p>
            <a:pPr marL="231775" lvl="1" indent="-231775">
              <a:buClr>
                <a:srgbClr val="92D050"/>
              </a:buClr>
              <a:buSzPct val="120000"/>
              <a:buFont typeface="Arial" charset="0"/>
              <a:buChar char="•"/>
            </a:pPr>
            <a:r>
              <a:rPr lang="en-US" sz="2400" dirty="0"/>
              <a:t>Response time depends on bandwidth and distance</a:t>
            </a:r>
          </a:p>
          <a:p>
            <a:r>
              <a:rPr lang="en-US" dirty="0"/>
              <a:t>Requires bandwidth more than the maximum write workload</a:t>
            </a:r>
          </a:p>
          <a:p>
            <a:r>
              <a:rPr lang="en-US" dirty="0"/>
              <a:t>Typically deployed for distance less than 200 km (125 miles) between two sites</a:t>
            </a:r>
          </a:p>
          <a:p>
            <a:endParaRPr lang="en-US" dirty="0"/>
          </a:p>
          <a:p>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20" name="Group 19"/>
          <p:cNvGrpSpPr/>
          <p:nvPr/>
        </p:nvGrpSpPr>
        <p:grpSpPr>
          <a:xfrm>
            <a:off x="4876800" y="1358900"/>
            <a:ext cx="3657600" cy="3441700"/>
            <a:chOff x="5334000" y="977900"/>
            <a:chExt cx="3657600" cy="3441700"/>
          </a:xfrm>
        </p:grpSpPr>
        <p:sp>
          <p:nvSpPr>
            <p:cNvPr id="7" name="Line 7"/>
            <p:cNvSpPr>
              <a:spLocks noChangeShapeType="1"/>
            </p:cNvSpPr>
            <p:nvPr/>
          </p:nvSpPr>
          <p:spPr bwMode="auto">
            <a:xfrm flipV="1">
              <a:off x="6026150" y="1614488"/>
              <a:ext cx="0" cy="2243137"/>
            </a:xfrm>
            <a:prstGeom prst="line">
              <a:avLst/>
            </a:prstGeom>
            <a:noFill/>
            <a:ln w="12700">
              <a:solidFill>
                <a:srgbClr val="000000"/>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Line 8"/>
            <p:cNvSpPr>
              <a:spLocks noChangeShapeType="1"/>
            </p:cNvSpPr>
            <p:nvPr/>
          </p:nvSpPr>
          <p:spPr bwMode="auto">
            <a:xfrm>
              <a:off x="6026150" y="3857625"/>
              <a:ext cx="2674938" cy="0"/>
            </a:xfrm>
            <a:prstGeom prst="line">
              <a:avLst/>
            </a:prstGeom>
            <a:noFill/>
            <a:ln w="12700">
              <a:solidFill>
                <a:srgbClr val="000000"/>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Freeform 10"/>
            <p:cNvSpPr>
              <a:spLocks/>
            </p:cNvSpPr>
            <p:nvPr/>
          </p:nvSpPr>
          <p:spPr bwMode="auto">
            <a:xfrm>
              <a:off x="6026150" y="1676400"/>
              <a:ext cx="2393950" cy="1708150"/>
            </a:xfrm>
            <a:custGeom>
              <a:avLst/>
              <a:gdLst/>
              <a:ahLst/>
              <a:cxnLst>
                <a:cxn ang="0">
                  <a:pos x="0" y="1200"/>
                </a:cxn>
                <a:cxn ang="0">
                  <a:pos x="360" y="840"/>
                </a:cxn>
                <a:cxn ang="0">
                  <a:pos x="720" y="120"/>
                </a:cxn>
                <a:cxn ang="0">
                  <a:pos x="900" y="120"/>
                </a:cxn>
                <a:cxn ang="0">
                  <a:pos x="1080" y="660"/>
                </a:cxn>
                <a:cxn ang="0">
                  <a:pos x="1260" y="1200"/>
                </a:cxn>
                <a:cxn ang="0">
                  <a:pos x="1440" y="1380"/>
                </a:cxn>
                <a:cxn ang="0">
                  <a:pos x="1620" y="1380"/>
                </a:cxn>
                <a:cxn ang="0">
                  <a:pos x="1800" y="1020"/>
                </a:cxn>
                <a:cxn ang="0">
                  <a:pos x="1980" y="660"/>
                </a:cxn>
                <a:cxn ang="0">
                  <a:pos x="2160" y="840"/>
                </a:cxn>
                <a:cxn ang="0">
                  <a:pos x="2340" y="1200"/>
                </a:cxn>
                <a:cxn ang="0">
                  <a:pos x="2520" y="1380"/>
                </a:cxn>
                <a:cxn ang="0">
                  <a:pos x="2880" y="1200"/>
                </a:cxn>
                <a:cxn ang="0">
                  <a:pos x="3060" y="1020"/>
                </a:cxn>
              </a:cxnLst>
              <a:rect l="0" t="0" r="r" b="b"/>
              <a:pathLst>
                <a:path w="3060" h="1440">
                  <a:moveTo>
                    <a:pt x="0" y="1200"/>
                  </a:moveTo>
                  <a:cubicBezTo>
                    <a:pt x="120" y="1110"/>
                    <a:pt x="240" y="1020"/>
                    <a:pt x="360" y="840"/>
                  </a:cubicBezTo>
                  <a:cubicBezTo>
                    <a:pt x="480" y="660"/>
                    <a:pt x="630" y="240"/>
                    <a:pt x="720" y="120"/>
                  </a:cubicBezTo>
                  <a:cubicBezTo>
                    <a:pt x="810" y="0"/>
                    <a:pt x="840" y="30"/>
                    <a:pt x="900" y="120"/>
                  </a:cubicBezTo>
                  <a:cubicBezTo>
                    <a:pt x="960" y="210"/>
                    <a:pt x="1020" y="480"/>
                    <a:pt x="1080" y="660"/>
                  </a:cubicBezTo>
                  <a:cubicBezTo>
                    <a:pt x="1140" y="840"/>
                    <a:pt x="1200" y="1080"/>
                    <a:pt x="1260" y="1200"/>
                  </a:cubicBezTo>
                  <a:cubicBezTo>
                    <a:pt x="1320" y="1320"/>
                    <a:pt x="1380" y="1350"/>
                    <a:pt x="1440" y="1380"/>
                  </a:cubicBezTo>
                  <a:cubicBezTo>
                    <a:pt x="1500" y="1410"/>
                    <a:pt x="1560" y="1440"/>
                    <a:pt x="1620" y="1380"/>
                  </a:cubicBezTo>
                  <a:cubicBezTo>
                    <a:pt x="1680" y="1320"/>
                    <a:pt x="1740" y="1140"/>
                    <a:pt x="1800" y="1020"/>
                  </a:cubicBezTo>
                  <a:cubicBezTo>
                    <a:pt x="1860" y="900"/>
                    <a:pt x="1920" y="690"/>
                    <a:pt x="1980" y="660"/>
                  </a:cubicBezTo>
                  <a:cubicBezTo>
                    <a:pt x="2040" y="630"/>
                    <a:pt x="2100" y="750"/>
                    <a:pt x="2160" y="840"/>
                  </a:cubicBezTo>
                  <a:cubicBezTo>
                    <a:pt x="2220" y="930"/>
                    <a:pt x="2280" y="1110"/>
                    <a:pt x="2340" y="1200"/>
                  </a:cubicBezTo>
                  <a:cubicBezTo>
                    <a:pt x="2400" y="1290"/>
                    <a:pt x="2430" y="1380"/>
                    <a:pt x="2520" y="1380"/>
                  </a:cubicBezTo>
                  <a:cubicBezTo>
                    <a:pt x="2610" y="1380"/>
                    <a:pt x="2790" y="1260"/>
                    <a:pt x="2880" y="1200"/>
                  </a:cubicBezTo>
                  <a:cubicBezTo>
                    <a:pt x="2970" y="1140"/>
                    <a:pt x="3030" y="1050"/>
                    <a:pt x="3060" y="1020"/>
                  </a:cubicBezTo>
                </a:path>
              </a:pathLst>
            </a:custGeom>
            <a:noFill/>
            <a:ln w="1905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Text Box 11"/>
            <p:cNvSpPr txBox="1">
              <a:spLocks noChangeArrowheads="1"/>
            </p:cNvSpPr>
            <p:nvPr/>
          </p:nvSpPr>
          <p:spPr bwMode="auto">
            <a:xfrm>
              <a:off x="7983537" y="3857625"/>
              <a:ext cx="703263" cy="561975"/>
            </a:xfrm>
            <a:prstGeom prst="rect">
              <a:avLst/>
            </a:prstGeom>
            <a:noFill/>
            <a:ln w="9525">
              <a:no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Time</a:t>
              </a:r>
            </a:p>
          </p:txBody>
        </p:sp>
        <p:sp>
          <p:nvSpPr>
            <p:cNvPr id="11" name="Text Box 12"/>
            <p:cNvSpPr txBox="1">
              <a:spLocks noChangeArrowheads="1"/>
            </p:cNvSpPr>
            <p:nvPr/>
          </p:nvSpPr>
          <p:spPr bwMode="auto">
            <a:xfrm>
              <a:off x="5334000" y="2457450"/>
              <a:ext cx="750887" cy="530225"/>
            </a:xfrm>
            <a:prstGeom prst="rect">
              <a:avLst/>
            </a:prstGeom>
            <a:noFill/>
            <a:ln w="9525">
              <a:no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Writes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MB/s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2" name="Line 18"/>
            <p:cNvSpPr>
              <a:spLocks noChangeShapeType="1"/>
            </p:cNvSpPr>
            <p:nvPr/>
          </p:nvSpPr>
          <p:spPr bwMode="auto">
            <a:xfrm>
              <a:off x="6086475" y="1687513"/>
              <a:ext cx="2393950" cy="0"/>
            </a:xfrm>
            <a:prstGeom prst="line">
              <a:avLst/>
            </a:prstGeom>
            <a:noFill/>
            <a:ln w="19050">
              <a:solidFill>
                <a:srgbClr val="FF0000"/>
              </a:solidFill>
              <a:prstDash val="dash"/>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nvGrpSpPr>
            <p:cNvPr id="13" name="Group 24"/>
            <p:cNvGrpSpPr>
              <a:grpSpLocks/>
            </p:cNvGrpSpPr>
            <p:nvPr/>
          </p:nvGrpSpPr>
          <p:grpSpPr bwMode="auto">
            <a:xfrm>
              <a:off x="6692900" y="977900"/>
              <a:ext cx="2298700" cy="636588"/>
              <a:chOff x="4312" y="1228"/>
              <a:chExt cx="1448" cy="401"/>
            </a:xfrm>
          </p:grpSpPr>
          <p:sp>
            <p:nvSpPr>
              <p:cNvPr id="18" name="Text Box 19"/>
              <p:cNvSpPr txBox="1">
                <a:spLocks noChangeArrowheads="1"/>
              </p:cNvSpPr>
              <p:nvPr/>
            </p:nvSpPr>
            <p:spPr bwMode="auto">
              <a:xfrm>
                <a:off x="4606" y="1228"/>
                <a:ext cx="1154" cy="192"/>
              </a:xfrm>
              <a:prstGeom prst="rect">
                <a:avLst/>
              </a:prstGeom>
              <a:solidFill>
                <a:srgbClr val="FFFFFF"/>
              </a:solid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Required bandwidth</a:t>
                </a:r>
              </a:p>
            </p:txBody>
          </p:sp>
          <p:sp>
            <p:nvSpPr>
              <p:cNvPr id="19" name="Line 20"/>
              <p:cNvSpPr>
                <a:spLocks noChangeShapeType="1"/>
              </p:cNvSpPr>
              <p:nvPr/>
            </p:nvSpPr>
            <p:spPr bwMode="auto">
              <a:xfrm flipH="1">
                <a:off x="4312" y="1325"/>
                <a:ext cx="312" cy="304"/>
              </a:xfrm>
              <a:prstGeom prst="line">
                <a:avLst/>
              </a:prstGeom>
              <a:noFill/>
              <a:ln w="25400">
                <a:solidFill>
                  <a:srgbClr val="00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grpSp>
          <p:nvGrpSpPr>
            <p:cNvPr id="14" name="Group 25"/>
            <p:cNvGrpSpPr>
              <a:grpSpLocks/>
            </p:cNvGrpSpPr>
            <p:nvPr/>
          </p:nvGrpSpPr>
          <p:grpSpPr bwMode="auto">
            <a:xfrm>
              <a:off x="7375535" y="1793880"/>
              <a:ext cx="1544640" cy="592139"/>
              <a:chOff x="4742" y="1742"/>
              <a:chExt cx="973" cy="373"/>
            </a:xfrm>
          </p:grpSpPr>
          <p:sp>
            <p:nvSpPr>
              <p:cNvPr id="16" name="Line 21"/>
              <p:cNvSpPr>
                <a:spLocks noChangeShapeType="1"/>
              </p:cNvSpPr>
              <p:nvPr/>
            </p:nvSpPr>
            <p:spPr bwMode="auto">
              <a:xfrm flipH="1">
                <a:off x="4871" y="1934"/>
                <a:ext cx="181" cy="181"/>
              </a:xfrm>
              <a:prstGeom prst="line">
                <a:avLst/>
              </a:prstGeom>
              <a:noFill/>
              <a:ln w="25400">
                <a:solidFill>
                  <a:srgbClr val="00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Text Box 22"/>
              <p:cNvSpPr txBox="1">
                <a:spLocks noChangeArrowheads="1"/>
              </p:cNvSpPr>
              <p:nvPr/>
            </p:nvSpPr>
            <p:spPr bwMode="auto">
              <a:xfrm>
                <a:off x="4742" y="1742"/>
                <a:ext cx="973" cy="192"/>
              </a:xfrm>
              <a:prstGeom prst="rect">
                <a:avLst/>
              </a:prstGeom>
              <a:solidFill>
                <a:srgbClr val="FFFFFF"/>
              </a:solid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Typical workload</a:t>
                </a:r>
              </a:p>
            </p:txBody>
          </p:sp>
        </p:grpSp>
        <p:sp>
          <p:nvSpPr>
            <p:cNvPr id="15" name="Text Box 23"/>
            <p:cNvSpPr txBox="1">
              <a:spLocks noChangeArrowheads="1"/>
            </p:cNvSpPr>
            <p:nvPr/>
          </p:nvSpPr>
          <p:spPr bwMode="auto">
            <a:xfrm>
              <a:off x="5410200" y="1508150"/>
              <a:ext cx="538162" cy="307777"/>
            </a:xfrm>
            <a:prstGeom prst="rect">
              <a:avLst/>
            </a:prstGeom>
            <a:solidFill>
              <a:srgbClr val="FFFFFF"/>
            </a:solidFill>
            <a:ln w="9525">
              <a:noFill/>
              <a:miter lim="800000"/>
              <a:headEnd/>
              <a:tailEnd/>
            </a:ln>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Max</a:t>
              </a: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Replication – 1 </a:t>
            </a:r>
          </a:p>
        </p:txBody>
      </p:sp>
      <p:sp>
        <p:nvSpPr>
          <p:cNvPr id="3" name="Content Placeholder 2"/>
          <p:cNvSpPr>
            <a:spLocks noGrp="1"/>
          </p:cNvSpPr>
          <p:nvPr>
            <p:ph idx="1"/>
          </p:nvPr>
        </p:nvSpPr>
        <p:spPr>
          <a:xfrm>
            <a:off x="304800" y="914400"/>
            <a:ext cx="5257800" cy="5181600"/>
          </a:xfrm>
        </p:spPr>
        <p:txBody>
          <a:bodyPr/>
          <a:lstStyle/>
          <a:p>
            <a:r>
              <a:rPr lang="en-US" dirty="0"/>
              <a:t>A write is committed to the source and immediately acknowledged to the host</a:t>
            </a:r>
          </a:p>
          <a:p>
            <a:r>
              <a:rPr lang="en-US" dirty="0"/>
              <a:t>Data is buffered at the source and transmitted to the remote site later</a:t>
            </a:r>
          </a:p>
          <a:p>
            <a:r>
              <a:rPr lang="en-US" dirty="0"/>
              <a:t>Finite RPO</a:t>
            </a:r>
          </a:p>
          <a:p>
            <a:pPr lvl="1"/>
            <a:r>
              <a:rPr lang="en-US" dirty="0"/>
              <a:t>Replica will be behind the source by a finite amount</a:t>
            </a:r>
          </a:p>
          <a:p>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28" name="Group 27"/>
          <p:cNvGrpSpPr/>
          <p:nvPr/>
        </p:nvGrpSpPr>
        <p:grpSpPr>
          <a:xfrm>
            <a:off x="6019800" y="1143000"/>
            <a:ext cx="2507507" cy="3733800"/>
            <a:chOff x="6150265" y="1113972"/>
            <a:chExt cx="2507507" cy="3733800"/>
          </a:xfrm>
        </p:grpSpPr>
        <p:grpSp>
          <p:nvGrpSpPr>
            <p:cNvPr id="29" name="Group 32"/>
            <p:cNvGrpSpPr>
              <a:grpSpLocks/>
            </p:cNvGrpSpPr>
            <p:nvPr/>
          </p:nvGrpSpPr>
          <p:grpSpPr bwMode="auto">
            <a:xfrm>
              <a:off x="6919460" y="1464809"/>
              <a:ext cx="919162" cy="300038"/>
              <a:chOff x="4475" y="1600"/>
              <a:chExt cx="579" cy="189"/>
            </a:xfrm>
          </p:grpSpPr>
          <p:sp>
            <p:nvSpPr>
              <p:cNvPr id="30" name="Line 14"/>
              <p:cNvSpPr>
                <a:spLocks noChangeShapeType="1"/>
              </p:cNvSpPr>
              <p:nvPr/>
            </p:nvSpPr>
            <p:spPr bwMode="auto">
              <a:xfrm>
                <a:off x="4475" y="1789"/>
                <a:ext cx="579" cy="0"/>
              </a:xfrm>
              <a:prstGeom prst="line">
                <a:avLst/>
              </a:prstGeom>
              <a:noFill/>
              <a:ln w="38100">
                <a:solidFill>
                  <a:schemeClr val="tx1"/>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Text Box 18"/>
              <p:cNvSpPr txBox="1">
                <a:spLocks noChangeArrowheads="1"/>
              </p:cNvSpPr>
              <p:nvPr/>
            </p:nvSpPr>
            <p:spPr bwMode="auto">
              <a:xfrm>
                <a:off x="4666" y="1600"/>
                <a:ext cx="116"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1</a:t>
                </a:r>
              </a:p>
            </p:txBody>
          </p:sp>
        </p:grpSp>
        <p:grpSp>
          <p:nvGrpSpPr>
            <p:cNvPr id="32" name="Group 35"/>
            <p:cNvGrpSpPr>
              <a:grpSpLocks/>
            </p:cNvGrpSpPr>
            <p:nvPr/>
          </p:nvGrpSpPr>
          <p:grpSpPr bwMode="auto">
            <a:xfrm>
              <a:off x="7856085" y="2334759"/>
              <a:ext cx="280987" cy="906463"/>
              <a:chOff x="5065" y="2148"/>
              <a:chExt cx="177" cy="571"/>
            </a:xfrm>
          </p:grpSpPr>
          <p:sp>
            <p:nvSpPr>
              <p:cNvPr id="33" name="Line 17"/>
              <p:cNvSpPr>
                <a:spLocks noChangeShapeType="1"/>
              </p:cNvSpPr>
              <p:nvPr/>
            </p:nvSpPr>
            <p:spPr bwMode="auto">
              <a:xfrm>
                <a:off x="5242" y="2148"/>
                <a:ext cx="0" cy="571"/>
              </a:xfrm>
              <a:prstGeom prst="line">
                <a:avLst/>
              </a:prstGeom>
              <a:noFill/>
              <a:ln w="38100">
                <a:solidFill>
                  <a:schemeClr val="accent2"/>
                </a:solidFill>
                <a:round/>
                <a:headEnd type="triangle" w="med" len="med"/>
                <a:tailEnd type="non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Text Box 19"/>
              <p:cNvSpPr txBox="1">
                <a:spLocks noChangeArrowheads="1"/>
              </p:cNvSpPr>
              <p:nvPr/>
            </p:nvSpPr>
            <p:spPr bwMode="auto">
              <a:xfrm>
                <a:off x="5065" y="2353"/>
                <a:ext cx="115"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4</a:t>
                </a:r>
              </a:p>
            </p:txBody>
          </p:sp>
        </p:grpSp>
        <p:grpSp>
          <p:nvGrpSpPr>
            <p:cNvPr id="35" name="Group 33"/>
            <p:cNvGrpSpPr>
              <a:grpSpLocks/>
            </p:cNvGrpSpPr>
            <p:nvPr/>
          </p:nvGrpSpPr>
          <p:grpSpPr bwMode="auto">
            <a:xfrm>
              <a:off x="6922635" y="2015672"/>
              <a:ext cx="919162" cy="373062"/>
              <a:chOff x="4477" y="1947"/>
              <a:chExt cx="579" cy="235"/>
            </a:xfrm>
          </p:grpSpPr>
          <p:sp>
            <p:nvSpPr>
              <p:cNvPr id="36" name="Line 15"/>
              <p:cNvSpPr>
                <a:spLocks noChangeShapeType="1"/>
              </p:cNvSpPr>
              <p:nvPr/>
            </p:nvSpPr>
            <p:spPr bwMode="auto">
              <a:xfrm>
                <a:off x="4477" y="1947"/>
                <a:ext cx="579" cy="0"/>
              </a:xfrm>
              <a:prstGeom prst="line">
                <a:avLst/>
              </a:prstGeom>
              <a:noFill/>
              <a:ln w="38100">
                <a:solidFill>
                  <a:schemeClr val="accent2"/>
                </a:solidFill>
                <a:round/>
                <a:headEnd type="triangle" w="med" len="med"/>
                <a:tailEnd type="non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Text Box 20"/>
              <p:cNvSpPr txBox="1">
                <a:spLocks noChangeArrowheads="1"/>
              </p:cNvSpPr>
              <p:nvPr/>
            </p:nvSpPr>
            <p:spPr bwMode="auto">
              <a:xfrm>
                <a:off x="4681" y="2009"/>
                <a:ext cx="115"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2</a:t>
                </a:r>
              </a:p>
            </p:txBody>
          </p:sp>
        </p:grpSp>
        <p:grpSp>
          <p:nvGrpSpPr>
            <p:cNvPr id="38" name="Group 34"/>
            <p:cNvGrpSpPr>
              <a:grpSpLocks/>
            </p:cNvGrpSpPr>
            <p:nvPr/>
          </p:nvGrpSpPr>
          <p:grpSpPr bwMode="auto">
            <a:xfrm>
              <a:off x="8411710" y="2328409"/>
              <a:ext cx="246062" cy="906463"/>
              <a:chOff x="5415" y="2144"/>
              <a:chExt cx="155" cy="571"/>
            </a:xfrm>
          </p:grpSpPr>
          <p:sp>
            <p:nvSpPr>
              <p:cNvPr id="39" name="Line 16"/>
              <p:cNvSpPr>
                <a:spLocks noChangeShapeType="1"/>
              </p:cNvSpPr>
              <p:nvPr/>
            </p:nvSpPr>
            <p:spPr bwMode="auto">
              <a:xfrm>
                <a:off x="5415" y="2144"/>
                <a:ext cx="0" cy="571"/>
              </a:xfrm>
              <a:prstGeom prst="line">
                <a:avLst/>
              </a:prstGeom>
              <a:noFill/>
              <a:ln w="38100">
                <a:solidFill>
                  <a:schemeClr val="tx1"/>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0" name="Text Box 21"/>
              <p:cNvSpPr txBox="1">
                <a:spLocks noChangeArrowheads="1"/>
              </p:cNvSpPr>
              <p:nvPr/>
            </p:nvSpPr>
            <p:spPr bwMode="auto">
              <a:xfrm>
                <a:off x="5455" y="2351"/>
                <a:ext cx="115" cy="173"/>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3</a:t>
                </a:r>
              </a:p>
            </p:txBody>
          </p:sp>
        </p:grpSp>
        <p:sp>
          <p:nvSpPr>
            <p:cNvPr id="41" name="Line 22"/>
            <p:cNvSpPr>
              <a:spLocks noChangeShapeType="1"/>
            </p:cNvSpPr>
            <p:nvPr/>
          </p:nvSpPr>
          <p:spPr bwMode="auto">
            <a:xfrm>
              <a:off x="6582910" y="4481060"/>
              <a:ext cx="919162" cy="0"/>
            </a:xfrm>
            <a:prstGeom prst="line">
              <a:avLst/>
            </a:prstGeom>
            <a:noFill/>
            <a:ln w="38100">
              <a:solidFill>
                <a:schemeClr val="tx1"/>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2" name="Line 23"/>
            <p:cNvSpPr>
              <a:spLocks noChangeShapeType="1"/>
            </p:cNvSpPr>
            <p:nvPr/>
          </p:nvSpPr>
          <p:spPr bwMode="auto">
            <a:xfrm>
              <a:off x="6600372" y="4847772"/>
              <a:ext cx="919163" cy="0"/>
            </a:xfrm>
            <a:prstGeom prst="line">
              <a:avLst/>
            </a:prstGeom>
            <a:noFill/>
            <a:ln w="38100">
              <a:solidFill>
                <a:schemeClr val="accent2"/>
              </a:solidFill>
              <a:round/>
              <a:headEnd type="triangle" w="med" len="med"/>
              <a:tailEnd type="non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Text Box 24"/>
            <p:cNvSpPr txBox="1">
              <a:spLocks noChangeArrowheads="1"/>
            </p:cNvSpPr>
            <p:nvPr/>
          </p:nvSpPr>
          <p:spPr bwMode="auto">
            <a:xfrm>
              <a:off x="6605135" y="4281035"/>
              <a:ext cx="795337" cy="152400"/>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 Write</a:t>
              </a:r>
            </a:p>
          </p:txBody>
        </p:sp>
        <p:sp>
          <p:nvSpPr>
            <p:cNvPr id="44" name="Text Box 25"/>
            <p:cNvSpPr txBox="1">
              <a:spLocks noChangeArrowheads="1"/>
            </p:cNvSpPr>
            <p:nvPr/>
          </p:nvSpPr>
          <p:spPr bwMode="auto">
            <a:xfrm>
              <a:off x="6597197" y="4598535"/>
              <a:ext cx="1524000" cy="152400"/>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 Acknowledgment</a:t>
              </a:r>
            </a:p>
          </p:txBody>
        </p:sp>
        <p:sp>
          <p:nvSpPr>
            <p:cNvPr id="45" name="Text Box 26"/>
            <p:cNvSpPr txBox="1">
              <a:spLocks noChangeArrowheads="1"/>
            </p:cNvSpPr>
            <p:nvPr/>
          </p:nvSpPr>
          <p:spPr bwMode="auto">
            <a:xfrm>
              <a:off x="6317793" y="2690384"/>
              <a:ext cx="765175"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Host</a:t>
              </a:r>
            </a:p>
          </p:txBody>
        </p:sp>
        <p:sp>
          <p:nvSpPr>
            <p:cNvPr id="46" name="Text Box 27"/>
            <p:cNvSpPr txBox="1">
              <a:spLocks noChangeArrowheads="1"/>
            </p:cNvSpPr>
            <p:nvPr/>
          </p:nvSpPr>
          <p:spPr bwMode="auto">
            <a:xfrm>
              <a:off x="8095651" y="3970316"/>
              <a:ext cx="525462"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Target</a:t>
              </a:r>
            </a:p>
          </p:txBody>
        </p:sp>
        <p:sp>
          <p:nvSpPr>
            <p:cNvPr id="47" name="Text Box 28"/>
            <p:cNvSpPr txBox="1">
              <a:spLocks noChangeArrowheads="1"/>
            </p:cNvSpPr>
            <p:nvPr/>
          </p:nvSpPr>
          <p:spPr bwMode="auto">
            <a:xfrm>
              <a:off x="8044997" y="1388609"/>
              <a:ext cx="525462" cy="215444"/>
            </a:xfrm>
            <a:prstGeom prst="rect">
              <a:avLst/>
            </a:prstGeom>
            <a:noFill/>
            <a:ln w="25400" algn="ctr">
              <a:noFill/>
              <a:miter lim="800000"/>
              <a:headEnd/>
              <a:tailEnd type="none" w="lg" len="med"/>
            </a:ln>
            <a:effectLst/>
          </p:spPr>
          <p:txBody>
            <a:bodyPr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a:t>
              </a:r>
            </a:p>
          </p:txBody>
        </p:sp>
        <p:pic>
          <p:nvPicPr>
            <p:cNvPr id="48" name="Picture 7" descr="C:\Documents and Settings\sridhs\Desktop\ISM Book L3\colored Icons\Host.png"/>
            <p:cNvPicPr>
              <a:picLocks noChangeAspect="1" noChangeArrowheads="1"/>
            </p:cNvPicPr>
            <p:nvPr/>
          </p:nvPicPr>
          <p:blipFill>
            <a:blip r:embed="rId3" cstate="print"/>
            <a:srcRect/>
            <a:stretch>
              <a:fillRect/>
            </a:stretch>
          </p:blipFill>
          <p:spPr bwMode="auto">
            <a:xfrm>
              <a:off x="6150265" y="1113972"/>
              <a:ext cx="675532" cy="1561476"/>
            </a:xfrm>
            <a:prstGeom prst="rect">
              <a:avLst/>
            </a:prstGeom>
            <a:noFill/>
          </p:spPr>
        </p:pic>
        <p:pic>
          <p:nvPicPr>
            <p:cNvPr id="49"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8024213" y="1628900"/>
              <a:ext cx="533400" cy="533400"/>
            </a:xfrm>
            <a:prstGeom prst="rect">
              <a:avLst/>
            </a:prstGeom>
            <a:noFill/>
          </p:spPr>
        </p:pic>
        <p:pic>
          <p:nvPicPr>
            <p:cNvPr id="50"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8044997" y="3418444"/>
              <a:ext cx="533400" cy="533400"/>
            </a:xfrm>
            <a:prstGeom prst="rect">
              <a:avLst/>
            </a:prstGeom>
            <a:noFill/>
          </p:spPr>
        </p:pic>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Replication – 2 </a:t>
            </a:r>
          </a:p>
        </p:txBody>
      </p:sp>
      <p:sp>
        <p:nvSpPr>
          <p:cNvPr id="3" name="Content Placeholder 2"/>
          <p:cNvSpPr>
            <a:spLocks noGrp="1"/>
          </p:cNvSpPr>
          <p:nvPr>
            <p:ph idx="1"/>
          </p:nvPr>
        </p:nvSpPr>
        <p:spPr>
          <a:xfrm>
            <a:off x="304800" y="914400"/>
            <a:ext cx="4648200" cy="5181600"/>
          </a:xfrm>
        </p:spPr>
        <p:txBody>
          <a:bodyPr/>
          <a:lstStyle/>
          <a:p>
            <a:r>
              <a:rPr lang="en-US" dirty="0"/>
              <a:t>RPO depends on size of buffer and available network bandwidth</a:t>
            </a:r>
          </a:p>
          <a:p>
            <a:r>
              <a:rPr lang="en-US" dirty="0"/>
              <a:t>Requires bandwidth equal to or greater than average write workload</a:t>
            </a:r>
          </a:p>
          <a:p>
            <a:r>
              <a:rPr lang="en-US" dirty="0"/>
              <a:t>Sufficient buffer capacity should be provisioned</a:t>
            </a:r>
          </a:p>
          <a:p>
            <a:r>
              <a:rPr lang="en-US" dirty="0"/>
              <a:t>Can be deployed over long distances</a:t>
            </a:r>
          </a:p>
          <a:p>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5" name="Footer Placeholder 4"/>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18" name="Group 17"/>
          <p:cNvGrpSpPr/>
          <p:nvPr/>
        </p:nvGrpSpPr>
        <p:grpSpPr>
          <a:xfrm>
            <a:off x="5105400" y="1281113"/>
            <a:ext cx="3559175" cy="3214687"/>
            <a:chOff x="5334000" y="1143000"/>
            <a:chExt cx="3559175" cy="3214687"/>
          </a:xfrm>
        </p:grpSpPr>
        <p:sp>
          <p:nvSpPr>
            <p:cNvPr id="6" name="Text Box 4"/>
            <p:cNvSpPr txBox="1">
              <a:spLocks noChangeArrowheads="1"/>
            </p:cNvSpPr>
            <p:nvPr/>
          </p:nvSpPr>
          <p:spPr bwMode="auto">
            <a:xfrm>
              <a:off x="5334000" y="2728912"/>
              <a:ext cx="942975" cy="304800"/>
            </a:xfrm>
            <a:prstGeom prst="rect">
              <a:avLst/>
            </a:prstGeom>
            <a:solidFill>
              <a:srgbClr val="FFFFFF"/>
            </a:solid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Average</a:t>
              </a:r>
            </a:p>
          </p:txBody>
        </p:sp>
        <p:sp>
          <p:nvSpPr>
            <p:cNvPr id="7" name="Line 5"/>
            <p:cNvSpPr>
              <a:spLocks noChangeShapeType="1"/>
            </p:cNvSpPr>
            <p:nvPr/>
          </p:nvSpPr>
          <p:spPr bwMode="auto">
            <a:xfrm flipH="1" flipV="1">
              <a:off x="6124575" y="1433511"/>
              <a:ext cx="6350" cy="2562225"/>
            </a:xfrm>
            <a:prstGeom prst="line">
              <a:avLst/>
            </a:prstGeom>
            <a:noFill/>
            <a:ln w="12700">
              <a:solidFill>
                <a:srgbClr val="000000"/>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Line 6"/>
            <p:cNvSpPr>
              <a:spLocks noChangeShapeType="1"/>
            </p:cNvSpPr>
            <p:nvPr/>
          </p:nvSpPr>
          <p:spPr bwMode="auto">
            <a:xfrm>
              <a:off x="6130925" y="3995737"/>
              <a:ext cx="2674938" cy="0"/>
            </a:xfrm>
            <a:prstGeom prst="line">
              <a:avLst/>
            </a:prstGeom>
            <a:noFill/>
            <a:ln w="12700">
              <a:solidFill>
                <a:srgbClr val="000000"/>
              </a:solidFill>
              <a:round/>
              <a:headE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Line 7"/>
            <p:cNvSpPr>
              <a:spLocks noChangeShapeType="1"/>
            </p:cNvSpPr>
            <p:nvPr/>
          </p:nvSpPr>
          <p:spPr bwMode="auto">
            <a:xfrm>
              <a:off x="6130925" y="2874962"/>
              <a:ext cx="2393950" cy="0"/>
            </a:xfrm>
            <a:prstGeom prst="line">
              <a:avLst/>
            </a:prstGeom>
            <a:noFill/>
            <a:ln w="19050">
              <a:solidFill>
                <a:srgbClr val="FF0000"/>
              </a:solidFill>
              <a:prstDash val="dash"/>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Freeform 8"/>
            <p:cNvSpPr>
              <a:spLocks/>
            </p:cNvSpPr>
            <p:nvPr/>
          </p:nvSpPr>
          <p:spPr bwMode="auto">
            <a:xfrm>
              <a:off x="6130925" y="1814512"/>
              <a:ext cx="2393950" cy="1708150"/>
            </a:xfrm>
            <a:custGeom>
              <a:avLst/>
              <a:gdLst/>
              <a:ahLst/>
              <a:cxnLst>
                <a:cxn ang="0">
                  <a:pos x="0" y="1200"/>
                </a:cxn>
                <a:cxn ang="0">
                  <a:pos x="360" y="840"/>
                </a:cxn>
                <a:cxn ang="0">
                  <a:pos x="720" y="120"/>
                </a:cxn>
                <a:cxn ang="0">
                  <a:pos x="900" y="120"/>
                </a:cxn>
                <a:cxn ang="0">
                  <a:pos x="1080" y="660"/>
                </a:cxn>
                <a:cxn ang="0">
                  <a:pos x="1260" y="1200"/>
                </a:cxn>
                <a:cxn ang="0">
                  <a:pos x="1440" y="1380"/>
                </a:cxn>
                <a:cxn ang="0">
                  <a:pos x="1620" y="1380"/>
                </a:cxn>
                <a:cxn ang="0">
                  <a:pos x="1800" y="1020"/>
                </a:cxn>
                <a:cxn ang="0">
                  <a:pos x="1980" y="660"/>
                </a:cxn>
                <a:cxn ang="0">
                  <a:pos x="2160" y="840"/>
                </a:cxn>
                <a:cxn ang="0">
                  <a:pos x="2340" y="1200"/>
                </a:cxn>
                <a:cxn ang="0">
                  <a:pos x="2520" y="1380"/>
                </a:cxn>
                <a:cxn ang="0">
                  <a:pos x="2880" y="1200"/>
                </a:cxn>
                <a:cxn ang="0">
                  <a:pos x="3060" y="1020"/>
                </a:cxn>
              </a:cxnLst>
              <a:rect l="0" t="0" r="r" b="b"/>
              <a:pathLst>
                <a:path w="3060" h="1440">
                  <a:moveTo>
                    <a:pt x="0" y="1200"/>
                  </a:moveTo>
                  <a:cubicBezTo>
                    <a:pt x="120" y="1110"/>
                    <a:pt x="240" y="1020"/>
                    <a:pt x="360" y="840"/>
                  </a:cubicBezTo>
                  <a:cubicBezTo>
                    <a:pt x="480" y="660"/>
                    <a:pt x="630" y="240"/>
                    <a:pt x="720" y="120"/>
                  </a:cubicBezTo>
                  <a:cubicBezTo>
                    <a:pt x="810" y="0"/>
                    <a:pt x="840" y="30"/>
                    <a:pt x="900" y="120"/>
                  </a:cubicBezTo>
                  <a:cubicBezTo>
                    <a:pt x="960" y="210"/>
                    <a:pt x="1020" y="480"/>
                    <a:pt x="1080" y="660"/>
                  </a:cubicBezTo>
                  <a:cubicBezTo>
                    <a:pt x="1140" y="840"/>
                    <a:pt x="1200" y="1080"/>
                    <a:pt x="1260" y="1200"/>
                  </a:cubicBezTo>
                  <a:cubicBezTo>
                    <a:pt x="1320" y="1320"/>
                    <a:pt x="1380" y="1350"/>
                    <a:pt x="1440" y="1380"/>
                  </a:cubicBezTo>
                  <a:cubicBezTo>
                    <a:pt x="1500" y="1410"/>
                    <a:pt x="1560" y="1440"/>
                    <a:pt x="1620" y="1380"/>
                  </a:cubicBezTo>
                  <a:cubicBezTo>
                    <a:pt x="1680" y="1320"/>
                    <a:pt x="1740" y="1140"/>
                    <a:pt x="1800" y="1020"/>
                  </a:cubicBezTo>
                  <a:cubicBezTo>
                    <a:pt x="1860" y="900"/>
                    <a:pt x="1920" y="690"/>
                    <a:pt x="1980" y="660"/>
                  </a:cubicBezTo>
                  <a:cubicBezTo>
                    <a:pt x="2040" y="630"/>
                    <a:pt x="2100" y="750"/>
                    <a:pt x="2160" y="840"/>
                  </a:cubicBezTo>
                  <a:cubicBezTo>
                    <a:pt x="2220" y="930"/>
                    <a:pt x="2280" y="1110"/>
                    <a:pt x="2340" y="1200"/>
                  </a:cubicBezTo>
                  <a:cubicBezTo>
                    <a:pt x="2400" y="1290"/>
                    <a:pt x="2430" y="1380"/>
                    <a:pt x="2520" y="1380"/>
                  </a:cubicBezTo>
                  <a:cubicBezTo>
                    <a:pt x="2610" y="1380"/>
                    <a:pt x="2790" y="1260"/>
                    <a:pt x="2880" y="1200"/>
                  </a:cubicBezTo>
                  <a:cubicBezTo>
                    <a:pt x="2970" y="1140"/>
                    <a:pt x="3030" y="1050"/>
                    <a:pt x="3060" y="1020"/>
                  </a:cubicBezTo>
                </a:path>
              </a:pathLst>
            </a:custGeom>
            <a:noFill/>
            <a:ln w="19050">
              <a:solidFill>
                <a:srgbClr val="0000FF"/>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Text Box 9"/>
            <p:cNvSpPr txBox="1">
              <a:spLocks noChangeArrowheads="1"/>
            </p:cNvSpPr>
            <p:nvPr/>
          </p:nvSpPr>
          <p:spPr bwMode="auto">
            <a:xfrm>
              <a:off x="8105775" y="4024312"/>
              <a:ext cx="703263" cy="333375"/>
            </a:xfrm>
            <a:prstGeom prst="rect">
              <a:avLst/>
            </a:prstGeom>
            <a:noFill/>
            <a:ln w="9525">
              <a:no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Time</a:t>
              </a:r>
            </a:p>
          </p:txBody>
        </p:sp>
        <p:sp>
          <p:nvSpPr>
            <p:cNvPr id="12" name="Text Box 10"/>
            <p:cNvSpPr txBox="1">
              <a:spLocks noChangeArrowheads="1"/>
            </p:cNvSpPr>
            <p:nvPr/>
          </p:nvSpPr>
          <p:spPr bwMode="auto">
            <a:xfrm>
              <a:off x="5526088" y="1890712"/>
              <a:ext cx="750887" cy="530225"/>
            </a:xfrm>
            <a:prstGeom prst="rect">
              <a:avLst/>
            </a:prstGeom>
            <a:noFill/>
            <a:ln w="9525">
              <a:noFill/>
              <a:miter lim="800000"/>
              <a:headEnd/>
              <a:tailEn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Writes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MB/s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grpSp>
          <p:nvGrpSpPr>
            <p:cNvPr id="13" name="Group 11"/>
            <p:cNvGrpSpPr>
              <a:grpSpLocks/>
            </p:cNvGrpSpPr>
            <p:nvPr/>
          </p:nvGrpSpPr>
          <p:grpSpPr bwMode="auto">
            <a:xfrm>
              <a:off x="7861300" y="1654175"/>
              <a:ext cx="1031875" cy="1195387"/>
              <a:chOff x="4982" y="1383"/>
              <a:chExt cx="650" cy="753"/>
            </a:xfrm>
          </p:grpSpPr>
          <p:sp>
            <p:nvSpPr>
              <p:cNvPr id="14" name="Line 12"/>
              <p:cNvSpPr>
                <a:spLocks noChangeShapeType="1"/>
              </p:cNvSpPr>
              <p:nvPr/>
            </p:nvSpPr>
            <p:spPr bwMode="auto">
              <a:xfrm flipH="1">
                <a:off x="5250" y="1704"/>
                <a:ext cx="55" cy="432"/>
              </a:xfrm>
              <a:prstGeom prst="line">
                <a:avLst/>
              </a:prstGeom>
              <a:noFill/>
              <a:ln w="25400">
                <a:solidFill>
                  <a:srgbClr val="00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Text Box 13"/>
              <p:cNvSpPr txBox="1">
                <a:spLocks noChangeArrowheads="1"/>
              </p:cNvSpPr>
              <p:nvPr/>
            </p:nvSpPr>
            <p:spPr bwMode="auto">
              <a:xfrm>
                <a:off x="4982" y="1383"/>
                <a:ext cx="650" cy="330"/>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Required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bandwidth</a:t>
                </a:r>
              </a:p>
            </p:txBody>
          </p:sp>
        </p:grpSp>
        <p:sp>
          <p:nvSpPr>
            <p:cNvPr id="16" name="Line 15"/>
            <p:cNvSpPr>
              <a:spLocks noChangeShapeType="1"/>
            </p:cNvSpPr>
            <p:nvPr/>
          </p:nvSpPr>
          <p:spPr bwMode="auto">
            <a:xfrm flipH="1">
              <a:off x="7031038" y="1609725"/>
              <a:ext cx="106363" cy="476250"/>
            </a:xfrm>
            <a:prstGeom prst="line">
              <a:avLst/>
            </a:prstGeom>
            <a:noFill/>
            <a:ln w="25400">
              <a:solidFill>
                <a:srgbClr val="000000"/>
              </a:solidFill>
              <a:round/>
              <a:headEnd/>
              <a:tailEnd type="triangle" w="lg"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Text Box 16"/>
            <p:cNvSpPr txBox="1">
              <a:spLocks noChangeArrowheads="1"/>
            </p:cNvSpPr>
            <p:nvPr/>
          </p:nvSpPr>
          <p:spPr bwMode="auto">
            <a:xfrm>
              <a:off x="6937375" y="1143000"/>
              <a:ext cx="935038" cy="523220"/>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Typical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workload</a:t>
              </a: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447800" y="2667000"/>
            <a:ext cx="7086600" cy="2667000"/>
          </a:xfrm>
        </p:spPr>
        <p:txBody>
          <a:bodyPr>
            <a:noAutofit/>
          </a:bodyPr>
          <a:lstStyle/>
          <a:p>
            <a:pPr lvl="0">
              <a:defRPr/>
            </a:pPr>
            <a:r>
              <a:rPr lang="en-US" dirty="0">
                <a:solidFill>
                  <a:schemeClr val="bg2">
                    <a:lumMod val="75000"/>
                  </a:schemeClr>
                </a:solidFill>
              </a:rPr>
              <a:t>During this lesson the following topics are covered:</a:t>
            </a:r>
          </a:p>
          <a:p>
            <a:pPr lvl="1" indent="-223838" algn="l">
              <a:buClr>
                <a:srgbClr val="92D050"/>
              </a:buClr>
              <a:buSzPct val="110000"/>
              <a:buFont typeface="Arial" pitchFamily="34" charset="0"/>
              <a:buChar char="•"/>
              <a:defRPr/>
            </a:pPr>
            <a:r>
              <a:rPr lang="en-US" sz="2000" dirty="0">
                <a:solidFill>
                  <a:schemeClr val="bg2">
                    <a:lumMod val="75000"/>
                  </a:schemeClr>
                </a:solidFill>
              </a:rPr>
              <a:t>Host-based, storage array-based, and network-based remote replication technologies</a:t>
            </a:r>
          </a:p>
          <a:p>
            <a:pPr lvl="1" indent="-223838" algn="l">
              <a:buClr>
                <a:srgbClr val="92D050"/>
              </a:buClr>
              <a:buSzPct val="110000"/>
              <a:buFont typeface="Arial" pitchFamily="34" charset="0"/>
              <a:buChar char="•"/>
              <a:defRPr/>
            </a:pPr>
            <a:r>
              <a:rPr lang="en-US" sz="2000" dirty="0">
                <a:solidFill>
                  <a:schemeClr val="bg2">
                    <a:lumMod val="75000"/>
                  </a:schemeClr>
                </a:solidFill>
              </a:rPr>
              <a:t>Three-site remote replication</a:t>
            </a:r>
          </a:p>
          <a:p>
            <a:pPr lvl="1" indent="-223838" algn="l">
              <a:buClr>
                <a:srgbClr val="92D050"/>
              </a:buClr>
              <a:buSzPct val="110000"/>
              <a:buFont typeface="Arial" pitchFamily="34" charset="0"/>
              <a:buChar char="•"/>
              <a:defRPr/>
            </a:pPr>
            <a:r>
              <a:rPr lang="en-US" sz="2000" dirty="0">
                <a:solidFill>
                  <a:schemeClr val="bg2">
                    <a:lumMod val="75000"/>
                  </a:schemeClr>
                </a:solidFill>
              </a:rPr>
              <a:t>Data migration solution</a:t>
            </a:r>
          </a:p>
          <a:p>
            <a:pPr lvl="1" indent="-223838" algn="l">
              <a:buClr>
                <a:srgbClr val="92D050"/>
              </a:buClr>
              <a:buSzPct val="110000"/>
              <a:buFont typeface="Arial" pitchFamily="34" charset="0"/>
              <a:buChar char="•"/>
              <a:defRPr/>
            </a:pPr>
            <a:r>
              <a:rPr lang="en-US" sz="2000" dirty="0">
                <a:solidFill>
                  <a:schemeClr val="bg2">
                    <a:lumMod val="75000"/>
                  </a:schemeClr>
                </a:solidFill>
              </a:rPr>
              <a:t>Remote replication in virtualized environment</a:t>
            </a:r>
          </a:p>
          <a:p>
            <a:pPr lvl="1" indent="-223838" algn="l">
              <a:buClr>
                <a:srgbClr val="92D050"/>
              </a:buClr>
              <a:buSzPct val="110000"/>
              <a:defRPr/>
            </a:pPr>
            <a:endParaRPr lang="en-US" sz="1900" dirty="0">
              <a:solidFill>
                <a:schemeClr val="bg2">
                  <a:lumMod val="75000"/>
                </a:schemeClr>
              </a:solidFill>
            </a:endParaRPr>
          </a:p>
          <a:p>
            <a:pPr lvl="2" indent="-223838" algn="l">
              <a:buClr>
                <a:srgbClr val="92D050"/>
              </a:buClr>
              <a:buSzPct val="110000"/>
              <a:defRPr/>
            </a:pPr>
            <a:r>
              <a:rPr lang="en-US" sz="1900" dirty="0">
                <a:solidFill>
                  <a:schemeClr val="bg2">
                    <a:lumMod val="75000"/>
                  </a:schemeClr>
                </a:solidFill>
              </a:rPr>
              <a:t> </a:t>
            </a:r>
          </a:p>
          <a:p>
            <a:pPr lvl="1" indent="-223838" algn="l">
              <a:buClr>
                <a:srgbClr val="92D050"/>
              </a:buClr>
              <a:buSzPct val="110000"/>
              <a:defRPr/>
            </a:pPr>
            <a:endParaRPr lang="en-US" sz="1900" dirty="0">
              <a:solidFill>
                <a:schemeClr val="bg2">
                  <a:lumMod val="75000"/>
                </a:schemeClr>
              </a:solidFill>
            </a:endParaRPr>
          </a:p>
          <a:p>
            <a:pPr lvl="1" indent="-223838" algn="l">
              <a:buClr>
                <a:srgbClr val="92D050"/>
              </a:buClr>
              <a:buSzPct val="110000"/>
              <a:buFont typeface="Arial" pitchFamily="34" charset="0"/>
              <a:buChar char="•"/>
              <a:defRPr/>
            </a:pPr>
            <a:endParaRPr lang="en-US" sz="1900" dirty="0">
              <a:solidFill>
                <a:schemeClr val="bg2">
                  <a:lumMod val="75000"/>
                </a:schemeClr>
              </a:solidFill>
            </a:endParaRPr>
          </a:p>
        </p:txBody>
      </p:sp>
      <p:sp>
        <p:nvSpPr>
          <p:cNvPr id="23556" name="Content Placeholder 7"/>
          <p:cNvSpPr>
            <a:spLocks noGrp="1"/>
          </p:cNvSpPr>
          <p:nvPr>
            <p:ph sz="quarter" idx="13"/>
          </p:nvPr>
        </p:nvSpPr>
        <p:spPr>
          <a:xfrm>
            <a:off x="762000" y="2057400"/>
            <a:ext cx="7772400" cy="457200"/>
          </a:xfrm>
        </p:spPr>
        <p:txBody>
          <a:bodyPr/>
          <a:lstStyle/>
          <a:p>
            <a:r>
              <a:rPr lang="en-US" dirty="0"/>
              <a:t>Lesson 2: Remote Replication Technologies</a:t>
            </a:r>
          </a:p>
        </p:txBody>
      </p:sp>
      <p:sp>
        <p:nvSpPr>
          <p:cNvPr id="12" name="Footer Placeholder 11"/>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1" name="Slide Number Placeholder 10"/>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8" name="Title 4"/>
          <p:cNvSpPr txBox="1">
            <a:spLocks/>
          </p:cNvSpPr>
          <p:nvPr/>
        </p:nvSpPr>
        <p:spPr bwMode="auto">
          <a:xfrm>
            <a:off x="838200" y="762000"/>
            <a:ext cx="7772400" cy="688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srgbClr val="000000">
                    <a:lumMod val="50000"/>
                    <a:lumOff val="50000"/>
                  </a:srgbClr>
                </a:solidFill>
                <a:effectLst/>
                <a:uLnTx/>
                <a:uFillTx/>
                <a:latin typeface="MetaNormalLF-Roman"/>
                <a:ea typeface="+mn-ea"/>
                <a:cs typeface="Arial"/>
              </a:rPr>
              <a:t>Module 12: Remote Replication</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Host-based Remote Replication</a:t>
            </a:r>
          </a:p>
        </p:txBody>
      </p:sp>
      <p:sp>
        <p:nvSpPr>
          <p:cNvPr id="8" name="Content Placeholder 7"/>
          <p:cNvSpPr>
            <a:spLocks noGrp="1"/>
          </p:cNvSpPr>
          <p:nvPr>
            <p:ph idx="1"/>
          </p:nvPr>
        </p:nvSpPr>
        <p:spPr/>
        <p:txBody>
          <a:bodyPr/>
          <a:lstStyle/>
          <a:p>
            <a:pPr marL="231775" lvl="1" indent="-231775">
              <a:buClr>
                <a:srgbClr val="92D050"/>
              </a:buClr>
              <a:buSzPct val="120000"/>
              <a:buFont typeface="Arial" charset="0"/>
              <a:buChar char="•"/>
            </a:pPr>
            <a:r>
              <a:rPr lang="en-US" sz="2400" dirty="0"/>
              <a:t>Replication is performed by host-based software   </a:t>
            </a:r>
          </a:p>
          <a:p>
            <a:r>
              <a:rPr lang="en-US" dirty="0"/>
              <a:t>LVM-based replication</a:t>
            </a:r>
          </a:p>
          <a:p>
            <a:pPr lvl="1"/>
            <a:r>
              <a:rPr lang="en-US" dirty="0"/>
              <a:t>All writes to the source volume group are replicated to the target volume group by the LVM</a:t>
            </a:r>
          </a:p>
          <a:p>
            <a:pPr lvl="1"/>
            <a:r>
              <a:rPr lang="en-US" dirty="0"/>
              <a:t>Can be synchronous or asynchronous</a:t>
            </a:r>
          </a:p>
          <a:p>
            <a:r>
              <a:rPr lang="en-US" dirty="0"/>
              <a:t>Log shipping</a:t>
            </a:r>
          </a:p>
          <a:p>
            <a:pPr lvl="1"/>
            <a:r>
              <a:rPr lang="en-US" dirty="0"/>
              <a:t>Commonly used in a database environment</a:t>
            </a:r>
          </a:p>
          <a:p>
            <a:pPr lvl="1"/>
            <a:r>
              <a:rPr lang="en-US" dirty="0"/>
              <a:t>All relevant components of source and target databases are synchronized prior to the start of replication</a:t>
            </a:r>
          </a:p>
          <a:p>
            <a:pPr lvl="1"/>
            <a:r>
              <a:rPr lang="en-US" dirty="0"/>
              <a:t>Transactions to source database are captured in logs and periodically transferred to remote host </a:t>
            </a:r>
          </a:p>
          <a:p>
            <a:endParaRPr lang="en-US" sz="2100" dirty="0"/>
          </a:p>
          <a:p>
            <a:endParaRPr lang="en-US" dirty="0"/>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0" name="Footer Placeholder 9"/>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Storage Array-based Remote Replication – 1  </a:t>
            </a:r>
          </a:p>
        </p:txBody>
      </p:sp>
      <p:sp>
        <p:nvSpPr>
          <p:cNvPr id="8" name="Content Placeholder 7"/>
          <p:cNvSpPr>
            <a:spLocks noGrp="1"/>
          </p:cNvSpPr>
          <p:nvPr>
            <p:ph idx="1"/>
          </p:nvPr>
        </p:nvSpPr>
        <p:spPr/>
        <p:txBody>
          <a:bodyPr/>
          <a:lstStyle/>
          <a:p>
            <a:r>
              <a:rPr lang="en-US" dirty="0"/>
              <a:t>Replication is performed by array-operating environment</a:t>
            </a:r>
          </a:p>
          <a:p>
            <a:r>
              <a:rPr lang="en-US" dirty="0"/>
              <a:t>Three replication methods: synchronous, asynchronous, and disk buffered</a:t>
            </a:r>
          </a:p>
          <a:p>
            <a:r>
              <a:rPr lang="en-US" dirty="0"/>
              <a:t>Synchronous </a:t>
            </a:r>
          </a:p>
          <a:p>
            <a:pPr lvl="1"/>
            <a:r>
              <a:rPr lang="en-US" dirty="0"/>
              <a:t>Writes are committed to both source and replica before it is acknowledged to host</a:t>
            </a:r>
          </a:p>
          <a:p>
            <a:r>
              <a:rPr lang="en-US" dirty="0"/>
              <a:t>Asynchronous </a:t>
            </a:r>
          </a:p>
          <a:p>
            <a:pPr lvl="1"/>
            <a:r>
              <a:rPr lang="en-US" dirty="0"/>
              <a:t>Writes are committed to source and immediately acknowledged to host</a:t>
            </a:r>
          </a:p>
          <a:p>
            <a:pPr lvl="1"/>
            <a:r>
              <a:rPr lang="en-US" dirty="0"/>
              <a:t>Data is buffered at source and transmitted to remote site later</a:t>
            </a: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9" name="Footer Placeholder 8"/>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Array-based Remote Replication – 2  </a:t>
            </a:r>
          </a:p>
        </p:txBody>
      </p:sp>
      <p:sp>
        <p:nvSpPr>
          <p:cNvPr id="6" name="Slide Number Placeholder 5"/>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pSp>
        <p:nvGrpSpPr>
          <p:cNvPr id="3" name="Group 30"/>
          <p:cNvGrpSpPr>
            <a:grpSpLocks/>
          </p:cNvGrpSpPr>
          <p:nvPr/>
        </p:nvGrpSpPr>
        <p:grpSpPr bwMode="auto">
          <a:xfrm>
            <a:off x="1162037" y="4376512"/>
            <a:ext cx="4963008" cy="304800"/>
            <a:chOff x="816" y="2592"/>
            <a:chExt cx="2968" cy="192"/>
          </a:xfrm>
        </p:grpSpPr>
        <p:sp>
          <p:nvSpPr>
            <p:cNvPr id="38" name="Rectangle 31"/>
            <p:cNvSpPr>
              <a:spLocks noChangeArrowheads="1"/>
            </p:cNvSpPr>
            <p:nvPr/>
          </p:nvSpPr>
          <p:spPr bwMode="gray">
            <a:xfrm>
              <a:off x="1084" y="2592"/>
              <a:ext cx="2700" cy="150"/>
            </a:xfrm>
            <a:prstGeom prst="rect">
              <a:avLst/>
            </a:prstGeom>
            <a:noFill/>
            <a:ln w="9525">
              <a:noFill/>
              <a:miter lim="800000"/>
              <a:headEnd/>
              <a:tailEnd/>
            </a:ln>
            <a:effectLst/>
          </p:spPr>
          <p:txBody>
            <a:bodyPr wrap="none" lIns="0" tIns="0" rIns="0" bIns="0">
              <a:spAutoFit/>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Arial" charset="0"/>
                </a:rPr>
                <a:t>Production host writes data to source device. </a:t>
              </a:r>
            </a:p>
          </p:txBody>
        </p:sp>
        <p:pic>
          <p:nvPicPr>
            <p:cNvPr id="39" name="Picture 32" descr="1"/>
            <p:cNvPicPr>
              <a:picLocks noChangeAspect="1" noChangeArrowheads="1"/>
            </p:cNvPicPr>
            <p:nvPr/>
          </p:nvPicPr>
          <p:blipFill>
            <a:blip r:embed="rId3" cstate="print">
              <a:clrChange>
                <a:clrFrom>
                  <a:srgbClr val="FDFFFF"/>
                </a:clrFrom>
                <a:clrTo>
                  <a:srgbClr val="FDFFFF">
                    <a:alpha val="0"/>
                  </a:srgbClr>
                </a:clrTo>
              </a:clrChange>
            </a:blip>
            <a:srcRect/>
            <a:stretch>
              <a:fillRect/>
            </a:stretch>
          </p:blipFill>
          <p:spPr bwMode="gray">
            <a:xfrm>
              <a:off x="816" y="2592"/>
              <a:ext cx="192" cy="192"/>
            </a:xfrm>
            <a:prstGeom prst="rect">
              <a:avLst/>
            </a:prstGeom>
            <a:noFill/>
          </p:spPr>
        </p:pic>
      </p:grpSp>
      <p:grpSp>
        <p:nvGrpSpPr>
          <p:cNvPr id="4" name="Group 33"/>
          <p:cNvGrpSpPr>
            <a:grpSpLocks/>
          </p:cNvGrpSpPr>
          <p:nvPr/>
        </p:nvGrpSpPr>
        <p:grpSpPr bwMode="auto">
          <a:xfrm>
            <a:off x="1162038" y="5196270"/>
            <a:ext cx="7190342" cy="304800"/>
            <a:chOff x="816" y="3168"/>
            <a:chExt cx="4300" cy="192"/>
          </a:xfrm>
        </p:grpSpPr>
        <p:sp>
          <p:nvSpPr>
            <p:cNvPr id="41" name="Rectangle 34"/>
            <p:cNvSpPr>
              <a:spLocks noChangeArrowheads="1"/>
            </p:cNvSpPr>
            <p:nvPr/>
          </p:nvSpPr>
          <p:spPr bwMode="gray">
            <a:xfrm>
              <a:off x="1084" y="3183"/>
              <a:ext cx="4032" cy="150"/>
            </a:xfrm>
            <a:prstGeom prst="rect">
              <a:avLst/>
            </a:prstGeom>
            <a:noFill/>
            <a:ln w="9525">
              <a:noFill/>
              <a:miter lim="800000"/>
              <a:headEnd/>
              <a:tailEnd/>
            </a:ln>
            <a:effectLst/>
          </p:spPr>
          <p:txBody>
            <a:bodyPr wrap="none" lIns="0" tIns="0" rIns="0" bIns="0">
              <a:spAutoFit/>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Arial" charset="0"/>
                </a:rPr>
                <a:t>Data from local replica is transmitted to the remote replica at target.</a:t>
              </a:r>
            </a:p>
          </p:txBody>
        </p:sp>
        <p:pic>
          <p:nvPicPr>
            <p:cNvPr id="42" name="Picture 35" descr="3"/>
            <p:cNvPicPr>
              <a:picLocks noChangeAspect="1" noChangeArrowheads="1"/>
            </p:cNvPicPr>
            <p:nvPr/>
          </p:nvPicPr>
          <p:blipFill>
            <a:blip r:embed="rId4" cstate="print">
              <a:clrChange>
                <a:clrFrom>
                  <a:srgbClr val="FFFEFF"/>
                </a:clrFrom>
                <a:clrTo>
                  <a:srgbClr val="FFFEFF">
                    <a:alpha val="0"/>
                  </a:srgbClr>
                </a:clrTo>
              </a:clrChange>
            </a:blip>
            <a:srcRect/>
            <a:stretch>
              <a:fillRect/>
            </a:stretch>
          </p:blipFill>
          <p:spPr bwMode="gray">
            <a:xfrm>
              <a:off x="816" y="3168"/>
              <a:ext cx="192" cy="192"/>
            </a:xfrm>
            <a:prstGeom prst="rect">
              <a:avLst/>
            </a:prstGeom>
            <a:noFill/>
          </p:spPr>
        </p:pic>
      </p:grpSp>
      <p:grpSp>
        <p:nvGrpSpPr>
          <p:cNvPr id="9" name="Group 36"/>
          <p:cNvGrpSpPr>
            <a:grpSpLocks/>
          </p:cNvGrpSpPr>
          <p:nvPr/>
        </p:nvGrpSpPr>
        <p:grpSpPr bwMode="auto">
          <a:xfrm>
            <a:off x="1162036" y="4786391"/>
            <a:ext cx="6362613" cy="304800"/>
            <a:chOff x="816" y="2880"/>
            <a:chExt cx="3805" cy="192"/>
          </a:xfrm>
        </p:grpSpPr>
        <p:pic>
          <p:nvPicPr>
            <p:cNvPr id="44" name="Picture 37" descr="2"/>
            <p:cNvPicPr>
              <a:picLocks noChangeAspect="1" noChangeArrowheads="1"/>
            </p:cNvPicPr>
            <p:nvPr/>
          </p:nvPicPr>
          <p:blipFill>
            <a:blip r:embed="rId5" cstate="print">
              <a:clrChange>
                <a:clrFrom>
                  <a:srgbClr val="FDFFFF"/>
                </a:clrFrom>
                <a:clrTo>
                  <a:srgbClr val="FDFFFF">
                    <a:alpha val="0"/>
                  </a:srgbClr>
                </a:clrTo>
              </a:clrChange>
            </a:blip>
            <a:srcRect/>
            <a:stretch>
              <a:fillRect/>
            </a:stretch>
          </p:blipFill>
          <p:spPr bwMode="gray">
            <a:xfrm>
              <a:off x="816" y="2880"/>
              <a:ext cx="192" cy="192"/>
            </a:xfrm>
            <a:prstGeom prst="rect">
              <a:avLst/>
            </a:prstGeom>
            <a:noFill/>
          </p:spPr>
        </p:pic>
        <p:sp>
          <p:nvSpPr>
            <p:cNvPr id="45" name="Rectangle 38"/>
            <p:cNvSpPr>
              <a:spLocks noChangeArrowheads="1"/>
            </p:cNvSpPr>
            <p:nvPr/>
          </p:nvSpPr>
          <p:spPr bwMode="gray">
            <a:xfrm>
              <a:off x="1084" y="2895"/>
              <a:ext cx="3537" cy="150"/>
            </a:xfrm>
            <a:prstGeom prst="rect">
              <a:avLst/>
            </a:prstGeom>
            <a:noFill/>
            <a:ln w="9525">
              <a:noFill/>
              <a:miter lim="800000"/>
              <a:headEnd/>
              <a:tailEnd/>
            </a:ln>
            <a:effectLst/>
          </p:spPr>
          <p:txBody>
            <a:bodyPr wrap="none" lIns="0" tIns="0" rIns="0" bIns="0">
              <a:spAutoFit/>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Arial" charset="0"/>
                </a:rPr>
                <a:t>A consistent PIT local replica of the source device is created.</a:t>
              </a:r>
            </a:p>
          </p:txBody>
        </p:sp>
      </p:grpSp>
      <p:grpSp>
        <p:nvGrpSpPr>
          <p:cNvPr id="10" name="Group 162"/>
          <p:cNvGrpSpPr>
            <a:grpSpLocks/>
          </p:cNvGrpSpPr>
          <p:nvPr/>
        </p:nvGrpSpPr>
        <p:grpSpPr bwMode="auto">
          <a:xfrm>
            <a:off x="1162036" y="5606146"/>
            <a:ext cx="7524764" cy="304800"/>
            <a:chOff x="816" y="2877"/>
            <a:chExt cx="4500" cy="192"/>
          </a:xfrm>
        </p:grpSpPr>
        <p:sp>
          <p:nvSpPr>
            <p:cNvPr id="47" name="Rectangle 40"/>
            <p:cNvSpPr>
              <a:spLocks noChangeArrowheads="1"/>
            </p:cNvSpPr>
            <p:nvPr/>
          </p:nvSpPr>
          <p:spPr bwMode="gray">
            <a:xfrm>
              <a:off x="1084" y="2900"/>
              <a:ext cx="4232" cy="150"/>
            </a:xfrm>
            <a:prstGeom prst="rect">
              <a:avLst/>
            </a:prstGeom>
            <a:noFill/>
            <a:ln w="9525">
              <a:noFill/>
              <a:miter lim="800000"/>
              <a:headEnd/>
              <a:tailEnd/>
            </a:ln>
            <a:effectLst/>
          </p:spPr>
          <p:txBody>
            <a:bodyPr wrap="square" lIns="0" tIns="0" rIns="0" bIns="0">
              <a:spAutoFit/>
            </a:bodyPr>
            <a:lstStyle/>
            <a:p>
              <a:pPr marL="0" marR="0" lvl="0" indent="0" algn="l" defTabSz="914400" rtl="0" eaLnBrk="1" fontAlgn="base" latinLnBrk="0" hangingPunct="1">
                <a:lnSpc>
                  <a:spcPct val="85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itchFamily="34" charset="0"/>
                  <a:ea typeface="+mn-ea"/>
                  <a:cs typeface="Arial" charset="0"/>
                </a:rPr>
                <a:t>Optionally a PIT local replica of the remote replica on the target is created. </a:t>
              </a:r>
            </a:p>
          </p:txBody>
        </p:sp>
        <p:pic>
          <p:nvPicPr>
            <p:cNvPr id="48" name="Picture 41" descr="4"/>
            <p:cNvPicPr>
              <a:picLocks noChangeAspect="1" noChangeArrowheads="1"/>
            </p:cNvPicPr>
            <p:nvPr/>
          </p:nvPicPr>
          <p:blipFill>
            <a:blip r:embed="rId6" cstate="print">
              <a:clrChange>
                <a:clrFrom>
                  <a:srgbClr val="FFFEFF"/>
                </a:clrFrom>
                <a:clrTo>
                  <a:srgbClr val="FFFEFF">
                    <a:alpha val="0"/>
                  </a:srgbClr>
                </a:clrTo>
              </a:clrChange>
            </a:blip>
            <a:srcRect/>
            <a:stretch>
              <a:fillRect/>
            </a:stretch>
          </p:blipFill>
          <p:spPr bwMode="gray">
            <a:xfrm>
              <a:off x="816" y="2877"/>
              <a:ext cx="192" cy="192"/>
            </a:xfrm>
            <a:prstGeom prst="rect">
              <a:avLst/>
            </a:prstGeom>
            <a:noFill/>
          </p:spPr>
        </p:pic>
      </p:grpSp>
      <p:grpSp>
        <p:nvGrpSpPr>
          <p:cNvPr id="54" name="Group 53"/>
          <p:cNvGrpSpPr/>
          <p:nvPr/>
        </p:nvGrpSpPr>
        <p:grpSpPr>
          <a:xfrm>
            <a:off x="1237344" y="1719718"/>
            <a:ext cx="7105738" cy="2318882"/>
            <a:chOff x="1237344" y="1719718"/>
            <a:chExt cx="7105738" cy="2318882"/>
          </a:xfrm>
        </p:grpSpPr>
        <p:sp>
          <p:nvSpPr>
            <p:cNvPr id="7" name="Rectangle 709"/>
            <p:cNvSpPr>
              <a:spLocks noChangeArrowheads="1"/>
            </p:cNvSpPr>
            <p:nvPr/>
          </p:nvSpPr>
          <p:spPr bwMode="auto">
            <a:xfrm>
              <a:off x="6002338" y="1719718"/>
              <a:ext cx="1066800" cy="1981200"/>
            </a:xfrm>
            <a:prstGeom prst="rect">
              <a:avLst/>
            </a:prstGeom>
            <a:solidFill>
              <a:srgbClr val="D1CC06">
                <a:alpha val="24706"/>
              </a:srgb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Rectangle 708"/>
            <p:cNvSpPr>
              <a:spLocks noChangeArrowheads="1"/>
            </p:cNvSpPr>
            <p:nvPr/>
          </p:nvSpPr>
          <p:spPr bwMode="auto">
            <a:xfrm>
              <a:off x="3335338" y="1719718"/>
              <a:ext cx="1066800" cy="1981200"/>
            </a:xfrm>
            <a:prstGeom prst="rect">
              <a:avLst/>
            </a:prstGeom>
            <a:solidFill>
              <a:srgbClr val="D1CC06">
                <a:alpha val="24706"/>
              </a:srgb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 name="Rectangle 710"/>
            <p:cNvSpPr>
              <a:spLocks noChangeArrowheads="1"/>
            </p:cNvSpPr>
            <p:nvPr/>
          </p:nvSpPr>
          <p:spPr bwMode="auto">
            <a:xfrm>
              <a:off x="3360390" y="3823156"/>
              <a:ext cx="987258"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Array </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5" name="Rectangle 711"/>
            <p:cNvSpPr>
              <a:spLocks noChangeArrowheads="1"/>
            </p:cNvSpPr>
            <p:nvPr/>
          </p:nvSpPr>
          <p:spPr bwMode="auto">
            <a:xfrm>
              <a:off x="6119834" y="3836726"/>
              <a:ext cx="772776" cy="184666"/>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Target Array</a:t>
              </a:r>
              <a:endParaRPr kumimoji="0" lang="en-US" sz="1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6" name="Rectangle 712"/>
            <p:cNvSpPr>
              <a:spLocks noChangeArrowheads="1"/>
            </p:cNvSpPr>
            <p:nvPr/>
          </p:nvSpPr>
          <p:spPr bwMode="auto">
            <a:xfrm>
              <a:off x="4485014" y="3459792"/>
              <a:ext cx="955518"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Local Replica</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7" name="Rectangle 713"/>
            <p:cNvSpPr>
              <a:spLocks noChangeArrowheads="1"/>
            </p:cNvSpPr>
            <p:nvPr/>
          </p:nvSpPr>
          <p:spPr bwMode="auto">
            <a:xfrm>
              <a:off x="7186162" y="3396118"/>
              <a:ext cx="1156920"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Replica</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8" name="Rectangle 714"/>
            <p:cNvSpPr>
              <a:spLocks noChangeArrowheads="1"/>
            </p:cNvSpPr>
            <p:nvPr/>
          </p:nvSpPr>
          <p:spPr bwMode="auto">
            <a:xfrm>
              <a:off x="7177066" y="2058030"/>
              <a:ext cx="955518"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Local Replica</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9" name="Rectangle 715"/>
            <p:cNvSpPr>
              <a:spLocks noChangeArrowheads="1"/>
            </p:cNvSpPr>
            <p:nvPr/>
          </p:nvSpPr>
          <p:spPr bwMode="auto">
            <a:xfrm>
              <a:off x="1237344" y="3787448"/>
              <a:ext cx="1204497"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Production Host</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21" name="Rectangle 717"/>
            <p:cNvSpPr>
              <a:spLocks noChangeArrowheads="1"/>
            </p:cNvSpPr>
            <p:nvPr/>
          </p:nvSpPr>
          <p:spPr bwMode="auto">
            <a:xfrm>
              <a:off x="4492852" y="1933804"/>
              <a:ext cx="1041695"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Device</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22" name="Line 718"/>
            <p:cNvSpPr>
              <a:spLocks noChangeShapeType="1"/>
            </p:cNvSpPr>
            <p:nvPr/>
          </p:nvSpPr>
          <p:spPr bwMode="auto">
            <a:xfrm flipH="1">
              <a:off x="4097338" y="2100718"/>
              <a:ext cx="381000" cy="228600"/>
            </a:xfrm>
            <a:prstGeom prst="line">
              <a:avLst/>
            </a:prstGeom>
            <a:noFill/>
            <a:ln w="1905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3" name="Line 719"/>
            <p:cNvSpPr>
              <a:spLocks noChangeShapeType="1"/>
            </p:cNvSpPr>
            <p:nvPr/>
          </p:nvSpPr>
          <p:spPr bwMode="auto">
            <a:xfrm flipH="1" flipV="1">
              <a:off x="4097338" y="3243718"/>
              <a:ext cx="381000" cy="228600"/>
            </a:xfrm>
            <a:prstGeom prst="line">
              <a:avLst/>
            </a:prstGeom>
            <a:noFill/>
            <a:ln w="1905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4" name="Line 720"/>
            <p:cNvSpPr>
              <a:spLocks noChangeShapeType="1"/>
            </p:cNvSpPr>
            <p:nvPr/>
          </p:nvSpPr>
          <p:spPr bwMode="auto">
            <a:xfrm flipH="1" flipV="1">
              <a:off x="6764338" y="3243718"/>
              <a:ext cx="381000" cy="228600"/>
            </a:xfrm>
            <a:prstGeom prst="line">
              <a:avLst/>
            </a:prstGeom>
            <a:noFill/>
            <a:ln w="1905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5" name="Line 721"/>
            <p:cNvSpPr>
              <a:spLocks noChangeShapeType="1"/>
            </p:cNvSpPr>
            <p:nvPr/>
          </p:nvSpPr>
          <p:spPr bwMode="auto">
            <a:xfrm flipH="1">
              <a:off x="6764338" y="2176918"/>
              <a:ext cx="381000" cy="152400"/>
            </a:xfrm>
            <a:prstGeom prst="line">
              <a:avLst/>
            </a:prstGeom>
            <a:noFill/>
            <a:ln w="1905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Line 722"/>
            <p:cNvSpPr>
              <a:spLocks noChangeShapeType="1"/>
            </p:cNvSpPr>
            <p:nvPr/>
          </p:nvSpPr>
          <p:spPr bwMode="auto">
            <a:xfrm>
              <a:off x="2257425" y="2547972"/>
              <a:ext cx="914400" cy="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Line 723"/>
            <p:cNvSpPr>
              <a:spLocks noChangeShapeType="1"/>
            </p:cNvSpPr>
            <p:nvPr/>
          </p:nvSpPr>
          <p:spPr bwMode="auto">
            <a:xfrm>
              <a:off x="3475212" y="2405518"/>
              <a:ext cx="0" cy="76200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Line 724"/>
            <p:cNvSpPr>
              <a:spLocks noChangeShapeType="1"/>
            </p:cNvSpPr>
            <p:nvPr/>
          </p:nvSpPr>
          <p:spPr bwMode="auto">
            <a:xfrm>
              <a:off x="4173538" y="3148468"/>
              <a:ext cx="2011680" cy="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9" name="Line 725"/>
            <p:cNvSpPr>
              <a:spLocks noChangeShapeType="1"/>
            </p:cNvSpPr>
            <p:nvPr/>
          </p:nvSpPr>
          <p:spPr bwMode="auto">
            <a:xfrm flipV="1">
              <a:off x="6916738" y="2329318"/>
              <a:ext cx="0" cy="76200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33" name="Picture 22" descr="1"/>
            <p:cNvPicPr>
              <a:picLocks noChangeAspect="1" noChangeArrowheads="1"/>
            </p:cNvPicPr>
            <p:nvPr/>
          </p:nvPicPr>
          <p:blipFill>
            <a:blip r:embed="rId3" cstate="print">
              <a:clrChange>
                <a:clrFrom>
                  <a:srgbClr val="FDFFFF"/>
                </a:clrFrom>
                <a:clrTo>
                  <a:srgbClr val="FDFFFF">
                    <a:alpha val="0"/>
                  </a:srgbClr>
                </a:clrTo>
              </a:clrChange>
            </a:blip>
            <a:srcRect/>
            <a:stretch>
              <a:fillRect/>
            </a:stretch>
          </p:blipFill>
          <p:spPr bwMode="gray">
            <a:xfrm rot="60000">
              <a:off x="2513471" y="2182646"/>
              <a:ext cx="304800" cy="304800"/>
            </a:xfrm>
            <a:prstGeom prst="rect">
              <a:avLst/>
            </a:prstGeom>
            <a:noFill/>
          </p:spPr>
        </p:pic>
        <p:pic>
          <p:nvPicPr>
            <p:cNvPr id="34" name="Picture 28" descr="3"/>
            <p:cNvPicPr>
              <a:picLocks noChangeAspect="1" noChangeArrowheads="1"/>
            </p:cNvPicPr>
            <p:nvPr/>
          </p:nvPicPr>
          <p:blipFill>
            <a:blip r:embed="rId4" cstate="print">
              <a:clrChange>
                <a:clrFrom>
                  <a:srgbClr val="FFFEFF"/>
                </a:clrFrom>
                <a:clrTo>
                  <a:srgbClr val="FFFEFF">
                    <a:alpha val="0"/>
                  </a:srgbClr>
                </a:clrTo>
              </a:clrChange>
            </a:blip>
            <a:srcRect/>
            <a:stretch>
              <a:fillRect/>
            </a:stretch>
          </p:blipFill>
          <p:spPr bwMode="gray">
            <a:xfrm>
              <a:off x="5081589" y="2775681"/>
              <a:ext cx="304800" cy="304800"/>
            </a:xfrm>
            <a:prstGeom prst="rect">
              <a:avLst/>
            </a:prstGeom>
            <a:noFill/>
          </p:spPr>
        </p:pic>
        <p:pic>
          <p:nvPicPr>
            <p:cNvPr id="35" name="Picture 31" descr="4"/>
            <p:cNvPicPr>
              <a:picLocks noChangeAspect="1" noChangeArrowheads="1"/>
            </p:cNvPicPr>
            <p:nvPr/>
          </p:nvPicPr>
          <p:blipFill>
            <a:blip r:embed="rId6" cstate="print">
              <a:clrChange>
                <a:clrFrom>
                  <a:srgbClr val="FFFEFF"/>
                </a:clrFrom>
                <a:clrTo>
                  <a:srgbClr val="FFFEFF">
                    <a:alpha val="0"/>
                  </a:srgbClr>
                </a:clrTo>
              </a:clrChange>
            </a:blip>
            <a:srcRect/>
            <a:stretch>
              <a:fillRect/>
            </a:stretch>
          </p:blipFill>
          <p:spPr bwMode="gray">
            <a:xfrm rot="60000">
              <a:off x="6561285" y="2613807"/>
              <a:ext cx="304800" cy="304800"/>
            </a:xfrm>
            <a:prstGeom prst="rect">
              <a:avLst/>
            </a:prstGeom>
            <a:noFill/>
          </p:spPr>
        </p:pic>
        <p:pic>
          <p:nvPicPr>
            <p:cNvPr id="36" name="Picture 25" descr="2"/>
            <p:cNvPicPr>
              <a:picLocks noChangeAspect="1" noChangeArrowheads="1"/>
            </p:cNvPicPr>
            <p:nvPr/>
          </p:nvPicPr>
          <p:blipFill>
            <a:blip r:embed="rId5" cstate="print">
              <a:clrChange>
                <a:clrFrom>
                  <a:srgbClr val="FDFFFF"/>
                </a:clrFrom>
                <a:clrTo>
                  <a:srgbClr val="FDFFFF">
                    <a:alpha val="0"/>
                  </a:srgbClr>
                </a:clrTo>
              </a:clrChange>
            </a:blip>
            <a:srcRect/>
            <a:stretch>
              <a:fillRect/>
            </a:stretch>
          </p:blipFill>
          <p:spPr bwMode="gray">
            <a:xfrm>
              <a:off x="3512790" y="2624740"/>
              <a:ext cx="304800" cy="304800"/>
            </a:xfrm>
            <a:prstGeom prst="rect">
              <a:avLst/>
            </a:prstGeom>
            <a:noFill/>
          </p:spPr>
        </p:pic>
        <p:pic>
          <p:nvPicPr>
            <p:cNvPr id="49" name="Picture 7" descr="C:\Documents and Settings\sridhs\Desktop\ISM Book L3\colored Icons\Host.png"/>
            <p:cNvPicPr>
              <a:picLocks noChangeAspect="1" noChangeArrowheads="1"/>
            </p:cNvPicPr>
            <p:nvPr/>
          </p:nvPicPr>
          <p:blipFill>
            <a:blip r:embed="rId7" cstate="print"/>
            <a:srcRect/>
            <a:stretch>
              <a:fillRect/>
            </a:stretch>
          </p:blipFill>
          <p:spPr bwMode="auto">
            <a:xfrm>
              <a:off x="1458951" y="2011843"/>
              <a:ext cx="751732" cy="1737610"/>
            </a:xfrm>
            <a:prstGeom prst="rect">
              <a:avLst/>
            </a:prstGeom>
            <a:noFill/>
          </p:spPr>
        </p:pic>
        <p:pic>
          <p:nvPicPr>
            <p:cNvPr id="50" name="Picture 10" descr="C:\Documents and Settings\sridhs\Desktop\ISM Book L3\colored Icons\Standard disk.png"/>
            <p:cNvPicPr>
              <a:picLocks noChangeAspect="1" noChangeArrowheads="1"/>
            </p:cNvPicPr>
            <p:nvPr/>
          </p:nvPicPr>
          <p:blipFill>
            <a:blip r:embed="rId8" cstate="print"/>
            <a:srcRect/>
            <a:stretch>
              <a:fillRect/>
            </a:stretch>
          </p:blipFill>
          <p:spPr bwMode="auto">
            <a:xfrm flipH="1">
              <a:off x="3552787" y="2008596"/>
              <a:ext cx="533400" cy="533400"/>
            </a:xfrm>
            <a:prstGeom prst="rect">
              <a:avLst/>
            </a:prstGeom>
            <a:noFill/>
          </p:spPr>
        </p:pic>
        <p:pic>
          <p:nvPicPr>
            <p:cNvPr id="51" name="Picture 10" descr="C:\Documents and Settings\sridhs\Desktop\ISM Book L3\colored Icons\Standard disk.png"/>
            <p:cNvPicPr>
              <a:picLocks noChangeAspect="1" noChangeArrowheads="1"/>
            </p:cNvPicPr>
            <p:nvPr/>
          </p:nvPicPr>
          <p:blipFill>
            <a:blip r:embed="rId8" cstate="print"/>
            <a:srcRect/>
            <a:stretch>
              <a:fillRect/>
            </a:stretch>
          </p:blipFill>
          <p:spPr bwMode="auto">
            <a:xfrm flipH="1">
              <a:off x="3563938" y="3030792"/>
              <a:ext cx="533400" cy="533400"/>
            </a:xfrm>
            <a:prstGeom prst="rect">
              <a:avLst/>
            </a:prstGeom>
            <a:noFill/>
          </p:spPr>
        </p:pic>
        <p:pic>
          <p:nvPicPr>
            <p:cNvPr id="52" name="Picture 10" descr="C:\Documents and Settings\sridhs\Desktop\ISM Book L3\colored Icons\Standard disk.png"/>
            <p:cNvPicPr>
              <a:picLocks noChangeAspect="1" noChangeArrowheads="1"/>
            </p:cNvPicPr>
            <p:nvPr/>
          </p:nvPicPr>
          <p:blipFill>
            <a:blip r:embed="rId8" cstate="print"/>
            <a:srcRect/>
            <a:stretch>
              <a:fillRect/>
            </a:stretch>
          </p:blipFill>
          <p:spPr bwMode="auto">
            <a:xfrm flipH="1">
              <a:off x="6188191" y="2029041"/>
              <a:ext cx="533400" cy="533400"/>
            </a:xfrm>
            <a:prstGeom prst="rect">
              <a:avLst/>
            </a:prstGeom>
            <a:noFill/>
          </p:spPr>
        </p:pic>
        <p:pic>
          <p:nvPicPr>
            <p:cNvPr id="53" name="Picture 10" descr="C:\Documents and Settings\sridhs\Desktop\ISM Book L3\colored Icons\Standard disk.png"/>
            <p:cNvPicPr>
              <a:picLocks noChangeAspect="1" noChangeArrowheads="1"/>
            </p:cNvPicPr>
            <p:nvPr/>
          </p:nvPicPr>
          <p:blipFill>
            <a:blip r:embed="rId8" cstate="print"/>
            <a:srcRect/>
            <a:stretch>
              <a:fillRect/>
            </a:stretch>
          </p:blipFill>
          <p:spPr bwMode="auto">
            <a:xfrm flipH="1">
              <a:off x="6208636" y="3030792"/>
              <a:ext cx="533400" cy="533400"/>
            </a:xfrm>
            <a:prstGeom prst="rect">
              <a:avLst/>
            </a:prstGeom>
            <a:noFill/>
          </p:spPr>
        </p:pic>
      </p:grpSp>
      <p:sp>
        <p:nvSpPr>
          <p:cNvPr id="43" name="Footer Placeholder 42"/>
          <p:cNvSpPr>
            <a:spLocks noGrp="1"/>
          </p:cNvSpPr>
          <p:nvPr>
            <p:ph type="ftr"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46" name="Content Placeholder 7"/>
          <p:cNvSpPr>
            <a:spLocks noGrp="1"/>
          </p:cNvSpPr>
          <p:nvPr>
            <p:ph idx="1"/>
          </p:nvPr>
        </p:nvSpPr>
        <p:spPr>
          <a:xfrm>
            <a:off x="304800" y="914400"/>
            <a:ext cx="8458200" cy="533400"/>
          </a:xfrm>
        </p:spPr>
        <p:txBody>
          <a:bodyPr/>
          <a:lstStyle/>
          <a:p>
            <a:r>
              <a:rPr lang="en-US" dirty="0"/>
              <a:t>Disk-buffered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839200" cy="762000"/>
          </a:xfrm>
        </p:spPr>
        <p:txBody>
          <a:bodyPr/>
          <a:lstStyle/>
          <a:p>
            <a:r>
              <a:rPr lang="en-US" dirty="0"/>
              <a:t>Network-based Replication – Continuous Data Protection</a:t>
            </a:r>
          </a:p>
        </p:txBody>
      </p:sp>
      <p:sp>
        <p:nvSpPr>
          <p:cNvPr id="7" name="Content Placeholder 6"/>
          <p:cNvSpPr>
            <a:spLocks noGrp="1"/>
          </p:cNvSpPr>
          <p:nvPr>
            <p:ph idx="1"/>
          </p:nvPr>
        </p:nvSpPr>
        <p:spPr/>
        <p:txBody>
          <a:bodyPr/>
          <a:lstStyle/>
          <a:p>
            <a:r>
              <a:rPr lang="en-US" dirty="0"/>
              <a:t>Provides any-point-in-time recovery capability during its normal operation </a:t>
            </a:r>
          </a:p>
          <a:p>
            <a:r>
              <a:rPr lang="en-US" dirty="0"/>
              <a:t>Components of CDP</a:t>
            </a:r>
          </a:p>
          <a:p>
            <a:pPr lvl="1"/>
            <a:r>
              <a:rPr lang="en-US" dirty="0"/>
              <a:t>CDP appliance</a:t>
            </a:r>
          </a:p>
          <a:p>
            <a:pPr lvl="1"/>
            <a:r>
              <a:rPr lang="en-US" dirty="0"/>
              <a:t>Write splitter</a:t>
            </a:r>
          </a:p>
          <a:p>
            <a:pPr lvl="1"/>
            <a:r>
              <a:rPr lang="en-US" dirty="0"/>
              <a:t>Journal volume</a:t>
            </a:r>
          </a:p>
          <a:p>
            <a:r>
              <a:rPr lang="en-US" dirty="0"/>
              <a:t>CDP appliances are present at both source and remote sites</a:t>
            </a:r>
          </a:p>
          <a:p>
            <a:r>
              <a:rPr lang="en-US" dirty="0"/>
              <a:t>Supports both synchronous and asynchronous replication modes</a:t>
            </a: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8" name="Footer Placeholder 7"/>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CDP Remote Replication Operation</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pSp>
        <p:nvGrpSpPr>
          <p:cNvPr id="160" name="Group 159"/>
          <p:cNvGrpSpPr/>
          <p:nvPr/>
        </p:nvGrpSpPr>
        <p:grpSpPr>
          <a:xfrm>
            <a:off x="221976" y="838200"/>
            <a:ext cx="8593065" cy="5221115"/>
            <a:chOff x="221976" y="838200"/>
            <a:chExt cx="8593065" cy="5221115"/>
          </a:xfrm>
        </p:grpSpPr>
        <p:sp>
          <p:nvSpPr>
            <p:cNvPr id="183" name="Line 37"/>
            <p:cNvSpPr>
              <a:spLocks noChangeShapeType="1"/>
            </p:cNvSpPr>
            <p:nvPr/>
          </p:nvSpPr>
          <p:spPr bwMode="auto">
            <a:xfrm flipH="1" flipV="1">
              <a:off x="7914861" y="3581400"/>
              <a:ext cx="0" cy="676656"/>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6" name="Line 37"/>
            <p:cNvSpPr>
              <a:spLocks noChangeShapeType="1"/>
            </p:cNvSpPr>
            <p:nvPr/>
          </p:nvSpPr>
          <p:spPr bwMode="auto">
            <a:xfrm flipV="1">
              <a:off x="5916432" y="3352800"/>
              <a:ext cx="1554480"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Line 37"/>
            <p:cNvSpPr>
              <a:spLocks noChangeShapeType="1"/>
            </p:cNvSpPr>
            <p:nvPr/>
          </p:nvSpPr>
          <p:spPr bwMode="auto">
            <a:xfrm flipV="1">
              <a:off x="3027558" y="3320894"/>
              <a:ext cx="1554480"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44" name="Line 37"/>
            <p:cNvSpPr>
              <a:spLocks noChangeShapeType="1"/>
            </p:cNvSpPr>
            <p:nvPr/>
          </p:nvSpPr>
          <p:spPr bwMode="auto">
            <a:xfrm flipV="1">
              <a:off x="1846487" y="3310529"/>
              <a:ext cx="283464" cy="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cxnSp>
          <p:nvCxnSpPr>
            <p:cNvPr id="198" name="Straight Connector 197"/>
            <p:cNvCxnSpPr/>
            <p:nvPr/>
          </p:nvCxnSpPr>
          <p:spPr>
            <a:xfrm>
              <a:off x="4038600" y="3352800"/>
              <a:ext cx="2209800" cy="0"/>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pic>
          <p:nvPicPr>
            <p:cNvPr id="193" name="Picture 15"/>
            <p:cNvPicPr>
              <a:picLocks noChangeAspect="1" noChangeArrowheads="1"/>
            </p:cNvPicPr>
            <p:nvPr/>
          </p:nvPicPr>
          <p:blipFill>
            <a:blip r:embed="rId3" cstate="print"/>
            <a:srcRect/>
            <a:stretch>
              <a:fillRect/>
            </a:stretch>
          </p:blipFill>
          <p:spPr bwMode="auto">
            <a:xfrm>
              <a:off x="7442108" y="3016404"/>
              <a:ext cx="939892" cy="609600"/>
            </a:xfrm>
            <a:prstGeom prst="rect">
              <a:avLst/>
            </a:prstGeom>
            <a:noFill/>
            <a:ln w="9525">
              <a:noFill/>
              <a:miter lim="800000"/>
              <a:headEnd/>
              <a:tailEnd/>
            </a:ln>
            <a:effectLst/>
          </p:spPr>
        </p:pic>
        <p:sp>
          <p:nvSpPr>
            <p:cNvPr id="194" name="Rectangle 1910"/>
            <p:cNvSpPr>
              <a:spLocks noChangeArrowheads="1"/>
            </p:cNvSpPr>
            <p:nvPr/>
          </p:nvSpPr>
          <p:spPr bwMode="auto">
            <a:xfrm>
              <a:off x="7745134" y="3204262"/>
              <a:ext cx="310406" cy="215444"/>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SAN</a:t>
              </a:r>
            </a:p>
          </p:txBody>
        </p:sp>
        <p:pic>
          <p:nvPicPr>
            <p:cNvPr id="188" name="Picture 15"/>
            <p:cNvPicPr>
              <a:picLocks noChangeAspect="1" noChangeArrowheads="1"/>
            </p:cNvPicPr>
            <p:nvPr/>
          </p:nvPicPr>
          <p:blipFill>
            <a:blip r:embed="rId3" cstate="print"/>
            <a:srcRect/>
            <a:stretch>
              <a:fillRect/>
            </a:stretch>
          </p:blipFill>
          <p:spPr bwMode="auto">
            <a:xfrm>
              <a:off x="2119259" y="3005253"/>
              <a:ext cx="939892" cy="609600"/>
            </a:xfrm>
            <a:prstGeom prst="rect">
              <a:avLst/>
            </a:prstGeom>
            <a:noFill/>
            <a:ln w="9525">
              <a:noFill/>
              <a:miter lim="800000"/>
              <a:headEnd/>
              <a:tailEnd/>
            </a:ln>
            <a:effectLst/>
          </p:spPr>
        </p:pic>
        <p:sp>
          <p:nvSpPr>
            <p:cNvPr id="161" name="Rectangle 1910"/>
            <p:cNvSpPr>
              <a:spLocks noChangeArrowheads="1"/>
            </p:cNvSpPr>
            <p:nvPr/>
          </p:nvSpPr>
          <p:spPr bwMode="auto">
            <a:xfrm>
              <a:off x="2422285" y="3193111"/>
              <a:ext cx="310406" cy="215444"/>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SAN</a:t>
              </a:r>
            </a:p>
          </p:txBody>
        </p:sp>
        <p:sp>
          <p:nvSpPr>
            <p:cNvPr id="10" name="Line 37"/>
            <p:cNvSpPr>
              <a:spLocks noChangeShapeType="1"/>
            </p:cNvSpPr>
            <p:nvPr/>
          </p:nvSpPr>
          <p:spPr bwMode="auto">
            <a:xfrm flipH="1" flipV="1">
              <a:off x="2566332" y="1873002"/>
              <a:ext cx="0" cy="1143000"/>
            </a:xfrm>
            <a:prstGeom prst="line">
              <a:avLst/>
            </a:prstGeom>
            <a:noFill/>
            <a:ln w="38100">
              <a:solidFill>
                <a:srgbClr val="FF9900"/>
              </a:solidFill>
              <a:round/>
              <a:headEn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5" name="Rectangle 6"/>
            <p:cNvSpPr>
              <a:spLocks noChangeArrowheads="1"/>
            </p:cNvSpPr>
            <p:nvPr/>
          </p:nvSpPr>
          <p:spPr bwMode="gray">
            <a:xfrm>
              <a:off x="1568604" y="1340004"/>
              <a:ext cx="906463" cy="30777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Host</a:t>
              </a:r>
            </a:p>
          </p:txBody>
        </p:sp>
        <p:sp>
          <p:nvSpPr>
            <p:cNvPr id="16" name="Rectangle 6"/>
            <p:cNvSpPr>
              <a:spLocks noChangeArrowheads="1"/>
            </p:cNvSpPr>
            <p:nvPr/>
          </p:nvSpPr>
          <p:spPr bwMode="gray">
            <a:xfrm>
              <a:off x="338253" y="3382296"/>
              <a:ext cx="1143000" cy="43088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Production Volume</a:t>
              </a:r>
            </a:p>
          </p:txBody>
        </p:sp>
        <p:sp>
          <p:nvSpPr>
            <p:cNvPr id="17" name="Rectangle 6"/>
            <p:cNvSpPr>
              <a:spLocks noChangeArrowheads="1"/>
            </p:cNvSpPr>
            <p:nvPr/>
          </p:nvSpPr>
          <p:spPr bwMode="gray">
            <a:xfrm>
              <a:off x="3279918" y="3455840"/>
              <a:ext cx="1295400" cy="523220"/>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Local</a:t>
              </a:r>
            </a:p>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CDP Appliance</a:t>
              </a:r>
            </a:p>
          </p:txBody>
        </p:sp>
        <p:sp>
          <p:nvSpPr>
            <p:cNvPr id="18" name="Rectangle 6"/>
            <p:cNvSpPr>
              <a:spLocks noChangeArrowheads="1"/>
            </p:cNvSpPr>
            <p:nvPr/>
          </p:nvSpPr>
          <p:spPr bwMode="gray">
            <a:xfrm>
              <a:off x="7889093" y="5217877"/>
              <a:ext cx="925948" cy="246221"/>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Replica</a:t>
              </a:r>
            </a:p>
          </p:txBody>
        </p:sp>
        <p:sp>
          <p:nvSpPr>
            <p:cNvPr id="19" name="Rectangle 6"/>
            <p:cNvSpPr>
              <a:spLocks noChangeArrowheads="1"/>
            </p:cNvSpPr>
            <p:nvPr/>
          </p:nvSpPr>
          <p:spPr bwMode="gray">
            <a:xfrm>
              <a:off x="7107045" y="5232264"/>
              <a:ext cx="914400" cy="246221"/>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CDP Journal</a:t>
              </a:r>
            </a:p>
          </p:txBody>
        </p:sp>
        <p:sp>
          <p:nvSpPr>
            <p:cNvPr id="142" name="Rectangle 6"/>
            <p:cNvSpPr>
              <a:spLocks noChangeArrowheads="1"/>
            </p:cNvSpPr>
            <p:nvPr/>
          </p:nvSpPr>
          <p:spPr bwMode="gray">
            <a:xfrm>
              <a:off x="3993996" y="1944770"/>
              <a:ext cx="1295400" cy="307777"/>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Write Splitter</a:t>
              </a:r>
            </a:p>
          </p:txBody>
        </p:sp>
        <p:sp>
          <p:nvSpPr>
            <p:cNvPr id="143" name="Rectangle 142"/>
            <p:cNvSpPr/>
            <p:nvPr/>
          </p:nvSpPr>
          <p:spPr>
            <a:xfrm>
              <a:off x="221976" y="2657061"/>
              <a:ext cx="1639956" cy="12920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147" name="Rectangle 6"/>
            <p:cNvSpPr>
              <a:spLocks noChangeArrowheads="1"/>
            </p:cNvSpPr>
            <p:nvPr/>
          </p:nvSpPr>
          <p:spPr bwMode="gray">
            <a:xfrm>
              <a:off x="7378149" y="5536095"/>
              <a:ext cx="1371600" cy="523220"/>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a:t>
              </a:r>
            </a:p>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p>
          </p:txBody>
        </p:sp>
        <p:sp>
          <p:nvSpPr>
            <p:cNvPr id="177" name="Rectangle 176"/>
            <p:cNvSpPr/>
            <p:nvPr/>
          </p:nvSpPr>
          <p:spPr>
            <a:xfrm>
              <a:off x="7162800" y="4267200"/>
              <a:ext cx="1639956" cy="129208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178" name="Rectangle 6"/>
            <p:cNvSpPr>
              <a:spLocks noChangeArrowheads="1"/>
            </p:cNvSpPr>
            <p:nvPr/>
          </p:nvSpPr>
          <p:spPr bwMode="gray">
            <a:xfrm>
              <a:off x="316518" y="3969027"/>
              <a:ext cx="1371600" cy="523220"/>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a:t>
              </a:r>
            </a:p>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p>
          </p:txBody>
        </p:sp>
        <p:sp>
          <p:nvSpPr>
            <p:cNvPr id="181" name="Rectangle 6"/>
            <p:cNvSpPr>
              <a:spLocks noChangeArrowheads="1"/>
            </p:cNvSpPr>
            <p:nvPr/>
          </p:nvSpPr>
          <p:spPr bwMode="gray">
            <a:xfrm>
              <a:off x="5877339" y="3439180"/>
              <a:ext cx="1295400" cy="523220"/>
            </a:xfrm>
            <a:prstGeom prst="rect">
              <a:avLst/>
            </a:prstGeom>
            <a:noFill/>
            <a:ln w="12700" algn="ctr">
              <a:noFill/>
              <a:miter lim="800000"/>
              <a:headEnd/>
              <a:tailEnd type="none" w="lg" len="lg"/>
            </a:ln>
            <a:effectLst/>
          </p:spPr>
          <p:txBody>
            <a:bodyPr wrap="square">
              <a:spAutoFit/>
            </a:bodyPr>
            <a:lstStyle/>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a:t>
              </a:r>
            </a:p>
            <a:p>
              <a:pPr marL="0" marR="0" lvl="0" indent="0"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CDP Appliance</a:t>
              </a:r>
            </a:p>
          </p:txBody>
        </p:sp>
        <p:sp>
          <p:nvSpPr>
            <p:cNvPr id="159" name="Arc 158"/>
            <p:cNvSpPr/>
            <p:nvPr/>
          </p:nvSpPr>
          <p:spPr>
            <a:xfrm rot="8112874">
              <a:off x="874457" y="1504710"/>
              <a:ext cx="1590010" cy="1852092"/>
            </a:xfrm>
            <a:prstGeom prst="arc">
              <a:avLst>
                <a:gd name="adj1" fmla="val 12517022"/>
                <a:gd name="adj2" fmla="val 20872849"/>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solidFill>
                    <a:srgbClr val="000000"/>
                  </a:solidFill>
                </a:ln>
                <a:solidFill>
                  <a:srgbClr val="000000"/>
                </a:solidFill>
                <a:effectLst/>
                <a:uLnTx/>
                <a:uFillTx/>
                <a:latin typeface="Calibri" pitchFamily="34" charset="0"/>
                <a:ea typeface="+mn-ea"/>
                <a:cs typeface="Calibri" pitchFamily="34" charset="0"/>
              </a:endParaRPr>
            </a:p>
          </p:txBody>
        </p:sp>
        <p:sp>
          <p:nvSpPr>
            <p:cNvPr id="185" name="Freeform 184"/>
            <p:cNvSpPr/>
            <p:nvPr/>
          </p:nvSpPr>
          <p:spPr>
            <a:xfrm>
              <a:off x="7108031" y="3352800"/>
              <a:ext cx="565150" cy="1307306"/>
            </a:xfrm>
            <a:custGeom>
              <a:avLst/>
              <a:gdLst>
                <a:gd name="connsiteX0" fmla="*/ 419100 w 565150"/>
                <a:gd name="connsiteY0" fmla="*/ 1385887 h 1385887"/>
                <a:gd name="connsiteX1" fmla="*/ 495300 w 565150"/>
                <a:gd name="connsiteY1" fmla="*/ 223837 h 1385887"/>
                <a:gd name="connsiteX2" fmla="*/ 0 w 565150"/>
                <a:gd name="connsiteY2" fmla="*/ 42862 h 1385887"/>
                <a:gd name="connsiteX3" fmla="*/ 0 w 565150"/>
                <a:gd name="connsiteY3" fmla="*/ 42862 h 1385887"/>
              </a:gdLst>
              <a:ahLst/>
              <a:cxnLst>
                <a:cxn ang="0">
                  <a:pos x="connsiteX0" y="connsiteY0"/>
                </a:cxn>
                <a:cxn ang="0">
                  <a:pos x="connsiteX1" y="connsiteY1"/>
                </a:cxn>
                <a:cxn ang="0">
                  <a:pos x="connsiteX2" y="connsiteY2"/>
                </a:cxn>
                <a:cxn ang="0">
                  <a:pos x="connsiteX3" y="connsiteY3"/>
                </a:cxn>
              </a:cxnLst>
              <a:rect l="l" t="t" r="r" b="b"/>
              <a:pathLst>
                <a:path w="565150" h="1385887">
                  <a:moveTo>
                    <a:pt x="419100" y="1385887"/>
                  </a:moveTo>
                  <a:cubicBezTo>
                    <a:pt x="492125" y="916780"/>
                    <a:pt x="565150" y="447674"/>
                    <a:pt x="495300" y="223837"/>
                  </a:cubicBezTo>
                  <a:cubicBezTo>
                    <a:pt x="425450" y="0"/>
                    <a:pt x="0" y="42862"/>
                    <a:pt x="0" y="42862"/>
                  </a:cubicBezTo>
                  <a:lnTo>
                    <a:pt x="0" y="42862"/>
                  </a:lnTo>
                </a:path>
              </a:pathLst>
            </a:cu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6" name="Freeform 185"/>
            <p:cNvSpPr/>
            <p:nvPr/>
          </p:nvSpPr>
          <p:spPr>
            <a:xfrm>
              <a:off x="7581900" y="4479926"/>
              <a:ext cx="723900" cy="182562"/>
            </a:xfrm>
            <a:custGeom>
              <a:avLst/>
              <a:gdLst>
                <a:gd name="connsiteX0" fmla="*/ 0 w 723900"/>
                <a:gd name="connsiteY0" fmla="*/ 173037 h 182562"/>
                <a:gd name="connsiteX1" fmla="*/ 333375 w 723900"/>
                <a:gd name="connsiteY1" fmla="*/ 1587 h 182562"/>
                <a:gd name="connsiteX2" fmla="*/ 723900 w 723900"/>
                <a:gd name="connsiteY2" fmla="*/ 182562 h 182562"/>
                <a:gd name="connsiteX3" fmla="*/ 723900 w 723900"/>
                <a:gd name="connsiteY3" fmla="*/ 182562 h 182562"/>
              </a:gdLst>
              <a:ahLst/>
              <a:cxnLst>
                <a:cxn ang="0">
                  <a:pos x="connsiteX0" y="connsiteY0"/>
                </a:cxn>
                <a:cxn ang="0">
                  <a:pos x="connsiteX1" y="connsiteY1"/>
                </a:cxn>
                <a:cxn ang="0">
                  <a:pos x="connsiteX2" y="connsiteY2"/>
                </a:cxn>
                <a:cxn ang="0">
                  <a:pos x="connsiteX3" y="connsiteY3"/>
                </a:cxn>
              </a:cxnLst>
              <a:rect l="l" t="t" r="r" b="b"/>
              <a:pathLst>
                <a:path w="723900" h="182562">
                  <a:moveTo>
                    <a:pt x="0" y="173037"/>
                  </a:moveTo>
                  <a:cubicBezTo>
                    <a:pt x="106362" y="86518"/>
                    <a:pt x="212725" y="0"/>
                    <a:pt x="333375" y="1587"/>
                  </a:cubicBezTo>
                  <a:cubicBezTo>
                    <a:pt x="454025" y="3175"/>
                    <a:pt x="723900" y="182562"/>
                    <a:pt x="723900" y="182562"/>
                  </a:cubicBezTo>
                  <a:lnTo>
                    <a:pt x="723900" y="182562"/>
                  </a:ln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165"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663498" y="2819400"/>
              <a:ext cx="533400" cy="533400"/>
            </a:xfrm>
            <a:prstGeom prst="rect">
              <a:avLst/>
            </a:prstGeom>
            <a:noFill/>
          </p:spPr>
        </p:pic>
        <p:pic>
          <p:nvPicPr>
            <p:cNvPr id="164" name="Picture 7" descr="C:\Documents and Settings\sridhs\Desktop\ISM Book L3\colored Icons\Host.png"/>
            <p:cNvPicPr>
              <a:picLocks noChangeAspect="1" noChangeArrowheads="1"/>
            </p:cNvPicPr>
            <p:nvPr/>
          </p:nvPicPr>
          <p:blipFill>
            <a:blip r:embed="rId5" cstate="print"/>
            <a:srcRect/>
            <a:stretch>
              <a:fillRect/>
            </a:stretch>
          </p:blipFill>
          <p:spPr bwMode="auto">
            <a:xfrm>
              <a:off x="2274928" y="838200"/>
              <a:ext cx="621476" cy="1436524"/>
            </a:xfrm>
            <a:prstGeom prst="rect">
              <a:avLst/>
            </a:prstGeom>
            <a:noFill/>
          </p:spPr>
        </p:pic>
        <p:cxnSp>
          <p:nvCxnSpPr>
            <p:cNvPr id="141" name="Straight Arrow Connector 140"/>
            <p:cNvCxnSpPr/>
            <p:nvPr/>
          </p:nvCxnSpPr>
          <p:spPr>
            <a:xfrm>
              <a:off x="2819400" y="2115222"/>
              <a:ext cx="1219200" cy="1588"/>
            </a:xfrm>
            <a:prstGeom prst="straightConnector1">
              <a:avLst/>
            </a:prstGeom>
            <a:ln w="19050">
              <a:solidFill>
                <a:schemeClr val="tx1"/>
              </a:solidFill>
              <a:headEnd type="triangle" w="lg" len="med"/>
              <a:tailEnd type="none"/>
            </a:ln>
          </p:spPr>
          <p:style>
            <a:lnRef idx="1">
              <a:schemeClr val="accent1"/>
            </a:lnRef>
            <a:fillRef idx="0">
              <a:schemeClr val="accent1"/>
            </a:fillRef>
            <a:effectRef idx="0">
              <a:schemeClr val="accent1"/>
            </a:effectRef>
            <a:fontRef idx="minor">
              <a:schemeClr val="tx1"/>
            </a:fontRef>
          </p:style>
        </p:cxnSp>
        <p:pic>
          <p:nvPicPr>
            <p:cNvPr id="169" name="Picture 2"/>
            <p:cNvPicPr>
              <a:picLocks noChangeAspect="1" noChangeArrowheads="1"/>
            </p:cNvPicPr>
            <p:nvPr/>
          </p:nvPicPr>
          <p:blipFill>
            <a:blip r:embed="rId6" cstate="print"/>
            <a:srcRect/>
            <a:stretch>
              <a:fillRect/>
            </a:stretch>
          </p:blipFill>
          <p:spPr bwMode="auto">
            <a:xfrm rot="-5400000">
              <a:off x="2430684" y="1860675"/>
              <a:ext cx="304800" cy="397164"/>
            </a:xfrm>
            <a:prstGeom prst="rect">
              <a:avLst/>
            </a:prstGeom>
            <a:noFill/>
            <a:ln w="9525">
              <a:noFill/>
              <a:miter lim="800000"/>
              <a:headEnd/>
              <a:tailEnd/>
            </a:ln>
            <a:effectLst/>
          </p:spPr>
        </p:pic>
        <p:pic>
          <p:nvPicPr>
            <p:cNvPr id="182"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8086494" y="4702098"/>
              <a:ext cx="533400" cy="533400"/>
            </a:xfrm>
            <a:prstGeom prst="rect">
              <a:avLst/>
            </a:prstGeom>
            <a:noFill/>
          </p:spPr>
        </p:pic>
        <p:pic>
          <p:nvPicPr>
            <p:cNvPr id="184"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7304049" y="4724400"/>
              <a:ext cx="533400" cy="533400"/>
            </a:xfrm>
            <a:prstGeom prst="rect">
              <a:avLst/>
            </a:prstGeom>
            <a:noFill/>
          </p:spPr>
        </p:pic>
        <p:grpSp>
          <p:nvGrpSpPr>
            <p:cNvPr id="3" name="Group 346"/>
            <p:cNvGrpSpPr>
              <a:grpSpLocks/>
            </p:cNvGrpSpPr>
            <p:nvPr/>
          </p:nvGrpSpPr>
          <p:grpSpPr bwMode="auto">
            <a:xfrm>
              <a:off x="7391400" y="4897638"/>
              <a:ext cx="381000" cy="295113"/>
              <a:chOff x="2529" y="3760"/>
              <a:chExt cx="432" cy="192"/>
            </a:xfrm>
          </p:grpSpPr>
          <p:sp>
            <p:nvSpPr>
              <p:cNvPr id="21" name="Rectangle 347"/>
              <p:cNvSpPr>
                <a:spLocks noChangeArrowheads="1"/>
              </p:cNvSpPr>
              <p:nvPr/>
            </p:nvSpPr>
            <p:spPr bwMode="auto">
              <a:xfrm>
                <a:off x="2577"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2" name="Rectangle 348"/>
              <p:cNvSpPr>
                <a:spLocks noChangeArrowheads="1"/>
              </p:cNvSpPr>
              <p:nvPr/>
            </p:nvSpPr>
            <p:spPr bwMode="auto">
              <a:xfrm>
                <a:off x="2625"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3" name="Rectangle 349"/>
              <p:cNvSpPr>
                <a:spLocks noChangeArrowheads="1"/>
              </p:cNvSpPr>
              <p:nvPr/>
            </p:nvSpPr>
            <p:spPr bwMode="auto">
              <a:xfrm>
                <a:off x="2577"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4" name="Rectangle 350"/>
              <p:cNvSpPr>
                <a:spLocks noChangeArrowheads="1"/>
              </p:cNvSpPr>
              <p:nvPr/>
            </p:nvSpPr>
            <p:spPr bwMode="auto">
              <a:xfrm>
                <a:off x="2529"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5" name="Rectangle 351"/>
              <p:cNvSpPr>
                <a:spLocks noChangeArrowheads="1"/>
              </p:cNvSpPr>
              <p:nvPr/>
            </p:nvSpPr>
            <p:spPr bwMode="auto">
              <a:xfrm>
                <a:off x="2529"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6" name="Rectangle 352"/>
              <p:cNvSpPr>
                <a:spLocks noChangeArrowheads="1"/>
              </p:cNvSpPr>
              <p:nvPr/>
            </p:nvSpPr>
            <p:spPr bwMode="auto">
              <a:xfrm>
                <a:off x="2529"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Rectangle 353"/>
              <p:cNvSpPr>
                <a:spLocks noChangeArrowheads="1"/>
              </p:cNvSpPr>
              <p:nvPr/>
            </p:nvSpPr>
            <p:spPr bwMode="auto">
              <a:xfrm>
                <a:off x="2577"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Rectangle 354"/>
              <p:cNvSpPr>
                <a:spLocks noChangeArrowheads="1"/>
              </p:cNvSpPr>
              <p:nvPr/>
            </p:nvSpPr>
            <p:spPr bwMode="auto">
              <a:xfrm>
                <a:off x="2625"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9" name="Rectangle 355"/>
              <p:cNvSpPr>
                <a:spLocks noChangeArrowheads="1"/>
              </p:cNvSpPr>
              <p:nvPr/>
            </p:nvSpPr>
            <p:spPr bwMode="auto">
              <a:xfrm>
                <a:off x="2577"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Rectangle 356"/>
              <p:cNvSpPr>
                <a:spLocks noChangeArrowheads="1"/>
              </p:cNvSpPr>
              <p:nvPr/>
            </p:nvSpPr>
            <p:spPr bwMode="auto">
              <a:xfrm>
                <a:off x="2625"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Rectangle 357"/>
              <p:cNvSpPr>
                <a:spLocks noChangeArrowheads="1"/>
              </p:cNvSpPr>
              <p:nvPr/>
            </p:nvSpPr>
            <p:spPr bwMode="auto">
              <a:xfrm>
                <a:off x="2529"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2" name="Rectangle 358"/>
              <p:cNvSpPr>
                <a:spLocks noChangeArrowheads="1"/>
              </p:cNvSpPr>
              <p:nvPr/>
            </p:nvSpPr>
            <p:spPr bwMode="auto">
              <a:xfrm>
                <a:off x="2625"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Rectangle 359"/>
              <p:cNvSpPr>
                <a:spLocks noChangeArrowheads="1"/>
              </p:cNvSpPr>
              <p:nvPr/>
            </p:nvSpPr>
            <p:spPr bwMode="auto">
              <a:xfrm>
                <a:off x="2769"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4" name="Rectangle 360"/>
              <p:cNvSpPr>
                <a:spLocks noChangeArrowheads="1"/>
              </p:cNvSpPr>
              <p:nvPr/>
            </p:nvSpPr>
            <p:spPr bwMode="auto">
              <a:xfrm>
                <a:off x="2817"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Rectangle 361"/>
              <p:cNvSpPr>
                <a:spLocks noChangeArrowheads="1"/>
              </p:cNvSpPr>
              <p:nvPr/>
            </p:nvSpPr>
            <p:spPr bwMode="auto">
              <a:xfrm>
                <a:off x="2721"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6" name="Rectangle 362"/>
              <p:cNvSpPr>
                <a:spLocks noChangeArrowheads="1"/>
              </p:cNvSpPr>
              <p:nvPr/>
            </p:nvSpPr>
            <p:spPr bwMode="auto">
              <a:xfrm>
                <a:off x="2769"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Rectangle 363"/>
              <p:cNvSpPr>
                <a:spLocks noChangeArrowheads="1"/>
              </p:cNvSpPr>
              <p:nvPr/>
            </p:nvSpPr>
            <p:spPr bwMode="auto">
              <a:xfrm>
                <a:off x="2673"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8" name="Rectangle 364"/>
              <p:cNvSpPr>
                <a:spLocks noChangeArrowheads="1"/>
              </p:cNvSpPr>
              <p:nvPr/>
            </p:nvSpPr>
            <p:spPr bwMode="auto">
              <a:xfrm>
                <a:off x="2673"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9" name="Rectangle 365"/>
              <p:cNvSpPr>
                <a:spLocks noChangeArrowheads="1"/>
              </p:cNvSpPr>
              <p:nvPr/>
            </p:nvSpPr>
            <p:spPr bwMode="auto">
              <a:xfrm>
                <a:off x="2673"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0" name="Rectangle 366"/>
              <p:cNvSpPr>
                <a:spLocks noChangeArrowheads="1"/>
              </p:cNvSpPr>
              <p:nvPr/>
            </p:nvSpPr>
            <p:spPr bwMode="auto">
              <a:xfrm>
                <a:off x="2721"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1" name="Rectangle 367"/>
              <p:cNvSpPr>
                <a:spLocks noChangeArrowheads="1"/>
              </p:cNvSpPr>
              <p:nvPr/>
            </p:nvSpPr>
            <p:spPr bwMode="auto">
              <a:xfrm>
                <a:off x="2673"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2" name="Rectangle 368"/>
              <p:cNvSpPr>
                <a:spLocks noChangeArrowheads="1"/>
              </p:cNvSpPr>
              <p:nvPr/>
            </p:nvSpPr>
            <p:spPr bwMode="auto">
              <a:xfrm>
                <a:off x="2721"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3" name="Rectangle 369"/>
              <p:cNvSpPr>
                <a:spLocks noChangeArrowheads="1"/>
              </p:cNvSpPr>
              <p:nvPr/>
            </p:nvSpPr>
            <p:spPr bwMode="auto">
              <a:xfrm>
                <a:off x="2769"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4" name="Rectangle 370"/>
              <p:cNvSpPr>
                <a:spLocks noChangeArrowheads="1"/>
              </p:cNvSpPr>
              <p:nvPr/>
            </p:nvSpPr>
            <p:spPr bwMode="auto">
              <a:xfrm>
                <a:off x="2817"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5" name="Rectangle 371"/>
              <p:cNvSpPr>
                <a:spLocks noChangeArrowheads="1"/>
              </p:cNvSpPr>
              <p:nvPr/>
            </p:nvSpPr>
            <p:spPr bwMode="auto">
              <a:xfrm>
                <a:off x="2769"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6" name="Rectangle 372"/>
              <p:cNvSpPr>
                <a:spLocks noChangeArrowheads="1"/>
              </p:cNvSpPr>
              <p:nvPr/>
            </p:nvSpPr>
            <p:spPr bwMode="auto">
              <a:xfrm>
                <a:off x="2817"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7" name="Rectangle 373"/>
              <p:cNvSpPr>
                <a:spLocks noChangeArrowheads="1"/>
              </p:cNvSpPr>
              <p:nvPr/>
            </p:nvSpPr>
            <p:spPr bwMode="auto">
              <a:xfrm>
                <a:off x="2817"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8" name="Rectangle 374"/>
              <p:cNvSpPr>
                <a:spLocks noChangeArrowheads="1"/>
              </p:cNvSpPr>
              <p:nvPr/>
            </p:nvSpPr>
            <p:spPr bwMode="auto">
              <a:xfrm>
                <a:off x="2721"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9" name="Rectangle 375"/>
              <p:cNvSpPr>
                <a:spLocks noChangeArrowheads="1"/>
              </p:cNvSpPr>
              <p:nvPr/>
            </p:nvSpPr>
            <p:spPr bwMode="auto">
              <a:xfrm>
                <a:off x="2913"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0" name="Rectangle 376"/>
              <p:cNvSpPr>
                <a:spLocks noChangeArrowheads="1"/>
              </p:cNvSpPr>
              <p:nvPr/>
            </p:nvSpPr>
            <p:spPr bwMode="auto">
              <a:xfrm>
                <a:off x="2865" y="3760"/>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1" name="Rectangle 377"/>
              <p:cNvSpPr>
                <a:spLocks noChangeArrowheads="1"/>
              </p:cNvSpPr>
              <p:nvPr/>
            </p:nvSpPr>
            <p:spPr bwMode="auto">
              <a:xfrm>
                <a:off x="2865"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2" name="Rectangle 378"/>
              <p:cNvSpPr>
                <a:spLocks noChangeArrowheads="1"/>
              </p:cNvSpPr>
              <p:nvPr/>
            </p:nvSpPr>
            <p:spPr bwMode="auto">
              <a:xfrm>
                <a:off x="2865"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3" name="Rectangle 379"/>
              <p:cNvSpPr>
                <a:spLocks noChangeArrowheads="1"/>
              </p:cNvSpPr>
              <p:nvPr/>
            </p:nvSpPr>
            <p:spPr bwMode="auto">
              <a:xfrm>
                <a:off x="2913" y="3856"/>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4" name="Rectangle 380"/>
              <p:cNvSpPr>
                <a:spLocks noChangeArrowheads="1"/>
              </p:cNvSpPr>
              <p:nvPr/>
            </p:nvSpPr>
            <p:spPr bwMode="auto">
              <a:xfrm>
                <a:off x="2865"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5" name="Rectangle 381"/>
              <p:cNvSpPr>
                <a:spLocks noChangeArrowheads="1"/>
              </p:cNvSpPr>
              <p:nvPr/>
            </p:nvSpPr>
            <p:spPr bwMode="auto">
              <a:xfrm>
                <a:off x="2913" y="3904"/>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6" name="Rectangle 382"/>
              <p:cNvSpPr>
                <a:spLocks noChangeArrowheads="1"/>
              </p:cNvSpPr>
              <p:nvPr/>
            </p:nvSpPr>
            <p:spPr bwMode="auto">
              <a:xfrm>
                <a:off x="2913" y="3808"/>
                <a:ext cx="48" cy="48"/>
              </a:xfrm>
              <a:prstGeom prst="rect">
                <a:avLst/>
              </a:prstGeom>
              <a:solidFill>
                <a:srgbClr val="EAEAEA"/>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7" name="Line 383"/>
              <p:cNvSpPr>
                <a:spLocks noChangeShapeType="1"/>
              </p:cNvSpPr>
              <p:nvPr/>
            </p:nvSpPr>
            <p:spPr bwMode="auto">
              <a:xfrm>
                <a:off x="2577"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8" name="Line 384"/>
              <p:cNvSpPr>
                <a:spLocks noChangeShapeType="1"/>
              </p:cNvSpPr>
              <p:nvPr/>
            </p:nvSpPr>
            <p:spPr bwMode="auto">
              <a:xfrm>
                <a:off x="2625"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9" name="Line 385"/>
              <p:cNvSpPr>
                <a:spLocks noChangeShapeType="1"/>
              </p:cNvSpPr>
              <p:nvPr/>
            </p:nvSpPr>
            <p:spPr bwMode="auto">
              <a:xfrm flipH="1">
                <a:off x="2577"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0" name="Line 386"/>
              <p:cNvSpPr>
                <a:spLocks noChangeShapeType="1"/>
              </p:cNvSpPr>
              <p:nvPr/>
            </p:nvSpPr>
            <p:spPr bwMode="auto">
              <a:xfrm flipV="1">
                <a:off x="2577"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1" name="Freeform 387"/>
              <p:cNvSpPr>
                <a:spLocks/>
              </p:cNvSpPr>
              <p:nvPr/>
            </p:nvSpPr>
            <p:spPr bwMode="auto">
              <a:xfrm>
                <a:off x="2529" y="3760"/>
                <a:ext cx="48" cy="48"/>
              </a:xfrm>
              <a:custGeom>
                <a:avLst/>
                <a:gdLst/>
                <a:ahLst/>
                <a:cxnLst>
                  <a:cxn ang="0">
                    <a:pos x="0" y="144"/>
                  </a:cxn>
                  <a:cxn ang="0">
                    <a:pos x="0" y="0"/>
                  </a:cxn>
                  <a:cxn ang="0">
                    <a:pos x="144" y="0"/>
                  </a:cxn>
                </a:cxnLst>
                <a:rect l="0" t="0" r="r" b="b"/>
                <a:pathLst>
                  <a:path w="144" h="144">
                    <a:moveTo>
                      <a:pt x="0" y="144"/>
                    </a:moveTo>
                    <a:lnTo>
                      <a:pt x="0" y="0"/>
                    </a:lnTo>
                    <a:lnTo>
                      <a:pt x="144" y="0"/>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2" name="Freeform 388"/>
              <p:cNvSpPr>
                <a:spLocks/>
              </p:cNvSpPr>
              <p:nvPr/>
            </p:nvSpPr>
            <p:spPr bwMode="auto">
              <a:xfrm>
                <a:off x="2529" y="3904"/>
                <a:ext cx="48" cy="48"/>
              </a:xfrm>
              <a:custGeom>
                <a:avLst/>
                <a:gdLst/>
                <a:ahLst/>
                <a:cxnLst>
                  <a:cxn ang="0">
                    <a:pos x="0" y="0"/>
                  </a:cxn>
                  <a:cxn ang="0">
                    <a:pos x="0" y="145"/>
                  </a:cxn>
                  <a:cxn ang="0">
                    <a:pos x="144" y="145"/>
                  </a:cxn>
                </a:cxnLst>
                <a:rect l="0" t="0" r="r" b="b"/>
                <a:pathLst>
                  <a:path w="144" h="145">
                    <a:moveTo>
                      <a:pt x="0" y="0"/>
                    </a:moveTo>
                    <a:lnTo>
                      <a:pt x="0" y="145"/>
                    </a:lnTo>
                    <a:lnTo>
                      <a:pt x="144" y="145"/>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3" name="Line 389"/>
              <p:cNvSpPr>
                <a:spLocks noChangeShapeType="1"/>
              </p:cNvSpPr>
              <p:nvPr/>
            </p:nvSpPr>
            <p:spPr bwMode="auto">
              <a:xfrm flipV="1">
                <a:off x="2529"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4" name="Line 390"/>
              <p:cNvSpPr>
                <a:spLocks noChangeShapeType="1"/>
              </p:cNvSpPr>
              <p:nvPr/>
            </p:nvSpPr>
            <p:spPr bwMode="auto">
              <a:xfrm flipH="1">
                <a:off x="2577"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5" name="Line 391"/>
              <p:cNvSpPr>
                <a:spLocks noChangeShapeType="1"/>
              </p:cNvSpPr>
              <p:nvPr/>
            </p:nvSpPr>
            <p:spPr bwMode="auto">
              <a:xfrm flipV="1">
                <a:off x="2625"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6" name="Line 392"/>
              <p:cNvSpPr>
                <a:spLocks noChangeShapeType="1"/>
              </p:cNvSpPr>
              <p:nvPr/>
            </p:nvSpPr>
            <p:spPr bwMode="auto">
              <a:xfrm flipV="1">
                <a:off x="2577"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7" name="Line 393"/>
              <p:cNvSpPr>
                <a:spLocks noChangeShapeType="1"/>
              </p:cNvSpPr>
              <p:nvPr/>
            </p:nvSpPr>
            <p:spPr bwMode="auto">
              <a:xfrm>
                <a:off x="2577"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8" name="Line 394"/>
              <p:cNvSpPr>
                <a:spLocks noChangeShapeType="1"/>
              </p:cNvSpPr>
              <p:nvPr/>
            </p:nvSpPr>
            <p:spPr bwMode="auto">
              <a:xfrm>
                <a:off x="2625"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69" name="Line 395"/>
              <p:cNvSpPr>
                <a:spLocks noChangeShapeType="1"/>
              </p:cNvSpPr>
              <p:nvPr/>
            </p:nvSpPr>
            <p:spPr bwMode="auto">
              <a:xfrm>
                <a:off x="2577"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0" name="Line 396"/>
              <p:cNvSpPr>
                <a:spLocks noChangeShapeType="1"/>
              </p:cNvSpPr>
              <p:nvPr/>
            </p:nvSpPr>
            <p:spPr bwMode="auto">
              <a:xfrm>
                <a:off x="2577"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1" name="Line 397"/>
              <p:cNvSpPr>
                <a:spLocks noChangeShapeType="1"/>
              </p:cNvSpPr>
              <p:nvPr/>
            </p:nvSpPr>
            <p:spPr bwMode="auto">
              <a:xfrm flipV="1">
                <a:off x="2529"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2" name="Line 398"/>
              <p:cNvSpPr>
                <a:spLocks noChangeShapeType="1"/>
              </p:cNvSpPr>
              <p:nvPr/>
            </p:nvSpPr>
            <p:spPr bwMode="auto">
              <a:xfrm>
                <a:off x="2625"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3" name="Line 399"/>
              <p:cNvSpPr>
                <a:spLocks noChangeShapeType="1"/>
              </p:cNvSpPr>
              <p:nvPr/>
            </p:nvSpPr>
            <p:spPr bwMode="auto">
              <a:xfrm flipV="1">
                <a:off x="2577"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4" name="Line 400"/>
              <p:cNvSpPr>
                <a:spLocks noChangeShapeType="1"/>
              </p:cNvSpPr>
              <p:nvPr/>
            </p:nvSpPr>
            <p:spPr bwMode="auto">
              <a:xfrm>
                <a:off x="2529"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5" name="Line 401"/>
              <p:cNvSpPr>
                <a:spLocks noChangeShapeType="1"/>
              </p:cNvSpPr>
              <p:nvPr/>
            </p:nvSpPr>
            <p:spPr bwMode="auto">
              <a:xfrm flipH="1">
                <a:off x="2529"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6" name="Line 402"/>
              <p:cNvSpPr>
                <a:spLocks noChangeShapeType="1"/>
              </p:cNvSpPr>
              <p:nvPr/>
            </p:nvSpPr>
            <p:spPr bwMode="auto">
              <a:xfrm flipH="1">
                <a:off x="2529"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7" name="Line 403"/>
              <p:cNvSpPr>
                <a:spLocks noChangeShapeType="1"/>
              </p:cNvSpPr>
              <p:nvPr/>
            </p:nvSpPr>
            <p:spPr bwMode="auto">
              <a:xfrm>
                <a:off x="2817"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8" name="Line 404"/>
              <p:cNvSpPr>
                <a:spLocks noChangeShapeType="1"/>
              </p:cNvSpPr>
              <p:nvPr/>
            </p:nvSpPr>
            <p:spPr bwMode="auto">
              <a:xfrm flipH="1">
                <a:off x="2769"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9" name="Line 405"/>
              <p:cNvSpPr>
                <a:spLocks noChangeShapeType="1"/>
              </p:cNvSpPr>
              <p:nvPr/>
            </p:nvSpPr>
            <p:spPr bwMode="auto">
              <a:xfrm flipV="1">
                <a:off x="2769"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0" name="Line 406"/>
              <p:cNvSpPr>
                <a:spLocks noChangeShapeType="1"/>
              </p:cNvSpPr>
              <p:nvPr/>
            </p:nvSpPr>
            <p:spPr bwMode="auto">
              <a:xfrm flipH="1">
                <a:off x="2769"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1" name="Line 407"/>
              <p:cNvSpPr>
                <a:spLocks noChangeShapeType="1"/>
              </p:cNvSpPr>
              <p:nvPr/>
            </p:nvSpPr>
            <p:spPr bwMode="auto">
              <a:xfrm>
                <a:off x="2721"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2" name="Line 408"/>
              <p:cNvSpPr>
                <a:spLocks noChangeShapeType="1"/>
              </p:cNvSpPr>
              <p:nvPr/>
            </p:nvSpPr>
            <p:spPr bwMode="auto">
              <a:xfrm flipH="1">
                <a:off x="2673"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3" name="Line 409"/>
              <p:cNvSpPr>
                <a:spLocks noChangeShapeType="1"/>
              </p:cNvSpPr>
              <p:nvPr/>
            </p:nvSpPr>
            <p:spPr bwMode="auto">
              <a:xfrm flipV="1">
                <a:off x="2673"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4" name="Line 410"/>
              <p:cNvSpPr>
                <a:spLocks noChangeShapeType="1"/>
              </p:cNvSpPr>
              <p:nvPr/>
            </p:nvSpPr>
            <p:spPr bwMode="auto">
              <a:xfrm flipH="1">
                <a:off x="2673"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5" name="Line 411"/>
              <p:cNvSpPr>
                <a:spLocks noChangeShapeType="1"/>
              </p:cNvSpPr>
              <p:nvPr/>
            </p:nvSpPr>
            <p:spPr bwMode="auto">
              <a:xfrm>
                <a:off x="2673"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6" name="Line 412"/>
              <p:cNvSpPr>
                <a:spLocks noChangeShapeType="1"/>
              </p:cNvSpPr>
              <p:nvPr/>
            </p:nvSpPr>
            <p:spPr bwMode="auto">
              <a:xfrm flipV="1">
                <a:off x="2721"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7" name="Line 413"/>
              <p:cNvSpPr>
                <a:spLocks noChangeShapeType="1"/>
              </p:cNvSpPr>
              <p:nvPr/>
            </p:nvSpPr>
            <p:spPr bwMode="auto">
              <a:xfrm flipV="1">
                <a:off x="2673"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8" name="Line 414"/>
              <p:cNvSpPr>
                <a:spLocks noChangeShapeType="1"/>
              </p:cNvSpPr>
              <p:nvPr/>
            </p:nvSpPr>
            <p:spPr bwMode="auto">
              <a:xfrm>
                <a:off x="2673"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9" name="Line 415"/>
              <p:cNvSpPr>
                <a:spLocks noChangeShapeType="1"/>
              </p:cNvSpPr>
              <p:nvPr/>
            </p:nvSpPr>
            <p:spPr bwMode="auto">
              <a:xfrm>
                <a:off x="2721"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0" name="Line 416"/>
              <p:cNvSpPr>
                <a:spLocks noChangeShapeType="1"/>
              </p:cNvSpPr>
              <p:nvPr/>
            </p:nvSpPr>
            <p:spPr bwMode="auto">
              <a:xfrm>
                <a:off x="2673"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1" name="Line 417"/>
              <p:cNvSpPr>
                <a:spLocks noChangeShapeType="1"/>
              </p:cNvSpPr>
              <p:nvPr/>
            </p:nvSpPr>
            <p:spPr bwMode="auto">
              <a:xfrm>
                <a:off x="2673"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2" name="Line 418"/>
              <p:cNvSpPr>
                <a:spLocks noChangeShapeType="1"/>
              </p:cNvSpPr>
              <p:nvPr/>
            </p:nvSpPr>
            <p:spPr bwMode="auto">
              <a:xfrm>
                <a:off x="2769"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3" name="Line 419"/>
              <p:cNvSpPr>
                <a:spLocks noChangeShapeType="1"/>
              </p:cNvSpPr>
              <p:nvPr/>
            </p:nvSpPr>
            <p:spPr bwMode="auto">
              <a:xfrm flipV="1">
                <a:off x="2817"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4" name="Line 420"/>
              <p:cNvSpPr>
                <a:spLocks noChangeShapeType="1"/>
              </p:cNvSpPr>
              <p:nvPr/>
            </p:nvSpPr>
            <p:spPr bwMode="auto">
              <a:xfrm flipV="1">
                <a:off x="2769"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5" name="Line 421"/>
              <p:cNvSpPr>
                <a:spLocks noChangeShapeType="1"/>
              </p:cNvSpPr>
              <p:nvPr/>
            </p:nvSpPr>
            <p:spPr bwMode="auto">
              <a:xfrm>
                <a:off x="2769"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6" name="Line 422"/>
              <p:cNvSpPr>
                <a:spLocks noChangeShapeType="1"/>
              </p:cNvSpPr>
              <p:nvPr/>
            </p:nvSpPr>
            <p:spPr bwMode="auto">
              <a:xfrm>
                <a:off x="2817"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7" name="Line 423"/>
              <p:cNvSpPr>
                <a:spLocks noChangeShapeType="1"/>
              </p:cNvSpPr>
              <p:nvPr/>
            </p:nvSpPr>
            <p:spPr bwMode="auto">
              <a:xfrm>
                <a:off x="2769"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8" name="Line 424"/>
              <p:cNvSpPr>
                <a:spLocks noChangeShapeType="1"/>
              </p:cNvSpPr>
              <p:nvPr/>
            </p:nvSpPr>
            <p:spPr bwMode="auto">
              <a:xfrm>
                <a:off x="2769"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9" name="Line 425"/>
              <p:cNvSpPr>
                <a:spLocks noChangeShapeType="1"/>
              </p:cNvSpPr>
              <p:nvPr/>
            </p:nvSpPr>
            <p:spPr bwMode="auto">
              <a:xfrm flipV="1">
                <a:off x="2817"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0" name="Line 426"/>
              <p:cNvSpPr>
                <a:spLocks noChangeShapeType="1"/>
              </p:cNvSpPr>
              <p:nvPr/>
            </p:nvSpPr>
            <p:spPr bwMode="auto">
              <a:xfrm flipV="1">
                <a:off x="2721"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1" name="Line 427"/>
              <p:cNvSpPr>
                <a:spLocks noChangeShapeType="1"/>
              </p:cNvSpPr>
              <p:nvPr/>
            </p:nvSpPr>
            <p:spPr bwMode="auto">
              <a:xfrm>
                <a:off x="2721"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2" name="Line 428"/>
              <p:cNvSpPr>
                <a:spLocks noChangeShapeType="1"/>
              </p:cNvSpPr>
              <p:nvPr/>
            </p:nvSpPr>
            <p:spPr bwMode="auto">
              <a:xfrm>
                <a:off x="2769"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3" name="Line 429"/>
              <p:cNvSpPr>
                <a:spLocks noChangeShapeType="1"/>
              </p:cNvSpPr>
              <p:nvPr/>
            </p:nvSpPr>
            <p:spPr bwMode="auto">
              <a:xfrm flipV="1">
                <a:off x="2673"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4" name="Line 430"/>
              <p:cNvSpPr>
                <a:spLocks noChangeShapeType="1"/>
              </p:cNvSpPr>
              <p:nvPr/>
            </p:nvSpPr>
            <p:spPr bwMode="auto">
              <a:xfrm>
                <a:off x="2721"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5" name="Line 431"/>
              <p:cNvSpPr>
                <a:spLocks noChangeShapeType="1"/>
              </p:cNvSpPr>
              <p:nvPr/>
            </p:nvSpPr>
            <p:spPr bwMode="auto">
              <a:xfrm flipH="1">
                <a:off x="2721"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6" name="Line 432"/>
              <p:cNvSpPr>
                <a:spLocks noChangeShapeType="1"/>
              </p:cNvSpPr>
              <p:nvPr/>
            </p:nvSpPr>
            <p:spPr bwMode="auto">
              <a:xfrm flipH="1">
                <a:off x="2721"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7" name="Line 433"/>
              <p:cNvSpPr>
                <a:spLocks noChangeShapeType="1"/>
              </p:cNvSpPr>
              <p:nvPr/>
            </p:nvSpPr>
            <p:spPr bwMode="auto">
              <a:xfrm>
                <a:off x="2721"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8" name="Line 434"/>
              <p:cNvSpPr>
                <a:spLocks noChangeShapeType="1"/>
              </p:cNvSpPr>
              <p:nvPr/>
            </p:nvSpPr>
            <p:spPr bwMode="auto">
              <a:xfrm flipH="1">
                <a:off x="2625"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9" name="Line 435"/>
              <p:cNvSpPr>
                <a:spLocks noChangeShapeType="1"/>
              </p:cNvSpPr>
              <p:nvPr/>
            </p:nvSpPr>
            <p:spPr bwMode="auto">
              <a:xfrm>
                <a:off x="2625"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0" name="Line 436"/>
              <p:cNvSpPr>
                <a:spLocks noChangeShapeType="1"/>
              </p:cNvSpPr>
              <p:nvPr/>
            </p:nvSpPr>
            <p:spPr bwMode="auto">
              <a:xfrm flipH="1">
                <a:off x="2625"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1" name="Line 437"/>
              <p:cNvSpPr>
                <a:spLocks noChangeShapeType="1"/>
              </p:cNvSpPr>
              <p:nvPr/>
            </p:nvSpPr>
            <p:spPr bwMode="auto">
              <a:xfrm>
                <a:off x="2625"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2" name="Line 438"/>
              <p:cNvSpPr>
                <a:spLocks noChangeShapeType="1"/>
              </p:cNvSpPr>
              <p:nvPr/>
            </p:nvSpPr>
            <p:spPr bwMode="auto">
              <a:xfrm flipH="1">
                <a:off x="2625"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3" name="Freeform 439"/>
              <p:cNvSpPr>
                <a:spLocks/>
              </p:cNvSpPr>
              <p:nvPr/>
            </p:nvSpPr>
            <p:spPr bwMode="auto">
              <a:xfrm>
                <a:off x="2913" y="3760"/>
                <a:ext cx="48" cy="48"/>
              </a:xfrm>
              <a:custGeom>
                <a:avLst/>
                <a:gdLst/>
                <a:ahLst/>
                <a:cxnLst>
                  <a:cxn ang="0">
                    <a:pos x="144" y="144"/>
                  </a:cxn>
                  <a:cxn ang="0">
                    <a:pos x="144" y="0"/>
                  </a:cxn>
                  <a:cxn ang="0">
                    <a:pos x="0" y="0"/>
                  </a:cxn>
                </a:cxnLst>
                <a:rect l="0" t="0" r="r" b="b"/>
                <a:pathLst>
                  <a:path w="144" h="144">
                    <a:moveTo>
                      <a:pt x="144" y="144"/>
                    </a:moveTo>
                    <a:lnTo>
                      <a:pt x="144" y="0"/>
                    </a:lnTo>
                    <a:lnTo>
                      <a:pt x="0" y="0"/>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4" name="Line 440"/>
              <p:cNvSpPr>
                <a:spLocks noChangeShapeType="1"/>
              </p:cNvSpPr>
              <p:nvPr/>
            </p:nvSpPr>
            <p:spPr bwMode="auto">
              <a:xfrm>
                <a:off x="2913"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5" name="Line 441"/>
              <p:cNvSpPr>
                <a:spLocks noChangeShapeType="1"/>
              </p:cNvSpPr>
              <p:nvPr/>
            </p:nvSpPr>
            <p:spPr bwMode="auto">
              <a:xfrm flipH="1">
                <a:off x="2865"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6" name="Line 442"/>
              <p:cNvSpPr>
                <a:spLocks noChangeShapeType="1"/>
              </p:cNvSpPr>
              <p:nvPr/>
            </p:nvSpPr>
            <p:spPr bwMode="auto">
              <a:xfrm flipV="1">
                <a:off x="2865" y="3760"/>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7" name="Line 443"/>
              <p:cNvSpPr>
                <a:spLocks noChangeShapeType="1"/>
              </p:cNvSpPr>
              <p:nvPr/>
            </p:nvSpPr>
            <p:spPr bwMode="auto">
              <a:xfrm flipH="1">
                <a:off x="2865"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8" name="Line 444"/>
              <p:cNvSpPr>
                <a:spLocks noChangeShapeType="1"/>
              </p:cNvSpPr>
              <p:nvPr/>
            </p:nvSpPr>
            <p:spPr bwMode="auto">
              <a:xfrm>
                <a:off x="2865"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9" name="Line 445"/>
              <p:cNvSpPr>
                <a:spLocks noChangeShapeType="1"/>
              </p:cNvSpPr>
              <p:nvPr/>
            </p:nvSpPr>
            <p:spPr bwMode="auto">
              <a:xfrm flipV="1">
                <a:off x="2913"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0" name="Line 446"/>
              <p:cNvSpPr>
                <a:spLocks noChangeShapeType="1"/>
              </p:cNvSpPr>
              <p:nvPr/>
            </p:nvSpPr>
            <p:spPr bwMode="auto">
              <a:xfrm flipV="1">
                <a:off x="2865"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1" name="Line 447"/>
              <p:cNvSpPr>
                <a:spLocks noChangeShapeType="1"/>
              </p:cNvSpPr>
              <p:nvPr/>
            </p:nvSpPr>
            <p:spPr bwMode="auto">
              <a:xfrm>
                <a:off x="2865"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2" name="Line 448"/>
              <p:cNvSpPr>
                <a:spLocks noChangeShapeType="1"/>
              </p:cNvSpPr>
              <p:nvPr/>
            </p:nvSpPr>
            <p:spPr bwMode="auto">
              <a:xfrm>
                <a:off x="2913" y="3904"/>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3" name="Line 449"/>
              <p:cNvSpPr>
                <a:spLocks noChangeShapeType="1"/>
              </p:cNvSpPr>
              <p:nvPr/>
            </p:nvSpPr>
            <p:spPr bwMode="auto">
              <a:xfrm>
                <a:off x="2865"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4" name="Line 450"/>
              <p:cNvSpPr>
                <a:spLocks noChangeShapeType="1"/>
              </p:cNvSpPr>
              <p:nvPr/>
            </p:nvSpPr>
            <p:spPr bwMode="auto">
              <a:xfrm>
                <a:off x="2865"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5" name="Freeform 451"/>
              <p:cNvSpPr>
                <a:spLocks/>
              </p:cNvSpPr>
              <p:nvPr/>
            </p:nvSpPr>
            <p:spPr bwMode="auto">
              <a:xfrm>
                <a:off x="2913" y="3904"/>
                <a:ext cx="48" cy="48"/>
              </a:xfrm>
              <a:custGeom>
                <a:avLst/>
                <a:gdLst/>
                <a:ahLst/>
                <a:cxnLst>
                  <a:cxn ang="0">
                    <a:pos x="0" y="145"/>
                  </a:cxn>
                  <a:cxn ang="0">
                    <a:pos x="144" y="145"/>
                  </a:cxn>
                  <a:cxn ang="0">
                    <a:pos x="144" y="0"/>
                  </a:cxn>
                </a:cxnLst>
                <a:rect l="0" t="0" r="r" b="b"/>
                <a:pathLst>
                  <a:path w="144" h="145">
                    <a:moveTo>
                      <a:pt x="0" y="145"/>
                    </a:moveTo>
                    <a:lnTo>
                      <a:pt x="144" y="145"/>
                    </a:lnTo>
                    <a:lnTo>
                      <a:pt x="144" y="0"/>
                    </a:lnTo>
                  </a:path>
                </a:pathLst>
              </a:custGeom>
              <a:noFill/>
              <a:ln w="15875">
                <a:solidFill>
                  <a:srgbClr val="000000"/>
                </a:solidFill>
                <a:prstDash val="solid"/>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6" name="Line 452"/>
              <p:cNvSpPr>
                <a:spLocks noChangeShapeType="1"/>
              </p:cNvSpPr>
              <p:nvPr/>
            </p:nvSpPr>
            <p:spPr bwMode="auto">
              <a:xfrm flipV="1">
                <a:off x="2961" y="3856"/>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7" name="Line 453"/>
              <p:cNvSpPr>
                <a:spLocks noChangeShapeType="1"/>
              </p:cNvSpPr>
              <p:nvPr/>
            </p:nvSpPr>
            <p:spPr bwMode="auto">
              <a:xfrm flipV="1">
                <a:off x="2913"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8" name="Line 454"/>
              <p:cNvSpPr>
                <a:spLocks noChangeShapeType="1"/>
              </p:cNvSpPr>
              <p:nvPr/>
            </p:nvSpPr>
            <p:spPr bwMode="auto">
              <a:xfrm flipH="1">
                <a:off x="2913"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9" name="Line 455"/>
              <p:cNvSpPr>
                <a:spLocks noChangeShapeType="1"/>
              </p:cNvSpPr>
              <p:nvPr/>
            </p:nvSpPr>
            <p:spPr bwMode="auto">
              <a:xfrm flipH="1">
                <a:off x="2913"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0" name="Line 456"/>
              <p:cNvSpPr>
                <a:spLocks noChangeShapeType="1"/>
              </p:cNvSpPr>
              <p:nvPr/>
            </p:nvSpPr>
            <p:spPr bwMode="auto">
              <a:xfrm>
                <a:off x="2913"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1" name="Line 457"/>
              <p:cNvSpPr>
                <a:spLocks noChangeShapeType="1"/>
              </p:cNvSpPr>
              <p:nvPr/>
            </p:nvSpPr>
            <p:spPr bwMode="auto">
              <a:xfrm>
                <a:off x="2865"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2" name="Line 458"/>
              <p:cNvSpPr>
                <a:spLocks noChangeShapeType="1"/>
              </p:cNvSpPr>
              <p:nvPr/>
            </p:nvSpPr>
            <p:spPr bwMode="auto">
              <a:xfrm flipV="1">
                <a:off x="2961" y="3808"/>
                <a:ext cx="0" cy="4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3" name="Line 459"/>
              <p:cNvSpPr>
                <a:spLocks noChangeShapeType="1"/>
              </p:cNvSpPr>
              <p:nvPr/>
            </p:nvSpPr>
            <p:spPr bwMode="auto">
              <a:xfrm>
                <a:off x="2817" y="3808"/>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4" name="Line 460"/>
              <p:cNvSpPr>
                <a:spLocks noChangeShapeType="1"/>
              </p:cNvSpPr>
              <p:nvPr/>
            </p:nvSpPr>
            <p:spPr bwMode="auto">
              <a:xfrm>
                <a:off x="2817" y="3856"/>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5" name="Line 461"/>
              <p:cNvSpPr>
                <a:spLocks noChangeShapeType="1"/>
              </p:cNvSpPr>
              <p:nvPr/>
            </p:nvSpPr>
            <p:spPr bwMode="auto">
              <a:xfrm flipH="1">
                <a:off x="2817" y="3904"/>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6" name="Line 462"/>
              <p:cNvSpPr>
                <a:spLocks noChangeShapeType="1"/>
              </p:cNvSpPr>
              <p:nvPr/>
            </p:nvSpPr>
            <p:spPr bwMode="auto">
              <a:xfrm>
                <a:off x="2817" y="3952"/>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37" name="Line 463"/>
              <p:cNvSpPr>
                <a:spLocks noChangeShapeType="1"/>
              </p:cNvSpPr>
              <p:nvPr/>
            </p:nvSpPr>
            <p:spPr bwMode="auto">
              <a:xfrm flipH="1">
                <a:off x="2817" y="3760"/>
                <a:ext cx="48"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pic>
          <p:nvPicPr>
            <p:cNvPr id="189" name="Picture 8"/>
            <p:cNvPicPr>
              <a:picLocks noChangeAspect="1" noChangeArrowheads="1"/>
            </p:cNvPicPr>
            <p:nvPr/>
          </p:nvPicPr>
          <p:blipFill>
            <a:blip r:embed="rId7" cstate="print"/>
            <a:srcRect/>
            <a:stretch>
              <a:fillRect/>
            </a:stretch>
          </p:blipFill>
          <p:spPr bwMode="auto">
            <a:xfrm>
              <a:off x="3305571" y="3178098"/>
              <a:ext cx="1299882" cy="318286"/>
            </a:xfrm>
            <a:prstGeom prst="rect">
              <a:avLst/>
            </a:prstGeom>
            <a:noFill/>
            <a:ln w="9525">
              <a:noFill/>
              <a:miter lim="800000"/>
              <a:headEnd/>
              <a:tailEnd/>
            </a:ln>
            <a:effectLst/>
          </p:spPr>
        </p:pic>
        <p:pic>
          <p:nvPicPr>
            <p:cNvPr id="190" name="Picture 8"/>
            <p:cNvPicPr>
              <a:picLocks noChangeAspect="1" noChangeArrowheads="1"/>
            </p:cNvPicPr>
            <p:nvPr/>
          </p:nvPicPr>
          <p:blipFill>
            <a:blip r:embed="rId7" cstate="print"/>
            <a:srcRect/>
            <a:stretch>
              <a:fillRect/>
            </a:stretch>
          </p:blipFill>
          <p:spPr bwMode="auto">
            <a:xfrm>
              <a:off x="5914959" y="3166947"/>
              <a:ext cx="1299882" cy="318286"/>
            </a:xfrm>
            <a:prstGeom prst="rect">
              <a:avLst/>
            </a:prstGeom>
            <a:noFill/>
            <a:ln w="9525">
              <a:noFill/>
              <a:miter lim="800000"/>
              <a:headEnd/>
              <a:tailEnd/>
            </a:ln>
            <a:effectLst/>
          </p:spPr>
        </p:pic>
        <p:pic>
          <p:nvPicPr>
            <p:cNvPr id="197" name="Picture 14"/>
            <p:cNvPicPr>
              <a:picLocks noChangeAspect="1" noChangeArrowheads="1"/>
            </p:cNvPicPr>
            <p:nvPr/>
          </p:nvPicPr>
          <p:blipFill>
            <a:blip r:embed="rId8" cstate="print"/>
            <a:srcRect/>
            <a:stretch>
              <a:fillRect/>
            </a:stretch>
          </p:blipFill>
          <p:spPr bwMode="auto">
            <a:xfrm>
              <a:off x="4809756" y="3070302"/>
              <a:ext cx="916395" cy="594360"/>
            </a:xfrm>
            <a:prstGeom prst="rect">
              <a:avLst/>
            </a:prstGeom>
            <a:noFill/>
            <a:ln w="9525">
              <a:noFill/>
              <a:miter lim="800000"/>
              <a:headEnd/>
              <a:tailEnd/>
            </a:ln>
            <a:effectLst/>
          </p:spPr>
        </p:pic>
        <p:sp>
          <p:nvSpPr>
            <p:cNvPr id="199" name="Rectangle 1910"/>
            <p:cNvSpPr>
              <a:spLocks noChangeArrowheads="1"/>
            </p:cNvSpPr>
            <p:nvPr/>
          </p:nvSpPr>
          <p:spPr bwMode="auto">
            <a:xfrm>
              <a:off x="5054126" y="3146650"/>
              <a:ext cx="387350" cy="430887"/>
            </a:xfrm>
            <a:prstGeom prst="rect">
              <a:avLst/>
            </a:prstGeom>
            <a:noFill/>
            <a:ln w="9525">
              <a:noFill/>
              <a:miter lim="800000"/>
              <a:headEnd/>
              <a:tailEnd/>
            </a:ln>
          </p:spPr>
          <p:txBody>
            <a:bodyPr wrap="none" lIns="0" tIns="0" rIns="0" bIns="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SAN/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WAN</a:t>
              </a:r>
            </a:p>
          </p:txBody>
        </p:sp>
      </p:grpSp>
      <p:sp>
        <p:nvSpPr>
          <p:cNvPr id="163" name="Footer Placeholder 16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62" name="Arc 161"/>
          <p:cNvSpPr/>
          <p:nvPr/>
        </p:nvSpPr>
        <p:spPr>
          <a:xfrm rot="13070812" flipH="1">
            <a:off x="2833405" y="789357"/>
            <a:ext cx="1590010" cy="2644664"/>
          </a:xfrm>
          <a:prstGeom prst="arc">
            <a:avLst>
              <a:gd name="adj1" fmla="val 13527698"/>
              <a:gd name="adj2" fmla="val 1752983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solidFill>
                  <a:srgbClr val="000000"/>
                </a:solidFill>
              </a:ln>
              <a:solidFill>
                <a:srgbClr val="000000"/>
              </a:solidFill>
              <a:effectLst/>
              <a:uLnTx/>
              <a:uFillTx/>
              <a:latin typeface="MetaNormalLF-Roman"/>
              <a:ea typeface="+mn-ea"/>
              <a:cs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Three-site Replication</a:t>
            </a:r>
          </a:p>
        </p:txBody>
      </p:sp>
      <p:sp>
        <p:nvSpPr>
          <p:cNvPr id="5" name="Content Placeholder 4"/>
          <p:cNvSpPr>
            <a:spLocks noGrp="1"/>
          </p:cNvSpPr>
          <p:nvPr>
            <p:ph idx="1"/>
          </p:nvPr>
        </p:nvSpPr>
        <p:spPr/>
        <p:txBody>
          <a:bodyPr/>
          <a:lstStyle/>
          <a:p>
            <a:r>
              <a:rPr lang="en-US" dirty="0"/>
              <a:t>Data from source site is replicated to two remote sites</a:t>
            </a:r>
          </a:p>
          <a:p>
            <a:pPr lvl="1"/>
            <a:r>
              <a:rPr lang="en-US" dirty="0"/>
              <a:t>Replication is synchronous to one of the remote sites and asynchronous or disk buffered to the other remote site</a:t>
            </a:r>
          </a:p>
          <a:p>
            <a:r>
              <a:rPr lang="en-US" dirty="0"/>
              <a:t>Mitigates the risk in two site replication </a:t>
            </a:r>
          </a:p>
          <a:p>
            <a:pPr lvl="1"/>
            <a:r>
              <a:rPr lang="en-US" dirty="0"/>
              <a:t>No DR protection after source or remote site failure</a:t>
            </a:r>
          </a:p>
          <a:p>
            <a:r>
              <a:rPr lang="en-US" dirty="0"/>
              <a:t>Implemented in two ways:</a:t>
            </a:r>
          </a:p>
          <a:p>
            <a:pPr lvl="1"/>
            <a:r>
              <a:rPr lang="en-US" dirty="0"/>
              <a:t>Cascade/</a:t>
            </a:r>
            <a:r>
              <a:rPr lang="en-US" dirty="0" err="1"/>
              <a:t>multihop</a:t>
            </a:r>
            <a:endParaRPr lang="en-US" dirty="0"/>
          </a:p>
          <a:p>
            <a:pPr lvl="1"/>
            <a:r>
              <a:rPr lang="en-US" dirty="0"/>
              <a:t>Triangle/</a:t>
            </a:r>
            <a:r>
              <a:rPr lang="en-US" dirty="0" err="1"/>
              <a:t>multitarget</a:t>
            </a:r>
            <a:endParaRPr lang="en-US" dirty="0"/>
          </a:p>
          <a:p>
            <a:endParaRPr lang="en-US" dirty="0"/>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6" name="Footer Placeholder 5"/>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Three-site Replication: Cascade/</a:t>
            </a:r>
            <a:r>
              <a:rPr lang="en-US" dirty="0" err="1"/>
              <a:t>Multihop</a:t>
            </a:r>
            <a:endParaRPr lang="en-US" dirty="0"/>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7" name="Rectangle 62"/>
          <p:cNvSpPr>
            <a:spLocks noChangeArrowheads="1"/>
          </p:cNvSpPr>
          <p:nvPr/>
        </p:nvSpPr>
        <p:spPr bwMode="auto">
          <a:xfrm>
            <a:off x="6061075" y="4055538"/>
            <a:ext cx="1001713"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8" name="Rectangle 61"/>
          <p:cNvSpPr>
            <a:spLocks noChangeArrowheads="1"/>
          </p:cNvSpPr>
          <p:nvPr/>
        </p:nvSpPr>
        <p:spPr bwMode="auto">
          <a:xfrm>
            <a:off x="3435350" y="4020613"/>
            <a:ext cx="1000125"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9" name="Rectangle 75"/>
          <p:cNvSpPr>
            <a:spLocks noChangeArrowheads="1"/>
          </p:cNvSpPr>
          <p:nvPr/>
        </p:nvSpPr>
        <p:spPr bwMode="auto">
          <a:xfrm>
            <a:off x="1219200" y="3988863"/>
            <a:ext cx="1000125"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0" name="Rectangle 38"/>
          <p:cNvSpPr>
            <a:spLocks noChangeArrowheads="1"/>
          </p:cNvSpPr>
          <p:nvPr/>
        </p:nvSpPr>
        <p:spPr bwMode="auto">
          <a:xfrm>
            <a:off x="6092825" y="1295400"/>
            <a:ext cx="1001713"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1" name="Rectangle 37"/>
          <p:cNvSpPr>
            <a:spLocks noChangeArrowheads="1"/>
          </p:cNvSpPr>
          <p:nvPr/>
        </p:nvSpPr>
        <p:spPr bwMode="auto">
          <a:xfrm>
            <a:off x="3435350" y="1295400"/>
            <a:ext cx="1000125"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2" name="Rectangle 51"/>
          <p:cNvSpPr>
            <a:spLocks noChangeArrowheads="1"/>
          </p:cNvSpPr>
          <p:nvPr/>
        </p:nvSpPr>
        <p:spPr bwMode="auto">
          <a:xfrm>
            <a:off x="1196898" y="1295400"/>
            <a:ext cx="1000125"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Rectangle 39"/>
          <p:cNvSpPr>
            <a:spLocks noChangeArrowheads="1"/>
          </p:cNvSpPr>
          <p:nvPr/>
        </p:nvSpPr>
        <p:spPr bwMode="auto">
          <a:xfrm>
            <a:off x="3539219" y="3149600"/>
            <a:ext cx="848887"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Bunker Site</a:t>
            </a:r>
          </a:p>
        </p:txBody>
      </p:sp>
      <p:sp>
        <p:nvSpPr>
          <p:cNvPr id="19" name="Rectangle 40"/>
          <p:cNvSpPr>
            <a:spLocks noChangeArrowheads="1"/>
          </p:cNvSpPr>
          <p:nvPr/>
        </p:nvSpPr>
        <p:spPr bwMode="auto">
          <a:xfrm>
            <a:off x="6206446" y="3154363"/>
            <a:ext cx="900311"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Site</a:t>
            </a:r>
          </a:p>
        </p:txBody>
      </p:sp>
      <p:sp>
        <p:nvSpPr>
          <p:cNvPr id="20" name="Rectangle 41"/>
          <p:cNvSpPr>
            <a:spLocks noChangeArrowheads="1"/>
          </p:cNvSpPr>
          <p:nvPr/>
        </p:nvSpPr>
        <p:spPr bwMode="auto">
          <a:xfrm>
            <a:off x="4699000" y="2878138"/>
            <a:ext cx="955518"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Local Replica</a:t>
            </a:r>
          </a:p>
        </p:txBody>
      </p:sp>
      <p:sp>
        <p:nvSpPr>
          <p:cNvPr id="21" name="Rectangle 42"/>
          <p:cNvSpPr>
            <a:spLocks noChangeArrowheads="1"/>
          </p:cNvSpPr>
          <p:nvPr/>
        </p:nvSpPr>
        <p:spPr bwMode="auto">
          <a:xfrm>
            <a:off x="7299556" y="2808288"/>
            <a:ext cx="1156920"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Replica</a:t>
            </a:r>
          </a:p>
        </p:txBody>
      </p:sp>
      <p:sp>
        <p:nvSpPr>
          <p:cNvPr id="23" name="Line 44"/>
          <p:cNvSpPr>
            <a:spLocks noChangeShapeType="1"/>
          </p:cNvSpPr>
          <p:nvPr/>
        </p:nvSpPr>
        <p:spPr bwMode="auto">
          <a:xfrm flipH="1">
            <a:off x="4235527" y="1651039"/>
            <a:ext cx="358775" cy="206375"/>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4" name="Line 45"/>
          <p:cNvSpPr>
            <a:spLocks noChangeShapeType="1"/>
          </p:cNvSpPr>
          <p:nvPr/>
        </p:nvSpPr>
        <p:spPr bwMode="auto">
          <a:xfrm flipH="1" flipV="1">
            <a:off x="4267123" y="2671763"/>
            <a:ext cx="358775" cy="206375"/>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5" name="Line 46"/>
          <p:cNvSpPr>
            <a:spLocks noChangeShapeType="1"/>
          </p:cNvSpPr>
          <p:nvPr/>
        </p:nvSpPr>
        <p:spPr bwMode="auto">
          <a:xfrm flipH="1" flipV="1">
            <a:off x="6874106" y="2671763"/>
            <a:ext cx="358775" cy="206375"/>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7" name="Line 48"/>
          <p:cNvSpPr>
            <a:spLocks noChangeShapeType="1"/>
          </p:cNvSpPr>
          <p:nvPr/>
        </p:nvSpPr>
        <p:spPr bwMode="auto">
          <a:xfrm>
            <a:off x="2290763" y="1982788"/>
            <a:ext cx="1117600" cy="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8" name="Line 49"/>
          <p:cNvSpPr>
            <a:spLocks noChangeShapeType="1"/>
          </p:cNvSpPr>
          <p:nvPr/>
        </p:nvSpPr>
        <p:spPr bwMode="auto">
          <a:xfrm flipV="1">
            <a:off x="4473575" y="2551113"/>
            <a:ext cx="1589088" cy="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0" name="Line 52"/>
          <p:cNvSpPr>
            <a:spLocks noChangeShapeType="1"/>
          </p:cNvSpPr>
          <p:nvPr/>
        </p:nvSpPr>
        <p:spPr bwMode="auto">
          <a:xfrm flipH="1">
            <a:off x="1933575" y="1639888"/>
            <a:ext cx="355600" cy="206375"/>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1" name="Rectangle 53"/>
          <p:cNvSpPr>
            <a:spLocks noChangeArrowheads="1"/>
          </p:cNvSpPr>
          <p:nvPr/>
        </p:nvSpPr>
        <p:spPr bwMode="auto">
          <a:xfrm>
            <a:off x="2282637" y="1414691"/>
            <a:ext cx="1041695"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Device</a:t>
            </a:r>
          </a:p>
        </p:txBody>
      </p:sp>
      <p:sp>
        <p:nvSpPr>
          <p:cNvPr id="32" name="Rectangle 54"/>
          <p:cNvSpPr>
            <a:spLocks noChangeArrowheads="1"/>
          </p:cNvSpPr>
          <p:nvPr/>
        </p:nvSpPr>
        <p:spPr bwMode="auto">
          <a:xfrm>
            <a:off x="2376488" y="2024063"/>
            <a:ext cx="953851"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Synchronous</a:t>
            </a:r>
          </a:p>
        </p:txBody>
      </p:sp>
      <p:sp>
        <p:nvSpPr>
          <p:cNvPr id="33" name="Rectangle 55"/>
          <p:cNvSpPr>
            <a:spLocks noChangeArrowheads="1"/>
          </p:cNvSpPr>
          <p:nvPr/>
        </p:nvSpPr>
        <p:spPr bwMode="auto">
          <a:xfrm>
            <a:off x="4598496" y="1483898"/>
            <a:ext cx="1156920"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Replica</a:t>
            </a:r>
          </a:p>
        </p:txBody>
      </p:sp>
      <p:sp>
        <p:nvSpPr>
          <p:cNvPr id="34" name="Rectangle 56"/>
          <p:cNvSpPr>
            <a:spLocks noChangeArrowheads="1"/>
          </p:cNvSpPr>
          <p:nvPr/>
        </p:nvSpPr>
        <p:spPr bwMode="auto">
          <a:xfrm>
            <a:off x="4828412" y="2286000"/>
            <a:ext cx="1001556"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Disk Buffered</a:t>
            </a:r>
          </a:p>
        </p:txBody>
      </p:sp>
      <p:sp>
        <p:nvSpPr>
          <p:cNvPr id="35" name="Rectangle 57"/>
          <p:cNvSpPr>
            <a:spLocks noChangeArrowheads="1"/>
          </p:cNvSpPr>
          <p:nvPr/>
        </p:nvSpPr>
        <p:spPr bwMode="auto">
          <a:xfrm>
            <a:off x="1293283" y="3151188"/>
            <a:ext cx="824008"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Site</a:t>
            </a:r>
          </a:p>
        </p:txBody>
      </p:sp>
      <p:sp>
        <p:nvSpPr>
          <p:cNvPr id="38" name="Rectangle 63"/>
          <p:cNvSpPr>
            <a:spLocks noChangeArrowheads="1"/>
          </p:cNvSpPr>
          <p:nvPr/>
        </p:nvSpPr>
        <p:spPr bwMode="auto">
          <a:xfrm>
            <a:off x="3552573" y="5859592"/>
            <a:ext cx="848887"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Bunker Site</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39" name="Rectangle 64"/>
          <p:cNvSpPr>
            <a:spLocks noChangeArrowheads="1"/>
          </p:cNvSpPr>
          <p:nvPr/>
        </p:nvSpPr>
        <p:spPr bwMode="auto">
          <a:xfrm>
            <a:off x="6183606" y="5880556"/>
            <a:ext cx="900311"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Site</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41" name="Rectangle 66"/>
          <p:cNvSpPr>
            <a:spLocks noChangeArrowheads="1"/>
          </p:cNvSpPr>
          <p:nvPr/>
        </p:nvSpPr>
        <p:spPr bwMode="auto">
          <a:xfrm>
            <a:off x="7226377" y="5590727"/>
            <a:ext cx="1156920"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Replica</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43" name="Line 68"/>
          <p:cNvSpPr>
            <a:spLocks noChangeShapeType="1"/>
          </p:cNvSpPr>
          <p:nvPr/>
        </p:nvSpPr>
        <p:spPr bwMode="auto">
          <a:xfrm flipH="1">
            <a:off x="4257637" y="4466931"/>
            <a:ext cx="379412" cy="373063"/>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5" name="Line 70"/>
          <p:cNvSpPr>
            <a:spLocks noChangeShapeType="1"/>
          </p:cNvSpPr>
          <p:nvPr/>
        </p:nvSpPr>
        <p:spPr bwMode="auto">
          <a:xfrm flipH="1" flipV="1">
            <a:off x="6767628" y="5257391"/>
            <a:ext cx="400050" cy="414337"/>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47" name="Line 72"/>
          <p:cNvSpPr>
            <a:spLocks noChangeShapeType="1"/>
          </p:cNvSpPr>
          <p:nvPr/>
        </p:nvSpPr>
        <p:spPr bwMode="auto">
          <a:xfrm flipV="1">
            <a:off x="2257425" y="4919138"/>
            <a:ext cx="1138238" cy="1587"/>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0" name="Line 76"/>
          <p:cNvSpPr>
            <a:spLocks noChangeShapeType="1"/>
          </p:cNvSpPr>
          <p:nvPr/>
        </p:nvSpPr>
        <p:spPr bwMode="auto">
          <a:xfrm flipH="1">
            <a:off x="1922463" y="4478082"/>
            <a:ext cx="368300" cy="361950"/>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1" name="Rectangle 77"/>
          <p:cNvSpPr>
            <a:spLocks noChangeArrowheads="1"/>
          </p:cNvSpPr>
          <p:nvPr/>
        </p:nvSpPr>
        <p:spPr bwMode="auto">
          <a:xfrm>
            <a:off x="2293788" y="4276904"/>
            <a:ext cx="1041695"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Device</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52" name="Rectangle 78"/>
          <p:cNvSpPr>
            <a:spLocks noChangeArrowheads="1"/>
          </p:cNvSpPr>
          <p:nvPr/>
        </p:nvSpPr>
        <p:spPr bwMode="auto">
          <a:xfrm>
            <a:off x="2376488" y="4962000"/>
            <a:ext cx="953851"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rPr>
              <a:t>Synchronous</a:t>
            </a: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3" name="Rectangle 79"/>
          <p:cNvSpPr>
            <a:spLocks noChangeArrowheads="1"/>
          </p:cNvSpPr>
          <p:nvPr/>
        </p:nvSpPr>
        <p:spPr bwMode="auto">
          <a:xfrm>
            <a:off x="4579296" y="4259612"/>
            <a:ext cx="1156920"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Replica</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54" name="Rectangle 80"/>
          <p:cNvSpPr>
            <a:spLocks noChangeArrowheads="1"/>
          </p:cNvSpPr>
          <p:nvPr/>
        </p:nvSpPr>
        <p:spPr bwMode="auto">
          <a:xfrm>
            <a:off x="4713516" y="4947484"/>
            <a:ext cx="1049903"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Asynchronous</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55" name="Rectangle 81"/>
          <p:cNvSpPr>
            <a:spLocks noChangeArrowheads="1"/>
          </p:cNvSpPr>
          <p:nvPr/>
        </p:nvSpPr>
        <p:spPr bwMode="auto">
          <a:xfrm>
            <a:off x="1344613" y="5838082"/>
            <a:ext cx="824008"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Site</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56" name="Line 83"/>
          <p:cNvSpPr>
            <a:spLocks noChangeShapeType="1"/>
          </p:cNvSpPr>
          <p:nvPr/>
        </p:nvSpPr>
        <p:spPr bwMode="auto">
          <a:xfrm>
            <a:off x="3587750" y="1955800"/>
            <a:ext cx="0" cy="63500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8" name="TextBox 57"/>
          <p:cNvSpPr txBox="1"/>
          <p:nvPr/>
        </p:nvSpPr>
        <p:spPr>
          <a:xfrm>
            <a:off x="381000" y="824816"/>
            <a:ext cx="4330874" cy="461665"/>
          </a:xfrm>
          <a:prstGeom prst="rect">
            <a:avLst/>
          </a:prstGeom>
          <a:noFill/>
        </p:spPr>
        <p:txBody>
          <a:bodyPr wrap="square" rtlCol="0">
            <a:spAutoFit/>
          </a:bodyPr>
          <a:lstStyle/>
          <a:p>
            <a:pPr marL="231775" marR="0" lvl="0" indent="-231775" algn="l" defTabSz="914400" rtl="0" eaLnBrk="1" fontAlgn="base" latinLnBrk="0" hangingPunct="1">
              <a:lnSpc>
                <a:spcPct val="100000"/>
              </a:lnSpc>
              <a:spcBef>
                <a:spcPct val="20000"/>
              </a:spcBef>
              <a:spcAft>
                <a:spcPct val="0"/>
              </a:spcAft>
              <a:buClr>
                <a:srgbClr val="92D050"/>
              </a:buClr>
              <a:buSzPct val="120000"/>
              <a:buFont typeface="Arial" charset="0"/>
              <a:buChar char="•"/>
              <a:tabLst/>
              <a:defRPr/>
            </a:pPr>
            <a:r>
              <a:rPr kumimoji="0" lang="en-US" sz="2400" b="0" i="0" u="none" strike="noStrike" kern="1200" cap="none" spc="0" normalizeH="0" baseline="0" noProof="0" dirty="0">
                <a:ln>
                  <a:noFill/>
                </a:ln>
                <a:solidFill>
                  <a:srgbClr val="5F5F5F">
                    <a:lumMod val="75000"/>
                  </a:srgbClr>
                </a:solidFill>
                <a:effectLst/>
                <a:uLnTx/>
                <a:uFillTx/>
                <a:latin typeface="Calibri" pitchFamily="34" charset="0"/>
                <a:ea typeface="+mn-ea"/>
                <a:cs typeface="Arial"/>
              </a:rPr>
              <a:t>Synchronous + Disk Buffered</a:t>
            </a:r>
          </a:p>
        </p:txBody>
      </p:sp>
      <p:sp>
        <p:nvSpPr>
          <p:cNvPr id="59" name="TextBox 58"/>
          <p:cNvSpPr txBox="1"/>
          <p:nvPr/>
        </p:nvSpPr>
        <p:spPr>
          <a:xfrm>
            <a:off x="381000" y="3509264"/>
            <a:ext cx="4724400" cy="461665"/>
          </a:xfrm>
          <a:prstGeom prst="rect">
            <a:avLst/>
          </a:prstGeom>
          <a:noFill/>
        </p:spPr>
        <p:txBody>
          <a:bodyPr wrap="square" rtlCol="0">
            <a:spAutoFit/>
          </a:bodyPr>
          <a:lstStyle/>
          <a:p>
            <a:pPr marL="231775" marR="0" lvl="0" indent="-231775" algn="l" defTabSz="914400" rtl="0" eaLnBrk="1" fontAlgn="base" latinLnBrk="0" hangingPunct="1">
              <a:lnSpc>
                <a:spcPct val="100000"/>
              </a:lnSpc>
              <a:spcBef>
                <a:spcPct val="20000"/>
              </a:spcBef>
              <a:spcAft>
                <a:spcPct val="0"/>
              </a:spcAft>
              <a:buClr>
                <a:srgbClr val="92D050"/>
              </a:buClr>
              <a:buSzPct val="120000"/>
              <a:buFont typeface="Arial" charset="0"/>
              <a:buChar char="•"/>
              <a:tabLst/>
              <a:defRPr/>
            </a:pPr>
            <a:r>
              <a:rPr kumimoji="0" lang="en-US" sz="2400" b="0" i="0" u="none" strike="noStrike" kern="1200" cap="none" spc="0" normalizeH="0" baseline="0" noProof="0" dirty="0">
                <a:ln>
                  <a:noFill/>
                </a:ln>
                <a:solidFill>
                  <a:srgbClr val="5F5F5F">
                    <a:lumMod val="75000"/>
                  </a:srgbClr>
                </a:solidFill>
                <a:effectLst/>
                <a:uLnTx/>
                <a:uFillTx/>
                <a:latin typeface="Calibri" pitchFamily="34" charset="0"/>
                <a:ea typeface="+mn-ea"/>
                <a:cs typeface="Arial"/>
              </a:rPr>
              <a:t> Synchronous + Asynchronous</a:t>
            </a:r>
          </a:p>
        </p:txBody>
      </p:sp>
      <p:pic>
        <p:nvPicPr>
          <p:cNvPr id="57"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1382751" y="1709853"/>
            <a:ext cx="533400" cy="533400"/>
          </a:xfrm>
          <a:prstGeom prst="rect">
            <a:avLst/>
          </a:prstGeom>
          <a:noFill/>
        </p:spPr>
      </p:pic>
      <p:pic>
        <p:nvPicPr>
          <p:cNvPr id="60"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3668751" y="1687551"/>
            <a:ext cx="533400" cy="533400"/>
          </a:xfrm>
          <a:prstGeom prst="rect">
            <a:avLst/>
          </a:prstGeom>
          <a:noFill/>
        </p:spPr>
      </p:pic>
      <p:pic>
        <p:nvPicPr>
          <p:cNvPr id="61"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3678045" y="2319453"/>
            <a:ext cx="533400" cy="533400"/>
          </a:xfrm>
          <a:prstGeom prst="rect">
            <a:avLst/>
          </a:prstGeom>
          <a:noFill/>
        </p:spPr>
      </p:pic>
      <p:pic>
        <p:nvPicPr>
          <p:cNvPr id="62"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304155" y="2351049"/>
            <a:ext cx="533400" cy="533400"/>
          </a:xfrm>
          <a:prstGeom prst="rect">
            <a:avLst/>
          </a:prstGeom>
          <a:noFill/>
        </p:spPr>
      </p:pic>
      <p:pic>
        <p:nvPicPr>
          <p:cNvPr id="63"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1371600" y="4674701"/>
            <a:ext cx="533400" cy="533400"/>
          </a:xfrm>
          <a:prstGeom prst="rect">
            <a:avLst/>
          </a:prstGeom>
          <a:noFill/>
        </p:spPr>
      </p:pic>
      <p:pic>
        <p:nvPicPr>
          <p:cNvPr id="64"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3679902" y="4717448"/>
            <a:ext cx="533400" cy="533400"/>
          </a:xfrm>
          <a:prstGeom prst="rect">
            <a:avLst/>
          </a:prstGeom>
          <a:noFill/>
        </p:spPr>
      </p:pic>
      <p:pic>
        <p:nvPicPr>
          <p:cNvPr id="65"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6281853" y="4739750"/>
            <a:ext cx="533400" cy="533400"/>
          </a:xfrm>
          <a:prstGeom prst="rect">
            <a:avLst/>
          </a:prstGeom>
          <a:noFill/>
        </p:spPr>
      </p:pic>
      <p:sp>
        <p:nvSpPr>
          <p:cNvPr id="49" name="Footer Placeholder 48"/>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12: Remote Replication</a:t>
            </a:r>
          </a:p>
        </p:txBody>
      </p:sp>
      <p:sp>
        <p:nvSpPr>
          <p:cNvPr id="66" name="Line 72"/>
          <p:cNvSpPr>
            <a:spLocks noChangeShapeType="1"/>
          </p:cNvSpPr>
          <p:nvPr/>
        </p:nvSpPr>
        <p:spPr bwMode="auto">
          <a:xfrm flipV="1">
            <a:off x="4528460" y="4920720"/>
            <a:ext cx="1443038" cy="0"/>
          </a:xfrm>
          <a:prstGeom prst="line">
            <a:avLst/>
          </a:prstGeom>
          <a:noFill/>
          <a:ln w="38100">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Three-site Replication: Triangle/</a:t>
            </a:r>
            <a:r>
              <a:rPr lang="en-US" dirty="0" err="1"/>
              <a:t>Multitarget</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ADD0FD0-5DC7-4614-9D2E-5687F653AACB}"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6" name="Line 48"/>
          <p:cNvSpPr>
            <a:spLocks noChangeShapeType="1"/>
          </p:cNvSpPr>
          <p:nvPr/>
        </p:nvSpPr>
        <p:spPr bwMode="auto">
          <a:xfrm>
            <a:off x="5357750" y="2109438"/>
            <a:ext cx="838200" cy="1828800"/>
          </a:xfrm>
          <a:prstGeom prst="line">
            <a:avLst/>
          </a:prstGeom>
          <a:noFill/>
          <a:ln w="25400" cap="rnd">
            <a:solidFill>
              <a:srgbClr val="000000"/>
            </a:solidFill>
            <a:prstDash val="sysDot"/>
            <a:round/>
            <a:headEnd type="triangle" w="med" len="med"/>
            <a:tailEnd type="triangle" w="med" len="med"/>
          </a:ln>
          <a:effectLst/>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 name="Rectangle 49"/>
          <p:cNvSpPr>
            <a:spLocks noChangeArrowheads="1"/>
          </p:cNvSpPr>
          <p:nvPr/>
        </p:nvSpPr>
        <p:spPr bwMode="auto">
          <a:xfrm>
            <a:off x="5968217" y="2325363"/>
            <a:ext cx="1542090" cy="1113125"/>
          </a:xfrm>
          <a:prstGeom prst="rect">
            <a:avLst/>
          </a:prstGeom>
          <a:noFill/>
          <a:ln w="12700">
            <a:noFill/>
            <a:miter lim="800000"/>
            <a:headEnd/>
            <a:tailEnd/>
          </a:ln>
          <a:effectLst/>
        </p:spPr>
        <p:txBody>
          <a:bodyPr wrap="none" lIns="90488" tIns="44450" rIns="90488" bIns="44450">
            <a:spAutoFit/>
          </a:bodyPr>
          <a:lstStyle/>
          <a:p>
            <a:pPr marL="354013" marR="0" lvl="0" indent="-354013" algn="ctr"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Asynchronous</a:t>
            </a:r>
          </a:p>
          <a:p>
            <a:pPr marL="354013" marR="0" lvl="0" indent="-354013" algn="ctr"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with</a:t>
            </a:r>
          </a:p>
          <a:p>
            <a:pPr marL="354013" marR="0" lvl="0" indent="-354013" algn="ctr"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Differential</a:t>
            </a:r>
          </a:p>
          <a:p>
            <a:pPr marL="354013" marR="0" lvl="0" indent="-354013" algn="ctr"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Resynchronization</a:t>
            </a:r>
          </a:p>
        </p:txBody>
      </p:sp>
      <p:sp>
        <p:nvSpPr>
          <p:cNvPr id="14" name="Rectangle 56"/>
          <p:cNvSpPr>
            <a:spLocks noChangeArrowheads="1"/>
          </p:cNvSpPr>
          <p:nvPr/>
        </p:nvSpPr>
        <p:spPr bwMode="auto">
          <a:xfrm>
            <a:off x="1643924" y="3861626"/>
            <a:ext cx="1046826" cy="305212"/>
          </a:xfrm>
          <a:prstGeom prst="rect">
            <a:avLst/>
          </a:prstGeom>
          <a:noFill/>
          <a:ln w="12700">
            <a:noFill/>
            <a:miter lim="800000"/>
            <a:headEnd/>
            <a:tailEnd/>
          </a:ln>
          <a:effectLst/>
        </p:spPr>
        <p:txBody>
          <a:bodyPr wrap="none" lIns="90488" tIns="44450" rIns="90488" bIns="44450">
            <a:spAutoFit/>
          </a:bodyPr>
          <a:lstStyle/>
          <a:p>
            <a:pPr marL="354013" marR="0" lvl="0" indent="-354013" algn="l"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Site </a:t>
            </a:r>
          </a:p>
        </p:txBody>
      </p:sp>
      <p:sp>
        <p:nvSpPr>
          <p:cNvPr id="16" name="Line 58"/>
          <p:cNvSpPr>
            <a:spLocks noChangeShapeType="1"/>
          </p:cNvSpPr>
          <p:nvPr/>
        </p:nvSpPr>
        <p:spPr bwMode="gray">
          <a:xfrm rot="5634248">
            <a:off x="3105176" y="1479391"/>
            <a:ext cx="781728" cy="1276029"/>
          </a:xfrm>
          <a:prstGeom prst="line">
            <a:avLst/>
          </a:prstGeom>
          <a:noFill/>
          <a:ln w="38100">
            <a:solidFill>
              <a:srgbClr val="000A18"/>
            </a:solidFill>
            <a:round/>
            <a:headEnd type="triangle" w="med" len="me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8" name="Rectangle 60"/>
          <p:cNvSpPr>
            <a:spLocks noChangeArrowheads="1"/>
          </p:cNvSpPr>
          <p:nvPr/>
        </p:nvSpPr>
        <p:spPr bwMode="auto">
          <a:xfrm rot="19939231">
            <a:off x="2794272" y="1861797"/>
            <a:ext cx="1136594" cy="305212"/>
          </a:xfrm>
          <a:prstGeom prst="rect">
            <a:avLst/>
          </a:prstGeom>
          <a:noFill/>
          <a:ln w="12700">
            <a:noFill/>
            <a:miter lim="800000"/>
            <a:headEnd/>
            <a:tailEnd/>
          </a:ln>
          <a:effectLst/>
        </p:spPr>
        <p:txBody>
          <a:bodyPr wrap="none" lIns="90488" tIns="44450" rIns="90488" bIns="44450">
            <a:spAutoFit/>
          </a:bodyPr>
          <a:lstStyle/>
          <a:p>
            <a:pPr marL="354013" marR="0" lvl="0" indent="-354013" algn="l"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Synchronous</a:t>
            </a:r>
          </a:p>
        </p:txBody>
      </p:sp>
      <p:sp>
        <p:nvSpPr>
          <p:cNvPr id="19" name="Line 61"/>
          <p:cNvSpPr>
            <a:spLocks noChangeShapeType="1"/>
          </p:cNvSpPr>
          <p:nvPr/>
        </p:nvSpPr>
        <p:spPr bwMode="gray">
          <a:xfrm rot="8863709">
            <a:off x="3551929" y="3126821"/>
            <a:ext cx="1475193" cy="2373494"/>
          </a:xfrm>
          <a:prstGeom prst="line">
            <a:avLst/>
          </a:prstGeom>
          <a:noFill/>
          <a:ln w="38100">
            <a:solidFill>
              <a:srgbClr val="000A18"/>
            </a:solidFill>
            <a:round/>
            <a:headEnd type="triangle" w="med" len="med"/>
            <a:tailE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20" name="Rectangle 62"/>
          <p:cNvSpPr>
            <a:spLocks noChangeArrowheads="1"/>
          </p:cNvSpPr>
          <p:nvPr/>
        </p:nvSpPr>
        <p:spPr bwMode="auto">
          <a:xfrm rot="1562637">
            <a:off x="3817048" y="4047292"/>
            <a:ext cx="1232646" cy="305212"/>
          </a:xfrm>
          <a:prstGeom prst="rect">
            <a:avLst/>
          </a:prstGeom>
          <a:noFill/>
          <a:ln w="12700">
            <a:noFill/>
            <a:miter lim="800000"/>
            <a:headEnd/>
            <a:tailEnd/>
          </a:ln>
          <a:effectLst/>
        </p:spPr>
        <p:txBody>
          <a:bodyPr wrap="none" lIns="90488" tIns="44450" rIns="90488" bIns="44450">
            <a:spAutoFit/>
          </a:bodyPr>
          <a:lstStyle/>
          <a:p>
            <a:pPr marL="354013" marR="0" lvl="0" indent="-354013" algn="l"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Asynchronous</a:t>
            </a:r>
          </a:p>
        </p:txBody>
      </p:sp>
      <p:sp>
        <p:nvSpPr>
          <p:cNvPr id="24" name="Rectangle 51"/>
          <p:cNvSpPr>
            <a:spLocks noChangeArrowheads="1"/>
          </p:cNvSpPr>
          <p:nvPr/>
        </p:nvSpPr>
        <p:spPr bwMode="auto">
          <a:xfrm>
            <a:off x="1621622" y="2109026"/>
            <a:ext cx="1000125"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25"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1783724" y="2660502"/>
            <a:ext cx="674649" cy="674649"/>
          </a:xfrm>
          <a:prstGeom prst="rect">
            <a:avLst/>
          </a:prstGeom>
          <a:noFill/>
        </p:spPr>
      </p:pic>
      <p:sp>
        <p:nvSpPr>
          <p:cNvPr id="26" name="Rectangle 56"/>
          <p:cNvSpPr>
            <a:spLocks noChangeArrowheads="1"/>
          </p:cNvSpPr>
          <p:nvPr/>
        </p:nvSpPr>
        <p:spPr bwMode="auto">
          <a:xfrm>
            <a:off x="4210974" y="2748066"/>
            <a:ext cx="1071705" cy="305212"/>
          </a:xfrm>
          <a:prstGeom prst="rect">
            <a:avLst/>
          </a:prstGeom>
          <a:noFill/>
          <a:ln w="12700">
            <a:noFill/>
            <a:miter lim="800000"/>
            <a:headEnd/>
            <a:tailEnd/>
          </a:ln>
          <a:effectLst/>
        </p:spPr>
        <p:txBody>
          <a:bodyPr wrap="none" lIns="90488" tIns="44450" rIns="90488" bIns="44450">
            <a:spAutoFit/>
          </a:bodyPr>
          <a:lstStyle/>
          <a:p>
            <a:pPr marL="354013" marR="0" lvl="0" indent="-354013" algn="l"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Bunker Site </a:t>
            </a:r>
          </a:p>
        </p:txBody>
      </p:sp>
      <p:sp>
        <p:nvSpPr>
          <p:cNvPr id="27" name="Rectangle 51"/>
          <p:cNvSpPr>
            <a:spLocks noChangeArrowheads="1"/>
          </p:cNvSpPr>
          <p:nvPr/>
        </p:nvSpPr>
        <p:spPr bwMode="auto">
          <a:xfrm>
            <a:off x="4212422" y="966438"/>
            <a:ext cx="1000125"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28"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4374524" y="1517914"/>
            <a:ext cx="674649" cy="674649"/>
          </a:xfrm>
          <a:prstGeom prst="rect">
            <a:avLst/>
          </a:prstGeom>
          <a:noFill/>
        </p:spPr>
      </p:pic>
      <p:sp>
        <p:nvSpPr>
          <p:cNvPr id="29" name="Rectangle 56"/>
          <p:cNvSpPr>
            <a:spLocks noChangeArrowheads="1"/>
          </p:cNvSpPr>
          <p:nvPr/>
        </p:nvSpPr>
        <p:spPr bwMode="auto">
          <a:xfrm>
            <a:off x="5799299" y="5790788"/>
            <a:ext cx="1123129" cy="305212"/>
          </a:xfrm>
          <a:prstGeom prst="rect">
            <a:avLst/>
          </a:prstGeom>
          <a:noFill/>
          <a:ln w="12700">
            <a:noFill/>
            <a:miter lim="800000"/>
            <a:headEnd/>
            <a:tailEnd/>
          </a:ln>
          <a:effectLst/>
        </p:spPr>
        <p:txBody>
          <a:bodyPr wrap="none" lIns="90488" tIns="44450" rIns="90488" bIns="44450">
            <a:spAutoFit/>
          </a:bodyPr>
          <a:lstStyle/>
          <a:p>
            <a:pPr marL="354013" marR="0" lvl="0" indent="-354013" algn="l" defTabSz="941388" rtl="0" eaLnBrk="1" fontAlgn="base" latinLnBrk="0" hangingPunct="1">
              <a:lnSpc>
                <a:spcPct val="100000"/>
              </a:lnSpc>
              <a:spcBef>
                <a:spcPct val="2500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Site </a:t>
            </a:r>
          </a:p>
        </p:txBody>
      </p:sp>
      <p:sp>
        <p:nvSpPr>
          <p:cNvPr id="30" name="Rectangle 51"/>
          <p:cNvSpPr>
            <a:spLocks noChangeArrowheads="1"/>
          </p:cNvSpPr>
          <p:nvPr/>
        </p:nvSpPr>
        <p:spPr bwMode="auto">
          <a:xfrm>
            <a:off x="5812622" y="4026313"/>
            <a:ext cx="1000125" cy="1787525"/>
          </a:xfrm>
          <a:prstGeom prst="rect">
            <a:avLst/>
          </a:prstGeom>
          <a:solidFill>
            <a:schemeClr val="accent4">
              <a:lumMod val="75000"/>
              <a:alpha val="58000"/>
            </a:schemeClr>
          </a:solidFill>
          <a:ln w="19050" algn="ctr">
            <a:solidFill>
              <a:schemeClr val="tx1"/>
            </a:solid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31" name="Picture 10" descr="C:\Documents and Settings\sridhs\Desktop\ISM Book L3\colored Icons\Standard disk.png"/>
          <p:cNvPicPr>
            <a:picLocks noChangeAspect="1" noChangeArrowheads="1"/>
          </p:cNvPicPr>
          <p:nvPr/>
        </p:nvPicPr>
        <p:blipFill>
          <a:blip r:embed="rId3" cstate="print"/>
          <a:srcRect/>
          <a:stretch>
            <a:fillRect/>
          </a:stretch>
        </p:blipFill>
        <p:spPr bwMode="auto">
          <a:xfrm flipH="1">
            <a:off x="5974724" y="4577789"/>
            <a:ext cx="674649" cy="674649"/>
          </a:xfrm>
          <a:prstGeom prst="rect">
            <a:avLst/>
          </a:prstGeom>
          <a:noFill/>
        </p:spPr>
      </p:pic>
      <p:sp>
        <p:nvSpPr>
          <p:cNvPr id="32" name="Line 52"/>
          <p:cNvSpPr>
            <a:spLocks noChangeShapeType="1"/>
          </p:cNvSpPr>
          <p:nvPr/>
        </p:nvSpPr>
        <p:spPr bwMode="auto">
          <a:xfrm rot="-1800000">
            <a:off x="1386114" y="2933463"/>
            <a:ext cx="355600" cy="206375"/>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3" name="Rectangle 53"/>
          <p:cNvSpPr>
            <a:spLocks noChangeArrowheads="1"/>
          </p:cNvSpPr>
          <p:nvPr/>
        </p:nvSpPr>
        <p:spPr bwMode="auto">
          <a:xfrm>
            <a:off x="381000" y="2834138"/>
            <a:ext cx="1041695"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Device</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34" name="Line 52"/>
          <p:cNvSpPr>
            <a:spLocks noChangeShapeType="1"/>
          </p:cNvSpPr>
          <p:nvPr/>
        </p:nvSpPr>
        <p:spPr bwMode="auto">
          <a:xfrm flipH="1">
            <a:off x="5094453" y="1662113"/>
            <a:ext cx="355600" cy="206375"/>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5" name="Rectangle 53"/>
          <p:cNvSpPr>
            <a:spLocks noChangeArrowheads="1"/>
          </p:cNvSpPr>
          <p:nvPr/>
        </p:nvSpPr>
        <p:spPr bwMode="auto">
          <a:xfrm>
            <a:off x="5458029" y="1429656"/>
            <a:ext cx="1156920"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Replica</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36" name="Line 52"/>
          <p:cNvSpPr>
            <a:spLocks noChangeShapeType="1"/>
          </p:cNvSpPr>
          <p:nvPr/>
        </p:nvSpPr>
        <p:spPr bwMode="auto">
          <a:xfrm flipH="1">
            <a:off x="6681850" y="4729800"/>
            <a:ext cx="355600" cy="206375"/>
          </a:xfrm>
          <a:prstGeom prst="line">
            <a:avLst/>
          </a:prstGeom>
          <a:noFill/>
          <a:ln w="952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37" name="Rectangle 53"/>
          <p:cNvSpPr>
            <a:spLocks noChangeArrowheads="1"/>
          </p:cNvSpPr>
          <p:nvPr/>
        </p:nvSpPr>
        <p:spPr bwMode="auto">
          <a:xfrm>
            <a:off x="7074454" y="4548145"/>
            <a:ext cx="1156920" cy="215444"/>
          </a:xfrm>
          <a:prstGeom prst="rect">
            <a:avLst/>
          </a:prstGeom>
          <a:noFill/>
          <a:ln w="9525">
            <a:noFill/>
            <a:miter lim="800000"/>
            <a:headEnd/>
            <a:tailEnd/>
          </a:ln>
        </p:spPr>
        <p:txBody>
          <a:bodyPr wrap="non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Replica</a:t>
            </a:r>
            <a:endParaRPr kumimoji="0" lang="en-US" sz="14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38" name="Footer Placeholder 48"/>
          <p:cNvSpPr>
            <a:spLocks noGrp="1"/>
          </p:cNvSpPr>
          <p:nvPr>
            <p:ph type="ftr" sz="quarter" idx="11"/>
          </p:nvPr>
        </p:nvSpPr>
        <p:spPr>
          <a:xfrm>
            <a:off x="4495800" y="6629400"/>
            <a:ext cx="4191000" cy="2286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12: Remote Replication</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Data Migration Solution</a:t>
            </a:r>
          </a:p>
        </p:txBody>
      </p:sp>
      <p:sp>
        <p:nvSpPr>
          <p:cNvPr id="8" name="Content Placeholder 7"/>
          <p:cNvSpPr>
            <a:spLocks noGrp="1"/>
          </p:cNvSpPr>
          <p:nvPr>
            <p:ph idx="1"/>
          </p:nvPr>
        </p:nvSpPr>
        <p:spPr>
          <a:xfrm>
            <a:off x="304800" y="914400"/>
            <a:ext cx="8458200" cy="3048000"/>
          </a:xfrm>
        </p:spPr>
        <p:txBody>
          <a:bodyPr/>
          <a:lstStyle/>
          <a:p>
            <a:r>
              <a:rPr lang="en-US" dirty="0"/>
              <a:t>Specialized replication technique that enables creating remote point-in-time copies</a:t>
            </a:r>
          </a:p>
          <a:p>
            <a:pPr lvl="1"/>
            <a:r>
              <a:rPr lang="en-US" dirty="0"/>
              <a:t>Used for data mobility, migration, and disaster recovery</a:t>
            </a:r>
          </a:p>
          <a:p>
            <a:r>
              <a:rPr lang="en-US" dirty="0"/>
              <a:t>Moves data between heterogeneous storage arrays</a:t>
            </a:r>
          </a:p>
          <a:p>
            <a:pPr lvl="1"/>
            <a:r>
              <a:rPr lang="en-US" dirty="0"/>
              <a:t>Array performing replication operations is called control array</a:t>
            </a:r>
          </a:p>
          <a:p>
            <a:pPr lvl="2"/>
            <a:r>
              <a:rPr lang="en-US" dirty="0"/>
              <a:t>Push: Data is pushed from control array to remote array</a:t>
            </a:r>
          </a:p>
          <a:p>
            <a:pPr lvl="2"/>
            <a:r>
              <a:rPr lang="en-US" dirty="0"/>
              <a:t>Pull: Data is pulled to the control array from remote array</a:t>
            </a:r>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pSp>
        <p:nvGrpSpPr>
          <p:cNvPr id="28" name="Group 27"/>
          <p:cNvGrpSpPr/>
          <p:nvPr/>
        </p:nvGrpSpPr>
        <p:grpSpPr>
          <a:xfrm>
            <a:off x="783774" y="3962400"/>
            <a:ext cx="7288886" cy="1881250"/>
            <a:chOff x="783774" y="3962400"/>
            <a:chExt cx="7288886" cy="1881250"/>
          </a:xfrm>
        </p:grpSpPr>
        <p:sp>
          <p:nvSpPr>
            <p:cNvPr id="11" name="Text Box 18"/>
            <p:cNvSpPr txBox="1">
              <a:spLocks noChangeArrowheads="1"/>
            </p:cNvSpPr>
            <p:nvPr/>
          </p:nvSpPr>
          <p:spPr bwMode="auto">
            <a:xfrm>
              <a:off x="5407258" y="5628206"/>
              <a:ext cx="1290637" cy="215444"/>
            </a:xfrm>
            <a:prstGeom prst="rect">
              <a:avLst/>
            </a:prstGeom>
            <a:noFill/>
            <a:ln w="25400" algn="ctr">
              <a:noFill/>
              <a:miter lim="800000"/>
              <a:headEnd/>
              <a:tailEnd type="none" w="lg" len="med"/>
            </a:ln>
          </p:spPr>
          <p:txBody>
            <a:bodyPr wrap="squar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Array</a:t>
              </a:r>
            </a:p>
          </p:txBody>
        </p:sp>
        <p:sp>
          <p:nvSpPr>
            <p:cNvPr id="12" name="Text Box 19"/>
            <p:cNvSpPr txBox="1">
              <a:spLocks noChangeArrowheads="1"/>
            </p:cNvSpPr>
            <p:nvPr/>
          </p:nvSpPr>
          <p:spPr bwMode="auto">
            <a:xfrm>
              <a:off x="2514600" y="5624158"/>
              <a:ext cx="1219200" cy="215444"/>
            </a:xfrm>
            <a:prstGeom prst="rect">
              <a:avLst/>
            </a:prstGeom>
            <a:noFill/>
            <a:ln w="25400" algn="ctr">
              <a:noFill/>
              <a:miter lim="800000"/>
              <a:headEnd/>
              <a:tailEnd type="none" w="lg" len="med"/>
            </a:ln>
          </p:spPr>
          <p:txBody>
            <a:bodyPr wrap="square" lIns="0" tIns="0" rIns="0" bIns="0">
              <a:spAutoFit/>
            </a:bodyPr>
            <a:lstStyle/>
            <a:p>
              <a:pPr marL="354013" marR="0" lvl="0" indent="-354013" algn="l"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Control Array</a:t>
              </a:r>
            </a:p>
          </p:txBody>
        </p:sp>
        <p:sp>
          <p:nvSpPr>
            <p:cNvPr id="15" name="Line 9"/>
            <p:cNvSpPr>
              <a:spLocks noChangeShapeType="1"/>
            </p:cNvSpPr>
            <p:nvPr/>
          </p:nvSpPr>
          <p:spPr bwMode="auto">
            <a:xfrm>
              <a:off x="3505200" y="5064643"/>
              <a:ext cx="1828800" cy="0"/>
            </a:xfrm>
            <a:prstGeom prst="line">
              <a:avLst/>
            </a:prstGeom>
            <a:noFill/>
            <a:ln w="25400">
              <a:solidFill>
                <a:srgbClr val="FF0000"/>
              </a:solidFill>
              <a:round/>
              <a:headEnd type="triangle" w="lg" len="lg"/>
              <a:tailEnd/>
            </a:ln>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6" name="Line 17"/>
            <p:cNvSpPr>
              <a:spLocks noChangeShapeType="1"/>
            </p:cNvSpPr>
            <p:nvPr/>
          </p:nvSpPr>
          <p:spPr bwMode="auto">
            <a:xfrm>
              <a:off x="3530600" y="4607443"/>
              <a:ext cx="1828800" cy="0"/>
            </a:xfrm>
            <a:prstGeom prst="line">
              <a:avLst/>
            </a:prstGeom>
            <a:noFill/>
            <a:ln w="25400">
              <a:solidFill>
                <a:srgbClr val="FF0000"/>
              </a:solidFill>
              <a:round/>
              <a:headEnd type="none" w="lg" len="lg"/>
              <a:tailEnd type="triangle" w="lg" len="lg"/>
            </a:ln>
          </p:spPr>
          <p:txBody>
            <a:bodyPr lIns="0" tIns="0" rIns="0" bIns="0"/>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17" name="Text Box 39"/>
            <p:cNvSpPr txBox="1">
              <a:spLocks noChangeArrowheads="1"/>
            </p:cNvSpPr>
            <p:nvPr/>
          </p:nvSpPr>
          <p:spPr bwMode="auto">
            <a:xfrm>
              <a:off x="4060487" y="4363644"/>
              <a:ext cx="733425" cy="215444"/>
            </a:xfrm>
            <a:prstGeom prst="rect">
              <a:avLst/>
            </a:prstGeom>
            <a:solidFill>
              <a:schemeClr val="bg1"/>
            </a:solid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PUSH</a:t>
              </a:r>
            </a:p>
          </p:txBody>
        </p:sp>
        <p:sp>
          <p:nvSpPr>
            <p:cNvPr id="18" name="Text Box 40"/>
            <p:cNvSpPr txBox="1">
              <a:spLocks noChangeArrowheads="1"/>
            </p:cNvSpPr>
            <p:nvPr/>
          </p:nvSpPr>
          <p:spPr bwMode="auto">
            <a:xfrm>
              <a:off x="4054475" y="5094806"/>
              <a:ext cx="733425" cy="215444"/>
            </a:xfrm>
            <a:prstGeom prst="rect">
              <a:avLst/>
            </a:prstGeom>
            <a:solidFill>
              <a:schemeClr val="bg1"/>
            </a:solid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PULL</a:t>
              </a:r>
            </a:p>
          </p:txBody>
        </p:sp>
        <p:sp>
          <p:nvSpPr>
            <p:cNvPr id="19" name="Text Box 43"/>
            <p:cNvSpPr txBox="1">
              <a:spLocks noChangeArrowheads="1"/>
            </p:cNvSpPr>
            <p:nvPr/>
          </p:nvSpPr>
          <p:spPr bwMode="auto">
            <a:xfrm>
              <a:off x="783774" y="4733312"/>
              <a:ext cx="1301750"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Control Device</a:t>
              </a:r>
            </a:p>
          </p:txBody>
        </p:sp>
        <p:sp>
          <p:nvSpPr>
            <p:cNvPr id="20" name="Text Box 44"/>
            <p:cNvSpPr txBox="1">
              <a:spLocks noChangeArrowheads="1"/>
            </p:cNvSpPr>
            <p:nvPr/>
          </p:nvSpPr>
          <p:spPr bwMode="auto">
            <a:xfrm>
              <a:off x="6770910" y="4714799"/>
              <a:ext cx="1301750" cy="215444"/>
            </a:xfrm>
            <a:prstGeom prst="rect">
              <a:avLst/>
            </a:prstGeom>
            <a:noFill/>
            <a:ln w="25400" algn="ctr">
              <a:noFill/>
              <a:miter lim="800000"/>
              <a:headEnd/>
              <a:tailEnd type="none" w="lg" len="med"/>
            </a:ln>
            <a:effectLst/>
          </p:spPr>
          <p:txBody>
            <a:bodyPr lIns="0" tIns="0" rIns="0" bIns="0">
              <a:spAutoFit/>
            </a:bodyPr>
            <a:lstStyle/>
            <a:p>
              <a:pPr marL="354013" marR="0" lvl="0" indent="-354013" algn="ctr" defTabSz="9413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Device</a:t>
              </a:r>
            </a:p>
          </p:txBody>
        </p:sp>
        <p:pic>
          <p:nvPicPr>
            <p:cNvPr id="23" name="Picture 22" descr="C:\Documents and Settings\sridhs\Desktop\ISM Book L3\colored Icons\Storage Array.png"/>
            <p:cNvPicPr>
              <a:picLocks noChangeAspect="1" noChangeArrowheads="1"/>
            </p:cNvPicPr>
            <p:nvPr/>
          </p:nvPicPr>
          <p:blipFill>
            <a:blip r:embed="rId3" cstate="print"/>
            <a:srcRect/>
            <a:stretch>
              <a:fillRect/>
            </a:stretch>
          </p:blipFill>
          <p:spPr bwMode="auto">
            <a:xfrm>
              <a:off x="2536107" y="3969130"/>
              <a:ext cx="969093" cy="1645920"/>
            </a:xfrm>
            <a:prstGeom prst="rect">
              <a:avLst/>
            </a:prstGeom>
            <a:noFill/>
          </p:spPr>
        </p:pic>
        <p:pic>
          <p:nvPicPr>
            <p:cNvPr id="24"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2536107" y="4502530"/>
              <a:ext cx="533400" cy="533400"/>
            </a:xfrm>
            <a:prstGeom prst="rect">
              <a:avLst/>
            </a:prstGeom>
            <a:noFill/>
          </p:spPr>
        </p:pic>
        <p:sp>
          <p:nvSpPr>
            <p:cNvPr id="21" name="Line 52"/>
            <p:cNvSpPr>
              <a:spLocks noChangeShapeType="1"/>
            </p:cNvSpPr>
            <p:nvPr/>
          </p:nvSpPr>
          <p:spPr bwMode="auto">
            <a:xfrm flipV="1">
              <a:off x="2070464" y="4838726"/>
              <a:ext cx="640080" cy="0"/>
            </a:xfrm>
            <a:prstGeom prst="line">
              <a:avLst/>
            </a:prstGeom>
            <a:noFill/>
            <a:ln w="2857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25" name="Picture 24" descr="C:\Documents and Settings\sridhs\Desktop\ISM Book L3\colored Icons\Storage Array.png"/>
            <p:cNvPicPr>
              <a:picLocks noChangeAspect="1" noChangeArrowheads="1"/>
            </p:cNvPicPr>
            <p:nvPr/>
          </p:nvPicPr>
          <p:blipFill>
            <a:blip r:embed="rId3" cstate="print"/>
            <a:srcRect/>
            <a:stretch>
              <a:fillRect/>
            </a:stretch>
          </p:blipFill>
          <p:spPr bwMode="auto">
            <a:xfrm>
              <a:off x="5410200" y="3962400"/>
              <a:ext cx="969093" cy="1645920"/>
            </a:xfrm>
            <a:prstGeom prst="rect">
              <a:avLst/>
            </a:prstGeom>
            <a:noFill/>
          </p:spPr>
        </p:pic>
        <p:pic>
          <p:nvPicPr>
            <p:cNvPr id="26" name="Picture 10" descr="C:\Documents and Settings\sridhs\Desktop\ISM Book L3\colored Icons\Standard disk.png"/>
            <p:cNvPicPr>
              <a:picLocks noChangeAspect="1" noChangeArrowheads="1"/>
            </p:cNvPicPr>
            <p:nvPr/>
          </p:nvPicPr>
          <p:blipFill>
            <a:blip r:embed="rId4" cstate="print"/>
            <a:srcRect/>
            <a:stretch>
              <a:fillRect/>
            </a:stretch>
          </p:blipFill>
          <p:spPr bwMode="auto">
            <a:xfrm flipH="1">
              <a:off x="5823858" y="4495800"/>
              <a:ext cx="533400" cy="533400"/>
            </a:xfrm>
            <a:prstGeom prst="rect">
              <a:avLst/>
            </a:prstGeom>
            <a:noFill/>
          </p:spPr>
        </p:pic>
        <p:sp>
          <p:nvSpPr>
            <p:cNvPr id="22" name="Line 52"/>
            <p:cNvSpPr>
              <a:spLocks noChangeShapeType="1"/>
            </p:cNvSpPr>
            <p:nvPr/>
          </p:nvSpPr>
          <p:spPr bwMode="auto">
            <a:xfrm flipH="1" flipV="1">
              <a:off x="6189612" y="4838726"/>
              <a:ext cx="548640" cy="0"/>
            </a:xfrm>
            <a:prstGeom prst="line">
              <a:avLst/>
            </a:prstGeom>
            <a:noFill/>
            <a:ln w="28575">
              <a:solidFill>
                <a:schemeClr val="tx1"/>
              </a:solidFill>
              <a:round/>
              <a:headEnd/>
              <a:tailEnd type="triangl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grpSp>
      <p:sp>
        <p:nvSpPr>
          <p:cNvPr id="27" name="Footer Placeholder 26"/>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839200" cy="762000"/>
          </a:xfrm>
        </p:spPr>
        <p:txBody>
          <a:bodyPr/>
          <a:lstStyle/>
          <a:p>
            <a:r>
              <a:rPr lang="en-US" dirty="0"/>
              <a:t>Remote Replication/Migration in Virtualized Environment</a:t>
            </a:r>
          </a:p>
        </p:txBody>
      </p:sp>
      <p:sp>
        <p:nvSpPr>
          <p:cNvPr id="7" name="Content Placeholder 6"/>
          <p:cNvSpPr>
            <a:spLocks noGrp="1"/>
          </p:cNvSpPr>
          <p:nvPr>
            <p:ph idx="1"/>
          </p:nvPr>
        </p:nvSpPr>
        <p:spPr/>
        <p:txBody>
          <a:bodyPr/>
          <a:lstStyle/>
          <a:p>
            <a:r>
              <a:rPr lang="en-US" dirty="0"/>
              <a:t>Remote mirroring of virtual volume</a:t>
            </a:r>
          </a:p>
          <a:p>
            <a:pPr lvl="1"/>
            <a:r>
              <a:rPr lang="en-US" dirty="0"/>
              <a:t>Virtual volumes assigned to hosts are mirrored to two different sites</a:t>
            </a:r>
          </a:p>
          <a:p>
            <a:pPr marL="234950" indent="-336550"/>
            <a:r>
              <a:rPr lang="en-US" dirty="0"/>
              <a:t>VM migration</a:t>
            </a:r>
          </a:p>
          <a:p>
            <a:pPr marL="685800" lvl="1" indent="-336550"/>
            <a:r>
              <a:rPr lang="en-US" dirty="0"/>
              <a:t>Moving VMs from one location to another without powering off VMs</a:t>
            </a:r>
          </a:p>
          <a:p>
            <a:pPr marL="685800" lvl="1" indent="-336550"/>
            <a:r>
              <a:rPr lang="en-US" dirty="0"/>
              <a:t>Commonly used techniques for VM migration are:</a:t>
            </a:r>
          </a:p>
          <a:p>
            <a:pPr marL="1146175" lvl="2" indent="-336550"/>
            <a:r>
              <a:rPr lang="en-US" dirty="0"/>
              <a:t>Hypervisor-to-hypervisor</a:t>
            </a:r>
          </a:p>
          <a:p>
            <a:pPr marL="1146175" lvl="2" indent="-336550"/>
            <a:r>
              <a:rPr lang="en-US" dirty="0"/>
              <a:t>Array-to-array</a:t>
            </a:r>
          </a:p>
          <a:p>
            <a:pPr marL="685800" lvl="1" indent="-336550"/>
            <a:endParaRPr lang="en-US" dirty="0"/>
          </a:p>
          <a:p>
            <a:endParaRPr lang="en-US" dirty="0"/>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8" name="Footer Placeholder 7"/>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Remote Mirroring of Virtual Volume</a:t>
            </a:r>
          </a:p>
        </p:txBody>
      </p:sp>
      <p:sp>
        <p:nvSpPr>
          <p:cNvPr id="6" name="Slide Number Placeholder 5"/>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63" name="Footer Placeholder 6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grpSp>
        <p:nvGrpSpPr>
          <p:cNvPr id="61" name="Group 60"/>
          <p:cNvGrpSpPr/>
          <p:nvPr/>
        </p:nvGrpSpPr>
        <p:grpSpPr>
          <a:xfrm>
            <a:off x="602348" y="732184"/>
            <a:ext cx="8075743" cy="5280179"/>
            <a:chOff x="602348" y="732184"/>
            <a:chExt cx="8075743" cy="5280179"/>
          </a:xfrm>
        </p:grpSpPr>
        <p:sp>
          <p:nvSpPr>
            <p:cNvPr id="65" name="Rectangle 64"/>
            <p:cNvSpPr/>
            <p:nvPr/>
          </p:nvSpPr>
          <p:spPr>
            <a:xfrm>
              <a:off x="5024314" y="852988"/>
              <a:ext cx="2766388" cy="5159298"/>
            </a:xfrm>
            <a:prstGeom prst="rect">
              <a:avLst/>
            </a:prstGeom>
            <a:noFill/>
            <a:ln>
              <a:solidFill>
                <a:schemeClr val="bg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66" name="Rectangle 65"/>
            <p:cNvSpPr/>
            <p:nvPr/>
          </p:nvSpPr>
          <p:spPr>
            <a:xfrm>
              <a:off x="5895000" y="732184"/>
              <a:ext cx="914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 Center 2</a:t>
              </a:r>
            </a:p>
          </p:txBody>
        </p:sp>
        <p:sp>
          <p:nvSpPr>
            <p:cNvPr id="67" name="Rectangle 66"/>
            <p:cNvSpPr/>
            <p:nvPr/>
          </p:nvSpPr>
          <p:spPr>
            <a:xfrm>
              <a:off x="1492610" y="853065"/>
              <a:ext cx="2766388" cy="5159298"/>
            </a:xfrm>
            <a:prstGeom prst="rect">
              <a:avLst/>
            </a:prstGeom>
            <a:noFill/>
            <a:ln>
              <a:solidFill>
                <a:schemeClr val="bg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69" name="Rectangle 68"/>
            <p:cNvSpPr/>
            <p:nvPr/>
          </p:nvSpPr>
          <p:spPr>
            <a:xfrm>
              <a:off x="2363296" y="732261"/>
              <a:ext cx="914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Data Center 1</a:t>
              </a:r>
            </a:p>
          </p:txBody>
        </p:sp>
        <p:sp>
          <p:nvSpPr>
            <p:cNvPr id="70" name="Freeform 6"/>
            <p:cNvSpPr>
              <a:spLocks/>
            </p:cNvSpPr>
            <p:nvPr/>
          </p:nvSpPr>
          <p:spPr bwMode="auto">
            <a:xfrm flipH="1">
              <a:off x="5997823" y="1954696"/>
              <a:ext cx="398091" cy="747367"/>
            </a:xfrm>
            <a:custGeom>
              <a:avLst/>
              <a:gdLst/>
              <a:ahLst/>
              <a:cxnLst>
                <a:cxn ang="0">
                  <a:pos x="0" y="1689"/>
                </a:cxn>
                <a:cxn ang="0">
                  <a:pos x="0" y="0"/>
                </a:cxn>
                <a:cxn ang="0">
                  <a:pos x="201" y="0"/>
                </a:cxn>
              </a:cxnLst>
              <a:rect l="0" t="0" r="r" b="b"/>
              <a:pathLst>
                <a:path w="201" h="1689">
                  <a:moveTo>
                    <a:pt x="0" y="1689"/>
                  </a:moveTo>
                  <a:lnTo>
                    <a:pt x="0" y="0"/>
                  </a:lnTo>
                  <a:lnTo>
                    <a:pt x="201" y="0"/>
                  </a:lnTo>
                </a:path>
              </a:pathLst>
            </a:custGeom>
            <a:noFill/>
            <a:ln w="38100">
              <a:solidFill>
                <a:srgbClr val="FF99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1" name="Freeform 6"/>
            <p:cNvSpPr>
              <a:spLocks/>
            </p:cNvSpPr>
            <p:nvPr/>
          </p:nvSpPr>
          <p:spPr bwMode="auto">
            <a:xfrm>
              <a:off x="2860894" y="1954696"/>
              <a:ext cx="398091" cy="747367"/>
            </a:xfrm>
            <a:custGeom>
              <a:avLst/>
              <a:gdLst/>
              <a:ahLst/>
              <a:cxnLst>
                <a:cxn ang="0">
                  <a:pos x="0" y="1689"/>
                </a:cxn>
                <a:cxn ang="0">
                  <a:pos x="0" y="0"/>
                </a:cxn>
                <a:cxn ang="0">
                  <a:pos x="201" y="0"/>
                </a:cxn>
              </a:cxnLst>
              <a:rect l="0" t="0" r="r" b="b"/>
              <a:pathLst>
                <a:path w="201" h="1689">
                  <a:moveTo>
                    <a:pt x="0" y="1689"/>
                  </a:moveTo>
                  <a:lnTo>
                    <a:pt x="0" y="0"/>
                  </a:lnTo>
                  <a:lnTo>
                    <a:pt x="201" y="0"/>
                  </a:lnTo>
                </a:path>
              </a:pathLst>
            </a:custGeom>
            <a:noFill/>
            <a:ln w="38100">
              <a:solidFill>
                <a:srgbClr val="FF99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73" name="Line 756"/>
            <p:cNvSpPr>
              <a:spLocks noChangeShapeType="1"/>
            </p:cNvSpPr>
            <p:nvPr/>
          </p:nvSpPr>
          <p:spPr bwMode="auto">
            <a:xfrm flipV="1">
              <a:off x="2848697" y="4367812"/>
              <a:ext cx="1588" cy="635000"/>
            </a:xfrm>
            <a:prstGeom prst="line">
              <a:avLst/>
            </a:prstGeom>
            <a:noFill/>
            <a:ln w="38100">
              <a:solidFill>
                <a:srgbClr val="FF99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75" name="Picture 15"/>
            <p:cNvPicPr>
              <a:picLocks noChangeAspect="1" noChangeArrowheads="1"/>
            </p:cNvPicPr>
            <p:nvPr/>
          </p:nvPicPr>
          <p:blipFill>
            <a:blip r:embed="rId3" cstate="print"/>
            <a:srcRect/>
            <a:stretch>
              <a:fillRect/>
            </a:stretch>
          </p:blipFill>
          <p:spPr bwMode="auto">
            <a:xfrm>
              <a:off x="5038872" y="2651006"/>
              <a:ext cx="2731958" cy="1771906"/>
            </a:xfrm>
            <a:prstGeom prst="rect">
              <a:avLst/>
            </a:prstGeom>
            <a:noFill/>
            <a:ln w="9525">
              <a:noFill/>
              <a:miter lim="800000"/>
              <a:headEnd/>
              <a:tailEnd/>
            </a:ln>
            <a:effectLst/>
          </p:spPr>
        </p:pic>
        <p:sp>
          <p:nvSpPr>
            <p:cNvPr id="77" name="Rectangle 1588"/>
            <p:cNvSpPr>
              <a:spLocks noChangeArrowheads="1"/>
            </p:cNvSpPr>
            <p:nvPr/>
          </p:nvSpPr>
          <p:spPr bwMode="auto">
            <a:xfrm>
              <a:off x="6799501" y="5256312"/>
              <a:ext cx="72616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pic>
          <p:nvPicPr>
            <p:cNvPr id="78"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3043801" y="996451"/>
              <a:ext cx="595661" cy="1376856"/>
            </a:xfrm>
            <a:prstGeom prst="rect">
              <a:avLst/>
            </a:prstGeom>
            <a:noFill/>
          </p:spPr>
        </p:pic>
        <p:pic>
          <p:nvPicPr>
            <p:cNvPr id="79" name="Picture 15"/>
            <p:cNvPicPr>
              <a:picLocks noChangeAspect="1" noChangeArrowheads="1"/>
            </p:cNvPicPr>
            <p:nvPr/>
          </p:nvPicPr>
          <p:blipFill>
            <a:blip r:embed="rId3" cstate="print"/>
            <a:srcRect/>
            <a:stretch>
              <a:fillRect/>
            </a:stretch>
          </p:blipFill>
          <p:spPr bwMode="auto">
            <a:xfrm>
              <a:off x="1505862" y="2647694"/>
              <a:ext cx="2731958" cy="1771906"/>
            </a:xfrm>
            <a:prstGeom prst="rect">
              <a:avLst/>
            </a:prstGeom>
            <a:noFill/>
            <a:ln w="9525">
              <a:noFill/>
              <a:miter lim="800000"/>
              <a:headEnd/>
              <a:tailEnd/>
            </a:ln>
            <a:effectLst/>
          </p:spPr>
        </p:pic>
        <p:sp>
          <p:nvSpPr>
            <p:cNvPr id="80" name="Rectangle 79"/>
            <p:cNvSpPr/>
            <p:nvPr/>
          </p:nvSpPr>
          <p:spPr>
            <a:xfrm>
              <a:off x="1734462" y="2895600"/>
              <a:ext cx="5791200" cy="1219200"/>
            </a:xfrm>
            <a:prstGeom prst="rect">
              <a:avLst/>
            </a:prstGeom>
            <a:solidFill>
              <a:schemeClr val="accent5">
                <a:lumMod val="40000"/>
                <a:lumOff val="60000"/>
                <a:alpha val="75000"/>
              </a:schemeClr>
            </a:solidFill>
            <a:ln w="12700">
              <a:solidFill>
                <a:schemeClr val="bg2">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81" name="Line 756"/>
            <p:cNvSpPr>
              <a:spLocks noChangeShapeType="1"/>
            </p:cNvSpPr>
            <p:nvPr/>
          </p:nvSpPr>
          <p:spPr bwMode="auto">
            <a:xfrm flipV="1">
              <a:off x="6376038" y="4313584"/>
              <a:ext cx="1588" cy="635000"/>
            </a:xfrm>
            <a:prstGeom prst="line">
              <a:avLst/>
            </a:prstGeom>
            <a:noFill/>
            <a:ln w="38100">
              <a:solidFill>
                <a:srgbClr val="FF99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82" name="Picture 11" descr="C:\Documents and Settings\sridhs\Desktop\ISM Book L3\colored Icons\Storage Array.png"/>
            <p:cNvPicPr>
              <a:picLocks noChangeAspect="1" noChangeArrowheads="1"/>
            </p:cNvPicPr>
            <p:nvPr/>
          </p:nvPicPr>
          <p:blipFill>
            <a:blip r:embed="rId5" cstate="print"/>
            <a:srcRect/>
            <a:stretch>
              <a:fillRect/>
            </a:stretch>
          </p:blipFill>
          <p:spPr bwMode="auto">
            <a:xfrm>
              <a:off x="6013132" y="4698769"/>
              <a:ext cx="750530" cy="1274710"/>
            </a:xfrm>
            <a:prstGeom prst="rect">
              <a:avLst/>
            </a:prstGeom>
            <a:noFill/>
          </p:spPr>
        </p:pic>
        <p:pic>
          <p:nvPicPr>
            <p:cNvPr id="83" name="Picture 9" descr="C:\Documents and Settings\sridhs\Desktop\ISM Book L3\colored Icons\LUN.png"/>
            <p:cNvPicPr>
              <a:picLocks noChangeAspect="1" noChangeArrowheads="1"/>
            </p:cNvPicPr>
            <p:nvPr/>
          </p:nvPicPr>
          <p:blipFill>
            <a:blip r:embed="rId6" cstate="print"/>
            <a:srcRect/>
            <a:stretch>
              <a:fillRect/>
            </a:stretch>
          </p:blipFill>
          <p:spPr bwMode="auto">
            <a:xfrm>
              <a:off x="3897878" y="2657322"/>
              <a:ext cx="1458671" cy="569676"/>
            </a:xfrm>
            <a:prstGeom prst="rect">
              <a:avLst/>
            </a:prstGeom>
            <a:noFill/>
          </p:spPr>
        </p:pic>
        <p:pic>
          <p:nvPicPr>
            <p:cNvPr id="84" name="Picture 7" descr="C:\Documents and Settings\sridhs\Desktop\ISM Book L3\colored Icons\Host.png"/>
            <p:cNvPicPr>
              <a:picLocks noChangeAspect="1" noChangeArrowheads="1"/>
            </p:cNvPicPr>
            <p:nvPr/>
          </p:nvPicPr>
          <p:blipFill>
            <a:blip r:embed="rId4" cstate="print"/>
            <a:srcRect/>
            <a:stretch>
              <a:fillRect/>
            </a:stretch>
          </p:blipFill>
          <p:spPr bwMode="auto">
            <a:xfrm>
              <a:off x="5627290" y="990596"/>
              <a:ext cx="595661" cy="1376856"/>
            </a:xfrm>
            <a:prstGeom prst="rect">
              <a:avLst/>
            </a:prstGeom>
            <a:noFill/>
          </p:spPr>
        </p:pic>
        <p:pic>
          <p:nvPicPr>
            <p:cNvPr id="87" name="Picture 9" descr="C:\Documents and Settings\sridhs\Desktop\ISM Book L3\colored Icons\LUN.png"/>
            <p:cNvPicPr>
              <a:picLocks noChangeAspect="1" noChangeArrowheads="1"/>
            </p:cNvPicPr>
            <p:nvPr/>
          </p:nvPicPr>
          <p:blipFill>
            <a:blip r:embed="rId6" cstate="print"/>
            <a:srcRect/>
            <a:stretch>
              <a:fillRect/>
            </a:stretch>
          </p:blipFill>
          <p:spPr bwMode="auto">
            <a:xfrm>
              <a:off x="2979985" y="3902290"/>
              <a:ext cx="430877" cy="424546"/>
            </a:xfrm>
            <a:prstGeom prst="rect">
              <a:avLst/>
            </a:prstGeom>
            <a:noFill/>
          </p:spPr>
        </p:pic>
        <p:pic>
          <p:nvPicPr>
            <p:cNvPr id="88" name="Picture 11" descr="C:\Documents and Settings\sridhs\Desktop\ISM Book L3\colored Icons\Storage Array.png"/>
            <p:cNvPicPr>
              <a:picLocks noChangeAspect="1" noChangeArrowheads="1"/>
            </p:cNvPicPr>
            <p:nvPr/>
          </p:nvPicPr>
          <p:blipFill>
            <a:blip r:embed="rId5" cstate="print"/>
            <a:srcRect/>
            <a:stretch>
              <a:fillRect/>
            </a:stretch>
          </p:blipFill>
          <p:spPr bwMode="auto">
            <a:xfrm>
              <a:off x="2471669" y="4698769"/>
              <a:ext cx="750530" cy="1274710"/>
            </a:xfrm>
            <a:prstGeom prst="rect">
              <a:avLst/>
            </a:prstGeom>
            <a:noFill/>
          </p:spPr>
        </p:pic>
        <p:pic>
          <p:nvPicPr>
            <p:cNvPr id="89" name="Picture 9" descr="C:\Documents and Settings\sridhs\Desktop\ISM Book L3\colored Icons\LUN.png"/>
            <p:cNvPicPr>
              <a:picLocks noChangeAspect="1" noChangeArrowheads="1"/>
            </p:cNvPicPr>
            <p:nvPr/>
          </p:nvPicPr>
          <p:blipFill>
            <a:blip r:embed="rId6" cstate="print"/>
            <a:srcRect/>
            <a:stretch>
              <a:fillRect/>
            </a:stretch>
          </p:blipFill>
          <p:spPr bwMode="auto">
            <a:xfrm>
              <a:off x="2979985" y="5105400"/>
              <a:ext cx="430877" cy="424546"/>
            </a:xfrm>
            <a:prstGeom prst="rect">
              <a:avLst/>
            </a:prstGeom>
            <a:noFill/>
          </p:spPr>
        </p:pic>
        <p:sp>
          <p:nvSpPr>
            <p:cNvPr id="90" name="Rectangle 1588"/>
            <p:cNvSpPr>
              <a:spLocks noChangeArrowheads="1"/>
            </p:cNvSpPr>
            <p:nvPr/>
          </p:nvSpPr>
          <p:spPr bwMode="auto">
            <a:xfrm>
              <a:off x="1688078" y="5257800"/>
              <a:ext cx="72616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Array</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1" name="Rectangle 1588"/>
            <p:cNvSpPr>
              <a:spLocks noChangeArrowheads="1"/>
            </p:cNvSpPr>
            <p:nvPr/>
          </p:nvSpPr>
          <p:spPr bwMode="auto">
            <a:xfrm>
              <a:off x="3101904" y="5274364"/>
              <a:ext cx="22281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LUN</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2" name="Rectangle 1588"/>
            <p:cNvSpPr>
              <a:spLocks noChangeArrowheads="1"/>
            </p:cNvSpPr>
            <p:nvPr/>
          </p:nvSpPr>
          <p:spPr bwMode="auto">
            <a:xfrm>
              <a:off x="2640329" y="1560444"/>
              <a:ext cx="3398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Server</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3" name="Rectangle 1588"/>
            <p:cNvSpPr>
              <a:spLocks noChangeArrowheads="1"/>
            </p:cNvSpPr>
            <p:nvPr/>
          </p:nvSpPr>
          <p:spPr bwMode="auto">
            <a:xfrm>
              <a:off x="6271425" y="1558956"/>
              <a:ext cx="3398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Server</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94" name="Rectangle 1588"/>
            <p:cNvSpPr>
              <a:spLocks noChangeArrowheads="1"/>
            </p:cNvSpPr>
            <p:nvPr/>
          </p:nvSpPr>
          <p:spPr bwMode="auto">
            <a:xfrm>
              <a:off x="4255690" y="2929793"/>
              <a:ext cx="803105"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Virtual Volume</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cxnSp>
          <p:nvCxnSpPr>
            <p:cNvPr id="95" name="Straight Connector 94"/>
            <p:cNvCxnSpPr/>
            <p:nvPr/>
          </p:nvCxnSpPr>
          <p:spPr>
            <a:xfrm>
              <a:off x="3924400" y="3433281"/>
              <a:ext cx="1417966" cy="1"/>
            </a:xfrm>
            <a:prstGeom prst="line">
              <a:avLst/>
            </a:prstGeom>
            <a:ln w="25400">
              <a:solidFill>
                <a:srgbClr val="404040"/>
              </a:solidFill>
            </a:ln>
          </p:spPr>
          <p:style>
            <a:lnRef idx="1">
              <a:schemeClr val="accent1"/>
            </a:lnRef>
            <a:fillRef idx="0">
              <a:schemeClr val="accent1"/>
            </a:fillRef>
            <a:effectRef idx="0">
              <a:schemeClr val="accent1"/>
            </a:effectRef>
            <a:fontRef idx="minor">
              <a:schemeClr val="tx1"/>
            </a:fontRef>
          </p:style>
        </p:cxnSp>
        <p:pic>
          <p:nvPicPr>
            <p:cNvPr id="96" name="Picture 14"/>
            <p:cNvPicPr>
              <a:picLocks noChangeAspect="1" noChangeArrowheads="1"/>
            </p:cNvPicPr>
            <p:nvPr/>
          </p:nvPicPr>
          <p:blipFill>
            <a:blip r:embed="rId7" cstate="print"/>
            <a:srcRect/>
            <a:stretch>
              <a:fillRect/>
            </a:stretch>
          </p:blipFill>
          <p:spPr bwMode="auto">
            <a:xfrm>
              <a:off x="4350629" y="3258254"/>
              <a:ext cx="568296" cy="368588"/>
            </a:xfrm>
            <a:prstGeom prst="rect">
              <a:avLst/>
            </a:prstGeom>
            <a:noFill/>
            <a:ln w="9525">
              <a:noFill/>
              <a:miter lim="800000"/>
              <a:headEnd/>
              <a:tailEnd/>
            </a:ln>
            <a:effectLst/>
          </p:spPr>
        </p:pic>
        <p:pic>
          <p:nvPicPr>
            <p:cNvPr id="97" name="Picture 7"/>
            <p:cNvPicPr>
              <a:picLocks noChangeAspect="1" noChangeArrowheads="1"/>
            </p:cNvPicPr>
            <p:nvPr/>
          </p:nvPicPr>
          <p:blipFill>
            <a:blip r:embed="rId8" cstate="print"/>
            <a:srcRect/>
            <a:stretch>
              <a:fillRect/>
            </a:stretch>
          </p:blipFill>
          <p:spPr bwMode="auto">
            <a:xfrm>
              <a:off x="5289358" y="3048000"/>
              <a:ext cx="2151746" cy="685800"/>
            </a:xfrm>
            <a:prstGeom prst="rect">
              <a:avLst/>
            </a:prstGeom>
            <a:noFill/>
            <a:ln w="9525">
              <a:noFill/>
              <a:miter lim="800000"/>
              <a:headEnd/>
              <a:tailEnd/>
            </a:ln>
            <a:effectLst/>
          </p:spPr>
        </p:pic>
        <p:pic>
          <p:nvPicPr>
            <p:cNvPr id="98" name="Picture 7"/>
            <p:cNvPicPr>
              <a:picLocks noChangeAspect="1" noChangeArrowheads="1"/>
            </p:cNvPicPr>
            <p:nvPr/>
          </p:nvPicPr>
          <p:blipFill>
            <a:blip r:embed="rId8" cstate="print"/>
            <a:srcRect/>
            <a:stretch>
              <a:fillRect/>
            </a:stretch>
          </p:blipFill>
          <p:spPr bwMode="auto">
            <a:xfrm>
              <a:off x="1810662" y="3063062"/>
              <a:ext cx="2151746" cy="670738"/>
            </a:xfrm>
            <a:prstGeom prst="rect">
              <a:avLst/>
            </a:prstGeom>
            <a:noFill/>
            <a:ln w="9525">
              <a:noFill/>
              <a:miter lim="800000"/>
              <a:headEnd/>
              <a:tailEnd/>
            </a:ln>
            <a:effectLst/>
          </p:spPr>
        </p:pic>
        <p:sp>
          <p:nvSpPr>
            <p:cNvPr id="99" name="Rectangle 1589"/>
            <p:cNvSpPr>
              <a:spLocks noChangeArrowheads="1"/>
            </p:cNvSpPr>
            <p:nvPr/>
          </p:nvSpPr>
          <p:spPr bwMode="auto">
            <a:xfrm>
              <a:off x="4276812" y="4570512"/>
              <a:ext cx="721351" cy="30777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Virtualization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 Layer</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00" name="Rectangle 1589"/>
            <p:cNvSpPr>
              <a:spLocks noChangeArrowheads="1"/>
            </p:cNvSpPr>
            <p:nvPr/>
          </p:nvSpPr>
          <p:spPr bwMode="auto">
            <a:xfrm>
              <a:off x="4436626" y="3345555"/>
              <a:ext cx="40075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or IP</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cxnSp>
          <p:nvCxnSpPr>
            <p:cNvPr id="101" name="Straight Arrow Connector 100"/>
            <p:cNvCxnSpPr/>
            <p:nvPr/>
          </p:nvCxnSpPr>
          <p:spPr>
            <a:xfrm rot="16200000">
              <a:off x="4391522" y="4330148"/>
              <a:ext cx="457200"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03" name="Rectangle 1588"/>
            <p:cNvSpPr>
              <a:spLocks noChangeArrowheads="1"/>
            </p:cNvSpPr>
            <p:nvPr/>
          </p:nvSpPr>
          <p:spPr bwMode="auto">
            <a:xfrm>
              <a:off x="2658177" y="2728460"/>
              <a:ext cx="3783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04" name="Rectangle 1588"/>
            <p:cNvSpPr>
              <a:spLocks noChangeArrowheads="1"/>
            </p:cNvSpPr>
            <p:nvPr/>
          </p:nvSpPr>
          <p:spPr bwMode="auto">
            <a:xfrm>
              <a:off x="6209761" y="2741712"/>
              <a:ext cx="3783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FC SAN</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05" name="Rectangle 2052"/>
            <p:cNvSpPr>
              <a:spLocks noChangeArrowheads="1"/>
            </p:cNvSpPr>
            <p:nvPr/>
          </p:nvSpPr>
          <p:spPr bwMode="auto">
            <a:xfrm>
              <a:off x="3888195" y="2020703"/>
              <a:ext cx="250069" cy="16927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I/Os</a:t>
              </a:r>
              <a:endParaRPr kumimoji="0" lang="en-US" sz="2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06" name="Rectangle 2052"/>
            <p:cNvSpPr>
              <a:spLocks noChangeArrowheads="1"/>
            </p:cNvSpPr>
            <p:nvPr/>
          </p:nvSpPr>
          <p:spPr bwMode="auto">
            <a:xfrm>
              <a:off x="5118548" y="2038288"/>
              <a:ext cx="250069" cy="16927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I/Os</a:t>
              </a:r>
              <a:endParaRPr kumimoji="0" lang="en-US" sz="2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cxnSp>
          <p:nvCxnSpPr>
            <p:cNvPr id="107" name="Straight Connector 106"/>
            <p:cNvCxnSpPr/>
            <p:nvPr/>
          </p:nvCxnSpPr>
          <p:spPr>
            <a:xfrm rot="21480000" flipV="1">
              <a:off x="2961167" y="4155104"/>
              <a:ext cx="42288" cy="1054654"/>
            </a:xfrm>
            <a:prstGeom prst="line">
              <a:avLst/>
            </a:prstGeom>
            <a:ln>
              <a:solidFill>
                <a:srgbClr val="00B0F0"/>
              </a:solidFill>
              <a:prstDash val="lgDash"/>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21480000" flipV="1">
              <a:off x="3374675" y="4202729"/>
              <a:ext cx="42288" cy="1054654"/>
            </a:xfrm>
            <a:prstGeom prst="line">
              <a:avLst/>
            </a:prstGeom>
            <a:ln>
              <a:solidFill>
                <a:srgbClr val="00B0F0"/>
              </a:solidFill>
              <a:prstDash val="lg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rot="21480000" flipV="1">
              <a:off x="5769679" y="4253074"/>
              <a:ext cx="42288" cy="1054654"/>
            </a:xfrm>
            <a:prstGeom prst="line">
              <a:avLst/>
            </a:prstGeom>
            <a:ln>
              <a:solidFill>
                <a:srgbClr val="00B0F0"/>
              </a:solidFill>
              <a:prstDash val="lgDash"/>
            </a:ln>
          </p:spPr>
          <p:style>
            <a:lnRef idx="1">
              <a:schemeClr val="accent1"/>
            </a:lnRef>
            <a:fillRef idx="0">
              <a:schemeClr val="accent1"/>
            </a:fillRef>
            <a:effectRef idx="0">
              <a:schemeClr val="accent1"/>
            </a:effectRef>
            <a:fontRef idx="minor">
              <a:schemeClr val="tx1"/>
            </a:fontRef>
          </p:style>
        </p:cxnSp>
        <p:pic>
          <p:nvPicPr>
            <p:cNvPr id="110" name="Picture 9" descr="C:\Documents and Settings\sridhs\Desktop\ISM Book L3\colored Icons\LUN.png"/>
            <p:cNvPicPr>
              <a:picLocks noChangeAspect="1" noChangeArrowheads="1"/>
            </p:cNvPicPr>
            <p:nvPr/>
          </p:nvPicPr>
          <p:blipFill>
            <a:blip r:embed="rId6" cstate="print"/>
            <a:srcRect/>
            <a:stretch>
              <a:fillRect/>
            </a:stretch>
          </p:blipFill>
          <p:spPr bwMode="auto">
            <a:xfrm>
              <a:off x="5782821" y="3918854"/>
              <a:ext cx="430877" cy="424546"/>
            </a:xfrm>
            <a:prstGeom prst="rect">
              <a:avLst/>
            </a:prstGeom>
            <a:noFill/>
          </p:spPr>
        </p:pic>
        <p:pic>
          <p:nvPicPr>
            <p:cNvPr id="111" name="Picture 9" descr="C:\Documents and Settings\sridhs\Desktop\ISM Book L3\colored Icons\LUN.png"/>
            <p:cNvPicPr>
              <a:picLocks noChangeAspect="1" noChangeArrowheads="1"/>
            </p:cNvPicPr>
            <p:nvPr/>
          </p:nvPicPr>
          <p:blipFill>
            <a:blip r:embed="rId6" cstate="print"/>
            <a:srcRect/>
            <a:stretch>
              <a:fillRect/>
            </a:stretch>
          </p:blipFill>
          <p:spPr bwMode="auto">
            <a:xfrm>
              <a:off x="5782821" y="5105400"/>
              <a:ext cx="430877" cy="424546"/>
            </a:xfrm>
            <a:prstGeom prst="rect">
              <a:avLst/>
            </a:prstGeom>
            <a:noFill/>
          </p:spPr>
        </p:pic>
        <p:sp>
          <p:nvSpPr>
            <p:cNvPr id="112" name="Rectangle 1588"/>
            <p:cNvSpPr>
              <a:spLocks noChangeArrowheads="1"/>
            </p:cNvSpPr>
            <p:nvPr/>
          </p:nvSpPr>
          <p:spPr bwMode="auto">
            <a:xfrm>
              <a:off x="5881548" y="5279504"/>
              <a:ext cx="22281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LUN</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cxnSp>
          <p:nvCxnSpPr>
            <p:cNvPr id="114" name="Straight Connector 113"/>
            <p:cNvCxnSpPr/>
            <p:nvPr/>
          </p:nvCxnSpPr>
          <p:spPr>
            <a:xfrm flipV="1">
              <a:off x="2890163" y="2954215"/>
              <a:ext cx="1054101" cy="914400"/>
            </a:xfrm>
            <a:prstGeom prst="line">
              <a:avLst/>
            </a:prstGeom>
            <a:ln>
              <a:solidFill>
                <a:srgbClr val="00B0F0"/>
              </a:solidFill>
              <a:prstDash val="lgDash"/>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a:off x="1277260" y="3331028"/>
              <a:ext cx="548640"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16" name="Rectangle 1589"/>
            <p:cNvSpPr>
              <a:spLocks noChangeArrowheads="1"/>
            </p:cNvSpPr>
            <p:nvPr/>
          </p:nvSpPr>
          <p:spPr bwMode="auto">
            <a:xfrm>
              <a:off x="602348" y="3124200"/>
              <a:ext cx="721351" cy="30777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Virtualization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Appliance</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cxnSp>
          <p:nvCxnSpPr>
            <p:cNvPr id="118" name="Straight Arrow Connector 117"/>
            <p:cNvCxnSpPr/>
            <p:nvPr/>
          </p:nvCxnSpPr>
          <p:spPr>
            <a:xfrm flipH="1">
              <a:off x="7438576" y="3331028"/>
              <a:ext cx="548640"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19" name="Rectangle 1589"/>
            <p:cNvSpPr>
              <a:spLocks noChangeArrowheads="1"/>
            </p:cNvSpPr>
            <p:nvPr/>
          </p:nvSpPr>
          <p:spPr bwMode="auto">
            <a:xfrm>
              <a:off x="7956740" y="3145972"/>
              <a:ext cx="721351" cy="307777"/>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Virtualization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Appliance</a:t>
              </a:r>
              <a:endParaRPr kumimoji="0" lang="en-US" sz="2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120" name="Rectangle 119"/>
            <p:cNvSpPr/>
            <p:nvPr/>
          </p:nvSpPr>
          <p:spPr>
            <a:xfrm>
              <a:off x="2877462" y="3898900"/>
              <a:ext cx="3429000" cy="457200"/>
            </a:xfrm>
            <a:prstGeom prst="rect">
              <a:avLst/>
            </a:prstGeom>
            <a:noFill/>
            <a:ln w="12700">
              <a:solidFill>
                <a:schemeClr val="accent6">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cxnSp>
          <p:nvCxnSpPr>
            <p:cNvPr id="121" name="Straight Connector 120"/>
            <p:cNvCxnSpPr/>
            <p:nvPr/>
          </p:nvCxnSpPr>
          <p:spPr>
            <a:xfrm rot="10800000">
              <a:off x="5315862" y="2946400"/>
              <a:ext cx="990600" cy="939800"/>
            </a:xfrm>
            <a:prstGeom prst="line">
              <a:avLst/>
            </a:prstGeom>
            <a:ln>
              <a:solidFill>
                <a:srgbClr val="00B0F0"/>
              </a:solidFill>
              <a:prstDash val="lgDash"/>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p:nvPr/>
          </p:nvCxnSpPr>
          <p:spPr>
            <a:xfrm flipH="1">
              <a:off x="6306461" y="4105275"/>
              <a:ext cx="1554480"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24" name="Rectangle 2052"/>
            <p:cNvSpPr>
              <a:spLocks noChangeArrowheads="1"/>
            </p:cNvSpPr>
            <p:nvPr/>
          </p:nvSpPr>
          <p:spPr bwMode="auto">
            <a:xfrm>
              <a:off x="7844861" y="3903246"/>
              <a:ext cx="480901" cy="338554"/>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Storage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Pool</a:t>
              </a:r>
              <a:endParaRPr kumimoji="0" lang="en-US" sz="28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cxnSp>
          <p:nvCxnSpPr>
            <p:cNvPr id="126" name="Straight Connector 125"/>
            <p:cNvCxnSpPr/>
            <p:nvPr/>
          </p:nvCxnSpPr>
          <p:spPr>
            <a:xfrm rot="16200000" flipH="1">
              <a:off x="3487062" y="1981200"/>
              <a:ext cx="838200" cy="533400"/>
            </a:xfrm>
            <a:prstGeom prst="line">
              <a:avLst/>
            </a:prstGeom>
            <a:ln w="50800" cmpd="sng">
              <a:solidFill>
                <a:schemeClr val="accent6">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rot="5400000">
              <a:off x="4931932" y="1978270"/>
              <a:ext cx="844060" cy="533400"/>
            </a:xfrm>
            <a:prstGeom prst="line">
              <a:avLst/>
            </a:prstGeom>
            <a:ln w="50800" cmpd="sng">
              <a:solidFill>
                <a:schemeClr val="accent6">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V="1">
              <a:off x="3205590" y="3182815"/>
              <a:ext cx="738672" cy="691660"/>
            </a:xfrm>
            <a:prstGeom prst="line">
              <a:avLst/>
            </a:prstGeom>
            <a:ln w="50800" cmpd="sng">
              <a:solidFill>
                <a:schemeClr val="accent6">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flipV="1">
              <a:off x="5292300" y="3182815"/>
              <a:ext cx="738672" cy="691660"/>
            </a:xfrm>
            <a:prstGeom prst="line">
              <a:avLst/>
            </a:prstGeom>
            <a:ln w="50800" cmpd="sng">
              <a:solidFill>
                <a:schemeClr val="accent6">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3978476" y="3681882"/>
              <a:ext cx="1272072" cy="11725"/>
            </a:xfrm>
            <a:prstGeom prst="line">
              <a:avLst/>
            </a:prstGeom>
            <a:ln w="50800" cmpd="sng">
              <a:solidFill>
                <a:schemeClr val="accent6">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rot="21480000" flipV="1">
              <a:off x="6183187" y="4246269"/>
              <a:ext cx="42288" cy="1054654"/>
            </a:xfrm>
            <a:prstGeom prst="line">
              <a:avLst/>
            </a:prstGeom>
            <a:ln>
              <a:solidFill>
                <a:srgbClr val="00B0F0"/>
              </a:solidFill>
              <a:prstDash val="lgDash"/>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 Migration: Hypervisor-to-Hypervisor</a:t>
            </a:r>
          </a:p>
        </p:txBody>
      </p:sp>
      <p:sp>
        <p:nvSpPr>
          <p:cNvPr id="35" name="Content Placeholder 34"/>
          <p:cNvSpPr>
            <a:spLocks noGrp="1"/>
          </p:cNvSpPr>
          <p:nvPr>
            <p:ph idx="1"/>
          </p:nvPr>
        </p:nvSpPr>
        <p:spPr/>
        <p:txBody>
          <a:bodyPr/>
          <a:lstStyle/>
          <a:p>
            <a:r>
              <a:rPr lang="en-US" dirty="0"/>
              <a:t>Active state of a VM is moved from one hypervisor to another</a:t>
            </a:r>
          </a:p>
          <a:p>
            <a:pPr lvl="1"/>
            <a:r>
              <a:rPr lang="en-US" dirty="0"/>
              <a:t>Copies the contents of virtual machine memory from the source hypervisor to the target</a:t>
            </a:r>
          </a:p>
          <a:p>
            <a:r>
              <a:rPr lang="en-US" dirty="0"/>
              <a:t>This technique requires source and target hypervisor access to the same storage</a:t>
            </a:r>
          </a:p>
        </p:txBody>
      </p:sp>
      <p:sp>
        <p:nvSpPr>
          <p:cNvPr id="6" name="Slide Number Placeholder 5"/>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pSp>
        <p:nvGrpSpPr>
          <p:cNvPr id="26" name="Group 25"/>
          <p:cNvGrpSpPr/>
          <p:nvPr/>
        </p:nvGrpSpPr>
        <p:grpSpPr>
          <a:xfrm>
            <a:off x="2159325" y="809500"/>
            <a:ext cx="4419600" cy="2858694"/>
            <a:chOff x="2159325" y="809500"/>
            <a:chExt cx="4419600" cy="2858694"/>
          </a:xfrm>
        </p:grpSpPr>
        <p:sp>
          <p:nvSpPr>
            <p:cNvPr id="29" name="Rectangle 44"/>
            <p:cNvSpPr>
              <a:spLocks noChangeArrowheads="1"/>
            </p:cNvSpPr>
            <p:nvPr/>
          </p:nvSpPr>
          <p:spPr bwMode="gray">
            <a:xfrm>
              <a:off x="2516575" y="3437083"/>
              <a:ext cx="342658" cy="215444"/>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Host</a:t>
              </a:r>
            </a:p>
          </p:txBody>
        </p:sp>
        <p:sp>
          <p:nvSpPr>
            <p:cNvPr id="30" name="Rectangle 44"/>
            <p:cNvSpPr>
              <a:spLocks noChangeArrowheads="1"/>
            </p:cNvSpPr>
            <p:nvPr/>
          </p:nvSpPr>
          <p:spPr bwMode="gray">
            <a:xfrm>
              <a:off x="5867142" y="3452750"/>
              <a:ext cx="342658" cy="215444"/>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Host</a:t>
              </a:r>
            </a:p>
          </p:txBody>
        </p:sp>
        <p:sp>
          <p:nvSpPr>
            <p:cNvPr id="33" name="Rectangle 44"/>
            <p:cNvSpPr>
              <a:spLocks noChangeArrowheads="1"/>
            </p:cNvSpPr>
            <p:nvPr/>
          </p:nvSpPr>
          <p:spPr bwMode="gray">
            <a:xfrm>
              <a:off x="3882782" y="2070556"/>
              <a:ext cx="1036309" cy="215444"/>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VM Migration</a:t>
              </a:r>
            </a:p>
          </p:txBody>
        </p:sp>
        <p:sp>
          <p:nvSpPr>
            <p:cNvPr id="34" name="Curved Down Arrow 33"/>
            <p:cNvSpPr/>
            <p:nvPr/>
          </p:nvSpPr>
          <p:spPr>
            <a:xfrm>
              <a:off x="3530925" y="1567038"/>
              <a:ext cx="1828800" cy="533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pic>
          <p:nvPicPr>
            <p:cNvPr id="31" name="Picture 30"/>
            <p:cNvPicPr>
              <a:picLocks noChangeAspect="1" noChangeArrowheads="1"/>
            </p:cNvPicPr>
            <p:nvPr/>
          </p:nvPicPr>
          <p:blipFill>
            <a:blip r:embed="rId3" cstate="print"/>
            <a:srcRect/>
            <a:stretch>
              <a:fillRect/>
            </a:stretch>
          </p:blipFill>
          <p:spPr bwMode="auto">
            <a:xfrm>
              <a:off x="2159325" y="1219200"/>
              <a:ext cx="1066800" cy="2229800"/>
            </a:xfrm>
            <a:prstGeom prst="rect">
              <a:avLst/>
            </a:prstGeom>
            <a:noFill/>
            <a:ln w="9525">
              <a:noFill/>
              <a:miter lim="800000"/>
              <a:headEnd/>
              <a:tailEnd/>
            </a:ln>
            <a:effectLst/>
          </p:spPr>
        </p:pic>
        <p:sp>
          <p:nvSpPr>
            <p:cNvPr id="41" name="Rectangle 40"/>
            <p:cNvSpPr/>
            <p:nvPr/>
          </p:nvSpPr>
          <p:spPr>
            <a:xfrm>
              <a:off x="2702186" y="1238439"/>
              <a:ext cx="512064" cy="630936"/>
            </a:xfrm>
            <a:prstGeom prst="rect">
              <a:avLst/>
            </a:prstGeom>
            <a:solidFill>
              <a:schemeClr val="bg1">
                <a:lumMod val="95000"/>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pic>
          <p:nvPicPr>
            <p:cNvPr id="42" name="Picture 41"/>
            <p:cNvPicPr>
              <a:picLocks noChangeAspect="1" noChangeArrowheads="1"/>
            </p:cNvPicPr>
            <p:nvPr/>
          </p:nvPicPr>
          <p:blipFill>
            <a:blip r:embed="rId3" cstate="print"/>
            <a:srcRect/>
            <a:stretch>
              <a:fillRect/>
            </a:stretch>
          </p:blipFill>
          <p:spPr bwMode="auto">
            <a:xfrm>
              <a:off x="5495300" y="1219200"/>
              <a:ext cx="1066800" cy="2229800"/>
            </a:xfrm>
            <a:prstGeom prst="rect">
              <a:avLst/>
            </a:prstGeom>
            <a:noFill/>
            <a:ln w="9525">
              <a:noFill/>
              <a:miter lim="800000"/>
              <a:headEnd/>
              <a:tailEnd/>
            </a:ln>
            <a:effectLst/>
          </p:spPr>
        </p:pic>
        <p:sp>
          <p:nvSpPr>
            <p:cNvPr id="43" name="TextBox 42"/>
            <p:cNvSpPr txBox="1"/>
            <p:nvPr/>
          </p:nvSpPr>
          <p:spPr>
            <a:xfrm>
              <a:off x="2451261" y="1640865"/>
              <a:ext cx="304800"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1</a:t>
              </a:r>
            </a:p>
          </p:txBody>
        </p:sp>
        <p:sp>
          <p:nvSpPr>
            <p:cNvPr id="44" name="TextBox 43"/>
            <p:cNvSpPr txBox="1"/>
            <p:nvPr/>
          </p:nvSpPr>
          <p:spPr>
            <a:xfrm>
              <a:off x="2973775" y="1644379"/>
              <a:ext cx="304800"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2</a:t>
              </a:r>
            </a:p>
          </p:txBody>
        </p:sp>
        <p:grpSp>
          <p:nvGrpSpPr>
            <p:cNvPr id="3" name="Group 52"/>
            <p:cNvGrpSpPr/>
            <p:nvPr/>
          </p:nvGrpSpPr>
          <p:grpSpPr>
            <a:xfrm>
              <a:off x="4190342" y="826325"/>
              <a:ext cx="521208" cy="684934"/>
              <a:chOff x="4151478" y="776681"/>
              <a:chExt cx="597327" cy="744424"/>
            </a:xfrm>
          </p:grpSpPr>
          <p:pic>
            <p:nvPicPr>
              <p:cNvPr id="32" name="Picture 11"/>
              <p:cNvPicPr>
                <a:picLocks noChangeAspect="1" noChangeArrowheads="1"/>
              </p:cNvPicPr>
              <p:nvPr/>
            </p:nvPicPr>
            <p:blipFill>
              <a:blip r:embed="rId4" cstate="print"/>
              <a:srcRect/>
              <a:stretch>
                <a:fillRect/>
              </a:stretch>
            </p:blipFill>
            <p:spPr bwMode="auto">
              <a:xfrm>
                <a:off x="4151478" y="776681"/>
                <a:ext cx="556100" cy="726542"/>
              </a:xfrm>
              <a:prstGeom prst="rect">
                <a:avLst/>
              </a:prstGeom>
              <a:noFill/>
              <a:ln w="9525">
                <a:noFill/>
                <a:miter lim="800000"/>
                <a:headEnd/>
                <a:tailEnd/>
              </a:ln>
              <a:effectLst/>
            </p:spPr>
          </p:pic>
          <p:sp>
            <p:nvSpPr>
              <p:cNvPr id="45" name="TextBox 44"/>
              <p:cNvSpPr txBox="1"/>
              <p:nvPr/>
            </p:nvSpPr>
            <p:spPr>
              <a:xfrm>
                <a:off x="4460495" y="1236773"/>
                <a:ext cx="288310" cy="284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2</a:t>
                </a:r>
              </a:p>
            </p:txBody>
          </p:sp>
        </p:grpSp>
        <p:sp>
          <p:nvSpPr>
            <p:cNvPr id="46" name="TextBox 45"/>
            <p:cNvSpPr txBox="1"/>
            <p:nvPr/>
          </p:nvSpPr>
          <p:spPr>
            <a:xfrm>
              <a:off x="5752600" y="1655265"/>
              <a:ext cx="304800"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 2 </a:t>
              </a:r>
            </a:p>
          </p:txBody>
        </p:sp>
        <p:sp>
          <p:nvSpPr>
            <p:cNvPr id="47" name="Rectangle 46"/>
            <p:cNvSpPr/>
            <p:nvPr/>
          </p:nvSpPr>
          <p:spPr>
            <a:xfrm>
              <a:off x="5435925" y="1101279"/>
              <a:ext cx="1143000" cy="768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51" name="TextBox 50"/>
            <p:cNvSpPr txBox="1"/>
            <p:nvPr/>
          </p:nvSpPr>
          <p:spPr>
            <a:xfrm>
              <a:off x="6045525" y="1637800"/>
              <a:ext cx="304800"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2</a:t>
              </a:r>
            </a:p>
          </p:txBody>
        </p:sp>
        <p:grpSp>
          <p:nvGrpSpPr>
            <p:cNvPr id="4" name="Group 53"/>
            <p:cNvGrpSpPr/>
            <p:nvPr/>
          </p:nvGrpSpPr>
          <p:grpSpPr>
            <a:xfrm>
              <a:off x="5774376" y="1219200"/>
              <a:ext cx="510322" cy="684934"/>
              <a:chOff x="4151478" y="776681"/>
              <a:chExt cx="584851" cy="744424"/>
            </a:xfrm>
          </p:grpSpPr>
          <p:pic>
            <p:nvPicPr>
              <p:cNvPr id="55" name="Picture 11"/>
              <p:cNvPicPr>
                <a:picLocks noChangeAspect="1" noChangeArrowheads="1"/>
              </p:cNvPicPr>
              <p:nvPr/>
            </p:nvPicPr>
            <p:blipFill>
              <a:blip r:embed="rId4" cstate="print"/>
              <a:srcRect/>
              <a:stretch>
                <a:fillRect/>
              </a:stretch>
            </p:blipFill>
            <p:spPr bwMode="auto">
              <a:xfrm>
                <a:off x="4151478" y="776681"/>
                <a:ext cx="556100" cy="726542"/>
              </a:xfrm>
              <a:prstGeom prst="rect">
                <a:avLst/>
              </a:prstGeom>
              <a:noFill/>
              <a:ln w="9525">
                <a:noFill/>
                <a:miter lim="800000"/>
                <a:headEnd/>
                <a:tailEnd/>
              </a:ln>
              <a:effectLst/>
            </p:spPr>
          </p:pic>
          <p:sp>
            <p:nvSpPr>
              <p:cNvPr id="56" name="TextBox 55"/>
              <p:cNvSpPr txBox="1"/>
              <p:nvPr/>
            </p:nvSpPr>
            <p:spPr>
              <a:xfrm>
                <a:off x="4448019" y="1236773"/>
                <a:ext cx="288310" cy="284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2</a:t>
                </a:r>
              </a:p>
            </p:txBody>
          </p:sp>
        </p:grpSp>
        <p:sp>
          <p:nvSpPr>
            <p:cNvPr id="40" name="Rectangle 39"/>
            <p:cNvSpPr/>
            <p:nvPr/>
          </p:nvSpPr>
          <p:spPr>
            <a:xfrm>
              <a:off x="4180112" y="809500"/>
              <a:ext cx="521208" cy="68580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grpSp>
      <p:sp>
        <p:nvSpPr>
          <p:cNvPr id="25" name="Footer Placeholder 24"/>
          <p:cNvSpPr>
            <a:spLocks noGrp="1"/>
          </p:cNvSpPr>
          <p:nvPr>
            <p:ph type="ftr"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Content Placeholder 58"/>
          <p:cNvSpPr>
            <a:spLocks noGrp="1"/>
          </p:cNvSpPr>
          <p:nvPr>
            <p:ph sz="half" idx="1"/>
          </p:nvPr>
        </p:nvSpPr>
        <p:spPr>
          <a:xfrm>
            <a:off x="304800" y="914400"/>
            <a:ext cx="4419600" cy="4953001"/>
          </a:xfrm>
        </p:spPr>
        <p:txBody>
          <a:bodyPr/>
          <a:lstStyle/>
          <a:p>
            <a:r>
              <a:rPr lang="en-US" dirty="0"/>
              <a:t>VM files are moved from source array to remote array</a:t>
            </a:r>
          </a:p>
          <a:p>
            <a:r>
              <a:rPr lang="en-US" dirty="0"/>
              <a:t>Can move VMs across dissimilar storage arrays</a:t>
            </a:r>
          </a:p>
          <a:p>
            <a:r>
              <a:rPr lang="en-US" dirty="0"/>
              <a:t>Balances storage utilization by redistributing VMs to different storage arrays</a:t>
            </a:r>
          </a:p>
        </p:txBody>
      </p:sp>
      <p:sp>
        <p:nvSpPr>
          <p:cNvPr id="2" name="Title 1"/>
          <p:cNvSpPr>
            <a:spLocks noGrp="1"/>
          </p:cNvSpPr>
          <p:nvPr>
            <p:ph type="title"/>
          </p:nvPr>
        </p:nvSpPr>
        <p:spPr/>
        <p:txBody>
          <a:bodyPr/>
          <a:lstStyle/>
          <a:p>
            <a:r>
              <a:rPr lang="en-US" dirty="0"/>
              <a:t>VM Migration: Array-to-Array</a:t>
            </a:r>
          </a:p>
        </p:txBody>
      </p:sp>
      <p:sp>
        <p:nvSpPr>
          <p:cNvPr id="6" name="Slide Number Placeholder 5"/>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4D05BE-A5A8-4D83-BF6E-65FCE94A14E4}"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39" name="Footer Placeholder 4"/>
          <p:cNvSpPr>
            <a:spLocks noGrp="1"/>
          </p:cNvSpPr>
          <p:nvPr>
            <p:ph type="ftr" sz="quarter" idx="13"/>
          </p:nvPr>
        </p:nvSpPr>
        <p:spPr>
          <a:xfrm>
            <a:off x="4495800" y="6629400"/>
            <a:ext cx="4191000" cy="2286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12: Remote Replication</a:t>
            </a:r>
          </a:p>
        </p:txBody>
      </p:sp>
      <p:grpSp>
        <p:nvGrpSpPr>
          <p:cNvPr id="30" name="Group 29"/>
          <p:cNvGrpSpPr/>
          <p:nvPr/>
        </p:nvGrpSpPr>
        <p:grpSpPr>
          <a:xfrm>
            <a:off x="4648200" y="751406"/>
            <a:ext cx="4244392" cy="5344594"/>
            <a:chOff x="4724400" y="128650"/>
            <a:chExt cx="4244392" cy="5344594"/>
          </a:xfrm>
        </p:grpSpPr>
        <p:cxnSp>
          <p:nvCxnSpPr>
            <p:cNvPr id="51" name="Straight Connector 50"/>
            <p:cNvCxnSpPr/>
            <p:nvPr/>
          </p:nvCxnSpPr>
          <p:spPr>
            <a:xfrm rot="5400000">
              <a:off x="7258749" y="3011424"/>
              <a:ext cx="235915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Picture 41" descr="C:\Documents and Settings\sridhs\Desktop\ISM Book L3\colored Icons\Storage Array.png"/>
            <p:cNvPicPr>
              <a:picLocks noChangeAspect="1" noChangeArrowheads="1"/>
            </p:cNvPicPr>
            <p:nvPr/>
          </p:nvPicPr>
          <p:blipFill>
            <a:blip r:embed="rId3" cstate="print"/>
            <a:srcRect/>
            <a:stretch>
              <a:fillRect/>
            </a:stretch>
          </p:blipFill>
          <p:spPr bwMode="auto">
            <a:xfrm>
              <a:off x="7946307" y="3581400"/>
              <a:ext cx="969093" cy="1645920"/>
            </a:xfrm>
            <a:prstGeom prst="rect">
              <a:avLst/>
            </a:prstGeom>
            <a:noFill/>
          </p:spPr>
        </p:pic>
        <p:cxnSp>
          <p:nvCxnSpPr>
            <p:cNvPr id="53" name="Straight Connector 52"/>
            <p:cNvCxnSpPr/>
            <p:nvPr/>
          </p:nvCxnSpPr>
          <p:spPr>
            <a:xfrm rot="5400000">
              <a:off x="4011963" y="3008376"/>
              <a:ext cx="235915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descr="C:\Documents and Settings\sridhs\Desktop\ISM Book L3\colored Icons\Storage Array.png"/>
            <p:cNvPicPr>
              <a:picLocks noChangeAspect="1" noChangeArrowheads="1"/>
            </p:cNvPicPr>
            <p:nvPr/>
          </p:nvPicPr>
          <p:blipFill>
            <a:blip r:embed="rId3" cstate="print"/>
            <a:srcRect/>
            <a:stretch>
              <a:fillRect/>
            </a:stretch>
          </p:blipFill>
          <p:spPr bwMode="auto">
            <a:xfrm>
              <a:off x="4724400" y="3611880"/>
              <a:ext cx="969093" cy="1645920"/>
            </a:xfrm>
            <a:prstGeom prst="rect">
              <a:avLst/>
            </a:prstGeom>
            <a:noFill/>
          </p:spPr>
        </p:pic>
        <p:sp>
          <p:nvSpPr>
            <p:cNvPr id="16" name="Rectangle 44"/>
            <p:cNvSpPr>
              <a:spLocks noChangeArrowheads="1"/>
            </p:cNvSpPr>
            <p:nvPr/>
          </p:nvSpPr>
          <p:spPr bwMode="gray">
            <a:xfrm>
              <a:off x="7119992" y="1524000"/>
              <a:ext cx="342658" cy="215444"/>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Host</a:t>
              </a:r>
            </a:p>
          </p:txBody>
        </p:sp>
        <p:sp>
          <p:nvSpPr>
            <p:cNvPr id="18" name="Rectangle 44"/>
            <p:cNvSpPr>
              <a:spLocks noChangeArrowheads="1"/>
            </p:cNvSpPr>
            <p:nvPr/>
          </p:nvSpPr>
          <p:spPr bwMode="gray">
            <a:xfrm>
              <a:off x="6350506" y="3803278"/>
              <a:ext cx="1036309" cy="215444"/>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VM Migration</a:t>
              </a:r>
            </a:p>
          </p:txBody>
        </p:sp>
        <p:sp>
          <p:nvSpPr>
            <p:cNvPr id="49" name="Rectangle 44"/>
            <p:cNvSpPr>
              <a:spLocks noChangeArrowheads="1"/>
            </p:cNvSpPr>
            <p:nvPr/>
          </p:nvSpPr>
          <p:spPr bwMode="gray">
            <a:xfrm>
              <a:off x="4800600" y="5257800"/>
              <a:ext cx="947182" cy="215444"/>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Source Array</a:t>
              </a:r>
            </a:p>
          </p:txBody>
        </p:sp>
        <p:sp>
          <p:nvSpPr>
            <p:cNvPr id="50" name="Rectangle 44"/>
            <p:cNvSpPr>
              <a:spLocks noChangeArrowheads="1"/>
            </p:cNvSpPr>
            <p:nvPr/>
          </p:nvSpPr>
          <p:spPr bwMode="gray">
            <a:xfrm>
              <a:off x="7945307" y="5234050"/>
              <a:ext cx="1023485" cy="215444"/>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Remote Array</a:t>
              </a:r>
            </a:p>
          </p:txBody>
        </p:sp>
        <p:sp>
          <p:nvSpPr>
            <p:cNvPr id="61" name="File"/>
            <p:cNvSpPr>
              <a:spLocks noEditPoints="1" noChangeArrowheads="1"/>
            </p:cNvSpPr>
            <p:nvPr/>
          </p:nvSpPr>
          <p:spPr bwMode="auto">
            <a:xfrm>
              <a:off x="5396350" y="4570412"/>
              <a:ext cx="533400" cy="458788"/>
            </a:xfrm>
            <a:custGeom>
              <a:avLst/>
              <a:gdLst>
                <a:gd name="T0" fmla="*/ 434194 w 21600"/>
                <a:gd name="T1" fmla="*/ 112157 h 21600"/>
                <a:gd name="T2" fmla="*/ 0 w 21600"/>
                <a:gd name="T3" fmla="*/ 373857 h 21600"/>
                <a:gd name="T4" fmla="*/ 427038 w 21600"/>
                <a:gd name="T5" fmla="*/ 747713 h 21600"/>
                <a:gd name="T6" fmla="*/ 854075 w 21600"/>
                <a:gd name="T7" fmla="*/ 373857 h 21600"/>
                <a:gd name="T8" fmla="*/ 0 w 21600"/>
                <a:gd name="T9" fmla="*/ 747713 h 21600"/>
                <a:gd name="T10" fmla="*/ 854075 w 21600"/>
                <a:gd name="T11" fmla="*/ 747713 h 21600"/>
                <a:gd name="T12" fmla="*/ 0 60000 65536"/>
                <a:gd name="T13" fmla="*/ 0 60000 65536"/>
                <a:gd name="T14" fmla="*/ 0 60000 65536"/>
                <a:gd name="T15" fmla="*/ 0 60000 65536"/>
                <a:gd name="T16" fmla="*/ 0 60000 65536"/>
                <a:gd name="T17" fmla="*/ 0 60000 65536"/>
                <a:gd name="T18" fmla="*/ 1086 w 21600"/>
                <a:gd name="T19" fmla="*/ 4628 h 21600"/>
                <a:gd name="T20" fmla="*/ 20635 w 21600"/>
                <a:gd name="T21" fmla="*/ 2028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29" tIns="45715" rIns="91429" bIns="45715"/>
            <a:lstStyle/>
            <a:p>
              <a:pPr marL="0" marR="0" lvl="0" indent="0" algn="l" defTabSz="652463" rtl="0" eaLnBrk="1" fontAlgn="base" latinLnBrk="0" hangingPunct="1">
                <a:lnSpc>
                  <a:spcPct val="100000"/>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62" name="Rectangle 44"/>
            <p:cNvSpPr>
              <a:spLocks noChangeArrowheads="1"/>
            </p:cNvSpPr>
            <p:nvPr/>
          </p:nvSpPr>
          <p:spPr bwMode="gray">
            <a:xfrm>
              <a:off x="5520050" y="4749317"/>
              <a:ext cx="304571" cy="184666"/>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VM2</a:t>
              </a:r>
            </a:p>
          </p:txBody>
        </p:sp>
        <p:sp>
          <p:nvSpPr>
            <p:cNvPr id="65" name="File"/>
            <p:cNvSpPr>
              <a:spLocks noEditPoints="1" noChangeArrowheads="1"/>
            </p:cNvSpPr>
            <p:nvPr/>
          </p:nvSpPr>
          <p:spPr bwMode="auto">
            <a:xfrm>
              <a:off x="5396350" y="3810000"/>
              <a:ext cx="533400" cy="458788"/>
            </a:xfrm>
            <a:custGeom>
              <a:avLst/>
              <a:gdLst>
                <a:gd name="T0" fmla="*/ 434194 w 21600"/>
                <a:gd name="T1" fmla="*/ 112157 h 21600"/>
                <a:gd name="T2" fmla="*/ 0 w 21600"/>
                <a:gd name="T3" fmla="*/ 373857 h 21600"/>
                <a:gd name="T4" fmla="*/ 427038 w 21600"/>
                <a:gd name="T5" fmla="*/ 747713 h 21600"/>
                <a:gd name="T6" fmla="*/ 854075 w 21600"/>
                <a:gd name="T7" fmla="*/ 373857 h 21600"/>
                <a:gd name="T8" fmla="*/ 0 w 21600"/>
                <a:gd name="T9" fmla="*/ 747713 h 21600"/>
                <a:gd name="T10" fmla="*/ 854075 w 21600"/>
                <a:gd name="T11" fmla="*/ 747713 h 21600"/>
                <a:gd name="T12" fmla="*/ 0 60000 65536"/>
                <a:gd name="T13" fmla="*/ 0 60000 65536"/>
                <a:gd name="T14" fmla="*/ 0 60000 65536"/>
                <a:gd name="T15" fmla="*/ 0 60000 65536"/>
                <a:gd name="T16" fmla="*/ 0 60000 65536"/>
                <a:gd name="T17" fmla="*/ 0 60000 65536"/>
                <a:gd name="T18" fmla="*/ 1086 w 21600"/>
                <a:gd name="T19" fmla="*/ 4628 h 21600"/>
                <a:gd name="T20" fmla="*/ 20635 w 21600"/>
                <a:gd name="T21" fmla="*/ 2028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29" tIns="45715" rIns="91429" bIns="45715"/>
            <a:lstStyle/>
            <a:p>
              <a:pPr marL="0" marR="0" lvl="0" indent="0" algn="l" defTabSz="652463" rtl="0" eaLnBrk="1" fontAlgn="base" latinLnBrk="0" hangingPunct="1">
                <a:lnSpc>
                  <a:spcPct val="100000"/>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66" name="Rectangle 44"/>
            <p:cNvSpPr>
              <a:spLocks noChangeArrowheads="1"/>
            </p:cNvSpPr>
            <p:nvPr/>
          </p:nvSpPr>
          <p:spPr bwMode="gray">
            <a:xfrm>
              <a:off x="5509253" y="3988905"/>
              <a:ext cx="304571" cy="184666"/>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VM1</a:t>
              </a:r>
            </a:p>
          </p:txBody>
        </p:sp>
        <p:cxnSp>
          <p:nvCxnSpPr>
            <p:cNvPr id="40" name="Straight Connector 39"/>
            <p:cNvCxnSpPr/>
            <p:nvPr/>
          </p:nvCxnSpPr>
          <p:spPr>
            <a:xfrm>
              <a:off x="5191539" y="1828800"/>
              <a:ext cx="13716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7065343" y="1828800"/>
              <a:ext cx="13716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File"/>
            <p:cNvSpPr>
              <a:spLocks noEditPoints="1" noChangeArrowheads="1"/>
            </p:cNvSpPr>
            <p:nvPr/>
          </p:nvSpPr>
          <p:spPr bwMode="auto">
            <a:xfrm>
              <a:off x="7682350" y="3962400"/>
              <a:ext cx="533400" cy="458788"/>
            </a:xfrm>
            <a:custGeom>
              <a:avLst/>
              <a:gdLst>
                <a:gd name="T0" fmla="*/ 434194 w 21600"/>
                <a:gd name="T1" fmla="*/ 112157 h 21600"/>
                <a:gd name="T2" fmla="*/ 0 w 21600"/>
                <a:gd name="T3" fmla="*/ 373857 h 21600"/>
                <a:gd name="T4" fmla="*/ 427038 w 21600"/>
                <a:gd name="T5" fmla="*/ 747713 h 21600"/>
                <a:gd name="T6" fmla="*/ 854075 w 21600"/>
                <a:gd name="T7" fmla="*/ 373857 h 21600"/>
                <a:gd name="T8" fmla="*/ 0 w 21600"/>
                <a:gd name="T9" fmla="*/ 747713 h 21600"/>
                <a:gd name="T10" fmla="*/ 854075 w 21600"/>
                <a:gd name="T11" fmla="*/ 747713 h 21600"/>
                <a:gd name="T12" fmla="*/ 0 60000 65536"/>
                <a:gd name="T13" fmla="*/ 0 60000 65536"/>
                <a:gd name="T14" fmla="*/ 0 60000 65536"/>
                <a:gd name="T15" fmla="*/ 0 60000 65536"/>
                <a:gd name="T16" fmla="*/ 0 60000 65536"/>
                <a:gd name="T17" fmla="*/ 0 60000 65536"/>
                <a:gd name="T18" fmla="*/ 1086 w 21600"/>
                <a:gd name="T19" fmla="*/ 4628 h 21600"/>
                <a:gd name="T20" fmla="*/ 20635 w 21600"/>
                <a:gd name="T21" fmla="*/ 2028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29" tIns="45715" rIns="91429" bIns="45715"/>
            <a:lstStyle/>
            <a:p>
              <a:pPr marL="0" marR="0" lvl="0" indent="0" algn="l" defTabSz="652463" rtl="0" eaLnBrk="1" fontAlgn="base" latinLnBrk="0" hangingPunct="1">
                <a:lnSpc>
                  <a:spcPct val="100000"/>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69" name="Rectangle 44"/>
            <p:cNvSpPr>
              <a:spLocks noChangeArrowheads="1"/>
            </p:cNvSpPr>
            <p:nvPr/>
          </p:nvSpPr>
          <p:spPr bwMode="gray">
            <a:xfrm>
              <a:off x="7807128" y="4141305"/>
              <a:ext cx="304571" cy="184666"/>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VM1</a:t>
              </a:r>
            </a:p>
          </p:txBody>
        </p:sp>
        <p:sp>
          <p:nvSpPr>
            <p:cNvPr id="55" name="Curved Down Arrow 54"/>
            <p:cNvSpPr/>
            <p:nvPr/>
          </p:nvSpPr>
          <p:spPr>
            <a:xfrm>
              <a:off x="6045706" y="3269878"/>
              <a:ext cx="1676400" cy="6858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itchFamily="34" charset="0"/>
                <a:ea typeface="+mn-ea"/>
                <a:cs typeface="Calibri" pitchFamily="34" charset="0"/>
              </a:endParaRPr>
            </a:p>
          </p:txBody>
        </p:sp>
        <p:sp>
          <p:nvSpPr>
            <p:cNvPr id="56" name="Rectangle 55"/>
            <p:cNvSpPr/>
            <p:nvPr/>
          </p:nvSpPr>
          <p:spPr>
            <a:xfrm>
              <a:off x="5396350" y="3805050"/>
              <a:ext cx="609600" cy="533400"/>
            </a:xfrm>
            <a:prstGeom prst="rect">
              <a:avLst/>
            </a:pr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sp>
          <p:nvSpPr>
            <p:cNvPr id="58" name="File"/>
            <p:cNvSpPr>
              <a:spLocks noEditPoints="1" noChangeArrowheads="1"/>
            </p:cNvSpPr>
            <p:nvPr/>
          </p:nvSpPr>
          <p:spPr bwMode="auto">
            <a:xfrm>
              <a:off x="6549289" y="2676939"/>
              <a:ext cx="533400" cy="458788"/>
            </a:xfrm>
            <a:custGeom>
              <a:avLst/>
              <a:gdLst>
                <a:gd name="T0" fmla="*/ 434194 w 21600"/>
                <a:gd name="T1" fmla="*/ 112157 h 21600"/>
                <a:gd name="T2" fmla="*/ 0 w 21600"/>
                <a:gd name="T3" fmla="*/ 373857 h 21600"/>
                <a:gd name="T4" fmla="*/ 427038 w 21600"/>
                <a:gd name="T5" fmla="*/ 747713 h 21600"/>
                <a:gd name="T6" fmla="*/ 854075 w 21600"/>
                <a:gd name="T7" fmla="*/ 373857 h 21600"/>
                <a:gd name="T8" fmla="*/ 0 w 21600"/>
                <a:gd name="T9" fmla="*/ 747713 h 21600"/>
                <a:gd name="T10" fmla="*/ 854075 w 21600"/>
                <a:gd name="T11" fmla="*/ 747713 h 21600"/>
                <a:gd name="T12" fmla="*/ 0 60000 65536"/>
                <a:gd name="T13" fmla="*/ 0 60000 65536"/>
                <a:gd name="T14" fmla="*/ 0 60000 65536"/>
                <a:gd name="T15" fmla="*/ 0 60000 65536"/>
                <a:gd name="T16" fmla="*/ 0 60000 65536"/>
                <a:gd name="T17" fmla="*/ 0 60000 65536"/>
                <a:gd name="T18" fmla="*/ 1086 w 21600"/>
                <a:gd name="T19" fmla="*/ 4628 h 21600"/>
                <a:gd name="T20" fmla="*/ 20635 w 21600"/>
                <a:gd name="T21" fmla="*/ 2028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9790" y="3240"/>
                  </a:moveTo>
                  <a:cubicBezTo>
                    <a:pt x="10981" y="3240"/>
                    <a:pt x="9171" y="3240"/>
                    <a:pt x="9050" y="3086"/>
                  </a:cubicBezTo>
                  <a:cubicBezTo>
                    <a:pt x="9050" y="2931"/>
                    <a:pt x="8930" y="2777"/>
                    <a:pt x="8930" y="2469"/>
                  </a:cubicBezTo>
                  <a:cubicBezTo>
                    <a:pt x="8930" y="2160"/>
                    <a:pt x="8809" y="1851"/>
                    <a:pt x="8688" y="1389"/>
                  </a:cubicBezTo>
                  <a:cubicBezTo>
                    <a:pt x="8568" y="1080"/>
                    <a:pt x="8326" y="771"/>
                    <a:pt x="8085" y="463"/>
                  </a:cubicBezTo>
                  <a:cubicBezTo>
                    <a:pt x="7723" y="154"/>
                    <a:pt x="7361" y="0"/>
                    <a:pt x="7361" y="0"/>
                  </a:cubicBezTo>
                  <a:cubicBezTo>
                    <a:pt x="7361" y="0"/>
                    <a:pt x="2293" y="0"/>
                    <a:pt x="2051" y="154"/>
                  </a:cubicBezTo>
                  <a:cubicBezTo>
                    <a:pt x="1689" y="309"/>
                    <a:pt x="1448" y="463"/>
                    <a:pt x="1327" y="771"/>
                  </a:cubicBezTo>
                  <a:cubicBezTo>
                    <a:pt x="1207" y="1080"/>
                    <a:pt x="1086" y="1389"/>
                    <a:pt x="965" y="1697"/>
                  </a:cubicBezTo>
                  <a:cubicBezTo>
                    <a:pt x="845" y="2160"/>
                    <a:pt x="724" y="2314"/>
                    <a:pt x="724" y="2469"/>
                  </a:cubicBezTo>
                  <a:cubicBezTo>
                    <a:pt x="603" y="2623"/>
                    <a:pt x="603" y="2777"/>
                    <a:pt x="483" y="2931"/>
                  </a:cubicBezTo>
                  <a:cubicBezTo>
                    <a:pt x="483" y="3086"/>
                    <a:pt x="362" y="3240"/>
                    <a:pt x="241" y="3240"/>
                  </a:cubicBezTo>
                  <a:lnTo>
                    <a:pt x="0" y="3394"/>
                  </a:lnTo>
                  <a:lnTo>
                    <a:pt x="0" y="3703"/>
                  </a:lnTo>
                  <a:lnTo>
                    <a:pt x="0" y="10800"/>
                  </a:lnTo>
                  <a:lnTo>
                    <a:pt x="0" y="21600"/>
                  </a:lnTo>
                  <a:lnTo>
                    <a:pt x="10981" y="21600"/>
                  </a:lnTo>
                  <a:lnTo>
                    <a:pt x="21600" y="21600"/>
                  </a:lnTo>
                  <a:lnTo>
                    <a:pt x="21600" y="10800"/>
                  </a:lnTo>
                  <a:lnTo>
                    <a:pt x="21600" y="5246"/>
                  </a:lnTo>
                  <a:lnTo>
                    <a:pt x="21600" y="4783"/>
                  </a:lnTo>
                  <a:cubicBezTo>
                    <a:pt x="21479" y="4320"/>
                    <a:pt x="21359" y="4011"/>
                    <a:pt x="21117" y="3703"/>
                  </a:cubicBezTo>
                  <a:cubicBezTo>
                    <a:pt x="20876" y="3549"/>
                    <a:pt x="20514" y="3394"/>
                    <a:pt x="20152" y="3240"/>
                  </a:cubicBezTo>
                  <a:close/>
                </a:path>
              </a:pathLst>
            </a:custGeom>
            <a:solidFill>
              <a:srgbClr val="FFFFCC"/>
            </a:solidFill>
            <a:ln w="9525">
              <a:solidFill>
                <a:srgbClr val="000000"/>
              </a:solidFill>
              <a:miter lim="800000"/>
              <a:headEnd/>
              <a:tailEnd/>
            </a:ln>
            <a:effectLst>
              <a:outerShdw dist="107763" dir="2700000" algn="ctr" rotWithShape="0">
                <a:srgbClr val="808080"/>
              </a:outerShdw>
            </a:effectLst>
          </p:spPr>
          <p:txBody>
            <a:bodyPr lIns="91429" tIns="45715" rIns="91429" bIns="45715"/>
            <a:lstStyle/>
            <a:p>
              <a:pPr marL="0" marR="0" lvl="0" indent="0" algn="l" defTabSz="652463" rtl="0" eaLnBrk="1" fontAlgn="base" latinLnBrk="0" hangingPunct="1">
                <a:lnSpc>
                  <a:spcPct val="100000"/>
                </a:lnSpc>
                <a:spcBef>
                  <a:spcPct val="0"/>
                </a:spcBef>
                <a:spcAft>
                  <a:spcPct val="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endParaRPr>
            </a:p>
          </p:txBody>
        </p:sp>
        <p:sp>
          <p:nvSpPr>
            <p:cNvPr id="60" name="Rectangle 44"/>
            <p:cNvSpPr>
              <a:spLocks noChangeArrowheads="1"/>
            </p:cNvSpPr>
            <p:nvPr/>
          </p:nvSpPr>
          <p:spPr bwMode="gray">
            <a:xfrm>
              <a:off x="6674067" y="2855844"/>
              <a:ext cx="304571" cy="184666"/>
            </a:xfrm>
            <a:prstGeom prst="rect">
              <a:avLst/>
            </a:prstGeom>
            <a:noFill/>
            <a:ln w="12700">
              <a:noFill/>
              <a:miter lim="800000"/>
              <a:headEnd/>
              <a:tailEnd/>
            </a:ln>
            <a:effectLst/>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VM1</a:t>
              </a:r>
            </a:p>
          </p:txBody>
        </p:sp>
        <p:sp>
          <p:nvSpPr>
            <p:cNvPr id="71" name="Rectangle 70"/>
            <p:cNvSpPr/>
            <p:nvPr/>
          </p:nvSpPr>
          <p:spPr>
            <a:xfrm>
              <a:off x="6551225" y="2676939"/>
              <a:ext cx="609600" cy="533400"/>
            </a:xfrm>
            <a:prstGeom prst="rect">
              <a:avLst/>
            </a:prstGeom>
            <a:solidFill>
              <a:schemeClr val="bg1">
                <a:lumMod val="9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itchFamily="34" charset="0"/>
                <a:ea typeface="+mn-ea"/>
                <a:cs typeface="Calibri" pitchFamily="34" charset="0"/>
              </a:endParaRPr>
            </a:p>
          </p:txBody>
        </p:sp>
        <p:pic>
          <p:nvPicPr>
            <p:cNvPr id="43" name="Picture 42"/>
            <p:cNvPicPr>
              <a:picLocks noChangeAspect="1" noChangeArrowheads="1"/>
            </p:cNvPicPr>
            <p:nvPr/>
          </p:nvPicPr>
          <p:blipFill>
            <a:blip r:embed="rId4" cstate="print"/>
            <a:srcRect/>
            <a:stretch>
              <a:fillRect/>
            </a:stretch>
          </p:blipFill>
          <p:spPr bwMode="auto">
            <a:xfrm>
              <a:off x="6272150" y="128650"/>
              <a:ext cx="1066800" cy="2229800"/>
            </a:xfrm>
            <a:prstGeom prst="rect">
              <a:avLst/>
            </a:prstGeom>
            <a:noFill/>
            <a:ln w="9525">
              <a:noFill/>
              <a:miter lim="800000"/>
              <a:headEnd/>
              <a:tailEnd/>
            </a:ln>
            <a:effectLst/>
          </p:spPr>
        </p:pic>
        <p:sp>
          <p:nvSpPr>
            <p:cNvPr id="46" name="TextBox 45"/>
            <p:cNvSpPr txBox="1"/>
            <p:nvPr/>
          </p:nvSpPr>
          <p:spPr>
            <a:xfrm>
              <a:off x="6553200" y="549326"/>
              <a:ext cx="304800"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1</a:t>
              </a:r>
            </a:p>
          </p:txBody>
        </p:sp>
        <p:sp>
          <p:nvSpPr>
            <p:cNvPr id="47" name="TextBox 46"/>
            <p:cNvSpPr txBox="1"/>
            <p:nvPr/>
          </p:nvSpPr>
          <p:spPr>
            <a:xfrm>
              <a:off x="7086600" y="564715"/>
              <a:ext cx="304800" cy="26161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2</a:t>
              </a: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4"/>
          <p:cNvSpPr>
            <a:spLocks noGrp="1"/>
          </p:cNvSpPr>
          <p:nvPr>
            <p:ph type="ctrTitle"/>
          </p:nvPr>
        </p:nvSpPr>
        <p:spPr>
          <a:xfrm>
            <a:off x="685800" y="612648"/>
            <a:ext cx="7772400" cy="688975"/>
          </a:xfrm>
        </p:spPr>
        <p:txBody>
          <a:bodyPr/>
          <a:lstStyle/>
          <a:p>
            <a:r>
              <a:rPr lang="en-US" dirty="0"/>
              <a:t>Module 12: Remote Replication</a:t>
            </a:r>
          </a:p>
        </p:txBody>
      </p:sp>
      <p:sp>
        <p:nvSpPr>
          <p:cNvPr id="7" name="Subtitle 6"/>
          <p:cNvSpPr>
            <a:spLocks noGrp="1"/>
          </p:cNvSpPr>
          <p:nvPr>
            <p:ph type="subTitle" idx="1"/>
          </p:nvPr>
        </p:nvSpPr>
        <p:spPr>
          <a:xfrm>
            <a:off x="1371600" y="2587752"/>
            <a:ext cx="7086600" cy="2667000"/>
          </a:xfrm>
        </p:spPr>
        <p:txBody>
          <a:bodyPr>
            <a:normAutofit/>
          </a:bodyPr>
          <a:lstStyle/>
          <a:p>
            <a:pPr lvl="1" indent="-223838" algn="l">
              <a:buClr>
                <a:srgbClr val="92D050"/>
              </a:buClr>
              <a:buSzPct val="110000"/>
              <a:buFont typeface="Arial" pitchFamily="34" charset="0"/>
              <a:buChar char="•"/>
              <a:defRPr/>
            </a:pPr>
            <a:r>
              <a:rPr lang="en-US" sz="2400" dirty="0">
                <a:solidFill>
                  <a:schemeClr val="bg2">
                    <a:lumMod val="75000"/>
                  </a:schemeClr>
                </a:solidFill>
              </a:rPr>
              <a:t>EMC </a:t>
            </a:r>
            <a:r>
              <a:rPr lang="en-US" sz="2400" dirty="0" err="1">
                <a:solidFill>
                  <a:schemeClr val="bg2">
                    <a:lumMod val="75000"/>
                  </a:schemeClr>
                </a:solidFill>
              </a:rPr>
              <a:t>Symmetrix</a:t>
            </a:r>
            <a:r>
              <a:rPr lang="en-US" sz="2400" dirty="0">
                <a:solidFill>
                  <a:schemeClr val="bg2">
                    <a:lumMod val="75000"/>
                  </a:schemeClr>
                </a:solidFill>
              </a:rPr>
              <a:t> Remote Data Facility (SRDF)</a:t>
            </a:r>
          </a:p>
          <a:p>
            <a:pPr lvl="1" indent="-223838" algn="l">
              <a:buClr>
                <a:srgbClr val="92D050"/>
              </a:buClr>
              <a:buSzPct val="110000"/>
              <a:buFont typeface="Arial" pitchFamily="34" charset="0"/>
              <a:buChar char="•"/>
              <a:defRPr/>
            </a:pPr>
            <a:r>
              <a:rPr lang="en-US" sz="2400" dirty="0">
                <a:solidFill>
                  <a:schemeClr val="bg2">
                    <a:lumMod val="75000"/>
                  </a:schemeClr>
                </a:solidFill>
              </a:rPr>
              <a:t>EMC MirrorView</a:t>
            </a:r>
          </a:p>
          <a:p>
            <a:pPr lvl="1" indent="-223838" algn="l">
              <a:buClr>
                <a:srgbClr val="92D050"/>
              </a:buClr>
              <a:buSzPct val="110000"/>
              <a:buFont typeface="Arial" pitchFamily="34" charset="0"/>
              <a:buChar char="•"/>
              <a:defRPr/>
            </a:pPr>
            <a:r>
              <a:rPr lang="en-US" sz="2400" dirty="0">
                <a:solidFill>
                  <a:schemeClr val="bg2">
                    <a:lumMod val="75000"/>
                  </a:schemeClr>
                </a:solidFill>
              </a:rPr>
              <a:t>EMC </a:t>
            </a:r>
            <a:r>
              <a:rPr lang="en-US" sz="2400" dirty="0" err="1">
                <a:solidFill>
                  <a:schemeClr val="bg2">
                    <a:lumMod val="75000"/>
                  </a:schemeClr>
                </a:solidFill>
              </a:rPr>
              <a:t>RecoverPoint</a:t>
            </a:r>
            <a:endParaRPr lang="en-US" sz="2400" dirty="0">
              <a:solidFill>
                <a:schemeClr val="bg2">
                  <a:lumMod val="75000"/>
                </a:schemeClr>
              </a:solidFill>
            </a:endParaRPr>
          </a:p>
          <a:p>
            <a:pPr lvl="1" indent="-223838" algn="l">
              <a:buClr>
                <a:srgbClr val="92D050"/>
              </a:buClr>
              <a:buSzPct val="110000"/>
              <a:defRPr/>
            </a:pPr>
            <a:endParaRPr lang="en-US" sz="2000" dirty="0">
              <a:solidFill>
                <a:schemeClr val="bg2">
                  <a:lumMod val="75000"/>
                </a:schemeClr>
              </a:solidFill>
            </a:endParaRPr>
          </a:p>
          <a:p>
            <a:pPr lvl="2" indent="-223838" algn="l">
              <a:buClr>
                <a:srgbClr val="92D050"/>
              </a:buClr>
              <a:buSzPct val="110000"/>
              <a:defRPr/>
            </a:pPr>
            <a:r>
              <a:rPr lang="en-US" sz="1800" dirty="0">
                <a:solidFill>
                  <a:schemeClr val="bg2">
                    <a:lumMod val="75000"/>
                  </a:schemeClr>
                </a:solidFill>
              </a:rPr>
              <a:t> </a:t>
            </a:r>
          </a:p>
          <a:p>
            <a:pPr lvl="1" indent="-223838" algn="l">
              <a:buClr>
                <a:srgbClr val="92D050"/>
              </a:buClr>
              <a:buSzPct val="110000"/>
              <a:defRPr/>
            </a:pPr>
            <a:endParaRPr lang="en-US" sz="2000" dirty="0">
              <a:solidFill>
                <a:schemeClr val="bg2">
                  <a:lumMod val="75000"/>
                </a:schemeClr>
              </a:solidFill>
            </a:endParaRPr>
          </a:p>
          <a:p>
            <a:pPr lvl="1" indent="-223838" algn="l">
              <a:buClr>
                <a:srgbClr val="92D050"/>
              </a:buClr>
              <a:buSzPct val="110000"/>
              <a:buFont typeface="Arial" pitchFamily="34" charset="0"/>
              <a:buChar char="•"/>
              <a:defRPr/>
            </a:pPr>
            <a:endParaRPr lang="en-US" sz="2000" dirty="0">
              <a:solidFill>
                <a:schemeClr val="bg2">
                  <a:lumMod val="75000"/>
                </a:schemeClr>
              </a:solidFill>
            </a:endParaRPr>
          </a:p>
        </p:txBody>
      </p:sp>
      <p:sp>
        <p:nvSpPr>
          <p:cNvPr id="23556" name="Content Placeholder 7"/>
          <p:cNvSpPr>
            <a:spLocks noGrp="1"/>
          </p:cNvSpPr>
          <p:nvPr>
            <p:ph sz="quarter" idx="13"/>
          </p:nvPr>
        </p:nvSpPr>
        <p:spPr>
          <a:xfrm>
            <a:off x="685800" y="1984248"/>
            <a:ext cx="7772400" cy="457200"/>
          </a:xfrm>
        </p:spPr>
        <p:txBody>
          <a:bodyPr/>
          <a:lstStyle/>
          <a:p>
            <a:r>
              <a:rPr lang="en-US" dirty="0"/>
              <a:t>Concept in Practice</a:t>
            </a:r>
          </a:p>
        </p:txBody>
      </p:sp>
      <p:sp>
        <p:nvSpPr>
          <p:cNvPr id="12" name="Footer Placeholder 11"/>
          <p:cNvSpPr>
            <a:spLocks noGrp="1"/>
          </p:cNvSpPr>
          <p:nvPr>
            <p:ph type="ftr"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
        <p:nvSpPr>
          <p:cNvPr id="11" name="Slide Number Placeholder 10"/>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half" idx="1"/>
          </p:nvPr>
        </p:nvSpPr>
        <p:spPr>
          <a:xfrm>
            <a:off x="304800" y="914400"/>
            <a:ext cx="3886200" cy="4953001"/>
          </a:xfrm>
        </p:spPr>
        <p:txBody>
          <a:bodyPr/>
          <a:lstStyle/>
          <a:p>
            <a:r>
              <a:rPr lang="en-US" dirty="0"/>
              <a:t>Offers a family of solutions to implement array-based remote replication</a:t>
            </a:r>
          </a:p>
          <a:p>
            <a:r>
              <a:rPr lang="en-US" dirty="0"/>
              <a:t>Minimizes performance impact on applications and hosts</a:t>
            </a:r>
          </a:p>
          <a:p>
            <a:endParaRPr lang="en-US" dirty="0"/>
          </a:p>
        </p:txBody>
      </p:sp>
      <p:sp>
        <p:nvSpPr>
          <p:cNvPr id="7" name="Title 6"/>
          <p:cNvSpPr>
            <a:spLocks noGrp="1"/>
          </p:cNvSpPr>
          <p:nvPr>
            <p:ph type="title"/>
          </p:nvPr>
        </p:nvSpPr>
        <p:spPr/>
        <p:txBody>
          <a:bodyPr/>
          <a:lstStyle/>
          <a:p>
            <a:r>
              <a:rPr lang="en-US" dirty="0"/>
              <a:t>EMC SRDF</a:t>
            </a:r>
          </a:p>
        </p:txBody>
      </p:sp>
      <p:sp>
        <p:nvSpPr>
          <p:cNvPr id="6" name="Slide Number Placeholder 5"/>
          <p:cNvSpPr>
            <a:spLocks noGrp="1"/>
          </p:cNvSpPr>
          <p:nvPr>
            <p:ph type="sldNum" sz="quarter" idx="1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C12BD9-86B3-4048-86CE-AC10D4E8430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grpSp>
        <p:nvGrpSpPr>
          <p:cNvPr id="2" name="Group 20"/>
          <p:cNvGrpSpPr/>
          <p:nvPr/>
        </p:nvGrpSpPr>
        <p:grpSpPr bwMode="gray">
          <a:xfrm>
            <a:off x="4495800" y="1371600"/>
            <a:ext cx="3865088" cy="3657600"/>
            <a:chOff x="366713" y="1371600"/>
            <a:chExt cx="3865088" cy="4114800"/>
          </a:xfrm>
        </p:grpSpPr>
        <p:sp>
          <p:nvSpPr>
            <p:cNvPr id="12" name="Rectangle 15"/>
            <p:cNvSpPr>
              <a:spLocks noChangeArrowheads="1"/>
            </p:cNvSpPr>
            <p:nvPr/>
          </p:nvSpPr>
          <p:spPr bwMode="gray">
            <a:xfrm>
              <a:off x="366713" y="1371600"/>
              <a:ext cx="2391034" cy="4114800"/>
            </a:xfrm>
            <a:prstGeom prst="rect">
              <a:avLst/>
            </a:prstGeom>
            <a:solidFill>
              <a:srgbClr val="DDDDDD"/>
            </a:solidFill>
            <a:ln w="28575" algn="ctr">
              <a:solidFill>
                <a:schemeClr val="bg1"/>
              </a:solidFill>
              <a:miter lim="800000"/>
              <a:headEnd/>
              <a:tailEnd/>
            </a:ln>
          </p:spPr>
          <p:txBody>
            <a:bodyPr lIns="0" tIns="91440" bIns="0"/>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DC3"/>
                  </a:solidFill>
                  <a:effectLst/>
                  <a:uLnTx/>
                  <a:uFillTx/>
                  <a:latin typeface="Calibri" pitchFamily="34" charset="0"/>
                  <a:ea typeface="+mn-ea"/>
                  <a:cs typeface="Calibri" pitchFamily="34" charset="0"/>
                </a:rPr>
                <a:t>SRDF Family</a:t>
              </a:r>
            </a:p>
          </p:txBody>
        </p:sp>
        <p:sp>
          <p:nvSpPr>
            <p:cNvPr id="13" name="Rectangle 12"/>
            <p:cNvSpPr>
              <a:spLocks noChangeArrowheads="1"/>
            </p:cNvSpPr>
            <p:nvPr/>
          </p:nvSpPr>
          <p:spPr bwMode="gray">
            <a:xfrm>
              <a:off x="528512" y="1880486"/>
              <a:ext cx="1958070" cy="1020895"/>
            </a:xfrm>
            <a:prstGeom prst="rect">
              <a:avLst/>
            </a:prstGeom>
            <a:solidFill>
              <a:schemeClr val="tx2"/>
            </a:solidFill>
            <a:ln w="28575" algn="ctr">
              <a:solidFill>
                <a:schemeClr val="bg1"/>
              </a:solidFill>
              <a:miter lim="800000"/>
              <a:headEnd/>
              <a:tailEnd/>
            </a:ln>
          </p:spPr>
          <p:txBody>
            <a:bodyPr anchor="ct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SRDF/S</a:t>
              </a:r>
            </a:p>
            <a:p>
              <a:pPr marL="0" marR="0" lvl="0" indent="0" algn="ctr" defTabSz="914400" rtl="0" eaLnBrk="1" fontAlgn="base" latinLnBrk="0" hangingPunct="1">
                <a:lnSpc>
                  <a:spcPct val="85000"/>
                </a:lnSpc>
                <a:spcBef>
                  <a:spcPct val="25000"/>
                </a:spcBef>
                <a:spcAft>
                  <a:spcPct val="0"/>
                </a:spcAft>
                <a:buClrTx/>
                <a:buSzTx/>
                <a:buFontTx/>
                <a:buNone/>
                <a:tabLst/>
                <a:defRPr/>
              </a:pPr>
              <a:r>
                <a:rPr kumimoji="0" lang="pt-BR"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Synchronous for </a:t>
              </a:r>
              <a:br>
                <a:rPr kumimoji="0" lang="pt-BR"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br>
              <a:r>
                <a:rPr kumimoji="0" lang="pt-BR"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zero data exposure</a:t>
              </a:r>
              <a:endParaRPr kumimoji="0" lang="en-US"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endParaRPr>
            </a:p>
          </p:txBody>
        </p:sp>
        <p:sp>
          <p:nvSpPr>
            <p:cNvPr id="14" name="Rectangle 13"/>
            <p:cNvSpPr>
              <a:spLocks noChangeArrowheads="1"/>
            </p:cNvSpPr>
            <p:nvPr/>
          </p:nvSpPr>
          <p:spPr bwMode="gray">
            <a:xfrm>
              <a:off x="528512" y="3013774"/>
              <a:ext cx="1958070" cy="1019334"/>
            </a:xfrm>
            <a:prstGeom prst="rect">
              <a:avLst/>
            </a:prstGeom>
            <a:solidFill>
              <a:schemeClr val="tx2"/>
            </a:solidFill>
            <a:ln w="28575" algn="ctr">
              <a:solidFill>
                <a:schemeClr val="bg1"/>
              </a:solidFill>
              <a:miter lim="800000"/>
              <a:headEnd/>
              <a:tailEnd/>
            </a:ln>
          </p:spPr>
          <p:txBody>
            <a:bodyPr anchor="ct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SRDF/A</a:t>
              </a:r>
            </a:p>
            <a:p>
              <a:pPr marL="0" marR="0" lvl="0" indent="0" algn="ctr" defTabSz="914400" rtl="0" eaLnBrk="1" fontAlgn="base" latinLnBrk="0" hangingPunct="1">
                <a:lnSpc>
                  <a:spcPct val="90000"/>
                </a:lnSpc>
                <a:spcBef>
                  <a:spcPct val="3000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Asynchronous for </a:t>
              </a:r>
              <a:br>
                <a:rPr kumimoji="0" lang="en-US"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br>
              <a:r>
                <a:rPr kumimoji="0" lang="en-US"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extended distances </a:t>
              </a:r>
            </a:p>
          </p:txBody>
        </p:sp>
        <p:sp>
          <p:nvSpPr>
            <p:cNvPr id="15" name="Rectangle 8"/>
            <p:cNvSpPr>
              <a:spLocks noChangeArrowheads="1"/>
            </p:cNvSpPr>
            <p:nvPr/>
          </p:nvSpPr>
          <p:spPr bwMode="gray">
            <a:xfrm>
              <a:off x="528512" y="4147061"/>
              <a:ext cx="1958070" cy="1019334"/>
            </a:xfrm>
            <a:prstGeom prst="rect">
              <a:avLst/>
            </a:prstGeom>
            <a:solidFill>
              <a:schemeClr val="tx2"/>
            </a:solidFill>
            <a:ln w="19050" algn="ctr">
              <a:solidFill>
                <a:schemeClr val="bg1"/>
              </a:solidFill>
              <a:miter lim="800000"/>
              <a:headEnd/>
              <a:tailEnd/>
            </a:ln>
          </p:spPr>
          <p:txBody>
            <a:bodyPr anchor="ctr"/>
            <a:lstStyle/>
            <a:p>
              <a:pPr marL="0" marR="0" lvl="0" indent="0" algn="ctr" defTabSz="914400" rtl="0" eaLnBrk="1" fontAlgn="base" latinLnBrk="0" hangingPunct="1">
                <a:lnSpc>
                  <a:spcPct val="85000"/>
                </a:lnSpc>
                <a:spcBef>
                  <a:spcPct val="25000"/>
                </a:spcBef>
                <a:spcAft>
                  <a:spcPct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SRDF/DM</a:t>
              </a:r>
            </a:p>
            <a:p>
              <a:pPr marL="0" marR="0" lvl="0" indent="0" algn="ctr" defTabSz="914400" rtl="0" eaLnBrk="1" fontAlgn="base" latinLnBrk="0" hangingPunct="1">
                <a:lnSpc>
                  <a:spcPct val="85000"/>
                </a:lnSpc>
                <a:spcBef>
                  <a:spcPct val="25000"/>
                </a:spcBef>
                <a:spcAft>
                  <a:spcPct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mn-ea"/>
                  <a:cs typeface="Calibri" pitchFamily="34" charset="0"/>
                </a:rPr>
                <a:t>Efficient Symmetrix-to-Symmetrix data mobility </a:t>
              </a:r>
            </a:p>
          </p:txBody>
        </p:sp>
        <p:grpSp>
          <p:nvGrpSpPr>
            <p:cNvPr id="3" name="Group 26"/>
            <p:cNvGrpSpPr/>
            <p:nvPr/>
          </p:nvGrpSpPr>
          <p:grpSpPr bwMode="gray">
            <a:xfrm>
              <a:off x="2594449" y="1371600"/>
              <a:ext cx="1637352" cy="4114800"/>
              <a:chOff x="2594449" y="1371600"/>
              <a:chExt cx="1637352" cy="4947592"/>
            </a:xfrm>
          </p:grpSpPr>
          <p:sp>
            <p:nvSpPr>
              <p:cNvPr id="17" name="AutoShape 16"/>
              <p:cNvSpPr>
                <a:spLocks noChangeArrowheads="1"/>
              </p:cNvSpPr>
              <p:nvPr/>
            </p:nvSpPr>
            <p:spPr bwMode="gray">
              <a:xfrm>
                <a:off x="2594449" y="1371600"/>
                <a:ext cx="1631476" cy="817965"/>
              </a:xfrm>
              <a:prstGeom prst="leftArrowCallout">
                <a:avLst>
                  <a:gd name="adj1" fmla="val 50000"/>
                  <a:gd name="adj2" fmla="val 25000"/>
                  <a:gd name="adj3" fmla="val 0"/>
                  <a:gd name="adj4" fmla="val 89713"/>
                </a:avLst>
              </a:prstGeom>
              <a:solidFill>
                <a:schemeClr val="accent1">
                  <a:lumMod val="60000"/>
                  <a:lumOff val="40000"/>
                </a:schemeClr>
              </a:solidFill>
              <a:ln w="28575" algn="ctr">
                <a:solidFill>
                  <a:schemeClr val="bg1"/>
                </a:solidFill>
                <a:miter lim="800000"/>
                <a:headEnd/>
                <a:tailEnd/>
              </a:ln>
            </p:spPr>
            <p:txBody>
              <a:bodyPr lIns="45720" tIns="0" rIns="45720" bIns="0" anchor="ctr"/>
              <a:lstStyle/>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SRDF/Star</a:t>
                </a:r>
              </a:p>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Multi-site replication option </a:t>
                </a:r>
              </a:p>
            </p:txBody>
          </p:sp>
          <p:sp>
            <p:nvSpPr>
              <p:cNvPr id="18" name="AutoShape 17"/>
              <p:cNvSpPr>
                <a:spLocks noChangeArrowheads="1"/>
              </p:cNvSpPr>
              <p:nvPr/>
            </p:nvSpPr>
            <p:spPr bwMode="gray">
              <a:xfrm>
                <a:off x="2594449" y="3013774"/>
                <a:ext cx="1631476" cy="824209"/>
              </a:xfrm>
              <a:prstGeom prst="leftArrowCallout">
                <a:avLst>
                  <a:gd name="adj1" fmla="val 50000"/>
                  <a:gd name="adj2" fmla="val 25000"/>
                  <a:gd name="adj3" fmla="val 0"/>
                  <a:gd name="adj4" fmla="val 90032"/>
                </a:avLst>
              </a:prstGeom>
              <a:solidFill>
                <a:schemeClr val="accent3"/>
              </a:solidFill>
              <a:ln w="28575" algn="ctr">
                <a:solidFill>
                  <a:schemeClr val="bg1"/>
                </a:solidFill>
                <a:miter lim="800000"/>
                <a:headEnd/>
                <a:tailEnd/>
              </a:ln>
            </p:spPr>
            <p:txBody>
              <a:bodyPr lIns="45720" tIns="0" rIns="45720" bIns="0" anchor="ctr"/>
              <a:lstStyle/>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SRDF/AR</a:t>
                </a:r>
              </a:p>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Automated Replication</a:t>
                </a:r>
                <a:b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b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option </a:t>
                </a:r>
              </a:p>
            </p:txBody>
          </p:sp>
          <p:sp>
            <p:nvSpPr>
              <p:cNvPr id="19" name="AutoShape 18"/>
              <p:cNvSpPr>
                <a:spLocks noChangeArrowheads="1"/>
              </p:cNvSpPr>
              <p:nvPr/>
            </p:nvSpPr>
            <p:spPr bwMode="gray">
              <a:xfrm>
                <a:off x="2594449" y="2189565"/>
                <a:ext cx="1631476" cy="824209"/>
              </a:xfrm>
              <a:prstGeom prst="leftArrowCallout">
                <a:avLst>
                  <a:gd name="adj1" fmla="val 50000"/>
                  <a:gd name="adj2" fmla="val 25000"/>
                  <a:gd name="adj3" fmla="val 0"/>
                  <a:gd name="adj4" fmla="val 89713"/>
                </a:avLst>
              </a:prstGeom>
              <a:solidFill>
                <a:schemeClr val="accent2"/>
              </a:solidFill>
              <a:ln w="28575" algn="ctr">
                <a:solidFill>
                  <a:schemeClr val="bg1"/>
                </a:solidFill>
                <a:miter lim="800000"/>
                <a:headEnd/>
                <a:tailEnd/>
              </a:ln>
            </p:spPr>
            <p:txBody>
              <a:bodyPr lIns="45720" tIns="0" rIns="45720" bIns="0" anchor="ctr"/>
              <a:lstStyle/>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SRDF/CE</a:t>
                </a:r>
              </a:p>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Cluster Enabler option</a:t>
                </a:r>
              </a:p>
            </p:txBody>
          </p:sp>
          <p:sp>
            <p:nvSpPr>
              <p:cNvPr id="20" name="AutoShape 22"/>
              <p:cNvSpPr>
                <a:spLocks noChangeArrowheads="1"/>
              </p:cNvSpPr>
              <p:nvPr/>
            </p:nvSpPr>
            <p:spPr bwMode="gray">
              <a:xfrm>
                <a:off x="2594449" y="4670774"/>
                <a:ext cx="1631476" cy="824209"/>
              </a:xfrm>
              <a:prstGeom prst="leftArrowCallout">
                <a:avLst>
                  <a:gd name="adj1" fmla="val 50000"/>
                  <a:gd name="adj2" fmla="val 25000"/>
                  <a:gd name="adj3" fmla="val 0"/>
                  <a:gd name="adj4" fmla="val 90032"/>
                </a:avLst>
              </a:prstGeom>
              <a:solidFill>
                <a:schemeClr val="accent5"/>
              </a:solidFill>
              <a:ln w="28575" algn="ctr">
                <a:solidFill>
                  <a:schemeClr val="bg1"/>
                </a:solidFill>
                <a:miter lim="800000"/>
                <a:headEnd/>
                <a:tailEnd/>
              </a:ln>
            </p:spPr>
            <p:txBody>
              <a:bodyPr lIns="45720" tIns="0" rIns="45720" bIns="0" anchor="b"/>
              <a:lstStyle/>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Cascaded SRDF </a:t>
                </a:r>
                <a:b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b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and SRDF/EDP</a:t>
                </a:r>
              </a:p>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Extended Distance Protection</a:t>
                </a:r>
              </a:p>
            </p:txBody>
          </p:sp>
          <p:sp>
            <p:nvSpPr>
              <p:cNvPr id="21" name="AutoShape 23"/>
              <p:cNvSpPr>
                <a:spLocks noChangeArrowheads="1"/>
              </p:cNvSpPr>
              <p:nvPr/>
            </p:nvSpPr>
            <p:spPr bwMode="gray">
              <a:xfrm>
                <a:off x="2594449" y="5494983"/>
                <a:ext cx="1631476" cy="824209"/>
              </a:xfrm>
              <a:prstGeom prst="leftArrowCallout">
                <a:avLst>
                  <a:gd name="adj1" fmla="val 50000"/>
                  <a:gd name="adj2" fmla="val 25000"/>
                  <a:gd name="adj3" fmla="val 0"/>
                  <a:gd name="adj4" fmla="val 89713"/>
                </a:avLst>
              </a:prstGeom>
              <a:solidFill>
                <a:schemeClr val="accent6"/>
              </a:solidFill>
              <a:ln w="28575" algn="ctr">
                <a:solidFill>
                  <a:schemeClr val="bg1"/>
                </a:solidFill>
                <a:miter lim="800000"/>
                <a:headEnd/>
                <a:tailEnd/>
              </a:ln>
            </p:spPr>
            <p:txBody>
              <a:bodyPr lIns="45720" tIns="0" rIns="45720" bIns="0" anchor="ctr"/>
              <a:lstStyle/>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Concurrent</a:t>
                </a:r>
                <a:r>
                  <a:rPr kumimoji="0" lang="en-US" sz="1200" b="0" i="0" u="none" strike="noStrike" kern="1200" cap="none" spc="0" normalizeH="0" baseline="0" noProof="0" dirty="0">
                    <a:ln>
                      <a:noFill/>
                    </a:ln>
                    <a:solidFill>
                      <a:srgbClr val="FF0000"/>
                    </a:solidFill>
                    <a:effectLst/>
                    <a:uLnTx/>
                    <a:uFillTx/>
                    <a:latin typeface="Calibri" pitchFamily="34" charset="0"/>
                    <a:ea typeface="+mn-ea"/>
                    <a:cs typeface="Calibri" pitchFamily="34" charset="0"/>
                  </a:rPr>
                  <a:t> </a:t>
                </a: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SRDF</a:t>
                </a:r>
              </a:p>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Concurrent  Replication</a:t>
                </a:r>
              </a:p>
            </p:txBody>
          </p:sp>
          <p:sp>
            <p:nvSpPr>
              <p:cNvPr id="22" name="AutoShape 22"/>
              <p:cNvSpPr>
                <a:spLocks noChangeArrowheads="1"/>
              </p:cNvSpPr>
              <p:nvPr/>
            </p:nvSpPr>
            <p:spPr bwMode="gray">
              <a:xfrm>
                <a:off x="2600325" y="3838575"/>
                <a:ext cx="1631476" cy="824209"/>
              </a:xfrm>
              <a:prstGeom prst="leftArrowCallout">
                <a:avLst>
                  <a:gd name="adj1" fmla="val 50000"/>
                  <a:gd name="adj2" fmla="val 25000"/>
                  <a:gd name="adj3" fmla="val 0"/>
                  <a:gd name="adj4" fmla="val 90032"/>
                </a:avLst>
              </a:prstGeom>
              <a:solidFill>
                <a:schemeClr val="accent4"/>
              </a:solidFill>
              <a:ln w="28575" algn="ctr">
                <a:solidFill>
                  <a:schemeClr val="bg1"/>
                </a:solidFill>
                <a:miter lim="800000"/>
                <a:headEnd/>
                <a:tailEnd/>
              </a:ln>
            </p:spPr>
            <p:txBody>
              <a:bodyPr lIns="45720" tIns="0" rIns="45720" bIns="0" anchor="ctr"/>
              <a:lstStyle/>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SRDF/CG</a:t>
                </a:r>
              </a:p>
              <a:p>
                <a:pPr marL="0" marR="0" lvl="0" indent="0" algn="ctr" defTabSz="914400" rtl="0" eaLnBrk="1" fontAlgn="base" latinLnBrk="0" hangingPunct="1">
                  <a:lnSpc>
                    <a:spcPts val="1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ea typeface="+mn-ea"/>
                    <a:cs typeface="Calibri" pitchFamily="34" charset="0"/>
                  </a:rPr>
                  <a:t>Consistency Groups</a:t>
                </a:r>
              </a:p>
            </p:txBody>
          </p:sp>
        </p:grpSp>
      </p:grpSp>
      <p:sp>
        <p:nvSpPr>
          <p:cNvPr id="23" name="Footer Placeholder 4"/>
          <p:cNvSpPr>
            <a:spLocks noGrp="1"/>
          </p:cNvSpPr>
          <p:nvPr>
            <p:ph type="ftr" sz="quarter" idx="13"/>
          </p:nvPr>
        </p:nvSpPr>
        <p:spPr>
          <a:xfrm>
            <a:off x="4495800" y="6629400"/>
            <a:ext cx="4191000" cy="2286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12: Remote Replication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EMC MirrorView</a:t>
            </a:r>
          </a:p>
        </p:txBody>
      </p:sp>
      <p:sp>
        <p:nvSpPr>
          <p:cNvPr id="7" name="Content Placeholder 6"/>
          <p:cNvSpPr>
            <a:spLocks noGrp="1"/>
          </p:cNvSpPr>
          <p:nvPr>
            <p:ph idx="1"/>
          </p:nvPr>
        </p:nvSpPr>
        <p:spPr/>
        <p:txBody>
          <a:bodyPr/>
          <a:lstStyle/>
          <a:p>
            <a:r>
              <a:rPr lang="en-US" dirty="0"/>
              <a:t>Replicates data from a primary volume to a secondary volume that reside on different VNX storage systems</a:t>
            </a:r>
          </a:p>
          <a:p>
            <a:pPr marL="231775" lvl="1" indent="-231775">
              <a:buClr>
                <a:srgbClr val="92D050"/>
              </a:buClr>
              <a:buSzPct val="120000"/>
              <a:buFont typeface="Arial" charset="0"/>
              <a:buChar char="•"/>
            </a:pPr>
            <a:r>
              <a:rPr lang="en-US" sz="2400" dirty="0"/>
              <a:t>Uses a bitmap to track host writes while the link to the secondary array is down</a:t>
            </a:r>
          </a:p>
          <a:p>
            <a:pPr lvl="1"/>
            <a:r>
              <a:rPr lang="en-US" dirty="0"/>
              <a:t>When secondary is available, sends only changed data</a:t>
            </a:r>
          </a:p>
          <a:p>
            <a:r>
              <a:rPr lang="en-US" dirty="0" err="1"/>
              <a:t>MirrorView</a:t>
            </a:r>
            <a:r>
              <a:rPr lang="en-US" dirty="0"/>
              <a:t> family consists of: </a:t>
            </a:r>
          </a:p>
          <a:p>
            <a:pPr lvl="1"/>
            <a:r>
              <a:rPr lang="en-US" dirty="0"/>
              <a:t>MirrorView/Synchronous (MirrorView/S)</a:t>
            </a:r>
          </a:p>
          <a:p>
            <a:pPr lvl="1"/>
            <a:r>
              <a:rPr lang="en-US" dirty="0"/>
              <a:t>MirrorView/Asynchronous (MirrorView/A)</a:t>
            </a:r>
          </a:p>
          <a:p>
            <a:pPr lvl="1"/>
            <a:endParaRPr lang="en-US" sz="1800" dirty="0"/>
          </a:p>
          <a:p>
            <a:endParaRPr lang="en-US" dirty="0"/>
          </a:p>
          <a:p>
            <a:endParaRPr lang="en-US" dirty="0"/>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73B01-4140-4737-A600-00C5477C65A7}"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9" name="Footer Placeholder 8"/>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12: Remote Replication</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EMC </a:t>
            </a:r>
            <a:r>
              <a:rPr lang="en-US" dirty="0" err="1"/>
              <a:t>RecoverPoint</a:t>
            </a:r>
            <a:r>
              <a:rPr lang="en-US" dirty="0"/>
              <a:t> </a:t>
            </a:r>
          </a:p>
        </p:txBody>
      </p:sp>
      <p:sp>
        <p:nvSpPr>
          <p:cNvPr id="8" name="Content Placeholder 7"/>
          <p:cNvSpPr>
            <a:spLocks noGrp="1"/>
          </p:cNvSpPr>
          <p:nvPr>
            <p:ph idx="1"/>
          </p:nvPr>
        </p:nvSpPr>
        <p:spPr/>
        <p:txBody>
          <a:bodyPr/>
          <a:lstStyle/>
          <a:p>
            <a:r>
              <a:rPr lang="en-US" dirty="0" err="1"/>
              <a:t>RecoverPoint</a:t>
            </a:r>
            <a:r>
              <a:rPr lang="en-US" dirty="0"/>
              <a:t> Continuous Remote Replication (CRR) provides both synchronous and asynchronous remote replication</a:t>
            </a:r>
          </a:p>
          <a:p>
            <a:r>
              <a:rPr lang="en-US" dirty="0"/>
              <a:t>Dynamically switches between synchronous and asynchronous replication</a:t>
            </a:r>
          </a:p>
          <a:p>
            <a:pPr lvl="1"/>
            <a:r>
              <a:rPr lang="en-US" dirty="0"/>
              <a:t>Based on the policy for performance and latency </a:t>
            </a:r>
          </a:p>
          <a:p>
            <a:r>
              <a:rPr lang="en-US" dirty="0"/>
              <a:t>Capable to recover data remotely to any PIT</a:t>
            </a:r>
          </a:p>
          <a:p>
            <a:endParaRPr lang="en-US" dirty="0"/>
          </a:p>
        </p:txBody>
      </p:sp>
      <p:sp>
        <p:nvSpPr>
          <p:cNvPr id="6" name="Slide Number Placeholder 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5683FA-D0FB-447D-82E1-0D3AF418E355}"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9" name="Footer Placeholder 8"/>
          <p:cNvSpPr>
            <a:spLocks noGrp="1"/>
          </p:cNvSpPr>
          <p:nvPr>
            <p:ph type="ftr" sz="quarter" idx="12"/>
          </p:nvPr>
        </p:nvSpPr>
        <p:spPr>
          <a:xfrm>
            <a:off x="4495800" y="6629400"/>
            <a:ext cx="4191000" cy="2286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rPr>
              <a:t>Module 12: Remote Replication</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6"/>
          <p:cNvSpPr>
            <a:spLocks noGrp="1"/>
          </p:cNvSpPr>
          <p:nvPr>
            <p:ph type="title"/>
          </p:nvPr>
        </p:nvSpPr>
        <p:spPr/>
        <p:txBody>
          <a:bodyPr/>
          <a:lstStyle/>
          <a:p>
            <a:r>
              <a:rPr lang="en-US" dirty="0"/>
              <a:t>Module 12: Summary</a:t>
            </a:r>
          </a:p>
        </p:txBody>
      </p:sp>
      <p:sp>
        <p:nvSpPr>
          <p:cNvPr id="28675" name="Content Placeholder 7"/>
          <p:cNvSpPr>
            <a:spLocks noGrp="1"/>
          </p:cNvSpPr>
          <p:nvPr>
            <p:ph idx="1"/>
          </p:nvPr>
        </p:nvSpPr>
        <p:spPr>
          <a:xfrm>
            <a:off x="304800" y="914400"/>
            <a:ext cx="8458200" cy="4343400"/>
          </a:xfrm>
        </p:spPr>
        <p:txBody>
          <a:bodyPr/>
          <a:lstStyle/>
          <a:p>
            <a:pPr>
              <a:buNone/>
            </a:pPr>
            <a:r>
              <a:rPr lang="en-US" dirty="0"/>
              <a:t>Key points covered in this module:</a:t>
            </a:r>
          </a:p>
          <a:p>
            <a:r>
              <a:rPr lang="en-US" dirty="0"/>
              <a:t>Synchronous and asynchronous replication mode</a:t>
            </a:r>
          </a:p>
          <a:p>
            <a:r>
              <a:rPr lang="en-US" dirty="0"/>
              <a:t>Host-based, array-based, and network-based remote replication</a:t>
            </a:r>
          </a:p>
          <a:p>
            <a:r>
              <a:rPr lang="en-US" dirty="0"/>
              <a:t>Three-site remote replication</a:t>
            </a:r>
          </a:p>
          <a:p>
            <a:r>
              <a:rPr lang="en-US" dirty="0"/>
              <a:t>Data migration solution</a:t>
            </a:r>
          </a:p>
          <a:p>
            <a:r>
              <a:rPr lang="en-US" dirty="0"/>
              <a:t>Remote replication and migration in virtualized environment</a:t>
            </a:r>
          </a:p>
        </p:txBody>
      </p:sp>
      <p:sp>
        <p:nvSpPr>
          <p:cNvPr id="7" name="Slide Number Placeholder 6"/>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A1DFFF-3F85-458B-986A-7762775E0CEF}" type="slidenum">
              <a:rPr kumimoji="0" lang="en-US" sz="1000" b="0" i="0" u="none" strike="noStrike" kern="1200" cap="none" spc="0" normalizeH="0" baseline="0" noProof="0" smtClean="0">
                <a:ln>
                  <a:noFill/>
                </a:ln>
                <a:solidFill>
                  <a:srgbClr val="000000">
                    <a:lumMod val="75000"/>
                    <a:lumOff val="25000"/>
                  </a:srgbClr>
                </a:solidFill>
                <a:effectLst/>
                <a:uLnTx/>
                <a:uFillTx/>
                <a:latin typeface="Calibri" pitchFamily="34" charset="0"/>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endParaRPr>
          </a:p>
        </p:txBody>
      </p:sp>
      <p:sp>
        <p:nvSpPr>
          <p:cNvPr id="6" name="Footer Placeholder 5"/>
          <p:cNvSpPr>
            <a:spLocks noGrp="1"/>
          </p:cNvSpPr>
          <p:nvPr>
            <p:ph type="ftr"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75000"/>
                    <a:lumOff val="25000"/>
                  </a:srgbClr>
                </a:solidFill>
                <a:effectLst/>
                <a:uLnTx/>
                <a:uFillTx/>
                <a:latin typeface="Calibri" pitchFamily="34" charset="0"/>
                <a:ea typeface="+mn-ea"/>
                <a:cs typeface="Arial"/>
              </a:rPr>
              <a:t>Module 12: Remote Replication</a:t>
            </a:r>
            <a:endParaRPr kumimoji="0" lang="en-US" sz="1000" b="0" i="0" u="none" strike="noStrike" kern="1200" cap="none" spc="0" normalizeH="0" baseline="0" noProof="0" dirty="0">
              <a:ln>
                <a:noFill/>
              </a:ln>
              <a:solidFill>
                <a:srgbClr val="000000">
                  <a:lumMod val="75000"/>
                  <a:lumOff val="25000"/>
                </a:srgbClr>
              </a:solidFill>
              <a:effectLst/>
              <a:uLnTx/>
              <a:uFillTx/>
              <a:latin typeface="Calibri" pitchFamily="34" charset="0"/>
              <a:ea typeface="+mn-ea"/>
              <a:cs typeface="Arial"/>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GUID" val="77ba815e-6b19-44b0-ab2f-cdc44d969a4a"/>
</p:tagLst>
</file>

<file path=ppt/theme/theme1.xml><?xml version="1.0" encoding="utf-8"?>
<a:theme xmlns:a="http://schemas.openxmlformats.org/drawingml/2006/main" name="Vertical and Horizontal design templat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Vertical and horizontal design slides.potx" id="{7E307492-4344-40EC-954C-E30551E95991}" vid="{493C3130-E1FA-416B-8465-D41FAD56C1B7}"/>
    </a:ext>
  </a:extLst>
</a:theme>
</file>

<file path=ppt/theme/theme2.xml><?xml version="1.0" encoding="utf-8"?>
<a:theme xmlns:a="http://schemas.openxmlformats.org/drawingml/2006/main" name="ILT_OILT_VILT_Template_2012_Final_ProvenProfessional_V2_wmA">
  <a:themeElements>
    <a:clrScheme name="NPR2011">
      <a:dk1>
        <a:srgbClr val="000000"/>
      </a:dk1>
      <a:lt1>
        <a:srgbClr val="FFFFFF"/>
      </a:lt1>
      <a:dk2>
        <a:srgbClr val="007DC3"/>
      </a:dk2>
      <a:lt2>
        <a:srgbClr val="5F5F5F"/>
      </a:lt2>
      <a:accent1>
        <a:srgbClr val="2C95DD"/>
      </a:accent1>
      <a:accent2>
        <a:srgbClr val="49A942"/>
      </a:accent2>
      <a:accent3>
        <a:srgbClr val="74C167"/>
      </a:accent3>
      <a:accent4>
        <a:srgbClr val="FFC425"/>
      </a:accent4>
      <a:accent5>
        <a:srgbClr val="B5761B"/>
      </a:accent5>
      <a:accent6>
        <a:srgbClr val="A80000"/>
      </a:accent6>
      <a:hlink>
        <a:srgbClr val="0070C0"/>
      </a:hlink>
      <a:folHlink>
        <a:srgbClr val="49A942"/>
      </a:folHlink>
    </a:clrScheme>
    <a:fontScheme name="NPR2011Template">
      <a:majorFont>
        <a:latin typeface="MetaNormalLF-Roman"/>
        <a:ea typeface=""/>
        <a:cs typeface="Arial"/>
      </a:majorFont>
      <a:minorFont>
        <a:latin typeface="MetaNormalLF-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ILT_OILT_VILT_Template_2012_Final_ProvenProfessional_V2_wmA">
  <a:themeElements>
    <a:clrScheme name="NPR2011">
      <a:dk1>
        <a:srgbClr val="000000"/>
      </a:dk1>
      <a:lt1>
        <a:srgbClr val="FFFFFF"/>
      </a:lt1>
      <a:dk2>
        <a:srgbClr val="007DC3"/>
      </a:dk2>
      <a:lt2>
        <a:srgbClr val="5F5F5F"/>
      </a:lt2>
      <a:accent1>
        <a:srgbClr val="2C95DD"/>
      </a:accent1>
      <a:accent2>
        <a:srgbClr val="49A942"/>
      </a:accent2>
      <a:accent3>
        <a:srgbClr val="74C167"/>
      </a:accent3>
      <a:accent4>
        <a:srgbClr val="FFC425"/>
      </a:accent4>
      <a:accent5>
        <a:srgbClr val="B5761B"/>
      </a:accent5>
      <a:accent6>
        <a:srgbClr val="A80000"/>
      </a:accent6>
      <a:hlink>
        <a:srgbClr val="0070C0"/>
      </a:hlink>
      <a:folHlink>
        <a:srgbClr val="49A942"/>
      </a:folHlink>
    </a:clrScheme>
    <a:fontScheme name="NPR2011Template">
      <a:majorFont>
        <a:latin typeface="MetaNormalLF-Roman"/>
        <a:ea typeface=""/>
        <a:cs typeface="Arial"/>
      </a:majorFont>
      <a:minorFont>
        <a:latin typeface="MetaNormalLF-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ILT_OILT_VILT_Template_2012_Final_ProvenProfessional_V2_wmA">
  <a:themeElements>
    <a:clrScheme name="NPR2011">
      <a:dk1>
        <a:srgbClr val="000000"/>
      </a:dk1>
      <a:lt1>
        <a:srgbClr val="FFFFFF"/>
      </a:lt1>
      <a:dk2>
        <a:srgbClr val="007DC3"/>
      </a:dk2>
      <a:lt2>
        <a:srgbClr val="5F5F5F"/>
      </a:lt2>
      <a:accent1>
        <a:srgbClr val="2C95DD"/>
      </a:accent1>
      <a:accent2>
        <a:srgbClr val="49A942"/>
      </a:accent2>
      <a:accent3>
        <a:srgbClr val="74C167"/>
      </a:accent3>
      <a:accent4>
        <a:srgbClr val="FFC425"/>
      </a:accent4>
      <a:accent5>
        <a:srgbClr val="B5761B"/>
      </a:accent5>
      <a:accent6>
        <a:srgbClr val="A80000"/>
      </a:accent6>
      <a:hlink>
        <a:srgbClr val="0070C0"/>
      </a:hlink>
      <a:folHlink>
        <a:srgbClr val="49A942"/>
      </a:folHlink>
    </a:clrScheme>
    <a:fontScheme name="NPR2011Template">
      <a:majorFont>
        <a:latin typeface="MetaNormalLF-Roman"/>
        <a:ea typeface=""/>
        <a:cs typeface="Arial"/>
      </a:majorFont>
      <a:minorFont>
        <a:latin typeface="MetaNormalLF-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Vertical and horizontal design slides</Template>
  <TotalTime>1404</TotalTime>
  <Words>12119</Words>
  <Application>Microsoft Office PowerPoint</Application>
  <PresentationFormat>On-screen Show (4:3)</PresentationFormat>
  <Paragraphs>1828</Paragraphs>
  <Slides>106</Slides>
  <Notes>76</Notes>
  <HiddenSlides>0</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106</vt:i4>
      </vt:variant>
    </vt:vector>
  </HeadingPairs>
  <TitlesOfParts>
    <vt:vector size="124" baseType="lpstr">
      <vt:lpstr>굴림</vt:lpstr>
      <vt:lpstr>Arial</vt:lpstr>
      <vt:lpstr>Book Antiqua</vt:lpstr>
      <vt:lpstr>Bookman Old Style</vt:lpstr>
      <vt:lpstr>Calibri</vt:lpstr>
      <vt:lpstr>Century Gothic</vt:lpstr>
      <vt:lpstr>Formata-Medium</vt:lpstr>
      <vt:lpstr>MetaNormalLF-Roman</vt:lpstr>
      <vt:lpstr>Palatino-Italic</vt:lpstr>
      <vt:lpstr>Palatino-Roman</vt:lpstr>
      <vt:lpstr>Times New Roman</vt:lpstr>
      <vt:lpstr>Verdana-Bold</vt:lpstr>
      <vt:lpstr>Webdings</vt:lpstr>
      <vt:lpstr>Wingdings</vt:lpstr>
      <vt:lpstr>Vertical and Horizontal design template</vt:lpstr>
      <vt:lpstr>ILT_OILT_VILT_Template_2012_Final_ProvenProfessional_V2_wmA</vt:lpstr>
      <vt:lpstr>1_ILT_OILT_VILT_Template_2012_Final_ProvenProfessional_V2_wmA</vt:lpstr>
      <vt:lpstr>2_ILT_OILT_VILT_Template_2012_Final_ProvenProfessional_V2_wmA</vt:lpstr>
      <vt:lpstr>Unit-IV</vt:lpstr>
      <vt:lpstr>What is Backup?</vt:lpstr>
      <vt:lpstr>Backup Purpose</vt:lpstr>
      <vt:lpstr>Backup Purpose</vt:lpstr>
      <vt:lpstr>Backup Considerations</vt:lpstr>
      <vt:lpstr>Backup Considerations</vt:lpstr>
      <vt:lpstr>Backup Granularity </vt:lpstr>
      <vt:lpstr>Backup Granularity </vt:lpstr>
      <vt:lpstr>Backup Granularity </vt:lpstr>
      <vt:lpstr>Restoring from Incremental Backup</vt:lpstr>
      <vt:lpstr>Restoring from Incremental Backup</vt:lpstr>
      <vt:lpstr>Restoring from Incremental Backup</vt:lpstr>
      <vt:lpstr>Restoring from Cumulative Backup</vt:lpstr>
      <vt:lpstr>Restoring from Cumulative Backup</vt:lpstr>
      <vt:lpstr>Recovery Considerations</vt:lpstr>
      <vt:lpstr>Quiz : Question-1</vt:lpstr>
      <vt:lpstr>Quiz : Answer-1</vt:lpstr>
      <vt:lpstr>Quiz : Question-2</vt:lpstr>
      <vt:lpstr>Quiz : Answer-2</vt:lpstr>
      <vt:lpstr>Recovery Considerations</vt:lpstr>
      <vt:lpstr>Backup Methods</vt:lpstr>
      <vt:lpstr>Backup Methods - Hot or Online Backup </vt:lpstr>
      <vt:lpstr>Backup Methods - Cold or Offline Backup </vt:lpstr>
      <vt:lpstr>Backup Architecture</vt:lpstr>
      <vt:lpstr>Backup Operation</vt:lpstr>
      <vt:lpstr>Recovery Operation</vt:lpstr>
      <vt:lpstr>Server Configuration Backup</vt:lpstr>
      <vt:lpstr>PowerPoint Presentation</vt:lpstr>
      <vt:lpstr>Direct-Attached Backup</vt:lpstr>
      <vt:lpstr>LAN-based Backup</vt:lpstr>
      <vt:lpstr>SAN-based Backup</vt:lpstr>
      <vt:lpstr>Mixed Backup Topology</vt:lpstr>
      <vt:lpstr>Backup in NAS Environment</vt:lpstr>
      <vt:lpstr>Server-based backup</vt:lpstr>
      <vt:lpstr>Serverless Backup</vt:lpstr>
      <vt:lpstr>NDMP-Based Backup </vt:lpstr>
      <vt:lpstr>NDMP 2-way Backup</vt:lpstr>
      <vt:lpstr>NDMP 3-way Backup</vt:lpstr>
      <vt:lpstr>PowerPoint Presentation</vt:lpstr>
      <vt:lpstr>Backup to Tape</vt:lpstr>
      <vt:lpstr>Backup to Disk</vt:lpstr>
      <vt:lpstr>Backup to Disk</vt:lpstr>
      <vt:lpstr>Backup to Virtual Tape</vt:lpstr>
      <vt:lpstr>Virtual Tape Library</vt:lpstr>
      <vt:lpstr>Backup Target Comparison</vt:lpstr>
      <vt:lpstr>What is Replication?</vt:lpstr>
      <vt:lpstr>Replication Terminology</vt:lpstr>
      <vt:lpstr>Replica Characteristics</vt:lpstr>
      <vt:lpstr>Uses of Local Replicas </vt:lpstr>
      <vt:lpstr>Uses of Local Replicas </vt:lpstr>
      <vt:lpstr>Replica Consistency</vt:lpstr>
      <vt:lpstr>Understanding Consistency</vt:lpstr>
      <vt:lpstr>Consistency of a Replicated File System</vt:lpstr>
      <vt:lpstr>File System Consistency: Flushing Host Buffer</vt:lpstr>
      <vt:lpstr>PowerPoint Presentation</vt:lpstr>
      <vt:lpstr>Database Consistency: Dependent Write I/O Principle</vt:lpstr>
      <vt:lpstr>PowerPoint Presentation</vt:lpstr>
      <vt:lpstr>PowerPoint Presentation</vt:lpstr>
      <vt:lpstr>Host-based Replication: LVM-based Mirroring</vt:lpstr>
      <vt:lpstr>Advantages of LVM-Based Replication </vt:lpstr>
      <vt:lpstr>Advantages of LVM-Based Replication </vt:lpstr>
      <vt:lpstr>PowerPoint Presentation</vt:lpstr>
      <vt:lpstr>PowerPoint Presentation</vt:lpstr>
      <vt:lpstr>PowerPoint Presentation</vt:lpstr>
      <vt:lpstr>Host-based Replication: File System Snapshot</vt:lpstr>
      <vt:lpstr>Storage Array-based Local Replication</vt:lpstr>
      <vt:lpstr>Full-Volume Mirroring</vt:lpstr>
      <vt:lpstr>Pointer-based Full-Volume Replication</vt:lpstr>
      <vt:lpstr>Copy on First Access: Write to the Source</vt:lpstr>
      <vt:lpstr>Copy on First Access: Write to the Target</vt:lpstr>
      <vt:lpstr>Copy on First Access: Read from Target</vt:lpstr>
      <vt:lpstr>Pointer-based Virtual Replication</vt:lpstr>
      <vt:lpstr>Pointer-based Virtual Replication (CoFW): Write to Source </vt:lpstr>
      <vt:lpstr>Pointer-based Virtual Replication (CoFW): Write to Target </vt:lpstr>
      <vt:lpstr>Tracking Changes to Source and Target</vt:lpstr>
      <vt:lpstr>Restore and Restart Considerations</vt:lpstr>
      <vt:lpstr>Comparison of Local Replication Technologies</vt:lpstr>
      <vt:lpstr>Network-based Local Replication: Continuous Data Protection</vt:lpstr>
      <vt:lpstr>CDP Local Replication Operation</vt:lpstr>
      <vt:lpstr>Module – 12    Remote Replication</vt:lpstr>
      <vt:lpstr>PowerPoint Presentation</vt:lpstr>
      <vt:lpstr>PowerPoint Presentation</vt:lpstr>
      <vt:lpstr>What is Remote Replication?</vt:lpstr>
      <vt:lpstr>Synchronous Replication – 1 </vt:lpstr>
      <vt:lpstr>Synchronous Replication – 2 </vt:lpstr>
      <vt:lpstr>Asynchronous Replication – 1 </vt:lpstr>
      <vt:lpstr>Asynchronous Replication – 2 </vt:lpstr>
      <vt:lpstr>PowerPoint Presentation</vt:lpstr>
      <vt:lpstr>Host-based Remote Replication</vt:lpstr>
      <vt:lpstr>Storage Array-based Remote Replication – 1  </vt:lpstr>
      <vt:lpstr>Storage Array-based Remote Replication – 2  </vt:lpstr>
      <vt:lpstr>Network-based Replication – Continuous Data Protection</vt:lpstr>
      <vt:lpstr>CDP Remote Replication Operation</vt:lpstr>
      <vt:lpstr>Three-site Replication</vt:lpstr>
      <vt:lpstr>Three-site Replication: Cascade/Multihop</vt:lpstr>
      <vt:lpstr>Three-site Replication: Triangle/Multitarget</vt:lpstr>
      <vt:lpstr>Data Migration Solution</vt:lpstr>
      <vt:lpstr>Remote Replication/Migration in Virtualized Environment</vt:lpstr>
      <vt:lpstr>Remote Mirroring of Virtual Volume</vt:lpstr>
      <vt:lpstr>VM Migration: Hypervisor-to-Hypervisor</vt:lpstr>
      <vt:lpstr>VM Migration: Array-to-Array</vt:lpstr>
      <vt:lpstr>Module 12: Remote Replication</vt:lpstr>
      <vt:lpstr>EMC SRDF</vt:lpstr>
      <vt:lpstr>EMC MirrorView</vt:lpstr>
      <vt:lpstr>EMC RecoverPoint </vt:lpstr>
      <vt:lpstr>Module 12: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Storage and Management  Storing, Managing, and Protecting Digital Information</dc:title>
  <dc:creator>Windows User</dc:creator>
  <cp:lastModifiedBy>rajshri shettar</cp:lastModifiedBy>
  <cp:revision>173</cp:revision>
  <dcterms:created xsi:type="dcterms:W3CDTF">2018-01-29T10:03:38Z</dcterms:created>
  <dcterms:modified xsi:type="dcterms:W3CDTF">2026-01-08T09:46:48Z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